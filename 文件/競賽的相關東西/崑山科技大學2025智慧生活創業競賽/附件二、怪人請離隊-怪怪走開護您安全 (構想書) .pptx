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8288000" cy="10287000"/>
  <p:notesSz cx="6858000" cy="9144000"/>
  <p:embeddedFontLst>
    <p:embeddedFont>
      <p:font typeface="Noto Sans T Chinese" panose="02020500000000000000" charset="-120"/>
      <p:regular r:id="rId18"/>
    </p:embeddedFont>
    <p:embeddedFont>
      <p:font typeface="Agrandir Narrow Heavy" panose="02020500000000000000" charset="0"/>
      <p:regular r:id="rId19"/>
    </p:embeddedFont>
    <p:embeddedFont>
      <p:font typeface="Aileron Bold" panose="02020500000000000000" charset="0"/>
      <p:regular r:id="rId20"/>
    </p:embeddedFont>
    <p:embeddedFont>
      <p:font typeface="Aileron Ultra-Bold" panose="02020500000000000000" charset="0"/>
      <p:regular r:id="rId21"/>
    </p:embeddedFont>
    <p:embeddedFont>
      <p:font typeface="Akzidenz-Grotesk Bold" panose="02020500000000000000" charset="0"/>
      <p:regular r:id="rId22"/>
    </p:embeddedFont>
    <p:embeddedFont>
      <p:font typeface="Akzidenz-Grotesk Heavy" panose="02020500000000000000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599241" y="5818409"/>
            <a:ext cx="12106839" cy="3086100"/>
            <a:chOff x="0" y="0"/>
            <a:chExt cx="3188633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88633" cy="812800"/>
            </a:xfrm>
            <a:custGeom>
              <a:avLst/>
              <a:gdLst/>
              <a:ahLst/>
              <a:cxnLst/>
              <a:rect l="l" t="t" r="r" b="b"/>
              <a:pathLst>
                <a:path w="3188633" h="812800">
                  <a:moveTo>
                    <a:pt x="0" y="0"/>
                  </a:moveTo>
                  <a:lnTo>
                    <a:pt x="3188633" y="0"/>
                  </a:lnTo>
                  <a:lnTo>
                    <a:pt x="318863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D9DFCE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3188633" cy="869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7961245" cy="10287000"/>
            <a:chOff x="0" y="0"/>
            <a:chExt cx="2096789" cy="27093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96789" cy="2709333"/>
            </a:xfrm>
            <a:custGeom>
              <a:avLst/>
              <a:gdLst/>
              <a:ahLst/>
              <a:cxnLst/>
              <a:rect l="l" t="t" r="r" b="b"/>
              <a:pathLst>
                <a:path w="2096789" h="2709333">
                  <a:moveTo>
                    <a:pt x="0" y="0"/>
                  </a:moveTo>
                  <a:lnTo>
                    <a:pt x="2096789" y="0"/>
                  </a:lnTo>
                  <a:lnTo>
                    <a:pt x="209678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77550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096789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35033" y="1957236"/>
            <a:ext cx="6505813" cy="6505813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5663464" y="7662464"/>
            <a:ext cx="1595836" cy="1595836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77550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 flipH="1">
            <a:off x="16133165" y="8202625"/>
            <a:ext cx="789785" cy="515514"/>
          </a:xfrm>
          <a:custGeom>
            <a:avLst/>
            <a:gdLst/>
            <a:ahLst/>
            <a:cxnLst/>
            <a:rect l="l" t="t" r="r" b="b"/>
            <a:pathLst>
              <a:path w="789785" h="515514">
                <a:moveTo>
                  <a:pt x="789784" y="0"/>
                </a:moveTo>
                <a:lnTo>
                  <a:pt x="0" y="0"/>
                </a:lnTo>
                <a:lnTo>
                  <a:pt x="0" y="515514"/>
                </a:lnTo>
                <a:lnTo>
                  <a:pt x="789784" y="515514"/>
                </a:lnTo>
                <a:lnTo>
                  <a:pt x="789784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4" name="Freeform 14"/>
          <p:cNvSpPr/>
          <p:nvPr/>
        </p:nvSpPr>
        <p:spPr>
          <a:xfrm>
            <a:off x="9258300" y="1028700"/>
            <a:ext cx="1850797" cy="275937"/>
          </a:xfrm>
          <a:custGeom>
            <a:avLst/>
            <a:gdLst/>
            <a:ahLst/>
            <a:cxnLst/>
            <a:rect l="l" t="t" r="r" b="b"/>
            <a:pathLst>
              <a:path w="1850797" h="275937">
                <a:moveTo>
                  <a:pt x="0" y="0"/>
                </a:moveTo>
                <a:lnTo>
                  <a:pt x="1850797" y="0"/>
                </a:lnTo>
                <a:lnTo>
                  <a:pt x="1850797" y="275937"/>
                </a:lnTo>
                <a:lnTo>
                  <a:pt x="0" y="27593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5" name="AutoShape 15"/>
          <p:cNvSpPr/>
          <p:nvPr/>
        </p:nvSpPr>
        <p:spPr>
          <a:xfrm>
            <a:off x="11487176" y="1166668"/>
            <a:ext cx="5218904" cy="0"/>
          </a:xfrm>
          <a:prstGeom prst="line">
            <a:avLst/>
          </a:prstGeom>
          <a:ln w="38100" cap="flat">
            <a:solidFill>
              <a:srgbClr val="57755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Box 16"/>
          <p:cNvSpPr txBox="1"/>
          <p:nvPr/>
        </p:nvSpPr>
        <p:spPr>
          <a:xfrm>
            <a:off x="8748290" y="2141520"/>
            <a:ext cx="8713205" cy="1228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b="1">
                <a:solidFill>
                  <a:srgbClr val="577550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2025智慧生活創業競賽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258300" y="2904155"/>
            <a:ext cx="7693185" cy="2408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89"/>
              </a:lnSpc>
            </a:pPr>
            <a:r>
              <a:rPr lang="en-US" sz="12064" b="1">
                <a:solidFill>
                  <a:srgbClr val="134E1A"/>
                </a:solidFill>
                <a:latin typeface="Agrandir Narrow Heavy"/>
                <a:ea typeface="Agrandir Narrow Heavy"/>
                <a:cs typeface="Agrandir Narrow Heavy"/>
                <a:sym typeface="Agrandir Narrow Heavy"/>
              </a:rPr>
              <a:t>創業構想書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748290" y="6713726"/>
            <a:ext cx="7176628" cy="1447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880"/>
              </a:lnSpc>
            </a:pPr>
            <a:r>
              <a:rPr lang="en-US" sz="42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ileron Ultra-Bold" panose="02020500000000000000" charset="0"/>
                <a:sym typeface="Aileron Heavy"/>
              </a:rPr>
              <a:t>團隊名稱：怪人請離隊</a:t>
            </a:r>
            <a:endParaRPr lang="en-US" sz="4200" b="1" dirty="0">
              <a:solidFill>
                <a:schemeClr val="tx1">
                  <a:lumMod val="85000"/>
                  <a:lumOff val="15000"/>
                </a:schemeClr>
              </a:solidFill>
              <a:latin typeface="Aileron Ultra-Bold" panose="02020500000000000000" charset="0"/>
              <a:sym typeface="Aileron Heavy"/>
            </a:endParaRPr>
          </a:p>
          <a:p>
            <a:pPr>
              <a:lnSpc>
                <a:spcPts val="5880"/>
              </a:lnSpc>
            </a:pPr>
            <a:r>
              <a:rPr lang="en-US" sz="42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ileron Ultra-Bold" panose="02020500000000000000" charset="0"/>
                <a:sym typeface="Aileron Heavy"/>
              </a:rPr>
              <a:t>作品名稱：怪怪走開護您安全</a:t>
            </a:r>
            <a:endParaRPr lang="en-US" sz="4200" b="1" dirty="0">
              <a:solidFill>
                <a:schemeClr val="tx1">
                  <a:lumMod val="85000"/>
                  <a:lumOff val="15000"/>
                </a:schemeClr>
              </a:solidFill>
              <a:latin typeface="Aileron Ultra-Bold" panose="02020500000000000000" charset="0"/>
              <a:sym typeface="Aileron Heavy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6922949" y="956947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Page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955694" cy="10287000"/>
            <a:chOff x="0" y="0"/>
            <a:chExt cx="51508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5080" cy="2709333"/>
            </a:xfrm>
            <a:custGeom>
              <a:avLst/>
              <a:gdLst/>
              <a:ahLst/>
              <a:cxnLst/>
              <a:rect l="l" t="t" r="r" b="b"/>
              <a:pathLst>
                <a:path w="515080" h="2709333">
                  <a:moveTo>
                    <a:pt x="0" y="0"/>
                  </a:moveTo>
                  <a:lnTo>
                    <a:pt x="515080" y="0"/>
                  </a:lnTo>
                  <a:lnTo>
                    <a:pt x="51508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9DFCE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515080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955694" y="0"/>
            <a:ext cx="16332306" cy="2451306"/>
            <a:chOff x="0" y="0"/>
            <a:chExt cx="4301513" cy="64561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301513" cy="645611"/>
            </a:xfrm>
            <a:custGeom>
              <a:avLst/>
              <a:gdLst/>
              <a:ahLst/>
              <a:cxnLst/>
              <a:rect l="l" t="t" r="r" b="b"/>
              <a:pathLst>
                <a:path w="4301513" h="645611">
                  <a:moveTo>
                    <a:pt x="0" y="0"/>
                  </a:moveTo>
                  <a:lnTo>
                    <a:pt x="4301513" y="0"/>
                  </a:lnTo>
                  <a:lnTo>
                    <a:pt x="4301513" y="645611"/>
                  </a:lnTo>
                  <a:lnTo>
                    <a:pt x="0" y="645611"/>
                  </a:lnTo>
                  <a:close/>
                </a:path>
              </a:pathLst>
            </a:custGeom>
            <a:solidFill>
              <a:srgbClr val="F5F8E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4301513" cy="7027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5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44117" y="1210183"/>
            <a:ext cx="2552796" cy="2552796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34E1A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flipH="1">
            <a:off x="1603297" y="2083706"/>
            <a:ext cx="1234436" cy="805750"/>
          </a:xfrm>
          <a:custGeom>
            <a:avLst/>
            <a:gdLst/>
            <a:ahLst/>
            <a:cxnLst/>
            <a:rect l="l" t="t" r="r" b="b"/>
            <a:pathLst>
              <a:path w="1234436" h="805750">
                <a:moveTo>
                  <a:pt x="1234436" y="0"/>
                </a:moveTo>
                <a:lnTo>
                  <a:pt x="0" y="0"/>
                </a:lnTo>
                <a:lnTo>
                  <a:pt x="0" y="805750"/>
                </a:lnTo>
                <a:lnTo>
                  <a:pt x="1234436" y="805750"/>
                </a:lnTo>
                <a:lnTo>
                  <a:pt x="123443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2" name="TextBox 12"/>
          <p:cNvSpPr txBox="1"/>
          <p:nvPr/>
        </p:nvSpPr>
        <p:spPr>
          <a:xfrm>
            <a:off x="4380758" y="898764"/>
            <a:ext cx="5741089" cy="1038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8119"/>
              </a:lnSpc>
              <a:spcBef>
                <a:spcPct val="0"/>
              </a:spcBef>
            </a:pPr>
            <a:r>
              <a:rPr lang="en-US" sz="6999" b="1" dirty="0" err="1">
                <a:solidFill>
                  <a:srgbClr val="134E1A"/>
                </a:solidFill>
                <a:latin typeface="Akzidenz-Grotesk Heavy"/>
                <a:sym typeface="Akzidenz-Grotesk Heavy"/>
              </a:rPr>
              <a:t>目錄</a:t>
            </a:r>
            <a:endParaRPr lang="en-US" sz="6999" b="1" dirty="0">
              <a:solidFill>
                <a:srgbClr val="134E1A"/>
              </a:solidFill>
              <a:latin typeface="Akzidenz-Grotesk Heavy"/>
              <a:sym typeface="Akzidenz-Grotesk Heavy"/>
            </a:endParaRPr>
          </a:p>
        </p:txBody>
      </p:sp>
      <p:sp>
        <p:nvSpPr>
          <p:cNvPr id="13" name="Freeform 13"/>
          <p:cNvSpPr/>
          <p:nvPr/>
        </p:nvSpPr>
        <p:spPr>
          <a:xfrm>
            <a:off x="15549482" y="9258300"/>
            <a:ext cx="1709818" cy="254918"/>
          </a:xfrm>
          <a:custGeom>
            <a:avLst/>
            <a:gdLst/>
            <a:ahLst/>
            <a:cxnLst/>
            <a:rect l="l" t="t" r="r" b="b"/>
            <a:pathLst>
              <a:path w="1709818" h="254918">
                <a:moveTo>
                  <a:pt x="0" y="0"/>
                </a:moveTo>
                <a:lnTo>
                  <a:pt x="1709818" y="0"/>
                </a:lnTo>
                <a:lnTo>
                  <a:pt x="1709818" y="254918"/>
                </a:lnTo>
                <a:lnTo>
                  <a:pt x="0" y="25491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14" name="Group 14"/>
          <p:cNvGrpSpPr/>
          <p:nvPr/>
        </p:nvGrpSpPr>
        <p:grpSpPr>
          <a:xfrm>
            <a:off x="5525006" y="2889456"/>
            <a:ext cx="1043611" cy="1043611"/>
            <a:chOff x="0" y="0"/>
            <a:chExt cx="230413" cy="23041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30413" cy="230413"/>
            </a:xfrm>
            <a:custGeom>
              <a:avLst/>
              <a:gdLst/>
              <a:ahLst/>
              <a:cxnLst/>
              <a:rect l="l" t="t" r="r" b="b"/>
              <a:pathLst>
                <a:path w="230413" h="230413">
                  <a:moveTo>
                    <a:pt x="0" y="0"/>
                  </a:moveTo>
                  <a:lnTo>
                    <a:pt x="230413" y="0"/>
                  </a:lnTo>
                  <a:lnTo>
                    <a:pt x="230413" y="230413"/>
                  </a:lnTo>
                  <a:lnTo>
                    <a:pt x="0" y="230413"/>
                  </a:lnTo>
                  <a:close/>
                </a:path>
              </a:pathLst>
            </a:custGeom>
            <a:solidFill>
              <a:srgbClr val="577550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230413" cy="2304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80"/>
                </a:lnSpc>
              </a:pPr>
              <a:r>
                <a:rPr lang="en-US" sz="3200" b="1" dirty="0">
                  <a:solidFill>
                    <a:srgbClr val="D9DFCE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1</a:t>
              </a:r>
            </a:p>
          </p:txBody>
        </p:sp>
      </p:grpSp>
      <p:sp>
        <p:nvSpPr>
          <p:cNvPr id="17" name="Freeform 17"/>
          <p:cNvSpPr/>
          <p:nvPr/>
        </p:nvSpPr>
        <p:spPr>
          <a:xfrm>
            <a:off x="5872332" y="5714199"/>
            <a:ext cx="348957" cy="521702"/>
          </a:xfrm>
          <a:custGeom>
            <a:avLst/>
            <a:gdLst/>
            <a:ahLst/>
            <a:cxnLst/>
            <a:rect l="l" t="t" r="r" b="b"/>
            <a:pathLst>
              <a:path w="348957" h="521702">
                <a:moveTo>
                  <a:pt x="0" y="0"/>
                </a:moveTo>
                <a:lnTo>
                  <a:pt x="348958" y="0"/>
                </a:lnTo>
                <a:lnTo>
                  <a:pt x="348958" y="521702"/>
                </a:lnTo>
                <a:lnTo>
                  <a:pt x="0" y="52170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8" name="TextBox 18"/>
          <p:cNvSpPr txBox="1"/>
          <p:nvPr/>
        </p:nvSpPr>
        <p:spPr>
          <a:xfrm>
            <a:off x="6900012" y="3007408"/>
            <a:ext cx="7387426" cy="691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880"/>
              </a:lnSpc>
            </a:pPr>
            <a:r>
              <a:rPr lang="en-US" sz="4200" b="1" dirty="0" err="1">
                <a:solidFill>
                  <a:srgbClr val="134E1A"/>
                </a:solidFill>
                <a:latin typeface="Aileron Ultra-Bold" panose="02020500000000000000" charset="0"/>
                <a:sym typeface="Aileron Bold"/>
              </a:rPr>
              <a:t>產品構想說明</a:t>
            </a:r>
            <a:endParaRPr lang="en-US" sz="4200" b="1" dirty="0">
              <a:solidFill>
                <a:srgbClr val="134E1A"/>
              </a:solidFill>
              <a:latin typeface="Aileron Ultra-Bold" panose="02020500000000000000" charset="0"/>
              <a:sym typeface="Aileron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6900012" y="4289465"/>
            <a:ext cx="7818676" cy="691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880"/>
              </a:lnSpc>
            </a:pPr>
            <a:r>
              <a:rPr lang="en-US" sz="4200" b="1" dirty="0" err="1">
                <a:solidFill>
                  <a:srgbClr val="134E1A"/>
                </a:solidFill>
                <a:latin typeface="Aileron Ultra-Bold" panose="02020500000000000000" charset="0"/>
                <a:sym typeface="Aileron Bold"/>
              </a:rPr>
              <a:t>市場與規模大小、競爭優勢分析</a:t>
            </a:r>
            <a:endParaRPr lang="en-US" sz="4200" b="1" dirty="0">
              <a:solidFill>
                <a:srgbClr val="134E1A"/>
              </a:solidFill>
              <a:latin typeface="Aileron Ultra-Bold" panose="02020500000000000000" charset="0"/>
              <a:sym typeface="Aileron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6900012" y="5571523"/>
            <a:ext cx="5656305" cy="691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880"/>
              </a:lnSpc>
            </a:pPr>
            <a:r>
              <a:rPr lang="en-US" sz="4200" b="1" dirty="0" err="1">
                <a:solidFill>
                  <a:srgbClr val="134E1A"/>
                </a:solidFill>
                <a:latin typeface="Aileron Ultra-Bold" panose="02020500000000000000" charset="0"/>
                <a:sym typeface="Aileron Bold"/>
              </a:rPr>
              <a:t>營運模式</a:t>
            </a:r>
            <a:endParaRPr lang="en-US" sz="4200" b="1" dirty="0">
              <a:solidFill>
                <a:srgbClr val="134E1A"/>
              </a:solidFill>
              <a:latin typeface="Aileron Ultra-Bold" panose="02020500000000000000" charset="0"/>
              <a:sym typeface="Aileron Bold"/>
            </a:endParaRPr>
          </a:p>
        </p:txBody>
      </p:sp>
      <p:grpSp>
        <p:nvGrpSpPr>
          <p:cNvPr id="21" name="Group 21"/>
          <p:cNvGrpSpPr/>
          <p:nvPr/>
        </p:nvGrpSpPr>
        <p:grpSpPr>
          <a:xfrm>
            <a:off x="5525006" y="4171514"/>
            <a:ext cx="1043611" cy="1043611"/>
            <a:chOff x="0" y="0"/>
            <a:chExt cx="230413" cy="23041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30413" cy="230413"/>
            </a:xfrm>
            <a:custGeom>
              <a:avLst/>
              <a:gdLst/>
              <a:ahLst/>
              <a:cxnLst/>
              <a:rect l="l" t="t" r="r" b="b"/>
              <a:pathLst>
                <a:path w="230413" h="230413">
                  <a:moveTo>
                    <a:pt x="0" y="0"/>
                  </a:moveTo>
                  <a:lnTo>
                    <a:pt x="230413" y="0"/>
                  </a:lnTo>
                  <a:lnTo>
                    <a:pt x="230413" y="230413"/>
                  </a:lnTo>
                  <a:lnTo>
                    <a:pt x="0" y="230413"/>
                  </a:lnTo>
                  <a:close/>
                </a:path>
              </a:pathLst>
            </a:custGeom>
            <a:solidFill>
              <a:srgbClr val="577550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0"/>
              <a:ext cx="230413" cy="2304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80"/>
                </a:lnSpc>
              </a:pPr>
              <a:r>
                <a:rPr lang="en-US" sz="3200" b="1" dirty="0">
                  <a:solidFill>
                    <a:srgbClr val="D9DFCE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2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525006" y="5453572"/>
            <a:ext cx="1043611" cy="1043611"/>
            <a:chOff x="0" y="0"/>
            <a:chExt cx="230413" cy="23041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30413" cy="230413"/>
            </a:xfrm>
            <a:custGeom>
              <a:avLst/>
              <a:gdLst/>
              <a:ahLst/>
              <a:cxnLst/>
              <a:rect l="l" t="t" r="r" b="b"/>
              <a:pathLst>
                <a:path w="230413" h="230413">
                  <a:moveTo>
                    <a:pt x="0" y="0"/>
                  </a:moveTo>
                  <a:lnTo>
                    <a:pt x="230413" y="0"/>
                  </a:lnTo>
                  <a:lnTo>
                    <a:pt x="230413" y="230413"/>
                  </a:lnTo>
                  <a:lnTo>
                    <a:pt x="0" y="230413"/>
                  </a:lnTo>
                  <a:close/>
                </a:path>
              </a:pathLst>
            </a:custGeom>
            <a:solidFill>
              <a:srgbClr val="577550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0"/>
              <a:ext cx="230413" cy="2304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80"/>
                </a:lnSpc>
              </a:pPr>
              <a:r>
                <a:rPr lang="en-US" sz="3200" b="1" dirty="0">
                  <a:solidFill>
                    <a:srgbClr val="D9DFCE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3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525006" y="6735630"/>
            <a:ext cx="1043611" cy="1043774"/>
            <a:chOff x="0" y="-36"/>
            <a:chExt cx="230413" cy="23044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30413" cy="230413"/>
            </a:xfrm>
            <a:custGeom>
              <a:avLst/>
              <a:gdLst/>
              <a:ahLst/>
              <a:cxnLst/>
              <a:rect l="l" t="t" r="r" b="b"/>
              <a:pathLst>
                <a:path w="230413" h="230413">
                  <a:moveTo>
                    <a:pt x="0" y="0"/>
                  </a:moveTo>
                  <a:lnTo>
                    <a:pt x="230413" y="0"/>
                  </a:lnTo>
                  <a:lnTo>
                    <a:pt x="230413" y="230413"/>
                  </a:lnTo>
                  <a:lnTo>
                    <a:pt x="0" y="230413"/>
                  </a:lnTo>
                  <a:close/>
                </a:path>
              </a:pathLst>
            </a:custGeom>
            <a:solidFill>
              <a:srgbClr val="577550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36"/>
              <a:ext cx="230413" cy="2304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80"/>
                </a:lnSpc>
              </a:pPr>
              <a:r>
                <a:rPr lang="en-US" sz="3200" b="1" dirty="0">
                  <a:solidFill>
                    <a:srgbClr val="D9DFCE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4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525006" y="8017852"/>
            <a:ext cx="1043611" cy="1043774"/>
            <a:chOff x="0" y="-36"/>
            <a:chExt cx="230413" cy="230449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30413" cy="230413"/>
            </a:xfrm>
            <a:custGeom>
              <a:avLst/>
              <a:gdLst/>
              <a:ahLst/>
              <a:cxnLst/>
              <a:rect l="l" t="t" r="r" b="b"/>
              <a:pathLst>
                <a:path w="230413" h="230413">
                  <a:moveTo>
                    <a:pt x="0" y="0"/>
                  </a:moveTo>
                  <a:lnTo>
                    <a:pt x="230413" y="0"/>
                  </a:lnTo>
                  <a:lnTo>
                    <a:pt x="230413" y="230413"/>
                  </a:lnTo>
                  <a:lnTo>
                    <a:pt x="0" y="230413"/>
                  </a:lnTo>
                  <a:close/>
                </a:path>
              </a:pathLst>
            </a:custGeom>
            <a:solidFill>
              <a:srgbClr val="577550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36"/>
              <a:ext cx="230413" cy="2304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80"/>
                </a:lnSpc>
              </a:pPr>
              <a:r>
                <a:rPr lang="en-US" sz="3200" b="1" dirty="0">
                  <a:solidFill>
                    <a:srgbClr val="D9DFCE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5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6900012" y="6853745"/>
            <a:ext cx="5656305" cy="691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880"/>
              </a:lnSpc>
            </a:pPr>
            <a:r>
              <a:rPr lang="en-US" sz="4200" b="1" dirty="0" err="1">
                <a:solidFill>
                  <a:srgbClr val="134E1A"/>
                </a:solidFill>
                <a:latin typeface="Aileron Ultra-Bold" panose="02020500000000000000" charset="0"/>
                <a:sym typeface="Aileron Bold"/>
              </a:rPr>
              <a:t>財務規劃</a:t>
            </a:r>
            <a:endParaRPr lang="en-US" sz="4200" b="1" dirty="0">
              <a:solidFill>
                <a:srgbClr val="134E1A"/>
              </a:solidFill>
              <a:latin typeface="Aileron Ultra-Bold" panose="02020500000000000000" charset="0"/>
              <a:sym typeface="Aileron Bold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6900012" y="8135967"/>
            <a:ext cx="6155911" cy="691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880"/>
              </a:lnSpc>
            </a:pPr>
            <a:r>
              <a:rPr lang="en-US" sz="4200" b="1" dirty="0" err="1">
                <a:solidFill>
                  <a:srgbClr val="134E1A"/>
                </a:solidFill>
                <a:latin typeface="Aileron Ultra-Bold" panose="02020500000000000000" charset="0"/>
                <a:sym typeface="Aileron Bold"/>
              </a:rPr>
              <a:t>團體陣容介紹與獲獎經驗</a:t>
            </a:r>
            <a:endParaRPr lang="en-US" sz="4200" b="1" dirty="0">
              <a:solidFill>
                <a:srgbClr val="134E1A"/>
              </a:solidFill>
              <a:latin typeface="Aileron Ultra-Bold" panose="02020500000000000000" charset="0"/>
              <a:sym typeface="Aileron Bold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16922949" y="956947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Page 2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258300"/>
            <a:ext cx="18288000" cy="1028700"/>
            <a:chOff x="0" y="0"/>
            <a:chExt cx="4816593" cy="2709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70933"/>
            </a:xfrm>
            <a:custGeom>
              <a:avLst/>
              <a:gdLst/>
              <a:ahLst/>
              <a:cxnLst/>
              <a:rect l="l" t="t" r="r" b="b"/>
              <a:pathLst>
                <a:path w="4816592" h="270933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D9DFCE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3280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864217" y="2323638"/>
            <a:ext cx="11148697" cy="6897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</a:pPr>
            <a:r>
              <a:rPr lang="en-US" sz="4800" b="1" dirty="0" err="1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要解決的問題</a:t>
            </a:r>
            <a:endParaRPr lang="en-US" sz="4800" b="1" dirty="0">
              <a:solidFill>
                <a:srgbClr val="322A2A"/>
              </a:solidFill>
              <a:latin typeface="Aileron Ultra-Bold"/>
              <a:ea typeface="Aileron Ultra-Bold"/>
              <a:cs typeface="Aileron Ultra-Bold"/>
              <a:sym typeface="Aileron Ultra-Bold"/>
            </a:endParaRPr>
          </a:p>
          <a:p>
            <a:pPr marL="777240" lvl="1" indent="-388620" algn="l">
              <a:lnSpc>
                <a:spcPts val="5039"/>
              </a:lnSpc>
              <a:buFont typeface="Arial"/>
              <a:buChar char="•"/>
            </a:pPr>
            <a:r>
              <a:rPr lang="en-US" sz="3599" b="1" dirty="0" err="1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近年街頭騷擾與襲擊事件頻繁</a:t>
            </a:r>
            <a:endParaRPr lang="en-US" sz="3599" b="1" dirty="0">
              <a:solidFill>
                <a:srgbClr val="322A2A"/>
              </a:solidFill>
              <a:latin typeface="Aileron Ultra-Bold"/>
              <a:ea typeface="Aileron Ultra-Bold"/>
              <a:cs typeface="Aileron Ultra-Bold"/>
              <a:sym typeface="Aileron Ultra-Bold"/>
            </a:endParaRPr>
          </a:p>
          <a:p>
            <a:pPr marL="777240" lvl="1" indent="-388620" algn="l">
              <a:lnSpc>
                <a:spcPts val="5039"/>
              </a:lnSpc>
              <a:buFont typeface="Arial"/>
              <a:buChar char="•"/>
            </a:pPr>
            <a:r>
              <a:rPr lang="en-US" sz="3599" b="1" dirty="0" err="1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現有安全</a:t>
            </a:r>
            <a:r>
              <a:rPr lang="en-US" sz="3599" b="1" dirty="0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 App </a:t>
            </a:r>
            <a:r>
              <a:rPr lang="en-US" sz="3599" b="1" dirty="0" err="1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功能單一（只能打電話或分享定位</a:t>
            </a:r>
            <a:r>
              <a:rPr lang="en-US" sz="3599" b="1" dirty="0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）</a:t>
            </a:r>
          </a:p>
          <a:p>
            <a:pPr marL="777240" lvl="1" indent="-388620" algn="l">
              <a:lnSpc>
                <a:spcPts val="5039"/>
              </a:lnSpc>
              <a:buFont typeface="Arial"/>
              <a:buChar char="•"/>
            </a:pPr>
            <a:r>
              <a:rPr lang="en-US" sz="3599" b="1" dirty="0" err="1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民眾缺乏整合型及訊透明的安全平台</a:t>
            </a:r>
            <a:endParaRPr lang="en-US" sz="3599" b="1" dirty="0">
              <a:solidFill>
                <a:srgbClr val="322A2A"/>
              </a:solidFill>
              <a:latin typeface="Aileron Ultra-Bold"/>
              <a:ea typeface="Aileron Ultra-Bold"/>
              <a:cs typeface="Aileron Ultra-Bold"/>
              <a:sym typeface="Aileron Ultra-Bold"/>
            </a:endParaRPr>
          </a:p>
          <a:p>
            <a:pPr algn="l">
              <a:lnSpc>
                <a:spcPts val="1120"/>
              </a:lnSpc>
            </a:pPr>
            <a:endParaRPr lang="en-US" sz="3599" b="1" dirty="0">
              <a:solidFill>
                <a:srgbClr val="322A2A"/>
              </a:solidFill>
              <a:latin typeface="Aileron Ultra-Bold"/>
              <a:ea typeface="Aileron Ultra-Bold"/>
              <a:cs typeface="Aileron Ultra-Bold"/>
              <a:sym typeface="Aileron Ultra-Bold"/>
            </a:endParaRPr>
          </a:p>
          <a:p>
            <a:pPr algn="l">
              <a:lnSpc>
                <a:spcPts val="6720"/>
              </a:lnSpc>
            </a:pPr>
            <a:r>
              <a:rPr lang="en-US" sz="4800" b="1" dirty="0" err="1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滿足需求</a:t>
            </a:r>
            <a:r>
              <a:rPr lang="en-US" sz="4800" b="1" dirty="0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：</a:t>
            </a:r>
          </a:p>
          <a:p>
            <a:pPr marL="777240" lvl="1" indent="-388620" algn="l">
              <a:lnSpc>
                <a:spcPts val="5039"/>
              </a:lnSpc>
              <a:buFont typeface="Arial"/>
              <a:buChar char="•"/>
            </a:pPr>
            <a:r>
              <a:rPr lang="en-US" sz="3599" b="1" dirty="0" err="1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提供視覺化安全資訊（事件回報</a:t>
            </a:r>
            <a:r>
              <a:rPr lang="en-US" sz="3599" b="1" dirty="0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 + </a:t>
            </a:r>
            <a:r>
              <a:rPr lang="en-US" sz="3599" b="1" dirty="0" err="1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地圖顯示事件</a:t>
            </a:r>
            <a:r>
              <a:rPr lang="en-US" sz="3599" b="1" dirty="0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）</a:t>
            </a:r>
          </a:p>
          <a:p>
            <a:pPr marL="777240" lvl="1" indent="-388620" algn="l">
              <a:lnSpc>
                <a:spcPts val="5039"/>
              </a:lnSpc>
              <a:buFont typeface="Arial"/>
              <a:buChar char="•"/>
            </a:pPr>
            <a:r>
              <a:rPr lang="en-US" sz="3599" b="1" dirty="0" err="1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提供緊急應變工具</a:t>
            </a:r>
            <a:r>
              <a:rPr lang="en-US" sz="3599" b="1" dirty="0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（</a:t>
            </a:r>
            <a:r>
              <a:rPr lang="zh-TW" altLang="en-US" sz="3599" b="1" dirty="0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快速</a:t>
            </a:r>
            <a:r>
              <a:rPr lang="en-US" sz="3599" b="1" dirty="0" err="1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求助</a:t>
            </a:r>
            <a:r>
              <a:rPr lang="en-US" sz="3599" b="1" dirty="0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）</a:t>
            </a:r>
          </a:p>
          <a:p>
            <a:pPr marL="777240" lvl="1" indent="-388620" algn="l">
              <a:lnSpc>
                <a:spcPts val="5039"/>
              </a:lnSpc>
              <a:buFont typeface="Arial"/>
              <a:buChar char="•"/>
            </a:pPr>
            <a:r>
              <a:rPr lang="en-US" sz="3599" b="1" dirty="0" err="1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建立社群互助機制（匿名聊天室</a:t>
            </a:r>
            <a:r>
              <a:rPr lang="en-US" sz="3599" b="1" dirty="0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）</a:t>
            </a:r>
          </a:p>
          <a:p>
            <a:pPr marL="777240" lvl="1" indent="-388620" algn="l">
              <a:lnSpc>
                <a:spcPts val="5039"/>
              </a:lnSpc>
              <a:buFont typeface="Arial"/>
              <a:buChar char="•"/>
            </a:pPr>
            <a:r>
              <a:rPr lang="en-US" sz="3599" b="1" dirty="0" err="1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提供資訊透明平台（用戶門檻低</a:t>
            </a:r>
            <a:r>
              <a:rPr lang="en-US" sz="3599" b="1" dirty="0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）</a:t>
            </a:r>
          </a:p>
          <a:p>
            <a:pPr marL="777240" lvl="1" indent="-388620" algn="l">
              <a:lnSpc>
                <a:spcPts val="5039"/>
              </a:lnSpc>
              <a:buFont typeface="Arial"/>
              <a:buChar char="•"/>
            </a:pPr>
            <a:r>
              <a:rPr lang="en-US" sz="3599" b="1" dirty="0" err="1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提供可信任避難據點（安全合作店家</a:t>
            </a:r>
            <a:r>
              <a:rPr lang="en-US" sz="3599" b="1" dirty="0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）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864217" y="561728"/>
            <a:ext cx="12804395" cy="1761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96"/>
              </a:lnSpc>
            </a:pPr>
            <a:r>
              <a:rPr lang="en-US" sz="5600" b="1">
                <a:solidFill>
                  <a:srgbClr val="134E1A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1.1該產品/服務能解決顧客甚麼問題？</a:t>
            </a:r>
          </a:p>
          <a:p>
            <a:pPr marL="0" lvl="0" indent="0" algn="l">
              <a:lnSpc>
                <a:spcPts val="6496"/>
              </a:lnSpc>
              <a:spcBef>
                <a:spcPct val="0"/>
              </a:spcBef>
            </a:pPr>
            <a:r>
              <a:rPr lang="en-US" sz="5600" b="1">
                <a:solidFill>
                  <a:srgbClr val="134E1A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滿足何種需求？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4057153" y="0"/>
            <a:ext cx="3427276" cy="4020223"/>
            <a:chOff x="0" y="0"/>
            <a:chExt cx="902657" cy="105882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02657" cy="1058824"/>
            </a:xfrm>
            <a:custGeom>
              <a:avLst/>
              <a:gdLst/>
              <a:ahLst/>
              <a:cxnLst/>
              <a:rect l="l" t="t" r="r" b="b"/>
              <a:pathLst>
                <a:path w="902657" h="1058824">
                  <a:moveTo>
                    <a:pt x="0" y="0"/>
                  </a:moveTo>
                  <a:lnTo>
                    <a:pt x="902657" y="0"/>
                  </a:lnTo>
                  <a:lnTo>
                    <a:pt x="902657" y="1058824"/>
                  </a:lnTo>
                  <a:lnTo>
                    <a:pt x="0" y="1058824"/>
                  </a:lnTo>
                  <a:close/>
                </a:path>
              </a:pathLst>
            </a:custGeom>
            <a:solidFill>
              <a:srgbClr val="F5F8E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902657" cy="11159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5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3012914" y="2173416"/>
            <a:ext cx="4977894" cy="3988538"/>
          </a:xfrm>
          <a:custGeom>
            <a:avLst/>
            <a:gdLst/>
            <a:ahLst/>
            <a:cxnLst/>
            <a:rect l="l" t="t" r="r" b="b"/>
            <a:pathLst>
              <a:path w="4977894" h="3988538">
                <a:moveTo>
                  <a:pt x="0" y="0"/>
                </a:moveTo>
                <a:lnTo>
                  <a:pt x="4977894" y="0"/>
                </a:lnTo>
                <a:lnTo>
                  <a:pt x="4977894" y="3988538"/>
                </a:lnTo>
                <a:lnTo>
                  <a:pt x="0" y="39885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1" name="Freeform 11"/>
          <p:cNvSpPr/>
          <p:nvPr/>
        </p:nvSpPr>
        <p:spPr>
          <a:xfrm>
            <a:off x="15770791" y="6683830"/>
            <a:ext cx="1709818" cy="254918"/>
          </a:xfrm>
          <a:custGeom>
            <a:avLst/>
            <a:gdLst/>
            <a:ahLst/>
            <a:cxnLst/>
            <a:rect l="l" t="t" r="r" b="b"/>
            <a:pathLst>
              <a:path w="1709818" h="254918">
                <a:moveTo>
                  <a:pt x="0" y="0"/>
                </a:moveTo>
                <a:lnTo>
                  <a:pt x="1709818" y="0"/>
                </a:lnTo>
                <a:lnTo>
                  <a:pt x="1709818" y="254918"/>
                </a:lnTo>
                <a:lnTo>
                  <a:pt x="0" y="2549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2" name="TextBox 12"/>
          <p:cNvSpPr txBox="1"/>
          <p:nvPr/>
        </p:nvSpPr>
        <p:spPr>
          <a:xfrm>
            <a:off x="16922949" y="956947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Page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258300"/>
            <a:ext cx="18288000" cy="1028700"/>
            <a:chOff x="0" y="0"/>
            <a:chExt cx="4816593" cy="2709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70933"/>
            </a:xfrm>
            <a:custGeom>
              <a:avLst/>
              <a:gdLst/>
              <a:ahLst/>
              <a:cxnLst/>
              <a:rect l="l" t="t" r="r" b="b"/>
              <a:pathLst>
                <a:path w="4816592" h="270933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D9DFCE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3280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864217" y="2014300"/>
            <a:ext cx="15260782" cy="6575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719"/>
              </a:lnSpc>
              <a:spcBef>
                <a:spcPct val="0"/>
              </a:spcBef>
            </a:pPr>
            <a:r>
              <a:rPr lang="en-US" sz="4800" b="1" dirty="0" err="1">
                <a:solidFill>
                  <a:srgbClr val="322A2A"/>
                </a:solidFill>
                <a:latin typeface="Aileron Ultra-Bold"/>
                <a:sym typeface="Aileron Bold"/>
              </a:rPr>
              <a:t>創新性</a:t>
            </a:r>
            <a:r>
              <a:rPr lang="en-US" sz="4800" b="1" dirty="0">
                <a:solidFill>
                  <a:srgbClr val="322A2A"/>
                </a:solidFill>
                <a:latin typeface="Aileron Ultra-Bold"/>
                <a:sym typeface="Aileron Bold"/>
              </a:rPr>
              <a:t>：</a:t>
            </a:r>
          </a:p>
          <a:p>
            <a:pPr marL="777240" lvl="1" indent="-388620">
              <a:lnSpc>
                <a:spcPts val="5040"/>
              </a:lnSpc>
              <a:buFont typeface="Arial"/>
              <a:buChar char="•"/>
            </a:pPr>
            <a:r>
              <a:rPr lang="en-US" sz="3600" b="1" dirty="0" err="1">
                <a:solidFill>
                  <a:srgbClr val="322A2A"/>
                </a:solidFill>
                <a:latin typeface="Aileron Ultra-Bold"/>
                <a:sym typeface="Aileron Bold"/>
              </a:rPr>
              <a:t>整合多項功能於同一平台</a:t>
            </a:r>
            <a:endParaRPr lang="en-US" sz="3600" b="1" dirty="0">
              <a:solidFill>
                <a:srgbClr val="322A2A"/>
              </a:solidFill>
              <a:latin typeface="Aileron Ultra-Bold"/>
              <a:sym typeface="Aileron Bold"/>
            </a:endParaRPr>
          </a:p>
          <a:p>
            <a:pPr>
              <a:lnSpc>
                <a:spcPts val="5040"/>
              </a:lnSpc>
            </a:pPr>
            <a:endParaRPr lang="en-US" sz="3600" b="1" dirty="0">
              <a:solidFill>
                <a:srgbClr val="322A2A"/>
              </a:solidFill>
              <a:latin typeface="Aileron Ultra-Bold"/>
              <a:sym typeface="Aileron Bold"/>
            </a:endParaRPr>
          </a:p>
          <a:p>
            <a:pPr marL="777240" lvl="1" indent="-388620">
              <a:lnSpc>
                <a:spcPts val="5040"/>
              </a:lnSpc>
              <a:buFont typeface="Arial"/>
              <a:buChar char="•"/>
            </a:pPr>
            <a:r>
              <a:rPr lang="en-US" sz="3600" b="1" dirty="0">
                <a:solidFill>
                  <a:srgbClr val="322A2A"/>
                </a:solidFill>
                <a:latin typeface="Aileron Ultra-Bold"/>
                <a:sym typeface="Aileron Bold"/>
              </a:rPr>
              <a:t>「</a:t>
            </a:r>
            <a:r>
              <a:rPr lang="en-US" sz="3600" b="1" dirty="0" err="1">
                <a:solidFill>
                  <a:srgbClr val="322A2A"/>
                </a:solidFill>
                <a:latin typeface="Aileron Ultra-Bold"/>
                <a:sym typeface="Aileron Bold"/>
              </a:rPr>
              <a:t>社群互助×技術創新」的雙軸思維</a:t>
            </a:r>
            <a:endParaRPr lang="en-US" sz="3600" b="1" dirty="0">
              <a:solidFill>
                <a:srgbClr val="322A2A"/>
              </a:solidFill>
              <a:latin typeface="Aileron Ultra-Bold"/>
              <a:sym typeface="Aileron Bold"/>
            </a:endParaRPr>
          </a:p>
          <a:p>
            <a:pPr>
              <a:lnSpc>
                <a:spcPts val="5040"/>
              </a:lnSpc>
            </a:pPr>
            <a:r>
              <a:rPr lang="en-US" sz="3600" b="1" dirty="0">
                <a:solidFill>
                  <a:srgbClr val="322A2A"/>
                </a:solidFill>
                <a:latin typeface="Aileron Ultra-Bold"/>
                <a:sym typeface="Aileron Bold"/>
              </a:rPr>
              <a:t>　　</a:t>
            </a:r>
            <a:r>
              <a:rPr lang="en-US" sz="3600" b="1" dirty="0" err="1">
                <a:solidFill>
                  <a:srgbClr val="322A2A"/>
                </a:solidFill>
                <a:latin typeface="Aileron Ultra-Bold"/>
                <a:sym typeface="Aileron Bold"/>
              </a:rPr>
              <a:t>將個人防護升級為社區安全網</a:t>
            </a:r>
            <a:endParaRPr lang="en-US" sz="3600" b="1" dirty="0">
              <a:solidFill>
                <a:srgbClr val="322A2A"/>
              </a:solidFill>
              <a:latin typeface="Aileron Ultra-Bold"/>
              <a:sym typeface="Aileron Bold"/>
            </a:endParaRPr>
          </a:p>
          <a:p>
            <a:pPr>
              <a:lnSpc>
                <a:spcPts val="5040"/>
              </a:lnSpc>
            </a:pPr>
            <a:endParaRPr lang="en-US" sz="3600" b="1" dirty="0">
              <a:solidFill>
                <a:srgbClr val="322A2A"/>
              </a:solidFill>
              <a:latin typeface="Aileron Ultra-Bold"/>
              <a:sym typeface="Aileron Bold"/>
            </a:endParaRPr>
          </a:p>
          <a:p>
            <a:pPr marL="777240" lvl="1" indent="-388620">
              <a:lnSpc>
                <a:spcPts val="5040"/>
              </a:lnSpc>
              <a:buFont typeface="Arial"/>
              <a:buChar char="•"/>
            </a:pPr>
            <a:r>
              <a:rPr lang="en-US" sz="3600" b="1" dirty="0">
                <a:solidFill>
                  <a:srgbClr val="322A2A"/>
                </a:solidFill>
                <a:latin typeface="Aileron Ultra-Bold"/>
                <a:sym typeface="Aileron Bold"/>
              </a:rPr>
              <a:t>「</a:t>
            </a:r>
            <a:r>
              <a:rPr lang="en-US" sz="3600" b="1" dirty="0" err="1">
                <a:solidFill>
                  <a:srgbClr val="322A2A"/>
                </a:solidFill>
                <a:latin typeface="Aileron Ultra-Bold"/>
                <a:sym typeface="Aileron Bold"/>
              </a:rPr>
              <a:t>安全合作店家」模式</a:t>
            </a:r>
            <a:endParaRPr lang="en-US" sz="3600" b="1" dirty="0">
              <a:solidFill>
                <a:srgbClr val="322A2A"/>
              </a:solidFill>
              <a:latin typeface="Aileron Ultra-Bold"/>
              <a:sym typeface="Aileron Bold"/>
            </a:endParaRPr>
          </a:p>
          <a:p>
            <a:pPr>
              <a:lnSpc>
                <a:spcPts val="5040"/>
              </a:lnSpc>
            </a:pPr>
            <a:r>
              <a:rPr lang="en-US" sz="3600" b="1" dirty="0">
                <a:solidFill>
                  <a:srgbClr val="322A2A"/>
                </a:solidFill>
                <a:latin typeface="Aileron Ultra-Bold"/>
                <a:sym typeface="Aileron Bold"/>
              </a:rPr>
              <a:t>　　（</a:t>
            </a:r>
            <a:r>
              <a:rPr lang="en-US" sz="3600" b="1" dirty="0" err="1">
                <a:solidFill>
                  <a:srgbClr val="322A2A"/>
                </a:solidFill>
                <a:latin typeface="Aileron Ultra-Bold"/>
                <a:sym typeface="Aileron Bold"/>
              </a:rPr>
              <a:t>將商家納入社區防護生態，兼顧社會責任與商業效益</a:t>
            </a:r>
            <a:r>
              <a:rPr lang="en-US" sz="3600" b="1" dirty="0">
                <a:solidFill>
                  <a:srgbClr val="322A2A"/>
                </a:solidFill>
                <a:latin typeface="Aileron Ultra-Bold"/>
                <a:sym typeface="Aileron Bold"/>
              </a:rPr>
              <a:t>）</a:t>
            </a:r>
          </a:p>
          <a:p>
            <a:pPr>
              <a:lnSpc>
                <a:spcPts val="5040"/>
              </a:lnSpc>
            </a:pPr>
            <a:endParaRPr lang="en-US" sz="3600" b="1" dirty="0">
              <a:solidFill>
                <a:srgbClr val="322A2A"/>
              </a:solidFill>
              <a:latin typeface="Aileron Ultra-Bold"/>
              <a:sym typeface="Aileron Bold"/>
            </a:endParaRPr>
          </a:p>
          <a:p>
            <a:pPr marL="777240" lvl="1" indent="-388620">
              <a:lnSpc>
                <a:spcPts val="5040"/>
              </a:lnSpc>
              <a:buFont typeface="Arial"/>
              <a:buChar char="•"/>
            </a:pPr>
            <a:r>
              <a:rPr lang="en-US" sz="3600" b="1" dirty="0">
                <a:solidFill>
                  <a:srgbClr val="322A2A"/>
                </a:solidFill>
                <a:latin typeface="Aileron Ultra-Bold"/>
                <a:sym typeface="Aileron Bold"/>
              </a:rPr>
              <a:t>AI </a:t>
            </a:r>
            <a:r>
              <a:rPr lang="en-US" sz="3600" b="1" dirty="0" err="1">
                <a:solidFill>
                  <a:srgbClr val="322A2A"/>
                </a:solidFill>
                <a:latin typeface="Aileron Ultra-Bold"/>
                <a:sym typeface="Aileron Bold"/>
              </a:rPr>
              <a:t>自動審核（匿名聊天室、上傳照片人臉模糊）兼顧安全與隱私</a:t>
            </a:r>
            <a:endParaRPr lang="en-US" sz="3600" b="1" dirty="0">
              <a:solidFill>
                <a:srgbClr val="322A2A"/>
              </a:solidFill>
              <a:latin typeface="Aileron Ultra-Bold"/>
              <a:sym typeface="Aileron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864217" y="561728"/>
            <a:ext cx="12804395" cy="950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496"/>
              </a:lnSpc>
              <a:spcBef>
                <a:spcPct val="0"/>
              </a:spcBef>
            </a:pPr>
            <a:r>
              <a:rPr lang="en-US" sz="5600" b="1">
                <a:solidFill>
                  <a:srgbClr val="134E1A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1.2創新性與核心技術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4057153" y="0"/>
            <a:ext cx="3427276" cy="4020223"/>
            <a:chOff x="0" y="0"/>
            <a:chExt cx="902657" cy="105882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02657" cy="1058824"/>
            </a:xfrm>
            <a:custGeom>
              <a:avLst/>
              <a:gdLst/>
              <a:ahLst/>
              <a:cxnLst/>
              <a:rect l="l" t="t" r="r" b="b"/>
              <a:pathLst>
                <a:path w="902657" h="1058824">
                  <a:moveTo>
                    <a:pt x="0" y="0"/>
                  </a:moveTo>
                  <a:lnTo>
                    <a:pt x="902657" y="0"/>
                  </a:lnTo>
                  <a:lnTo>
                    <a:pt x="902657" y="1058824"/>
                  </a:lnTo>
                  <a:lnTo>
                    <a:pt x="0" y="1058824"/>
                  </a:lnTo>
                  <a:close/>
                </a:path>
              </a:pathLst>
            </a:custGeom>
            <a:solidFill>
              <a:srgbClr val="F5F8E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902657" cy="11159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5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5770791" y="6683830"/>
            <a:ext cx="1709818" cy="254918"/>
          </a:xfrm>
          <a:custGeom>
            <a:avLst/>
            <a:gdLst/>
            <a:ahLst/>
            <a:cxnLst/>
            <a:rect l="l" t="t" r="r" b="b"/>
            <a:pathLst>
              <a:path w="1709818" h="254918">
                <a:moveTo>
                  <a:pt x="0" y="0"/>
                </a:moveTo>
                <a:lnTo>
                  <a:pt x="1709818" y="0"/>
                </a:lnTo>
                <a:lnTo>
                  <a:pt x="1709818" y="254918"/>
                </a:lnTo>
                <a:lnTo>
                  <a:pt x="0" y="2549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1" name="Freeform 11"/>
          <p:cNvSpPr/>
          <p:nvPr/>
        </p:nvSpPr>
        <p:spPr>
          <a:xfrm>
            <a:off x="11436777" y="1084369"/>
            <a:ext cx="4816404" cy="4599666"/>
          </a:xfrm>
          <a:custGeom>
            <a:avLst/>
            <a:gdLst/>
            <a:ahLst/>
            <a:cxnLst/>
            <a:rect l="l" t="t" r="r" b="b"/>
            <a:pathLst>
              <a:path w="4816404" h="4599666">
                <a:moveTo>
                  <a:pt x="0" y="0"/>
                </a:moveTo>
                <a:lnTo>
                  <a:pt x="4816404" y="0"/>
                </a:lnTo>
                <a:lnTo>
                  <a:pt x="4816404" y="4599666"/>
                </a:lnTo>
                <a:lnTo>
                  <a:pt x="0" y="45996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2" name="TextBox 12"/>
          <p:cNvSpPr txBox="1"/>
          <p:nvPr/>
        </p:nvSpPr>
        <p:spPr>
          <a:xfrm>
            <a:off x="16922949" y="956947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Page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258300"/>
            <a:ext cx="18288000" cy="1028700"/>
            <a:chOff x="0" y="0"/>
            <a:chExt cx="4816593" cy="2709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70933"/>
            </a:xfrm>
            <a:custGeom>
              <a:avLst/>
              <a:gdLst/>
              <a:ahLst/>
              <a:cxnLst/>
              <a:rect l="l" t="t" r="r" b="b"/>
              <a:pathLst>
                <a:path w="4816592" h="270933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D9DFCE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3280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864217" y="1914861"/>
            <a:ext cx="11523626" cy="6575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 dirty="0" err="1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核心技術</a:t>
            </a:r>
            <a:r>
              <a:rPr lang="en-US" sz="4800" b="1" dirty="0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：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 b="1" dirty="0" err="1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後端：Django</a:t>
            </a:r>
            <a:r>
              <a:rPr lang="en-US" sz="3600" b="1" dirty="0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 + Python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 b="1" dirty="0" err="1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資料庫：MySQL</a:t>
            </a:r>
            <a:endParaRPr lang="en-US" sz="3600" b="1" dirty="0">
              <a:solidFill>
                <a:srgbClr val="322A2A"/>
              </a:solidFill>
              <a:latin typeface="Aileron Ultra-Bold"/>
              <a:ea typeface="Aileron Ultra-Bold"/>
              <a:cs typeface="Aileron Ultra-Bold"/>
              <a:sym typeface="Aileron Ultra-Bold"/>
            </a:endParaRP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 b="1" dirty="0" err="1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地圖服務：Google</a:t>
            </a:r>
            <a:r>
              <a:rPr lang="en-US" sz="3600" b="1" dirty="0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 Maps API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 b="1" dirty="0" err="1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前端：HTML、CSS、JavaScript</a:t>
            </a:r>
            <a:endParaRPr lang="en-US" sz="3600" b="1" dirty="0">
              <a:solidFill>
                <a:srgbClr val="322A2A"/>
              </a:solidFill>
              <a:latin typeface="Aileron Ultra-Bold"/>
              <a:ea typeface="Aileron Ultra-Bold"/>
              <a:cs typeface="Aileron Ultra-Bold"/>
              <a:sym typeface="Aileron Ultra-Bold"/>
            </a:endParaRP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 b="1" dirty="0" err="1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跨平台：PWA</a:t>
            </a:r>
            <a:r>
              <a:rPr lang="en-US" sz="3600" b="1" dirty="0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 </a:t>
            </a:r>
            <a:r>
              <a:rPr lang="en-US" sz="3600" b="1" dirty="0" err="1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推播，確保使用便利性</a:t>
            </a:r>
            <a:endParaRPr lang="en-US" sz="3600" b="1" dirty="0">
              <a:solidFill>
                <a:srgbClr val="322A2A"/>
              </a:solidFill>
              <a:latin typeface="Aileron Ultra-Bold"/>
              <a:ea typeface="Aileron Ultra-Bold"/>
              <a:cs typeface="Aileron Ultra-Bold"/>
              <a:sym typeface="Aileron Ultra-Bold"/>
            </a:endParaRP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 b="1" dirty="0" err="1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人工智慧應用</a:t>
            </a:r>
            <a:r>
              <a:rPr lang="en-US" sz="3600" b="1" dirty="0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：</a:t>
            </a:r>
          </a:p>
          <a:p>
            <a:pPr marL="1554480" lvl="2" indent="-518160" algn="l">
              <a:lnSpc>
                <a:spcPts val="5040"/>
              </a:lnSpc>
              <a:buFont typeface="Arial"/>
              <a:buChar char="⚬"/>
            </a:pPr>
            <a:r>
              <a:rPr lang="en-US" sz="3600" b="1" dirty="0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OpenCV Haar </a:t>
            </a:r>
            <a:r>
              <a:rPr lang="en-US" sz="3600" b="1" dirty="0" err="1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Cascade進行人臉偵測與模糊化</a:t>
            </a:r>
            <a:endParaRPr lang="en-US" sz="3600" b="1" dirty="0">
              <a:solidFill>
                <a:srgbClr val="322A2A"/>
              </a:solidFill>
              <a:latin typeface="Aileron Ultra-Bold"/>
              <a:ea typeface="Aileron Ultra-Bold"/>
              <a:cs typeface="Aileron Ultra-Bold"/>
              <a:sym typeface="Aileron Ultra-Bold"/>
            </a:endParaRPr>
          </a:p>
          <a:p>
            <a:pPr marL="1554480" lvl="2" indent="-518160" algn="l">
              <a:lnSpc>
                <a:spcPts val="5040"/>
              </a:lnSpc>
              <a:buFont typeface="Arial"/>
              <a:buChar char="⚬"/>
            </a:pPr>
            <a:r>
              <a:rPr lang="en-US" sz="3600" b="1" dirty="0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影像以Base64儲存，保障隱私</a:t>
            </a:r>
          </a:p>
          <a:p>
            <a:pPr marL="1554480" lvl="2" indent="-518160" algn="l">
              <a:lnSpc>
                <a:spcPts val="5040"/>
              </a:lnSpc>
              <a:buFont typeface="Arial"/>
              <a:buChar char="⚬"/>
            </a:pPr>
            <a:r>
              <a:rPr lang="en-US" sz="3600" b="1" dirty="0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AI </a:t>
            </a:r>
            <a:r>
              <a:rPr lang="en-US" sz="3600" b="1" dirty="0" err="1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模型審查聊天室內容，維護安全與友善度</a:t>
            </a:r>
            <a:endParaRPr lang="en-US" sz="3600" b="1" dirty="0">
              <a:solidFill>
                <a:srgbClr val="322A2A"/>
              </a:solidFill>
              <a:latin typeface="Aileron Ultra-Bold"/>
              <a:ea typeface="Aileron Ultra-Bold"/>
              <a:cs typeface="Aileron Ultra-Bold"/>
              <a:sym typeface="Aileron Ultra-Bold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4057153" y="0"/>
            <a:ext cx="3427276" cy="4020223"/>
            <a:chOff x="0" y="0"/>
            <a:chExt cx="902657" cy="105882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02657" cy="1058824"/>
            </a:xfrm>
            <a:custGeom>
              <a:avLst/>
              <a:gdLst/>
              <a:ahLst/>
              <a:cxnLst/>
              <a:rect l="l" t="t" r="r" b="b"/>
              <a:pathLst>
                <a:path w="902657" h="1058824">
                  <a:moveTo>
                    <a:pt x="0" y="0"/>
                  </a:moveTo>
                  <a:lnTo>
                    <a:pt x="902657" y="0"/>
                  </a:lnTo>
                  <a:lnTo>
                    <a:pt x="902657" y="1058824"/>
                  </a:lnTo>
                  <a:lnTo>
                    <a:pt x="0" y="1058824"/>
                  </a:lnTo>
                  <a:close/>
                </a:path>
              </a:pathLst>
            </a:custGeom>
            <a:solidFill>
              <a:srgbClr val="F5F8E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902657" cy="11159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5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5770791" y="6683830"/>
            <a:ext cx="1709818" cy="254918"/>
          </a:xfrm>
          <a:custGeom>
            <a:avLst/>
            <a:gdLst/>
            <a:ahLst/>
            <a:cxnLst/>
            <a:rect l="l" t="t" r="r" b="b"/>
            <a:pathLst>
              <a:path w="1709818" h="254918">
                <a:moveTo>
                  <a:pt x="0" y="0"/>
                </a:moveTo>
                <a:lnTo>
                  <a:pt x="1709818" y="0"/>
                </a:lnTo>
                <a:lnTo>
                  <a:pt x="1709818" y="254918"/>
                </a:lnTo>
                <a:lnTo>
                  <a:pt x="0" y="2549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0" name="Freeform 10"/>
          <p:cNvSpPr/>
          <p:nvPr/>
        </p:nvSpPr>
        <p:spPr>
          <a:xfrm>
            <a:off x="12009284" y="1511760"/>
            <a:ext cx="5250016" cy="4357513"/>
          </a:xfrm>
          <a:custGeom>
            <a:avLst/>
            <a:gdLst/>
            <a:ahLst/>
            <a:cxnLst/>
            <a:rect l="l" t="t" r="r" b="b"/>
            <a:pathLst>
              <a:path w="5250016" h="4357513">
                <a:moveTo>
                  <a:pt x="0" y="0"/>
                </a:moveTo>
                <a:lnTo>
                  <a:pt x="5250016" y="0"/>
                </a:lnTo>
                <a:lnTo>
                  <a:pt x="5250016" y="4357513"/>
                </a:lnTo>
                <a:lnTo>
                  <a:pt x="0" y="43575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1" name="TextBox 11"/>
          <p:cNvSpPr txBox="1"/>
          <p:nvPr/>
        </p:nvSpPr>
        <p:spPr>
          <a:xfrm>
            <a:off x="1864217" y="561728"/>
            <a:ext cx="12804395" cy="950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496"/>
              </a:lnSpc>
              <a:spcBef>
                <a:spcPct val="0"/>
              </a:spcBef>
            </a:pPr>
            <a:r>
              <a:rPr lang="en-US" sz="5600" b="1">
                <a:solidFill>
                  <a:srgbClr val="134E1A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1.2創</a:t>
            </a:r>
            <a:r>
              <a:rPr lang="en-US" sz="5600" b="1">
                <a:solidFill>
                  <a:srgbClr val="134E1A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新性與核心技術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922949" y="956947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Page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258300"/>
            <a:ext cx="18288000" cy="1028700"/>
            <a:chOff x="0" y="0"/>
            <a:chExt cx="4816593" cy="2709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70933"/>
            </a:xfrm>
            <a:custGeom>
              <a:avLst/>
              <a:gdLst/>
              <a:ahLst/>
              <a:cxnLst/>
              <a:rect l="l" t="t" r="r" b="b"/>
              <a:pathLst>
                <a:path w="4816592" h="270933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D9DFCE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3280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057153" y="0"/>
            <a:ext cx="3427276" cy="4020223"/>
            <a:chOff x="0" y="0"/>
            <a:chExt cx="902657" cy="105882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02657" cy="1058824"/>
            </a:xfrm>
            <a:custGeom>
              <a:avLst/>
              <a:gdLst/>
              <a:ahLst/>
              <a:cxnLst/>
              <a:rect l="l" t="t" r="r" b="b"/>
              <a:pathLst>
                <a:path w="902657" h="1058824">
                  <a:moveTo>
                    <a:pt x="0" y="0"/>
                  </a:moveTo>
                  <a:lnTo>
                    <a:pt x="902657" y="0"/>
                  </a:lnTo>
                  <a:lnTo>
                    <a:pt x="902657" y="1058824"/>
                  </a:lnTo>
                  <a:lnTo>
                    <a:pt x="0" y="1058824"/>
                  </a:lnTo>
                  <a:close/>
                </a:path>
              </a:pathLst>
            </a:custGeom>
            <a:solidFill>
              <a:srgbClr val="F5F8E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902657" cy="11159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5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5770791" y="6683830"/>
            <a:ext cx="1709818" cy="254918"/>
          </a:xfrm>
          <a:custGeom>
            <a:avLst/>
            <a:gdLst/>
            <a:ahLst/>
            <a:cxnLst/>
            <a:rect l="l" t="t" r="r" b="b"/>
            <a:pathLst>
              <a:path w="1709818" h="254918">
                <a:moveTo>
                  <a:pt x="0" y="0"/>
                </a:moveTo>
                <a:lnTo>
                  <a:pt x="1709818" y="0"/>
                </a:lnTo>
                <a:lnTo>
                  <a:pt x="1709818" y="254918"/>
                </a:lnTo>
                <a:lnTo>
                  <a:pt x="0" y="2549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9" name="Freeform 9"/>
          <p:cNvSpPr/>
          <p:nvPr/>
        </p:nvSpPr>
        <p:spPr>
          <a:xfrm>
            <a:off x="14057153" y="2777212"/>
            <a:ext cx="3920905" cy="3224945"/>
          </a:xfrm>
          <a:custGeom>
            <a:avLst/>
            <a:gdLst/>
            <a:ahLst/>
            <a:cxnLst/>
            <a:rect l="l" t="t" r="r" b="b"/>
            <a:pathLst>
              <a:path w="3920905" h="3224945">
                <a:moveTo>
                  <a:pt x="0" y="0"/>
                </a:moveTo>
                <a:lnTo>
                  <a:pt x="3920905" y="0"/>
                </a:lnTo>
                <a:lnTo>
                  <a:pt x="3920905" y="3224945"/>
                </a:lnTo>
                <a:lnTo>
                  <a:pt x="0" y="32249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0" name="TextBox 10"/>
          <p:cNvSpPr txBox="1"/>
          <p:nvPr/>
        </p:nvSpPr>
        <p:spPr>
          <a:xfrm>
            <a:off x="1864217" y="1712682"/>
            <a:ext cx="11943937" cy="3813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 b="1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後端採用Django（開源），前端採PWA技術（無授權限制）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 b="1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Google OAuth登入、地圖 API 屬於公開授權服務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 b="1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OpenCV、Bleach 等安全防護工具皆為開源，使用自由度高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 b="1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所有技術均已整合驗證於系統原型，具備實作可行性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864217" y="561728"/>
            <a:ext cx="12804395" cy="942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496"/>
              </a:lnSpc>
              <a:spcBef>
                <a:spcPct val="0"/>
              </a:spcBef>
            </a:pPr>
            <a:r>
              <a:rPr lang="en-US" sz="5600" b="1">
                <a:solidFill>
                  <a:srgbClr val="134E1A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1.3 核心技術可行性與授權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864217" y="5741026"/>
            <a:ext cx="12804395" cy="942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496"/>
              </a:lnSpc>
              <a:spcBef>
                <a:spcPct val="0"/>
              </a:spcBef>
            </a:pPr>
            <a:r>
              <a:rPr lang="en-US" sz="5600" b="1">
                <a:solidFill>
                  <a:srgbClr val="134E1A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1.4 原型與概念驗證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864217" y="6735089"/>
            <a:ext cx="14153389" cy="2537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 b="1" dirty="0" err="1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已有原型：系統已大致開發完成基本功能，包含登入、事件回報、地圖顯示、快速求助與匿名聊天室</a:t>
            </a:r>
            <a:endParaRPr lang="en-US" sz="3600" b="1" dirty="0">
              <a:solidFill>
                <a:srgbClr val="322A2A"/>
              </a:solidFill>
              <a:latin typeface="Aileron Ultra-Bold"/>
              <a:ea typeface="Aileron Ultra-Bold"/>
              <a:cs typeface="Aileron Ultra-Bold"/>
              <a:sym typeface="Aileron Ultra-Bold"/>
            </a:endParaRP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 b="1" dirty="0" err="1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概念驗證計畫：預計與大專校院及地方政府合作進行場域測試（校園夜歸安全、社區安全網建構</a:t>
            </a:r>
            <a:r>
              <a:rPr lang="en-US" sz="3600" b="1" dirty="0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），</a:t>
            </a:r>
            <a:r>
              <a:rPr lang="en-US" sz="3600" b="1" dirty="0" err="1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蒐集回饋再優化系統</a:t>
            </a:r>
            <a:endParaRPr lang="en-US" sz="3600" b="1" dirty="0">
              <a:solidFill>
                <a:srgbClr val="322A2A"/>
              </a:solidFill>
              <a:latin typeface="Aileron Ultra-Bold"/>
              <a:ea typeface="Aileron Ultra-Bold"/>
              <a:cs typeface="Aileron Ultra-Bold"/>
              <a:sym typeface="Aileron Ultra-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6922949" y="956947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Page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258300"/>
            <a:ext cx="18288000" cy="1028700"/>
            <a:chOff x="0" y="0"/>
            <a:chExt cx="4816593" cy="2709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70933"/>
            </a:xfrm>
            <a:custGeom>
              <a:avLst/>
              <a:gdLst/>
              <a:ahLst/>
              <a:cxnLst/>
              <a:rect l="l" t="t" r="r" b="b"/>
              <a:pathLst>
                <a:path w="4816592" h="270933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D9DFCE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3280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590097" y="1719042"/>
            <a:ext cx="12463806" cy="4451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>
              <a:lnSpc>
                <a:spcPts val="5040"/>
              </a:lnSpc>
            </a:pPr>
            <a:r>
              <a:rPr lang="en-US" sz="4800" b="1" dirty="0" err="1">
                <a:solidFill>
                  <a:srgbClr val="322A2A"/>
                </a:solidFill>
                <a:latin typeface="Aileron Ultra-Bold"/>
                <a:sym typeface="Aileron Ultra-Bold"/>
              </a:rPr>
              <a:t>目標市場</a:t>
            </a:r>
            <a:r>
              <a:rPr lang="en-US" sz="4800" b="1" dirty="0">
                <a:solidFill>
                  <a:srgbClr val="322A2A"/>
                </a:solidFill>
                <a:latin typeface="Aileron Ultra-Bold"/>
                <a:sym typeface="Aileron Ultra-Bold"/>
              </a:rPr>
              <a:t>：</a:t>
            </a:r>
          </a:p>
          <a:p>
            <a:pPr marL="777240" lvl="1" indent="-388620">
              <a:lnSpc>
                <a:spcPts val="5040"/>
              </a:lnSpc>
              <a:buFont typeface="Arial"/>
              <a:buChar char="•"/>
            </a:pPr>
            <a:r>
              <a:rPr lang="en-US" sz="3600" b="1" dirty="0" err="1">
                <a:solidFill>
                  <a:srgbClr val="322A2A"/>
                </a:solidFill>
                <a:latin typeface="Aileron Ultra-Bold"/>
                <a:sym typeface="Aileron Ultra-Bold"/>
              </a:rPr>
              <a:t>主要：女性獨行者、學生、夜歸族、夜間運動者、家長</a:t>
            </a:r>
            <a:endParaRPr lang="en-US" sz="3600" b="1" dirty="0">
              <a:solidFill>
                <a:srgbClr val="322A2A"/>
              </a:solidFill>
              <a:latin typeface="Aileron Ultra-Bold"/>
              <a:sym typeface="Aileron Ultra-Bold"/>
            </a:endParaRPr>
          </a:p>
          <a:p>
            <a:pPr marL="777240" lvl="1" indent="-388620">
              <a:lnSpc>
                <a:spcPts val="5040"/>
              </a:lnSpc>
              <a:buFont typeface="Arial"/>
              <a:buChar char="•"/>
            </a:pPr>
            <a:r>
              <a:rPr lang="en-US" sz="3600" b="1" dirty="0" err="1">
                <a:solidFill>
                  <a:srgbClr val="322A2A"/>
                </a:solidFill>
                <a:latin typeface="Aileron Ultra-Bold"/>
                <a:sym typeface="Aileron Ultra-Bold"/>
              </a:rPr>
              <a:t>次要：商家（便利商店、咖啡廳、健身房</a:t>
            </a:r>
            <a:r>
              <a:rPr lang="en-US" sz="3600" b="1" dirty="0">
                <a:solidFill>
                  <a:srgbClr val="322A2A"/>
                </a:solidFill>
                <a:latin typeface="Aileron Ultra-Bold"/>
                <a:sym typeface="Aileron Ultra-Bold"/>
              </a:rPr>
              <a:t>）、</a:t>
            </a:r>
            <a:r>
              <a:rPr lang="en-US" sz="3600" b="1" dirty="0" err="1">
                <a:solidFill>
                  <a:srgbClr val="322A2A"/>
                </a:solidFill>
                <a:latin typeface="Aileron Ultra-Bold"/>
                <a:sym typeface="Aileron Ultra-Bold"/>
              </a:rPr>
              <a:t>政府與NGO</a:t>
            </a:r>
            <a:endParaRPr lang="en-US" sz="3600" b="1" dirty="0">
              <a:solidFill>
                <a:srgbClr val="322A2A"/>
              </a:solidFill>
              <a:latin typeface="Aileron Ultra-Bold"/>
              <a:sym typeface="Aileron Ultra-Bold"/>
            </a:endParaRPr>
          </a:p>
          <a:p>
            <a:pPr marL="777240" lvl="1" indent="-388620">
              <a:lnSpc>
                <a:spcPts val="5040"/>
              </a:lnSpc>
              <a:buFont typeface="Arial"/>
              <a:buChar char="•"/>
            </a:pPr>
            <a:endParaRPr lang="en-US" sz="3600" b="1" dirty="0">
              <a:solidFill>
                <a:srgbClr val="322A2A"/>
              </a:solidFill>
              <a:latin typeface="Aileron Ultra-Bold"/>
              <a:sym typeface="Aileron Ultra-Bold"/>
            </a:endParaRPr>
          </a:p>
          <a:p>
            <a:pPr marL="388620" lvl="1">
              <a:lnSpc>
                <a:spcPts val="5040"/>
              </a:lnSpc>
            </a:pPr>
            <a:r>
              <a:rPr lang="en-US" sz="4800" b="1" dirty="0" err="1">
                <a:solidFill>
                  <a:srgbClr val="322A2A"/>
                </a:solidFill>
                <a:latin typeface="Aileron Ultra-Bold"/>
                <a:sym typeface="Aileron Ultra-Bold"/>
              </a:rPr>
              <a:t>市場規模</a:t>
            </a:r>
            <a:r>
              <a:rPr lang="en-US" sz="4800" b="1" dirty="0">
                <a:solidFill>
                  <a:srgbClr val="322A2A"/>
                </a:solidFill>
                <a:latin typeface="Aileron Ultra-Bold"/>
                <a:sym typeface="Aileron Ultra-Bold"/>
              </a:rPr>
              <a:t>：</a:t>
            </a:r>
          </a:p>
          <a:p>
            <a:pPr marL="777240" lvl="1" indent="-388620">
              <a:lnSpc>
                <a:spcPts val="5040"/>
              </a:lnSpc>
              <a:buFont typeface="Arial"/>
              <a:buChar char="•"/>
            </a:pPr>
            <a:r>
              <a:rPr lang="en-US" sz="3600" b="1" dirty="0" err="1">
                <a:solidFill>
                  <a:srgbClr val="322A2A"/>
                </a:solidFill>
                <a:latin typeface="Aileron Ultra-Bold"/>
                <a:sym typeface="Aileron Ultra-Bold"/>
              </a:rPr>
              <a:t>都市地區安全需求龐大</a:t>
            </a:r>
            <a:endParaRPr lang="en-US" sz="3600" b="1" dirty="0">
              <a:solidFill>
                <a:srgbClr val="322A2A"/>
              </a:solidFill>
              <a:latin typeface="Aileron Ultra-Bold"/>
              <a:sym typeface="Aileron Ultra-Bold"/>
            </a:endParaRPr>
          </a:p>
          <a:p>
            <a:pPr marL="777240" lvl="1" indent="-388620">
              <a:lnSpc>
                <a:spcPts val="5040"/>
              </a:lnSpc>
              <a:buFont typeface="Arial"/>
              <a:buChar char="•"/>
            </a:pPr>
            <a:r>
              <a:rPr lang="en-US" sz="3600" b="1" dirty="0" err="1">
                <a:solidFill>
                  <a:srgbClr val="322A2A"/>
                </a:solidFill>
                <a:latin typeface="Aileron Ultra-Bold"/>
                <a:sym typeface="Aileron Ultra-Bold"/>
              </a:rPr>
              <a:t>若加入商家合作與政府推廣，市場規模可進一步擴大</a:t>
            </a:r>
            <a:endParaRPr lang="en-US" sz="3600" b="1" dirty="0">
              <a:solidFill>
                <a:srgbClr val="322A2A"/>
              </a:solidFill>
              <a:latin typeface="Aileron Ultra-Bold"/>
              <a:sym typeface="Aileron Ultra-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864217" y="561728"/>
            <a:ext cx="12804395" cy="942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496"/>
              </a:lnSpc>
              <a:spcBef>
                <a:spcPct val="0"/>
              </a:spcBef>
            </a:pPr>
            <a:r>
              <a:rPr lang="en-US" sz="5600" b="1">
                <a:solidFill>
                  <a:srgbClr val="134E1A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2.1 目標市場與規模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4057153" y="0"/>
            <a:ext cx="3427276" cy="4020223"/>
            <a:chOff x="0" y="0"/>
            <a:chExt cx="902657" cy="105882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02657" cy="1058824"/>
            </a:xfrm>
            <a:custGeom>
              <a:avLst/>
              <a:gdLst/>
              <a:ahLst/>
              <a:cxnLst/>
              <a:rect l="l" t="t" r="r" b="b"/>
              <a:pathLst>
                <a:path w="902657" h="1058824">
                  <a:moveTo>
                    <a:pt x="0" y="0"/>
                  </a:moveTo>
                  <a:lnTo>
                    <a:pt x="902657" y="0"/>
                  </a:lnTo>
                  <a:lnTo>
                    <a:pt x="902657" y="1058824"/>
                  </a:lnTo>
                  <a:lnTo>
                    <a:pt x="0" y="1058824"/>
                  </a:lnTo>
                  <a:close/>
                </a:path>
              </a:pathLst>
            </a:custGeom>
            <a:solidFill>
              <a:srgbClr val="F5F8E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902657" cy="11159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5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5770791" y="6043441"/>
            <a:ext cx="1709818" cy="254918"/>
          </a:xfrm>
          <a:custGeom>
            <a:avLst/>
            <a:gdLst/>
            <a:ahLst/>
            <a:cxnLst/>
            <a:rect l="l" t="t" r="r" b="b"/>
            <a:pathLst>
              <a:path w="1709818" h="254918">
                <a:moveTo>
                  <a:pt x="0" y="0"/>
                </a:moveTo>
                <a:lnTo>
                  <a:pt x="1709818" y="0"/>
                </a:lnTo>
                <a:lnTo>
                  <a:pt x="1709818" y="254918"/>
                </a:lnTo>
                <a:lnTo>
                  <a:pt x="0" y="2549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1" name="Freeform 11"/>
          <p:cNvSpPr/>
          <p:nvPr/>
        </p:nvSpPr>
        <p:spPr>
          <a:xfrm>
            <a:off x="11283310" y="6298359"/>
            <a:ext cx="6770602" cy="3825390"/>
          </a:xfrm>
          <a:custGeom>
            <a:avLst/>
            <a:gdLst/>
            <a:ahLst/>
            <a:cxnLst/>
            <a:rect l="l" t="t" r="r" b="b"/>
            <a:pathLst>
              <a:path w="6770602" h="3825390">
                <a:moveTo>
                  <a:pt x="0" y="0"/>
                </a:moveTo>
                <a:lnTo>
                  <a:pt x="6770602" y="0"/>
                </a:lnTo>
                <a:lnTo>
                  <a:pt x="6770602" y="3825390"/>
                </a:lnTo>
                <a:lnTo>
                  <a:pt x="0" y="38253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2" name="TextBox 12"/>
          <p:cNvSpPr txBox="1"/>
          <p:nvPr/>
        </p:nvSpPr>
        <p:spPr>
          <a:xfrm>
            <a:off x="16922949" y="956947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Page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258300"/>
            <a:ext cx="18288000" cy="1028700"/>
            <a:chOff x="0" y="0"/>
            <a:chExt cx="4816593" cy="2709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70933"/>
            </a:xfrm>
            <a:custGeom>
              <a:avLst/>
              <a:gdLst/>
              <a:ahLst/>
              <a:cxnLst/>
              <a:rect l="l" t="t" r="r" b="b"/>
              <a:pathLst>
                <a:path w="4816592" h="270933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D9DFCE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3280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aphicFrame>
        <p:nvGraphicFramePr>
          <p:cNvPr id="5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6766358"/>
              </p:ext>
            </p:extLst>
          </p:nvPr>
        </p:nvGraphicFramePr>
        <p:xfrm>
          <a:off x="1066800" y="3158021"/>
          <a:ext cx="16154400" cy="5583315"/>
        </p:xfrm>
        <a:graphic>
          <a:graphicData uri="http://schemas.openxmlformats.org/drawingml/2006/table">
            <a:tbl>
              <a:tblPr/>
              <a:tblGrid>
                <a:gridCol w="29667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296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80836"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lnSpc>
                          <a:spcPts val="5040"/>
                        </a:lnSpc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sz="2800" b="1" kern="1200" dirty="0" err="1">
                          <a:solidFill>
                            <a:srgbClr val="322A2A"/>
                          </a:solidFill>
                          <a:latin typeface="Aileron Ultra-Bold"/>
                          <a:ea typeface="+mn-ea"/>
                          <a:cs typeface="+mn-cs"/>
                          <a:sym typeface="Aileron Bold"/>
                        </a:rPr>
                        <a:t>競爭者</a:t>
                      </a:r>
                      <a:endParaRPr lang="en-US" sz="2800" b="1" kern="1200" dirty="0">
                        <a:solidFill>
                          <a:srgbClr val="322A2A"/>
                        </a:solidFill>
                        <a:latin typeface="Aileron Ultra-Bold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BBC88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lnSpc>
                          <a:spcPts val="5040"/>
                        </a:lnSpc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sz="2800" b="1" kern="1200" dirty="0" err="1">
                          <a:solidFill>
                            <a:srgbClr val="322A2A"/>
                          </a:solidFill>
                          <a:latin typeface="Aileron Ultra-Bold"/>
                          <a:ea typeface="+mn-ea"/>
                          <a:cs typeface="+mn-cs"/>
                          <a:sym typeface="Aileron Bold"/>
                        </a:rPr>
                        <a:t>優勢</a:t>
                      </a:r>
                      <a:endParaRPr lang="en-US" sz="2800" b="1" kern="1200" dirty="0">
                        <a:solidFill>
                          <a:srgbClr val="322A2A"/>
                        </a:solidFill>
                        <a:latin typeface="Aileron Ultra-Bold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BBC88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lnSpc>
                          <a:spcPts val="5040"/>
                        </a:lnSpc>
                        <a:buFont typeface="Arial"/>
                        <a:buNone/>
                        <a:defRPr/>
                      </a:pPr>
                      <a:r>
                        <a:rPr lang="en-US" sz="2800" b="1" kern="1200" dirty="0" err="1">
                          <a:solidFill>
                            <a:srgbClr val="322A2A"/>
                          </a:solidFill>
                          <a:latin typeface="Aileron Ultra-Bold"/>
                          <a:ea typeface="+mn-ea"/>
                          <a:cs typeface="+mn-cs"/>
                          <a:sym typeface="Aileron Bold"/>
                        </a:rPr>
                        <a:t>劣勢</a:t>
                      </a:r>
                      <a:endParaRPr lang="en-US" sz="2800" b="1" kern="1200" dirty="0">
                        <a:solidFill>
                          <a:srgbClr val="322A2A"/>
                        </a:solidFill>
                        <a:latin typeface="Aileron Ultra-Bold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BBC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3365"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lnSpc>
                          <a:spcPts val="5040"/>
                        </a:lnSpc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sz="2800" b="1" kern="1200" dirty="0" err="1">
                          <a:solidFill>
                            <a:srgbClr val="322A2A"/>
                          </a:solidFill>
                          <a:latin typeface="Aileron Ultra-Bold"/>
                          <a:ea typeface="+mn-ea"/>
                          <a:cs typeface="+mn-cs"/>
                          <a:sym typeface="Aileron"/>
                        </a:rPr>
                        <a:t>警政署報案</a:t>
                      </a:r>
                      <a:r>
                        <a:rPr lang="en-US" sz="2800" b="1" kern="1200" dirty="0">
                          <a:solidFill>
                            <a:srgbClr val="322A2A"/>
                          </a:solidFill>
                          <a:latin typeface="Aileron Ultra-Bold"/>
                          <a:ea typeface="+mn-ea"/>
                          <a:cs typeface="+mn-cs"/>
                          <a:sym typeface="Aileron"/>
                        </a:rPr>
                        <a:t> App</a:t>
                      </a:r>
                      <a:endParaRPr lang="en-US" sz="2800" b="1" kern="1200" dirty="0">
                        <a:solidFill>
                          <a:srgbClr val="322A2A"/>
                        </a:solidFill>
                        <a:latin typeface="Aileron Ultra-Bold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C5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lnSpc>
                          <a:spcPts val="5040"/>
                        </a:lnSpc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sz="2800" b="1" kern="1200" dirty="0" err="1">
                          <a:solidFill>
                            <a:srgbClr val="322A2A"/>
                          </a:solidFill>
                          <a:latin typeface="Aileron Ultra-Bold"/>
                          <a:ea typeface="+mn-ea"/>
                          <a:cs typeface="+mn-cs"/>
                          <a:sym typeface="Aileron"/>
                        </a:rPr>
                        <a:t>官方背書、具報警功能、可信度高</a:t>
                      </a:r>
                      <a:endParaRPr lang="en-US" sz="2800" b="1" kern="1200" dirty="0">
                        <a:solidFill>
                          <a:srgbClr val="322A2A"/>
                        </a:solidFill>
                        <a:latin typeface="Aileron Ultra-Bold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CE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lnSpc>
                          <a:spcPts val="5040"/>
                        </a:lnSpc>
                        <a:buFont typeface="Arial"/>
                        <a:buNone/>
                        <a:defRPr/>
                      </a:pPr>
                      <a:r>
                        <a:rPr lang="en-US" sz="2800" b="1" kern="1200" dirty="0" err="1">
                          <a:solidFill>
                            <a:srgbClr val="322A2A"/>
                          </a:solidFill>
                          <a:latin typeface="Aileron Ultra-Bold"/>
                          <a:ea typeface="+mn-ea"/>
                          <a:cs typeface="+mn-cs"/>
                          <a:sym typeface="Aileron"/>
                        </a:rPr>
                        <a:t>缺乏社群互動、無預防與延伸服務</a:t>
                      </a:r>
                      <a:endParaRPr lang="en-US" sz="2800" b="1" kern="1200" dirty="0">
                        <a:solidFill>
                          <a:srgbClr val="322A2A"/>
                        </a:solidFill>
                        <a:latin typeface="Aileron Ultra-Bold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C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19427"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lnSpc>
                          <a:spcPts val="5040"/>
                        </a:lnSpc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sz="2800" b="1" kern="1200" dirty="0">
                          <a:solidFill>
                            <a:srgbClr val="322A2A"/>
                          </a:solidFill>
                          <a:latin typeface="Aileron Ultra-Bold"/>
                          <a:ea typeface="+mn-ea"/>
                          <a:cs typeface="+mn-cs"/>
                          <a:sym typeface="Aileron"/>
                        </a:rPr>
                        <a:t>Facebook</a:t>
                      </a:r>
                      <a:endParaRPr lang="en-US" sz="2800" b="1" kern="1200" dirty="0">
                        <a:solidFill>
                          <a:srgbClr val="322A2A"/>
                        </a:solidFill>
                        <a:latin typeface="Aileron Ultra-Bold"/>
                        <a:ea typeface="+mn-ea"/>
                        <a:cs typeface="+mn-cs"/>
                      </a:endParaRPr>
                    </a:p>
                    <a:p>
                      <a:pPr marL="0" lvl="1" indent="0" algn="ctr" defTabSz="914400" rtl="0" eaLnBrk="1" latinLnBrk="0" hangingPunct="1">
                        <a:lnSpc>
                          <a:spcPts val="504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2800" b="1" kern="1200" dirty="0">
                          <a:solidFill>
                            <a:srgbClr val="322A2A"/>
                          </a:solidFill>
                          <a:latin typeface="Aileron Ultra-Bold"/>
                          <a:ea typeface="+mn-ea"/>
                          <a:cs typeface="+mn-cs"/>
                          <a:sym typeface="Aileron"/>
                        </a:rPr>
                        <a:t>、LINE </a:t>
                      </a:r>
                      <a:r>
                        <a:rPr lang="en-US" sz="2800" b="1" kern="1200" dirty="0" err="1">
                          <a:solidFill>
                            <a:srgbClr val="322A2A"/>
                          </a:solidFill>
                          <a:latin typeface="Aileron Ultra-Bold"/>
                          <a:ea typeface="+mn-ea"/>
                          <a:cs typeface="+mn-cs"/>
                          <a:sym typeface="Aileron"/>
                        </a:rPr>
                        <a:t>社群</a:t>
                      </a:r>
                      <a:endParaRPr lang="en-US" sz="2800" b="1" kern="1200" dirty="0">
                        <a:solidFill>
                          <a:srgbClr val="322A2A"/>
                        </a:solidFill>
                        <a:latin typeface="Aileron Ultra-Bold"/>
                        <a:ea typeface="+mn-ea"/>
                        <a:cs typeface="+mn-cs"/>
                        <a:sym typeface="Ailero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C5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lnSpc>
                          <a:spcPts val="5040"/>
                        </a:lnSpc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sz="2800" b="1" kern="1200" dirty="0" err="1">
                          <a:solidFill>
                            <a:srgbClr val="322A2A"/>
                          </a:solidFill>
                          <a:latin typeface="Aileron Ultra-Bold"/>
                          <a:ea typeface="+mn-ea"/>
                          <a:cs typeface="+mn-cs"/>
                          <a:sym typeface="Aileron"/>
                        </a:rPr>
                        <a:t>使用者多、資訊交流活躍</a:t>
                      </a:r>
                      <a:endParaRPr lang="en-US" sz="2800" b="1" kern="1200" dirty="0">
                        <a:solidFill>
                          <a:srgbClr val="322A2A"/>
                        </a:solidFill>
                        <a:latin typeface="Aileron Ultra-Bold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CE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lnSpc>
                          <a:spcPts val="5040"/>
                        </a:lnSpc>
                        <a:buFont typeface="Arial"/>
                        <a:buNone/>
                        <a:defRPr/>
                      </a:pPr>
                      <a:r>
                        <a:rPr lang="en-US" sz="2800" b="1" kern="1200" dirty="0" err="1">
                          <a:solidFill>
                            <a:srgbClr val="322A2A"/>
                          </a:solidFill>
                          <a:latin typeface="Aileron Ultra-Bold"/>
                          <a:ea typeface="+mn-ea"/>
                          <a:cs typeface="+mn-cs"/>
                          <a:sym typeface="Aileron"/>
                        </a:rPr>
                        <a:t>資訊零散、不具地圖化整合、即時性不足</a:t>
                      </a:r>
                      <a:endParaRPr lang="en-US" sz="2800" b="1" kern="1200" dirty="0">
                        <a:solidFill>
                          <a:srgbClr val="322A2A"/>
                        </a:solidFill>
                        <a:latin typeface="Aileron Ultra-Bold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C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19427"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lnSpc>
                          <a:spcPts val="5040"/>
                        </a:lnSpc>
                        <a:buFont typeface="Arial"/>
                        <a:buNone/>
                        <a:defRPr/>
                      </a:pPr>
                      <a:r>
                        <a:rPr lang="en-US" sz="2800" b="1" kern="1200" dirty="0">
                          <a:solidFill>
                            <a:srgbClr val="322A2A"/>
                          </a:solidFill>
                          <a:latin typeface="Aileron Ultra-Bold"/>
                          <a:ea typeface="+mn-ea"/>
                          <a:cs typeface="+mn-cs"/>
                          <a:sym typeface="Aileron"/>
                        </a:rPr>
                        <a:t>  </a:t>
                      </a:r>
                      <a:r>
                        <a:rPr lang="en-US" sz="2800" b="1" kern="1200" dirty="0" err="1">
                          <a:solidFill>
                            <a:srgbClr val="322A2A"/>
                          </a:solidFill>
                          <a:latin typeface="Aileron Ultra-Bold"/>
                          <a:ea typeface="+mn-ea"/>
                          <a:cs typeface="+mn-cs"/>
                          <a:sym typeface="Aileron"/>
                        </a:rPr>
                        <a:t>潛在新創平台</a:t>
                      </a:r>
                      <a:endParaRPr lang="en-US" sz="2800" b="1" kern="1200" dirty="0">
                        <a:solidFill>
                          <a:srgbClr val="322A2A"/>
                        </a:solidFill>
                        <a:latin typeface="Aileron Ultra-Bold"/>
                        <a:ea typeface="+mn-ea"/>
                        <a:cs typeface="+mn-cs"/>
                      </a:endParaRPr>
                    </a:p>
                    <a:p>
                      <a:pPr marL="0" lvl="1" indent="0" algn="ctr" defTabSz="914400" rtl="0" eaLnBrk="1" latinLnBrk="0" hangingPunct="1">
                        <a:lnSpc>
                          <a:spcPts val="5040"/>
                        </a:lnSpc>
                        <a:buFont typeface="Arial"/>
                        <a:buNone/>
                      </a:pPr>
                      <a:r>
                        <a:rPr lang="en-US" sz="2800" b="1" kern="1200" dirty="0">
                          <a:solidFill>
                            <a:srgbClr val="322A2A"/>
                          </a:solidFill>
                          <a:latin typeface="Aileron Ultra-Bold"/>
                          <a:ea typeface="+mn-ea"/>
                          <a:cs typeface="+mn-cs"/>
                          <a:sym typeface="Aileron"/>
                        </a:rPr>
                        <a:t>（</a:t>
                      </a:r>
                      <a:r>
                        <a:rPr lang="en-US" sz="2800" b="1" kern="1200" dirty="0" err="1">
                          <a:solidFill>
                            <a:srgbClr val="322A2A"/>
                          </a:solidFill>
                          <a:latin typeface="Aileron Ultra-Bold"/>
                          <a:ea typeface="+mn-ea"/>
                          <a:cs typeface="+mn-cs"/>
                          <a:sym typeface="Aileron"/>
                        </a:rPr>
                        <a:t>社群安全導向</a:t>
                      </a:r>
                      <a:r>
                        <a:rPr lang="en-US" sz="2800" b="1" kern="1200" dirty="0">
                          <a:solidFill>
                            <a:srgbClr val="322A2A"/>
                          </a:solidFill>
                          <a:latin typeface="Aileron Ultra-Bold"/>
                          <a:ea typeface="+mn-ea"/>
                          <a:cs typeface="+mn-cs"/>
                          <a:sym typeface="Aileron"/>
                        </a:rPr>
                        <a:t>）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C5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lnSpc>
                          <a:spcPts val="5040"/>
                        </a:lnSpc>
                        <a:buFont typeface="Arial"/>
                        <a:buNone/>
                        <a:defRPr/>
                      </a:pPr>
                      <a:r>
                        <a:rPr lang="en-US" sz="2800" b="1" kern="1200" dirty="0" err="1">
                          <a:solidFill>
                            <a:srgbClr val="322A2A"/>
                          </a:solidFill>
                          <a:latin typeface="Aileron Ultra-Bold"/>
                          <a:ea typeface="+mn-ea"/>
                          <a:cs typeface="+mn-cs"/>
                          <a:sym typeface="Aileron"/>
                        </a:rPr>
                        <a:t>有創新潛力、可結合新興技術</a:t>
                      </a:r>
                      <a:endParaRPr lang="en-US" sz="2800" b="1" kern="1200" dirty="0">
                        <a:solidFill>
                          <a:srgbClr val="322A2A"/>
                        </a:solidFill>
                        <a:latin typeface="Aileron Ultra-Bold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CE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lnSpc>
                          <a:spcPts val="5040"/>
                        </a:lnSpc>
                        <a:buFont typeface="Arial"/>
                        <a:buNone/>
                        <a:defRPr/>
                      </a:pPr>
                      <a:r>
                        <a:rPr lang="en-US" sz="2800" b="1" kern="1200" dirty="0" err="1">
                          <a:solidFill>
                            <a:srgbClr val="322A2A"/>
                          </a:solidFill>
                          <a:latin typeface="Aileron Ultra-Bold"/>
                          <a:ea typeface="+mn-ea"/>
                          <a:cs typeface="+mn-cs"/>
                          <a:sym typeface="Aileron"/>
                        </a:rPr>
                        <a:t>尚未在台灣普及、市場滲透率低</a:t>
                      </a:r>
                      <a:endParaRPr lang="en-US" sz="2800" b="1" kern="1200" dirty="0">
                        <a:solidFill>
                          <a:srgbClr val="322A2A"/>
                        </a:solidFill>
                        <a:latin typeface="Aileron Ultra-Bold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C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19427"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lnSpc>
                          <a:spcPts val="5040"/>
                        </a:lnSpc>
                        <a:buFont typeface="Arial"/>
                        <a:buNone/>
                        <a:defRPr/>
                      </a:pPr>
                      <a:r>
                        <a:rPr lang="en-US" sz="2800" b="1" kern="1200">
                          <a:solidFill>
                            <a:srgbClr val="322A2A"/>
                          </a:solidFill>
                          <a:latin typeface="Aileron Ultra-Bold"/>
                          <a:ea typeface="+mn-ea"/>
                          <a:cs typeface="+mn-cs"/>
                          <a:sym typeface="Aileron"/>
                        </a:rPr>
                        <a:t>本平台</a:t>
                      </a:r>
                      <a:endParaRPr lang="en-US" sz="2800" b="1" kern="1200">
                        <a:solidFill>
                          <a:srgbClr val="322A2A"/>
                        </a:solidFill>
                        <a:latin typeface="Aileron Ultra-Bold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C5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lnSpc>
                          <a:spcPts val="5040"/>
                        </a:lnSpc>
                        <a:buFont typeface="Arial"/>
                        <a:buNone/>
                        <a:defRPr/>
                      </a:pPr>
                      <a:r>
                        <a:rPr lang="en-US" sz="2800" b="1" kern="1200" dirty="0" err="1">
                          <a:solidFill>
                            <a:srgbClr val="322A2A"/>
                          </a:solidFill>
                          <a:latin typeface="Aileron Ultra-Bold"/>
                          <a:ea typeface="+mn-ea"/>
                          <a:cs typeface="+mn-cs"/>
                          <a:sym typeface="Aileron"/>
                        </a:rPr>
                        <a:t>在地化數據、匿名社群、防護商家</a:t>
                      </a:r>
                      <a:endParaRPr lang="en-US" sz="2800" b="1" kern="1200" dirty="0">
                        <a:solidFill>
                          <a:srgbClr val="322A2A"/>
                        </a:solidFill>
                        <a:latin typeface="Aileron Ultra-Bold"/>
                        <a:ea typeface="+mn-ea"/>
                        <a:cs typeface="+mn-cs"/>
                        <a:sym typeface="Aileron"/>
                      </a:endParaRPr>
                    </a:p>
                    <a:p>
                      <a:pPr marL="0" lvl="1" indent="0" algn="ctr" defTabSz="914400" rtl="0" eaLnBrk="1" latinLnBrk="0" hangingPunct="1">
                        <a:lnSpc>
                          <a:spcPts val="5040"/>
                        </a:lnSpc>
                        <a:buFont typeface="Arial"/>
                        <a:buNone/>
                        <a:defRPr/>
                      </a:pPr>
                      <a:r>
                        <a:rPr lang="en-US" sz="2800" b="1" kern="1200" dirty="0" err="1">
                          <a:solidFill>
                            <a:srgbClr val="322A2A"/>
                          </a:solidFill>
                          <a:latin typeface="Aileron Ultra-Bold"/>
                          <a:ea typeface="+mn-ea"/>
                          <a:cs typeface="+mn-cs"/>
                          <a:sym typeface="Aileron"/>
                        </a:rPr>
                        <a:t>合作機制，服務完整貼近需求</a:t>
                      </a:r>
                      <a:endParaRPr lang="en-US" sz="2800" b="1" kern="1200" dirty="0">
                        <a:solidFill>
                          <a:srgbClr val="322A2A"/>
                        </a:solidFill>
                        <a:latin typeface="Aileron Ultra-Bold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CE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lnSpc>
                          <a:spcPts val="5040"/>
                        </a:lnSpc>
                        <a:buFont typeface="Arial"/>
                        <a:buNone/>
                        <a:defRPr/>
                      </a:pPr>
                      <a:r>
                        <a:rPr lang="en-US" sz="2800" b="1" kern="1200" dirty="0" err="1">
                          <a:solidFill>
                            <a:srgbClr val="322A2A"/>
                          </a:solidFill>
                          <a:latin typeface="Aileron Ultra-Bold"/>
                          <a:ea typeface="+mn-ea"/>
                          <a:cs typeface="+mn-cs"/>
                          <a:sym typeface="Aileron"/>
                        </a:rPr>
                        <a:t>新創品牌，初期用戶基礎需培養</a:t>
                      </a:r>
                      <a:endParaRPr lang="en-US" sz="2800" b="1" kern="1200" dirty="0">
                        <a:solidFill>
                          <a:srgbClr val="322A2A"/>
                        </a:solidFill>
                        <a:latin typeface="Aileron Ultra-Bold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C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6"/>
          <p:cNvSpPr txBox="1"/>
          <p:nvPr/>
        </p:nvSpPr>
        <p:spPr>
          <a:xfrm>
            <a:off x="1864217" y="1797305"/>
            <a:ext cx="13821849" cy="622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 b="1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現有競爭者：多為單一功能安全App（求救或定位）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64217" y="561728"/>
            <a:ext cx="12804395" cy="942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496"/>
              </a:lnSpc>
              <a:spcBef>
                <a:spcPct val="0"/>
              </a:spcBef>
            </a:pPr>
            <a:r>
              <a:rPr lang="en-US" sz="5600" b="1">
                <a:solidFill>
                  <a:srgbClr val="134E1A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2.2 競爭者市佔與優劣勢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922949" y="956947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Page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258300"/>
            <a:ext cx="18288000" cy="1028700"/>
            <a:chOff x="0" y="0"/>
            <a:chExt cx="4816593" cy="2709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70933"/>
            </a:xfrm>
            <a:custGeom>
              <a:avLst/>
              <a:gdLst/>
              <a:ahLst/>
              <a:cxnLst/>
              <a:rect l="l" t="t" r="r" b="b"/>
              <a:pathLst>
                <a:path w="4816592" h="270933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D9DFCE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3280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057153" y="0"/>
            <a:ext cx="3427276" cy="4020223"/>
            <a:chOff x="0" y="0"/>
            <a:chExt cx="902657" cy="105882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02657" cy="1058824"/>
            </a:xfrm>
            <a:custGeom>
              <a:avLst/>
              <a:gdLst/>
              <a:ahLst/>
              <a:cxnLst/>
              <a:rect l="l" t="t" r="r" b="b"/>
              <a:pathLst>
                <a:path w="902657" h="1058824">
                  <a:moveTo>
                    <a:pt x="0" y="0"/>
                  </a:moveTo>
                  <a:lnTo>
                    <a:pt x="902657" y="0"/>
                  </a:lnTo>
                  <a:lnTo>
                    <a:pt x="902657" y="1058824"/>
                  </a:lnTo>
                  <a:lnTo>
                    <a:pt x="0" y="1058824"/>
                  </a:lnTo>
                  <a:close/>
                </a:path>
              </a:pathLst>
            </a:custGeom>
            <a:solidFill>
              <a:srgbClr val="F5F8E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902657" cy="11159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5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5770791" y="6683830"/>
            <a:ext cx="1709818" cy="254918"/>
          </a:xfrm>
          <a:custGeom>
            <a:avLst/>
            <a:gdLst/>
            <a:ahLst/>
            <a:cxnLst/>
            <a:rect l="l" t="t" r="r" b="b"/>
            <a:pathLst>
              <a:path w="1709818" h="254918">
                <a:moveTo>
                  <a:pt x="0" y="0"/>
                </a:moveTo>
                <a:lnTo>
                  <a:pt x="1709818" y="0"/>
                </a:lnTo>
                <a:lnTo>
                  <a:pt x="1709818" y="254918"/>
                </a:lnTo>
                <a:lnTo>
                  <a:pt x="0" y="2549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9" name="Freeform 9"/>
          <p:cNvSpPr/>
          <p:nvPr/>
        </p:nvSpPr>
        <p:spPr>
          <a:xfrm>
            <a:off x="11634064" y="6954059"/>
            <a:ext cx="5288885" cy="2955165"/>
          </a:xfrm>
          <a:custGeom>
            <a:avLst/>
            <a:gdLst/>
            <a:ahLst/>
            <a:cxnLst/>
            <a:rect l="l" t="t" r="r" b="b"/>
            <a:pathLst>
              <a:path w="5288885" h="2955165">
                <a:moveTo>
                  <a:pt x="0" y="0"/>
                </a:moveTo>
                <a:lnTo>
                  <a:pt x="5288885" y="0"/>
                </a:lnTo>
                <a:lnTo>
                  <a:pt x="5288885" y="2955165"/>
                </a:lnTo>
                <a:lnTo>
                  <a:pt x="0" y="29551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0" name="TextBox 10"/>
          <p:cNvSpPr txBox="1"/>
          <p:nvPr/>
        </p:nvSpPr>
        <p:spPr>
          <a:xfrm>
            <a:off x="1630508" y="1428344"/>
            <a:ext cx="15628792" cy="5716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1" dirty="0" err="1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競爭優勢</a:t>
            </a:r>
            <a:r>
              <a:rPr lang="en-US" sz="3600" b="1" dirty="0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：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 b="1" dirty="0" err="1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整合「事件回報</a:t>
            </a:r>
            <a:r>
              <a:rPr lang="en-US" sz="3600" b="1" dirty="0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+</a:t>
            </a:r>
            <a:r>
              <a:rPr lang="zh-TW" altLang="en-US" sz="3600" b="1" dirty="0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快速</a:t>
            </a:r>
            <a:r>
              <a:rPr lang="en-US" sz="3600" b="1" dirty="0" err="1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求助+社群互助+安全合作店家」的全方位防護平台</a:t>
            </a:r>
            <a:endParaRPr lang="en-US" sz="3600" b="1" dirty="0">
              <a:solidFill>
                <a:srgbClr val="322A2A"/>
              </a:solidFill>
              <a:latin typeface="Aileron Ultra-Bold"/>
              <a:ea typeface="Aileron Ultra-Bold"/>
              <a:cs typeface="Aileron Ultra-Bold"/>
              <a:sym typeface="Aileron Ultra-Bold"/>
            </a:endParaRP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 b="1" dirty="0" err="1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在地化優勢：整合台灣縣市、警局資料，符合台灣需求</a:t>
            </a:r>
            <a:endParaRPr lang="en-US" sz="3600" b="1" dirty="0">
              <a:solidFill>
                <a:srgbClr val="322A2A"/>
              </a:solidFill>
              <a:latin typeface="Aileron Ultra-Bold"/>
              <a:ea typeface="Aileron Ultra-Bold"/>
              <a:cs typeface="Aileron Ultra-Bold"/>
              <a:sym typeface="Aileron Ultra-Bold"/>
            </a:endParaRP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 b="1" dirty="0" err="1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AI隱私保護（人臉模糊、內容審核</a:t>
            </a:r>
            <a:r>
              <a:rPr lang="en-US" sz="3600" b="1" dirty="0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），</a:t>
            </a:r>
            <a:r>
              <a:rPr lang="en-US" sz="3600" b="1" dirty="0" err="1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符合個資法規</a:t>
            </a:r>
            <a:endParaRPr lang="en-US" sz="3600" b="1" dirty="0">
              <a:solidFill>
                <a:srgbClr val="322A2A"/>
              </a:solidFill>
              <a:latin typeface="Aileron Ultra-Bold"/>
              <a:ea typeface="Aileron Ultra-Bold"/>
              <a:cs typeface="Aileron Ultra-Bold"/>
              <a:sym typeface="Aileron Ultra-Bold"/>
            </a:endParaRP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 b="1" dirty="0" err="1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可執行性強：已有原型＋明確合作推廣策略</a:t>
            </a:r>
            <a:endParaRPr lang="en-US" sz="3600" b="1" dirty="0">
              <a:solidFill>
                <a:srgbClr val="322A2A"/>
              </a:solidFill>
              <a:latin typeface="Aileron Ultra-Bold"/>
              <a:ea typeface="Aileron Ultra-Bold"/>
              <a:cs typeface="Aileron Ultra-Bold"/>
              <a:sym typeface="Aileron Ultra-Bold"/>
            </a:endParaRPr>
          </a:p>
          <a:p>
            <a:pPr algn="l">
              <a:lnSpc>
                <a:spcPts val="5040"/>
              </a:lnSpc>
            </a:pPr>
            <a:endParaRPr lang="en-US" sz="3600" b="1" dirty="0">
              <a:solidFill>
                <a:srgbClr val="322A2A"/>
              </a:solidFill>
              <a:latin typeface="Aileron Ultra-Bold"/>
              <a:ea typeface="Aileron Ultra-Bold"/>
              <a:cs typeface="Aileron Ultra-Bold"/>
              <a:sym typeface="Aileron Ultra-Bold"/>
            </a:endParaRPr>
          </a:p>
          <a:p>
            <a:pPr algn="l">
              <a:lnSpc>
                <a:spcPts val="5040"/>
              </a:lnSpc>
            </a:pPr>
            <a:r>
              <a:rPr lang="en-US" sz="3600" b="1" dirty="0" err="1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預期市估</a:t>
            </a:r>
            <a:r>
              <a:rPr lang="en-US" sz="3600" b="1" dirty="0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：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 b="1" dirty="0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第一年吸引1000+用戶與50家合作商家，逐步累積資料與用戶信任，形成先發優勢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864217" y="561728"/>
            <a:ext cx="12804395" cy="942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496"/>
              </a:lnSpc>
              <a:spcBef>
                <a:spcPct val="0"/>
              </a:spcBef>
            </a:pPr>
            <a:r>
              <a:rPr lang="en-US" sz="5600" b="1">
                <a:solidFill>
                  <a:srgbClr val="134E1A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2.3 本案競爭優勢與預估市佔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922949" y="956947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Page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258300"/>
            <a:ext cx="18288000" cy="1028700"/>
            <a:chOff x="0" y="0"/>
            <a:chExt cx="4816593" cy="2709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70933"/>
            </a:xfrm>
            <a:custGeom>
              <a:avLst/>
              <a:gdLst/>
              <a:ahLst/>
              <a:cxnLst/>
              <a:rect l="l" t="t" r="r" b="b"/>
              <a:pathLst>
                <a:path w="4816592" h="270933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D9DFCE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3280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057153" y="0"/>
            <a:ext cx="3427276" cy="4020223"/>
            <a:chOff x="0" y="0"/>
            <a:chExt cx="902657" cy="105882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02657" cy="1058824"/>
            </a:xfrm>
            <a:custGeom>
              <a:avLst/>
              <a:gdLst/>
              <a:ahLst/>
              <a:cxnLst/>
              <a:rect l="l" t="t" r="r" b="b"/>
              <a:pathLst>
                <a:path w="902657" h="1058824">
                  <a:moveTo>
                    <a:pt x="0" y="0"/>
                  </a:moveTo>
                  <a:lnTo>
                    <a:pt x="902657" y="0"/>
                  </a:lnTo>
                  <a:lnTo>
                    <a:pt x="902657" y="1058824"/>
                  </a:lnTo>
                  <a:lnTo>
                    <a:pt x="0" y="1058824"/>
                  </a:lnTo>
                  <a:close/>
                </a:path>
              </a:pathLst>
            </a:custGeom>
            <a:solidFill>
              <a:srgbClr val="F5F8E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902657" cy="11159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5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5774612" y="8549115"/>
            <a:ext cx="1709818" cy="254918"/>
          </a:xfrm>
          <a:custGeom>
            <a:avLst/>
            <a:gdLst/>
            <a:ahLst/>
            <a:cxnLst/>
            <a:rect l="l" t="t" r="r" b="b"/>
            <a:pathLst>
              <a:path w="1709818" h="254918">
                <a:moveTo>
                  <a:pt x="0" y="0"/>
                </a:moveTo>
                <a:lnTo>
                  <a:pt x="1709817" y="0"/>
                </a:lnTo>
                <a:lnTo>
                  <a:pt x="1709817" y="254918"/>
                </a:lnTo>
                <a:lnTo>
                  <a:pt x="0" y="2549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9" name="Freeform 9"/>
          <p:cNvSpPr/>
          <p:nvPr/>
        </p:nvSpPr>
        <p:spPr>
          <a:xfrm>
            <a:off x="14378621" y="604917"/>
            <a:ext cx="3684258" cy="4057925"/>
          </a:xfrm>
          <a:custGeom>
            <a:avLst/>
            <a:gdLst/>
            <a:ahLst/>
            <a:cxnLst/>
            <a:rect l="l" t="t" r="r" b="b"/>
            <a:pathLst>
              <a:path w="3684258" h="4057925">
                <a:moveTo>
                  <a:pt x="0" y="0"/>
                </a:moveTo>
                <a:lnTo>
                  <a:pt x="3684258" y="0"/>
                </a:lnTo>
                <a:lnTo>
                  <a:pt x="3684258" y="4057925"/>
                </a:lnTo>
                <a:lnTo>
                  <a:pt x="0" y="40579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0" name="TextBox 10"/>
          <p:cNvSpPr txBox="1"/>
          <p:nvPr/>
        </p:nvSpPr>
        <p:spPr>
          <a:xfrm>
            <a:off x="1513609" y="1429272"/>
            <a:ext cx="9990940" cy="1899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40" lvl="1" indent="-388620">
              <a:lnSpc>
                <a:spcPts val="5040"/>
              </a:lnSpc>
              <a:spcBef>
                <a:spcPct val="0"/>
              </a:spcBef>
              <a:buFont typeface="Arial"/>
              <a:buChar char="•"/>
            </a:pPr>
            <a:r>
              <a:rPr lang="en-US" sz="3600" b="1" dirty="0" err="1">
                <a:solidFill>
                  <a:srgbClr val="322A2A"/>
                </a:solidFill>
                <a:latin typeface="Aileron Ultra-Bold"/>
                <a:sym typeface="Aileron Bold"/>
              </a:rPr>
              <a:t>製造：團隊自行開發（Django</a:t>
            </a:r>
            <a:r>
              <a:rPr lang="en-US" sz="3600" b="1" dirty="0">
                <a:solidFill>
                  <a:srgbClr val="322A2A"/>
                </a:solidFill>
                <a:latin typeface="Aileron Ultra-Bold"/>
                <a:sym typeface="Aileron Bold"/>
              </a:rPr>
              <a:t> + PWA）</a:t>
            </a:r>
          </a:p>
          <a:p>
            <a:pPr marL="777240" lvl="1" indent="-388620">
              <a:lnSpc>
                <a:spcPts val="5040"/>
              </a:lnSpc>
              <a:buFont typeface="Arial"/>
              <a:buChar char="•"/>
            </a:pPr>
            <a:r>
              <a:rPr lang="en-US" sz="3600" b="1" dirty="0" err="1">
                <a:solidFill>
                  <a:srgbClr val="322A2A"/>
                </a:solidFill>
                <a:latin typeface="Aileron Ultra-Bold"/>
                <a:sym typeface="Aileron Bold"/>
              </a:rPr>
              <a:t>銷售：免費平台下載使用</a:t>
            </a:r>
            <a:endParaRPr lang="en-US" sz="3600" b="1" dirty="0">
              <a:solidFill>
                <a:srgbClr val="322A2A"/>
              </a:solidFill>
              <a:latin typeface="Aileron Ultra-Bold"/>
              <a:sym typeface="Aileron Bold"/>
            </a:endParaRPr>
          </a:p>
          <a:p>
            <a:pPr marL="777240" lvl="1" indent="-388620">
              <a:lnSpc>
                <a:spcPts val="5040"/>
              </a:lnSpc>
              <a:buFont typeface="Arial"/>
              <a:buChar char="•"/>
            </a:pPr>
            <a:r>
              <a:rPr lang="en-US" sz="3600" b="1" dirty="0" err="1">
                <a:solidFill>
                  <a:srgbClr val="322A2A"/>
                </a:solidFill>
                <a:latin typeface="Aileron Ultra-Bold"/>
                <a:sym typeface="Aileron Bold"/>
              </a:rPr>
              <a:t>通路：社群媒體推廣、校園合作、商家導流</a:t>
            </a:r>
            <a:endParaRPr lang="en-US" sz="3600" b="1" dirty="0">
              <a:solidFill>
                <a:srgbClr val="322A2A"/>
              </a:solidFill>
              <a:latin typeface="Aileron Ultra-Bold"/>
              <a:sym typeface="Aileron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864217" y="3420750"/>
            <a:ext cx="12804395" cy="942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496"/>
              </a:lnSpc>
              <a:spcBef>
                <a:spcPct val="0"/>
              </a:spcBef>
            </a:pPr>
            <a:r>
              <a:rPr lang="en-US" sz="5600" b="1">
                <a:solidFill>
                  <a:srgbClr val="134E1A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3.2 第一筆訂單取得方式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13609" y="4217603"/>
            <a:ext cx="13777270" cy="1261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40" lvl="1" indent="-388620">
              <a:lnSpc>
                <a:spcPts val="5040"/>
              </a:lnSpc>
              <a:buFont typeface="Arial"/>
              <a:buChar char="•"/>
            </a:pPr>
            <a:r>
              <a:rPr lang="en-US" sz="3600" b="1" dirty="0" err="1">
                <a:solidFill>
                  <a:srgbClr val="322A2A"/>
                </a:solidFill>
                <a:latin typeface="Aileron Ultra-Bold"/>
                <a:sym typeface="Aileron Ultra-Bold"/>
              </a:rPr>
              <a:t>與便利商店、咖啡廳合作，提供免費「安全合作商家」認證</a:t>
            </a:r>
            <a:endParaRPr lang="en-US" sz="3600" b="1" dirty="0">
              <a:solidFill>
                <a:srgbClr val="322A2A"/>
              </a:solidFill>
              <a:latin typeface="Aileron Ultra-Bold"/>
              <a:sym typeface="Aileron Ultra-Bold"/>
            </a:endParaRPr>
          </a:p>
          <a:p>
            <a:pPr marL="777240" lvl="1" indent="-388620">
              <a:lnSpc>
                <a:spcPts val="5040"/>
              </a:lnSpc>
              <a:buFont typeface="Arial"/>
              <a:buChar char="•"/>
            </a:pPr>
            <a:r>
              <a:rPr lang="en-US" sz="3600" b="1" dirty="0" err="1">
                <a:solidFill>
                  <a:srgbClr val="322A2A"/>
                </a:solidFill>
                <a:latin typeface="Aileron Ultra-Bold"/>
                <a:sym typeface="Aileron Ultra-Bold"/>
              </a:rPr>
              <a:t>初期以提供免費廣告曝光吸引商家加入，再進階推廣廣告方案</a:t>
            </a:r>
            <a:endParaRPr lang="en-US" sz="3600" b="1" dirty="0">
              <a:solidFill>
                <a:srgbClr val="322A2A"/>
              </a:solidFill>
              <a:latin typeface="Aileron Ultra-Bold"/>
              <a:sym typeface="Aileron Ultra-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864217" y="5657007"/>
            <a:ext cx="12804395" cy="942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496"/>
              </a:lnSpc>
              <a:spcBef>
                <a:spcPct val="0"/>
              </a:spcBef>
            </a:pPr>
            <a:r>
              <a:rPr lang="en-US" sz="5600" b="1">
                <a:solidFill>
                  <a:srgbClr val="134E1A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3.3 成本與定價策略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864217" y="6580773"/>
            <a:ext cx="15395083" cy="3175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 b="1" dirty="0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成本：伺服器（約每月300元）、地圖API（約2000元/月）、</a:t>
            </a:r>
            <a:r>
              <a:rPr lang="en-US" sz="3600" b="1" dirty="0" err="1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推廣費用</a:t>
            </a:r>
            <a:endParaRPr lang="en-US" sz="3600" b="1" dirty="0">
              <a:solidFill>
                <a:srgbClr val="322A2A"/>
              </a:solidFill>
              <a:latin typeface="Aileron Ultra-Bold"/>
              <a:ea typeface="Aileron Ultra-Bold"/>
              <a:cs typeface="Aileron Ultra-Bold"/>
              <a:sym typeface="Aileron Ultra-Bold"/>
            </a:endParaRP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 b="1" dirty="0" err="1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定價策略</a:t>
            </a:r>
            <a:r>
              <a:rPr lang="en-US" sz="3600" b="1" dirty="0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：</a:t>
            </a:r>
          </a:p>
          <a:p>
            <a:pPr marL="1554480" lvl="2" indent="-518160" algn="l">
              <a:lnSpc>
                <a:spcPts val="5040"/>
              </a:lnSpc>
              <a:buFont typeface="Arial"/>
              <a:buChar char="⚬"/>
            </a:pPr>
            <a:r>
              <a:rPr lang="en-US" sz="3600" b="1" dirty="0" err="1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商家合作認證：免費</a:t>
            </a:r>
            <a:r>
              <a:rPr lang="en-US" sz="3600" b="1" dirty="0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 → </a:t>
            </a:r>
            <a:r>
              <a:rPr lang="en-US" sz="3600" b="1" dirty="0" err="1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建立門檻</a:t>
            </a:r>
            <a:endParaRPr lang="en-US" sz="3600" b="1" dirty="0">
              <a:solidFill>
                <a:srgbClr val="322A2A"/>
              </a:solidFill>
              <a:latin typeface="Aileron Ultra-Bold"/>
              <a:ea typeface="Aileron Ultra-Bold"/>
              <a:cs typeface="Aileron Ultra-Bold"/>
              <a:sym typeface="Aileron Ultra-Bold"/>
            </a:endParaRPr>
          </a:p>
          <a:p>
            <a:pPr marL="1554480" lvl="2" indent="-518160" algn="l">
              <a:lnSpc>
                <a:spcPts val="5040"/>
              </a:lnSpc>
              <a:buFont typeface="Arial"/>
              <a:buChar char="⚬"/>
            </a:pPr>
            <a:r>
              <a:rPr lang="en-US" sz="3600" b="1" dirty="0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進階曝光服務：每月300元</a:t>
            </a:r>
          </a:p>
          <a:p>
            <a:pPr marL="1554480" lvl="2" indent="-518160" algn="l">
              <a:lnSpc>
                <a:spcPts val="5040"/>
              </a:lnSpc>
              <a:buFont typeface="Arial"/>
              <a:buChar char="⚬"/>
            </a:pPr>
            <a:r>
              <a:rPr lang="en-US" sz="3600" b="1" dirty="0" err="1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使用者免費</a:t>
            </a:r>
            <a:r>
              <a:rPr lang="en-US" sz="3600" b="1" dirty="0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 → </a:t>
            </a:r>
            <a:r>
              <a:rPr lang="en-US" sz="3600" b="1" dirty="0" err="1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增加下載量</a:t>
            </a:r>
            <a:endParaRPr lang="en-US" sz="3600" b="1" dirty="0">
              <a:solidFill>
                <a:srgbClr val="322A2A"/>
              </a:solidFill>
              <a:latin typeface="Aileron Ultra-Bold"/>
              <a:ea typeface="Aileron Ultra-Bold"/>
              <a:cs typeface="Aileron Ultra-Bold"/>
              <a:sym typeface="Aileron Ultra-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864217" y="509667"/>
            <a:ext cx="10169474" cy="942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496"/>
              </a:lnSpc>
              <a:spcBef>
                <a:spcPct val="0"/>
              </a:spcBef>
            </a:pPr>
            <a:r>
              <a:rPr lang="en-US" sz="5600" b="1">
                <a:solidFill>
                  <a:srgbClr val="134E1A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3.1 製造/銷售/通路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922949" y="956947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Page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258300"/>
            <a:ext cx="18288000" cy="1028700"/>
            <a:chOff x="0" y="0"/>
            <a:chExt cx="4816593" cy="2709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70933"/>
            </a:xfrm>
            <a:custGeom>
              <a:avLst/>
              <a:gdLst/>
              <a:ahLst/>
              <a:cxnLst/>
              <a:rect l="l" t="t" r="r" b="b"/>
              <a:pathLst>
                <a:path w="4816592" h="270933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D9DFCE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3280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057153" y="0"/>
            <a:ext cx="3427276" cy="4020223"/>
            <a:chOff x="0" y="0"/>
            <a:chExt cx="902657" cy="105882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02657" cy="1058824"/>
            </a:xfrm>
            <a:custGeom>
              <a:avLst/>
              <a:gdLst/>
              <a:ahLst/>
              <a:cxnLst/>
              <a:rect l="l" t="t" r="r" b="b"/>
              <a:pathLst>
                <a:path w="902657" h="1058824">
                  <a:moveTo>
                    <a:pt x="0" y="0"/>
                  </a:moveTo>
                  <a:lnTo>
                    <a:pt x="902657" y="0"/>
                  </a:lnTo>
                  <a:lnTo>
                    <a:pt x="902657" y="1058824"/>
                  </a:lnTo>
                  <a:lnTo>
                    <a:pt x="0" y="1058824"/>
                  </a:lnTo>
                  <a:close/>
                </a:path>
              </a:pathLst>
            </a:custGeom>
            <a:solidFill>
              <a:srgbClr val="F5F8E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902657" cy="11159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5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5770791" y="6957271"/>
            <a:ext cx="1709818" cy="254918"/>
          </a:xfrm>
          <a:custGeom>
            <a:avLst/>
            <a:gdLst/>
            <a:ahLst/>
            <a:cxnLst/>
            <a:rect l="l" t="t" r="r" b="b"/>
            <a:pathLst>
              <a:path w="1709818" h="254918">
                <a:moveTo>
                  <a:pt x="0" y="0"/>
                </a:moveTo>
                <a:lnTo>
                  <a:pt x="1709818" y="0"/>
                </a:lnTo>
                <a:lnTo>
                  <a:pt x="1709818" y="254918"/>
                </a:lnTo>
                <a:lnTo>
                  <a:pt x="0" y="2549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9" name="Freeform 9"/>
          <p:cNvSpPr/>
          <p:nvPr/>
        </p:nvSpPr>
        <p:spPr>
          <a:xfrm>
            <a:off x="12557482" y="306128"/>
            <a:ext cx="4701818" cy="3851573"/>
          </a:xfrm>
          <a:custGeom>
            <a:avLst/>
            <a:gdLst/>
            <a:ahLst/>
            <a:cxnLst/>
            <a:rect l="l" t="t" r="r" b="b"/>
            <a:pathLst>
              <a:path w="4701818" h="3851573">
                <a:moveTo>
                  <a:pt x="0" y="0"/>
                </a:moveTo>
                <a:lnTo>
                  <a:pt x="4701818" y="0"/>
                </a:lnTo>
                <a:lnTo>
                  <a:pt x="4701818" y="3851572"/>
                </a:lnTo>
                <a:lnTo>
                  <a:pt x="0" y="38515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0" name="TextBox 10"/>
          <p:cNvSpPr txBox="1"/>
          <p:nvPr/>
        </p:nvSpPr>
        <p:spPr>
          <a:xfrm>
            <a:off x="1368738" y="1376283"/>
            <a:ext cx="11356661" cy="18694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77240" lvl="1" indent="-388620">
              <a:lnSpc>
                <a:spcPts val="5040"/>
              </a:lnSpc>
              <a:buFont typeface="Arial"/>
              <a:buChar char="•"/>
            </a:pPr>
            <a:r>
              <a:rPr lang="en-US" sz="3600" b="1" dirty="0" err="1">
                <a:solidFill>
                  <a:srgbClr val="322A2A"/>
                </a:solidFill>
                <a:latin typeface="Aileron Ultra-Bold"/>
                <a:sym typeface="Aileron Bold"/>
              </a:rPr>
              <a:t>商家廣告投放與曝光</a:t>
            </a:r>
            <a:endParaRPr lang="en-US" sz="3600" b="1" dirty="0">
              <a:solidFill>
                <a:srgbClr val="322A2A"/>
              </a:solidFill>
              <a:latin typeface="Aileron Ultra-Bold"/>
              <a:sym typeface="Aileron Bold"/>
            </a:endParaRPr>
          </a:p>
          <a:p>
            <a:pPr marL="777240" lvl="1" indent="-388620">
              <a:lnSpc>
                <a:spcPts val="5040"/>
              </a:lnSpc>
              <a:buFont typeface="Arial"/>
              <a:buChar char="•"/>
            </a:pPr>
            <a:r>
              <a:rPr lang="en-US" sz="3600" b="1" dirty="0" err="1">
                <a:solidFill>
                  <a:srgbClr val="322A2A"/>
                </a:solidFill>
                <a:latin typeface="Aileron Ultra-Bold"/>
                <a:sym typeface="Aileron Bold"/>
              </a:rPr>
              <a:t>政府、NGO合作補助（數據分析、社區安全推廣</a:t>
            </a:r>
            <a:r>
              <a:rPr lang="en-US" sz="3600" b="1" dirty="0">
                <a:solidFill>
                  <a:srgbClr val="322A2A"/>
                </a:solidFill>
                <a:latin typeface="Aileron Ultra-Bold"/>
                <a:sym typeface="Aileron Bold"/>
              </a:rPr>
              <a:t>）</a:t>
            </a:r>
          </a:p>
          <a:p>
            <a:pPr marL="777240" lvl="1" indent="-388620">
              <a:lnSpc>
                <a:spcPts val="5040"/>
              </a:lnSpc>
              <a:buFont typeface="Arial"/>
              <a:buChar char="•"/>
            </a:pPr>
            <a:r>
              <a:rPr lang="en-US" sz="3600" b="1" dirty="0" err="1">
                <a:solidFill>
                  <a:srgbClr val="322A2A"/>
                </a:solidFill>
                <a:latin typeface="Aileron Ultra-Bold"/>
                <a:sym typeface="Aileron Bold"/>
              </a:rPr>
              <a:t>未來進階會員服務（進階通知、專屬防護功能</a:t>
            </a:r>
            <a:r>
              <a:rPr lang="en-US" sz="3600" b="1" dirty="0">
                <a:solidFill>
                  <a:srgbClr val="322A2A"/>
                </a:solidFill>
                <a:latin typeface="Aileron Ultra-Bold"/>
                <a:sym typeface="Aileron Bold"/>
              </a:rPr>
              <a:t>）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864217" y="3638667"/>
            <a:ext cx="12804395" cy="942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496"/>
              </a:lnSpc>
              <a:spcBef>
                <a:spcPct val="0"/>
              </a:spcBef>
            </a:pPr>
            <a:r>
              <a:rPr lang="en-US" sz="5600" b="1">
                <a:solidFill>
                  <a:srgbClr val="134E1A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3.5 營運規劃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4505284"/>
            <a:ext cx="16230600" cy="5337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 b="1" dirty="0" err="1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從免費切入市場、建立用戶基礎</a:t>
            </a:r>
            <a:r>
              <a:rPr lang="en-US" sz="3600" b="1" dirty="0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 → </a:t>
            </a:r>
            <a:r>
              <a:rPr lang="en-US" sz="3600" b="1" dirty="0" err="1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商家廣告化、政府補助</a:t>
            </a:r>
            <a:r>
              <a:rPr lang="en-US" sz="3600" b="1" dirty="0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 → </a:t>
            </a:r>
            <a:r>
              <a:rPr lang="en-US" sz="3600" b="1" dirty="0" err="1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全國推廣，形成明確且可循序推進的商業邏輯</a:t>
            </a:r>
            <a:endParaRPr lang="en-US" sz="3600" b="1" dirty="0">
              <a:solidFill>
                <a:srgbClr val="322A2A"/>
              </a:solidFill>
              <a:latin typeface="Aileron Ultra-Bold"/>
              <a:ea typeface="Aileron Ultra-Bold"/>
              <a:cs typeface="Aileron Ultra-Bold"/>
              <a:sym typeface="Aileron Ultra-Bold"/>
            </a:endParaRPr>
          </a:p>
          <a:p>
            <a:pPr algn="l">
              <a:lnSpc>
                <a:spcPts val="1960"/>
              </a:lnSpc>
            </a:pPr>
            <a:endParaRPr lang="en-US" sz="3600" b="1" dirty="0">
              <a:solidFill>
                <a:srgbClr val="322A2A"/>
              </a:solidFill>
              <a:latin typeface="Aileron Ultra-Bold"/>
              <a:ea typeface="Aileron Ultra-Bold"/>
              <a:cs typeface="Aileron Ultra-Bold"/>
              <a:sym typeface="Aileron Ultra-Bold"/>
            </a:endParaRP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 b="1" dirty="0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短期（1年內）：完成平台原型，拓展10～20家合作商家，吸引20～30位種子用戶，營收6,000～10,000元，達成收支平衡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 b="1" dirty="0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中期（2～3年）：</a:t>
            </a:r>
            <a:r>
              <a:rPr lang="en-US" sz="3600" b="1" dirty="0" err="1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第二年營收成長</a:t>
            </a:r>
            <a:r>
              <a:rPr lang="en-US" sz="3600" b="1" dirty="0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 50%，用戶數突破50；第三年導入贊助與廣告，營收突破 30,000元，逐步擴展至主要城市並與政府/</a:t>
            </a:r>
            <a:r>
              <a:rPr lang="en-US" sz="3600" b="1" dirty="0" err="1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NGO合作</a:t>
            </a:r>
            <a:endParaRPr lang="en-US" sz="3600" b="1" dirty="0">
              <a:solidFill>
                <a:srgbClr val="322A2A"/>
              </a:solidFill>
              <a:latin typeface="Aileron Ultra-Bold"/>
              <a:ea typeface="Aileron Ultra-Bold"/>
              <a:cs typeface="Aileron Ultra-Bold"/>
              <a:sym typeface="Aileron Ultra-Bold"/>
            </a:endParaRP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 b="1" dirty="0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長期（5年）：</a:t>
            </a:r>
            <a:r>
              <a:rPr lang="en-US" sz="3600" b="1" dirty="0" err="1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建立全國安全地圖平台，深化與政府合作，透過廣告、贊助與資料服務達成永續營運</a:t>
            </a:r>
            <a:endParaRPr lang="en-US" sz="3600" b="1" dirty="0">
              <a:solidFill>
                <a:srgbClr val="322A2A"/>
              </a:solidFill>
              <a:latin typeface="Aileron Ultra-Bold"/>
              <a:ea typeface="Aileron Ultra-Bold"/>
              <a:cs typeface="Aileron Ultra-Bold"/>
              <a:sym typeface="Aileron Ultra-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864217" y="509667"/>
            <a:ext cx="12804395" cy="942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496"/>
              </a:lnSpc>
              <a:spcBef>
                <a:spcPct val="0"/>
              </a:spcBef>
            </a:pPr>
            <a:r>
              <a:rPr lang="en-US" sz="5600" b="1">
                <a:solidFill>
                  <a:srgbClr val="134E1A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3.4 獲利模式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922949" y="956947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Page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258300"/>
            <a:ext cx="18288000" cy="1028700"/>
            <a:chOff x="0" y="0"/>
            <a:chExt cx="4816593" cy="2709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70933"/>
            </a:xfrm>
            <a:custGeom>
              <a:avLst/>
              <a:gdLst/>
              <a:ahLst/>
              <a:cxnLst/>
              <a:rect l="l" t="t" r="r" b="b"/>
              <a:pathLst>
                <a:path w="4816592" h="270933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D9DFCE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3280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057153" y="0"/>
            <a:ext cx="3427276" cy="4020223"/>
            <a:chOff x="0" y="0"/>
            <a:chExt cx="902657" cy="105882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02657" cy="1058824"/>
            </a:xfrm>
            <a:custGeom>
              <a:avLst/>
              <a:gdLst/>
              <a:ahLst/>
              <a:cxnLst/>
              <a:rect l="l" t="t" r="r" b="b"/>
              <a:pathLst>
                <a:path w="902657" h="1058824">
                  <a:moveTo>
                    <a:pt x="0" y="0"/>
                  </a:moveTo>
                  <a:lnTo>
                    <a:pt x="902657" y="0"/>
                  </a:lnTo>
                  <a:lnTo>
                    <a:pt x="902657" y="1058824"/>
                  </a:lnTo>
                  <a:lnTo>
                    <a:pt x="0" y="1058824"/>
                  </a:lnTo>
                  <a:close/>
                </a:path>
              </a:pathLst>
            </a:custGeom>
            <a:solidFill>
              <a:srgbClr val="F5F8E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902657" cy="11159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5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6156712" y="8645595"/>
            <a:ext cx="1709818" cy="254918"/>
          </a:xfrm>
          <a:custGeom>
            <a:avLst/>
            <a:gdLst/>
            <a:ahLst/>
            <a:cxnLst/>
            <a:rect l="l" t="t" r="r" b="b"/>
            <a:pathLst>
              <a:path w="1709818" h="254918">
                <a:moveTo>
                  <a:pt x="0" y="0"/>
                </a:moveTo>
                <a:lnTo>
                  <a:pt x="1709818" y="0"/>
                </a:lnTo>
                <a:lnTo>
                  <a:pt x="1709818" y="254918"/>
                </a:lnTo>
                <a:lnTo>
                  <a:pt x="0" y="2549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9" name="Freeform 9"/>
          <p:cNvSpPr/>
          <p:nvPr/>
        </p:nvSpPr>
        <p:spPr>
          <a:xfrm>
            <a:off x="11612570" y="3527321"/>
            <a:ext cx="3914628" cy="5245733"/>
          </a:xfrm>
          <a:custGeom>
            <a:avLst/>
            <a:gdLst/>
            <a:ahLst/>
            <a:cxnLst/>
            <a:rect l="l" t="t" r="r" b="b"/>
            <a:pathLst>
              <a:path w="3914628" h="5245733">
                <a:moveTo>
                  <a:pt x="0" y="0"/>
                </a:moveTo>
                <a:lnTo>
                  <a:pt x="3914629" y="0"/>
                </a:lnTo>
                <a:lnTo>
                  <a:pt x="3914629" y="5245733"/>
                </a:lnTo>
                <a:lnTo>
                  <a:pt x="0" y="52457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0" name="TextBox 10"/>
          <p:cNvSpPr txBox="1"/>
          <p:nvPr/>
        </p:nvSpPr>
        <p:spPr>
          <a:xfrm>
            <a:off x="1513609" y="1429272"/>
            <a:ext cx="15260782" cy="2537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40" lvl="1" indent="-388620">
              <a:lnSpc>
                <a:spcPts val="5040"/>
              </a:lnSpc>
              <a:buFont typeface="Arial"/>
              <a:buChar char="•"/>
            </a:pPr>
            <a:r>
              <a:rPr lang="en-US" sz="3600" b="1" dirty="0" err="1">
                <a:solidFill>
                  <a:srgbClr val="322A2A"/>
                </a:solidFill>
                <a:latin typeface="Aileron Ultra-Bold"/>
                <a:sym typeface="Aileron Bold"/>
              </a:rPr>
              <a:t>自有資金：團隊啟動開發</a:t>
            </a:r>
            <a:endParaRPr lang="en-US" sz="3600" b="1" dirty="0">
              <a:solidFill>
                <a:srgbClr val="322A2A"/>
              </a:solidFill>
              <a:latin typeface="Aileron Ultra-Bold"/>
              <a:sym typeface="Aileron Bold"/>
            </a:endParaRPr>
          </a:p>
          <a:p>
            <a:pPr marL="777240" lvl="1" indent="-388620">
              <a:lnSpc>
                <a:spcPts val="5040"/>
              </a:lnSpc>
              <a:buFont typeface="Arial"/>
              <a:buChar char="•"/>
            </a:pPr>
            <a:r>
              <a:rPr lang="en-US" sz="3600" b="1" dirty="0" err="1">
                <a:solidFill>
                  <a:srgbClr val="322A2A"/>
                </a:solidFill>
                <a:latin typeface="Aileron Ultra-Bold"/>
                <a:sym typeface="Aileron Bold"/>
              </a:rPr>
              <a:t>後期：政府計畫、創投支持、貸款</a:t>
            </a:r>
            <a:endParaRPr lang="en-US" sz="3600" b="1" dirty="0">
              <a:solidFill>
                <a:srgbClr val="322A2A"/>
              </a:solidFill>
              <a:latin typeface="Aileron Ultra-Bold"/>
              <a:sym typeface="Aileron Bold"/>
            </a:endParaRPr>
          </a:p>
          <a:p>
            <a:pPr marL="777240" lvl="1" indent="-388620">
              <a:lnSpc>
                <a:spcPts val="5040"/>
              </a:lnSpc>
              <a:buFont typeface="Arial"/>
              <a:buChar char="•"/>
            </a:pPr>
            <a:r>
              <a:rPr lang="en-US" sz="3600" b="1" dirty="0" err="1">
                <a:solidFill>
                  <a:srgbClr val="322A2A"/>
                </a:solidFill>
                <a:latin typeface="Aileron Ultra-Bold"/>
                <a:sym typeface="Aileron Bold"/>
              </a:rPr>
              <a:t>競賽</a:t>
            </a:r>
            <a:r>
              <a:rPr lang="en-US" sz="3600" b="1" dirty="0">
                <a:solidFill>
                  <a:srgbClr val="322A2A"/>
                </a:solidFill>
                <a:latin typeface="Aileron Ultra-Bold"/>
                <a:sym typeface="Aileron Bold"/>
              </a:rPr>
              <a:t>/</a:t>
            </a:r>
            <a:r>
              <a:rPr lang="en-US" sz="3600" b="1" dirty="0" err="1">
                <a:solidFill>
                  <a:srgbClr val="322A2A"/>
                </a:solidFill>
                <a:latin typeface="Aileron Ultra-Bold"/>
                <a:sym typeface="Aileron Bold"/>
              </a:rPr>
              <a:t>政府計畫補助</a:t>
            </a:r>
            <a:endParaRPr lang="en-US" sz="3600" b="1" dirty="0">
              <a:solidFill>
                <a:srgbClr val="322A2A"/>
              </a:solidFill>
              <a:latin typeface="Aileron Ultra-Bold"/>
              <a:sym typeface="Aileron Bold"/>
            </a:endParaRPr>
          </a:p>
          <a:p>
            <a:pPr marL="777240" lvl="1" indent="-388620">
              <a:lnSpc>
                <a:spcPts val="5040"/>
              </a:lnSpc>
              <a:buFont typeface="Arial"/>
              <a:buChar char="•"/>
            </a:pPr>
            <a:r>
              <a:rPr lang="en-US" sz="3600" b="1" dirty="0" err="1">
                <a:solidFill>
                  <a:srgbClr val="322A2A"/>
                </a:solidFill>
                <a:latin typeface="Aileron Ultra-Bold"/>
                <a:sym typeface="Aileron Bold"/>
              </a:rPr>
              <a:t>未來考慮小額貸款或募資</a:t>
            </a:r>
            <a:endParaRPr lang="en-US" sz="3600" b="1" dirty="0">
              <a:solidFill>
                <a:srgbClr val="322A2A"/>
              </a:solidFill>
              <a:latin typeface="Aileron Ultra-Bold"/>
              <a:sym typeface="Aileron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864217" y="4119600"/>
            <a:ext cx="12804395" cy="942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496"/>
              </a:lnSpc>
              <a:spcBef>
                <a:spcPct val="0"/>
              </a:spcBef>
            </a:pPr>
            <a:r>
              <a:rPr lang="en-US" sz="5600" b="1">
                <a:solidFill>
                  <a:srgbClr val="134E1A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4.2 收入來源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13609" y="4986217"/>
            <a:ext cx="8504645" cy="1899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40" lvl="1" indent="-388620">
              <a:lnSpc>
                <a:spcPts val="5040"/>
              </a:lnSpc>
              <a:buFont typeface="Arial"/>
              <a:buChar char="•"/>
            </a:pPr>
            <a:r>
              <a:rPr lang="en-US" sz="3600" b="1" dirty="0" err="1">
                <a:solidFill>
                  <a:srgbClr val="322A2A"/>
                </a:solidFill>
                <a:latin typeface="Aileron Ultra-Bold"/>
                <a:sym typeface="Aileron Ultra-Bold"/>
              </a:rPr>
              <a:t>廣告</a:t>
            </a:r>
            <a:r>
              <a:rPr lang="en-US" sz="3600" b="1" dirty="0">
                <a:solidFill>
                  <a:srgbClr val="322A2A"/>
                </a:solidFill>
                <a:latin typeface="Aileron Ultra-Bold"/>
                <a:sym typeface="Aileron Ultra-Bold"/>
              </a:rPr>
              <a:t>/</a:t>
            </a:r>
            <a:r>
              <a:rPr lang="en-US" sz="3600" b="1" dirty="0" err="1">
                <a:solidFill>
                  <a:srgbClr val="322A2A"/>
                </a:solidFill>
                <a:latin typeface="Aileron Ultra-Bold"/>
                <a:sym typeface="Aileron Ultra-Bold"/>
              </a:rPr>
              <a:t>推薦曝光（商家付費</a:t>
            </a:r>
            <a:r>
              <a:rPr lang="en-US" sz="3600" b="1" dirty="0">
                <a:solidFill>
                  <a:srgbClr val="322A2A"/>
                </a:solidFill>
                <a:latin typeface="Aileron Ultra-Bold"/>
                <a:sym typeface="Aileron Ultra-Bold"/>
              </a:rPr>
              <a:t>）</a:t>
            </a:r>
          </a:p>
          <a:p>
            <a:pPr marL="777240" lvl="1" indent="-388620">
              <a:lnSpc>
                <a:spcPts val="5040"/>
              </a:lnSpc>
              <a:buFont typeface="Arial"/>
              <a:buChar char="•"/>
            </a:pPr>
            <a:r>
              <a:rPr lang="en-US" sz="3600" b="1" dirty="0" err="1">
                <a:solidFill>
                  <a:srgbClr val="322A2A"/>
                </a:solidFill>
                <a:latin typeface="Aileron Ultra-Bold"/>
                <a:sym typeface="Aileron Ultra-Bold"/>
              </a:rPr>
              <a:t>政府或NGO補助與社會企業CSR贊助</a:t>
            </a:r>
            <a:endParaRPr lang="en-US" sz="3600" b="1" dirty="0">
              <a:solidFill>
                <a:srgbClr val="322A2A"/>
              </a:solidFill>
              <a:latin typeface="Aileron Ultra-Bold"/>
              <a:sym typeface="Aileron Ultra-Bold"/>
            </a:endParaRPr>
          </a:p>
          <a:p>
            <a:pPr marL="777240" lvl="1" indent="-388620">
              <a:lnSpc>
                <a:spcPts val="5040"/>
              </a:lnSpc>
              <a:buFont typeface="Arial"/>
              <a:buChar char="•"/>
            </a:pPr>
            <a:r>
              <a:rPr lang="en-US" sz="3600" b="1" dirty="0" err="1">
                <a:solidFill>
                  <a:srgbClr val="322A2A"/>
                </a:solidFill>
                <a:latin typeface="Aileron Ultra-Bold"/>
                <a:sym typeface="Aileron Ultra-Bold"/>
              </a:rPr>
              <a:t>技術授權（安全數據合作</a:t>
            </a:r>
            <a:r>
              <a:rPr lang="en-US" sz="3600" b="1" dirty="0">
                <a:solidFill>
                  <a:srgbClr val="322A2A"/>
                </a:solidFill>
                <a:latin typeface="Aileron Ultra-Bold"/>
                <a:sym typeface="Aileron Ultra-Bold"/>
              </a:rPr>
              <a:t>）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864217" y="509667"/>
            <a:ext cx="12804395" cy="942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496"/>
              </a:lnSpc>
              <a:spcBef>
                <a:spcPct val="0"/>
              </a:spcBef>
            </a:pPr>
            <a:r>
              <a:rPr lang="en-US" sz="5600" b="1">
                <a:solidFill>
                  <a:srgbClr val="134E1A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4.1 資金結構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922949" y="956947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Page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258300"/>
            <a:ext cx="18288000" cy="1028700"/>
            <a:chOff x="0" y="0"/>
            <a:chExt cx="4816593" cy="2709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70933"/>
            </a:xfrm>
            <a:custGeom>
              <a:avLst/>
              <a:gdLst/>
              <a:ahLst/>
              <a:cxnLst/>
              <a:rect l="l" t="t" r="r" b="b"/>
              <a:pathLst>
                <a:path w="4816592" h="270933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D9DFCE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3280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057153" y="0"/>
            <a:ext cx="3427276" cy="4020223"/>
            <a:chOff x="0" y="0"/>
            <a:chExt cx="902657" cy="105882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02657" cy="1058824"/>
            </a:xfrm>
            <a:custGeom>
              <a:avLst/>
              <a:gdLst/>
              <a:ahLst/>
              <a:cxnLst/>
              <a:rect l="l" t="t" r="r" b="b"/>
              <a:pathLst>
                <a:path w="902657" h="1058824">
                  <a:moveTo>
                    <a:pt x="0" y="0"/>
                  </a:moveTo>
                  <a:lnTo>
                    <a:pt x="902657" y="0"/>
                  </a:lnTo>
                  <a:lnTo>
                    <a:pt x="902657" y="1058824"/>
                  </a:lnTo>
                  <a:lnTo>
                    <a:pt x="0" y="1058824"/>
                  </a:lnTo>
                  <a:close/>
                </a:path>
              </a:pathLst>
            </a:custGeom>
            <a:solidFill>
              <a:srgbClr val="F5F8E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902657" cy="11159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5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5770791" y="8659837"/>
            <a:ext cx="1709818" cy="254918"/>
          </a:xfrm>
          <a:custGeom>
            <a:avLst/>
            <a:gdLst/>
            <a:ahLst/>
            <a:cxnLst/>
            <a:rect l="l" t="t" r="r" b="b"/>
            <a:pathLst>
              <a:path w="1709818" h="254918">
                <a:moveTo>
                  <a:pt x="0" y="0"/>
                </a:moveTo>
                <a:lnTo>
                  <a:pt x="1709818" y="0"/>
                </a:lnTo>
                <a:lnTo>
                  <a:pt x="1709818" y="254918"/>
                </a:lnTo>
                <a:lnTo>
                  <a:pt x="0" y="2549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9" name="TextBox 9"/>
          <p:cNvSpPr txBox="1"/>
          <p:nvPr/>
        </p:nvSpPr>
        <p:spPr>
          <a:xfrm>
            <a:off x="9491507" y="4905856"/>
            <a:ext cx="8683176" cy="942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496"/>
              </a:lnSpc>
              <a:spcBef>
                <a:spcPct val="0"/>
              </a:spcBef>
            </a:pPr>
            <a:r>
              <a:rPr lang="en-US" sz="5600" b="1">
                <a:solidFill>
                  <a:srgbClr val="134E1A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4.4 財務預測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809937" y="5914866"/>
            <a:ext cx="9478063" cy="3175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 b="1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第一年：收支平衡（估計營收6千～1萬）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 b="1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第二年：盈餘增加50%，用戶數＞50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 b="1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第三年：透過贊助/廣告，達到營收＞3萬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 b="1">
                <a:solidFill>
                  <a:srgbClr val="322A2A"/>
                </a:solidFill>
                <a:latin typeface="Aileron Ultra-Bold"/>
                <a:ea typeface="Aileron Ultra-Bold"/>
                <a:cs typeface="Aileron Ultra-Bold"/>
                <a:sym typeface="Aileron Ultra-Bold"/>
              </a:rPr>
              <a:t>低成本開發＋明確分配比例＋漸進營收成長，具備風險控制與可持續性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69255" y="400072"/>
            <a:ext cx="14296888" cy="10049636"/>
          </a:xfrm>
          <a:prstGeom prst="rect">
            <a:avLst/>
          </a:prstGeom>
        </p:spPr>
      </p:pic>
      <p:sp>
        <p:nvSpPr>
          <p:cNvPr id="12" name="Freeform 12"/>
          <p:cNvSpPr/>
          <p:nvPr/>
        </p:nvSpPr>
        <p:spPr>
          <a:xfrm>
            <a:off x="13833095" y="604917"/>
            <a:ext cx="2792606" cy="4061972"/>
          </a:xfrm>
          <a:custGeom>
            <a:avLst/>
            <a:gdLst/>
            <a:ahLst/>
            <a:cxnLst/>
            <a:rect l="l" t="t" r="r" b="b"/>
            <a:pathLst>
              <a:path w="2792606" h="4061972">
                <a:moveTo>
                  <a:pt x="0" y="0"/>
                </a:moveTo>
                <a:lnTo>
                  <a:pt x="2792605" y="0"/>
                </a:lnTo>
                <a:lnTo>
                  <a:pt x="2792605" y="4061971"/>
                </a:lnTo>
                <a:lnTo>
                  <a:pt x="0" y="40619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3" name="TextBox 13"/>
          <p:cNvSpPr txBox="1"/>
          <p:nvPr/>
        </p:nvSpPr>
        <p:spPr>
          <a:xfrm>
            <a:off x="1028700" y="509667"/>
            <a:ext cx="12804395" cy="942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496"/>
              </a:lnSpc>
              <a:spcBef>
                <a:spcPct val="0"/>
              </a:spcBef>
            </a:pPr>
            <a:r>
              <a:rPr lang="en-US" sz="5600" b="1">
                <a:solidFill>
                  <a:srgbClr val="134E1A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4.3 資金使用方式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922949" y="956947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Page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258300"/>
            <a:ext cx="18288000" cy="1028700"/>
            <a:chOff x="0" y="0"/>
            <a:chExt cx="4816593" cy="2709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70933"/>
            </a:xfrm>
            <a:custGeom>
              <a:avLst/>
              <a:gdLst/>
              <a:ahLst/>
              <a:cxnLst/>
              <a:rect l="l" t="t" r="r" b="b"/>
              <a:pathLst>
                <a:path w="4816592" h="270933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D9DFCE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3280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864217" y="509667"/>
            <a:ext cx="12804395" cy="942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496"/>
              </a:lnSpc>
              <a:spcBef>
                <a:spcPct val="0"/>
              </a:spcBef>
            </a:pPr>
            <a:r>
              <a:rPr lang="en-US" sz="5600" b="1">
                <a:solidFill>
                  <a:srgbClr val="134E1A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5.1 團隊成員與分工</a:t>
            </a:r>
          </a:p>
        </p:txBody>
      </p:sp>
      <p:graphicFrame>
        <p:nvGraphicFramePr>
          <p:cNvPr id="6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2544785"/>
              </p:ext>
            </p:extLst>
          </p:nvPr>
        </p:nvGraphicFramePr>
        <p:xfrm>
          <a:off x="1228483" y="1823756"/>
          <a:ext cx="15831034" cy="6943057"/>
        </p:xfrm>
        <a:graphic>
          <a:graphicData uri="http://schemas.openxmlformats.org/drawingml/2006/table">
            <a:tbl>
              <a:tblPr/>
              <a:tblGrid>
                <a:gridCol w="47630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67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24285"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lnSpc>
                          <a:spcPts val="5040"/>
                        </a:lnSpc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sz="3200" b="1" kern="1200" dirty="0" err="1">
                          <a:solidFill>
                            <a:srgbClr val="322A2A"/>
                          </a:solidFill>
                          <a:latin typeface="Aileron Ultra-Bold"/>
                          <a:ea typeface="+mn-ea"/>
                          <a:cs typeface="+mn-cs"/>
                          <a:sym typeface="Aileron"/>
                        </a:rPr>
                        <a:t>團隊成員</a:t>
                      </a:r>
                      <a:endParaRPr lang="en-US" sz="3200" b="1" kern="1200" dirty="0">
                        <a:solidFill>
                          <a:srgbClr val="322A2A"/>
                        </a:solidFill>
                        <a:latin typeface="Aileron Ultra-Bold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BC88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lnSpc>
                          <a:spcPts val="5040"/>
                        </a:lnSpc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sz="3200" b="1" kern="1200">
                          <a:solidFill>
                            <a:srgbClr val="322A2A"/>
                          </a:solidFill>
                          <a:latin typeface="Aileron Ultra-Bold"/>
                          <a:ea typeface="+mn-ea"/>
                          <a:cs typeface="+mn-cs"/>
                          <a:sym typeface="Aileron Bold"/>
                        </a:rPr>
                        <a:t>分工</a:t>
                      </a:r>
                      <a:endParaRPr lang="en-US" sz="3200" b="1" kern="1200">
                        <a:solidFill>
                          <a:srgbClr val="322A2A"/>
                        </a:solidFill>
                        <a:latin typeface="Aileron Ultra-Bold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BC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65689"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lnSpc>
                          <a:spcPts val="5040"/>
                        </a:lnSpc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sz="3200" b="1" kern="1200" dirty="0" err="1">
                          <a:solidFill>
                            <a:srgbClr val="322A2A"/>
                          </a:solidFill>
                          <a:latin typeface="Aileron Ultra-Bold"/>
                          <a:ea typeface="+mn-ea"/>
                          <a:cs typeface="+mn-cs"/>
                          <a:sym typeface="Aileron"/>
                        </a:rPr>
                        <a:t>吳想想（組長</a:t>
                      </a:r>
                      <a:r>
                        <a:rPr lang="en-US" sz="3200" b="1" kern="1200" dirty="0">
                          <a:solidFill>
                            <a:srgbClr val="322A2A"/>
                          </a:solidFill>
                          <a:latin typeface="Aileron Ultra-Bold"/>
                          <a:ea typeface="+mn-ea"/>
                          <a:cs typeface="+mn-cs"/>
                          <a:sym typeface="Aileron"/>
                        </a:rPr>
                        <a:t>）</a:t>
                      </a:r>
                      <a:endParaRPr lang="en-US" sz="3200" b="1" kern="1200" dirty="0">
                        <a:solidFill>
                          <a:srgbClr val="322A2A"/>
                        </a:solidFill>
                        <a:latin typeface="Aileron Ultra-Bold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C5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lnSpc>
                          <a:spcPts val="5040"/>
                        </a:lnSpc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sz="3200" b="1" kern="1200" dirty="0" err="1">
                          <a:solidFill>
                            <a:srgbClr val="322A2A"/>
                          </a:solidFill>
                          <a:latin typeface="Aileron Ultra-Bold"/>
                          <a:ea typeface="+mn-ea"/>
                          <a:cs typeface="+mn-cs"/>
                          <a:sym typeface="Aileron"/>
                        </a:rPr>
                        <a:t>追蹤進度</a:t>
                      </a:r>
                      <a:r>
                        <a:rPr lang="en-US" sz="3200" b="1" kern="1200" dirty="0">
                          <a:solidFill>
                            <a:srgbClr val="322A2A"/>
                          </a:solidFill>
                          <a:latin typeface="Aileron Ultra-Bold"/>
                          <a:ea typeface="+mn-ea"/>
                          <a:cs typeface="+mn-cs"/>
                          <a:sym typeface="Aileron"/>
                        </a:rPr>
                        <a:t>/</a:t>
                      </a:r>
                      <a:r>
                        <a:rPr lang="en-US" sz="3200" b="1" kern="1200" dirty="0" err="1">
                          <a:solidFill>
                            <a:srgbClr val="322A2A"/>
                          </a:solidFill>
                          <a:latin typeface="Aileron Ultra-Bold"/>
                          <a:ea typeface="+mn-ea"/>
                          <a:cs typeface="+mn-cs"/>
                          <a:sym typeface="Aileron"/>
                        </a:rPr>
                        <a:t>登入，地圖及聊天室相關功能</a:t>
                      </a:r>
                      <a:r>
                        <a:rPr lang="en-US" sz="3200" b="1" kern="1200" dirty="0">
                          <a:solidFill>
                            <a:srgbClr val="322A2A"/>
                          </a:solidFill>
                          <a:latin typeface="Aileron Ultra-Bold"/>
                          <a:ea typeface="+mn-ea"/>
                          <a:cs typeface="+mn-cs"/>
                          <a:sym typeface="Aileron"/>
                        </a:rPr>
                        <a:t>/</a:t>
                      </a:r>
                      <a:r>
                        <a:rPr lang="en-US" sz="3200" b="1" kern="1200" dirty="0" err="1">
                          <a:solidFill>
                            <a:srgbClr val="322A2A"/>
                          </a:solidFill>
                          <a:latin typeface="Aileron Ultra-Bold"/>
                          <a:ea typeface="+mn-ea"/>
                          <a:cs typeface="+mn-cs"/>
                          <a:sym typeface="Aileron"/>
                        </a:rPr>
                        <a:t>資料庫設計</a:t>
                      </a:r>
                      <a:endParaRPr lang="en-US" sz="3200" b="1" kern="1200" dirty="0">
                        <a:solidFill>
                          <a:srgbClr val="322A2A"/>
                        </a:solidFill>
                        <a:latin typeface="Aileron Ultra-Bold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C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59212"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lnSpc>
                          <a:spcPts val="5040"/>
                        </a:lnSpc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sz="3200" b="1" kern="1200">
                          <a:solidFill>
                            <a:srgbClr val="322A2A"/>
                          </a:solidFill>
                          <a:latin typeface="Aileron Ultra-Bold"/>
                          <a:ea typeface="+mn-ea"/>
                          <a:cs typeface="+mn-cs"/>
                          <a:sym typeface="Aileron"/>
                        </a:rPr>
                        <a:t>陳雨琦</a:t>
                      </a:r>
                      <a:endParaRPr lang="en-US" sz="3200" b="1" kern="1200">
                        <a:solidFill>
                          <a:srgbClr val="322A2A"/>
                        </a:solidFill>
                        <a:latin typeface="Aileron Ultra-Bold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C5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lnSpc>
                          <a:spcPts val="5040"/>
                        </a:lnSpc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sz="3200" b="1" kern="1200" dirty="0" err="1">
                          <a:solidFill>
                            <a:srgbClr val="322A2A"/>
                          </a:solidFill>
                          <a:latin typeface="Aileron Ultra-Bold"/>
                          <a:ea typeface="+mn-ea"/>
                          <a:cs typeface="+mn-cs"/>
                          <a:sym typeface="Aileron"/>
                        </a:rPr>
                        <a:t>交流區功能</a:t>
                      </a:r>
                      <a:r>
                        <a:rPr lang="en-US" sz="3200" b="1" kern="1200" dirty="0">
                          <a:solidFill>
                            <a:srgbClr val="322A2A"/>
                          </a:solidFill>
                          <a:latin typeface="Aileron Ultra-Bold"/>
                          <a:ea typeface="+mn-ea"/>
                          <a:cs typeface="+mn-cs"/>
                          <a:sym typeface="Aileron"/>
                        </a:rPr>
                        <a:t>/</a:t>
                      </a:r>
                      <a:r>
                        <a:rPr lang="en-US" sz="3200" b="1" kern="1200" dirty="0" err="1">
                          <a:solidFill>
                            <a:srgbClr val="322A2A"/>
                          </a:solidFill>
                          <a:latin typeface="Aileron Ultra-Bold"/>
                          <a:ea typeface="+mn-ea"/>
                          <a:cs typeface="+mn-cs"/>
                          <a:sym typeface="Aileron"/>
                        </a:rPr>
                        <a:t>資料庫設計</a:t>
                      </a:r>
                      <a:r>
                        <a:rPr lang="en-US" sz="3200" b="1" kern="1200" dirty="0">
                          <a:solidFill>
                            <a:srgbClr val="322A2A"/>
                          </a:solidFill>
                          <a:latin typeface="Aileron Ultra-Bold"/>
                          <a:ea typeface="+mn-ea"/>
                          <a:cs typeface="+mn-cs"/>
                          <a:sym typeface="Aileron"/>
                        </a:rPr>
                        <a:t>/</a:t>
                      </a:r>
                      <a:r>
                        <a:rPr lang="en-US" sz="3200" b="1" kern="1200" dirty="0" err="1">
                          <a:solidFill>
                            <a:srgbClr val="322A2A"/>
                          </a:solidFill>
                          <a:latin typeface="Aileron Ultra-Bold"/>
                          <a:ea typeface="+mn-ea"/>
                          <a:cs typeface="+mn-cs"/>
                          <a:sym typeface="Aileron"/>
                        </a:rPr>
                        <a:t>資安防護</a:t>
                      </a:r>
                      <a:r>
                        <a:rPr lang="en-US" sz="3200" b="1" kern="1200" dirty="0">
                          <a:solidFill>
                            <a:srgbClr val="322A2A"/>
                          </a:solidFill>
                          <a:latin typeface="Aileron Ultra-Bold"/>
                          <a:ea typeface="+mn-ea"/>
                          <a:cs typeface="+mn-cs"/>
                          <a:sym typeface="Aileron"/>
                        </a:rPr>
                        <a:t>(</a:t>
                      </a:r>
                      <a:r>
                        <a:rPr lang="en-US" sz="3200" b="1" kern="1200" dirty="0" err="1">
                          <a:solidFill>
                            <a:srgbClr val="322A2A"/>
                          </a:solidFill>
                          <a:latin typeface="Aileron Ultra-Bold"/>
                          <a:ea typeface="+mn-ea"/>
                          <a:cs typeface="+mn-cs"/>
                          <a:sym typeface="Aileron"/>
                        </a:rPr>
                        <a:t>避免SQL</a:t>
                      </a:r>
                      <a:r>
                        <a:rPr lang="en-US" sz="3200" b="1" kern="1200" dirty="0">
                          <a:solidFill>
                            <a:srgbClr val="322A2A"/>
                          </a:solidFill>
                          <a:latin typeface="Aileron Ultra-Bold"/>
                          <a:ea typeface="+mn-ea"/>
                          <a:cs typeface="+mn-cs"/>
                          <a:sym typeface="Aileron"/>
                        </a:rPr>
                        <a:t> Injection)/</a:t>
                      </a:r>
                      <a:endParaRPr lang="en-US" sz="3200" b="1" kern="1200" dirty="0">
                        <a:solidFill>
                          <a:srgbClr val="322A2A"/>
                        </a:solidFill>
                        <a:latin typeface="Aileron Ultra-Bold"/>
                        <a:ea typeface="+mn-ea"/>
                        <a:cs typeface="+mn-cs"/>
                      </a:endParaRPr>
                    </a:p>
                    <a:p>
                      <a:pPr marL="0" lvl="1" indent="0" algn="ctr" defTabSz="914400" rtl="0" eaLnBrk="1" latinLnBrk="0" hangingPunct="1">
                        <a:lnSpc>
                          <a:spcPts val="5040"/>
                        </a:lnSpc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sz="3200" b="1" kern="1200" dirty="0">
                          <a:solidFill>
                            <a:srgbClr val="322A2A"/>
                          </a:solidFill>
                          <a:latin typeface="Aileron Ultra-Bold"/>
                          <a:ea typeface="+mn-ea"/>
                          <a:cs typeface="+mn-cs"/>
                          <a:sym typeface="Aileron"/>
                        </a:rPr>
                        <a:t> OpenCV Haar </a:t>
                      </a:r>
                      <a:r>
                        <a:rPr lang="en-US" sz="3200" b="1" kern="1200" dirty="0" err="1">
                          <a:solidFill>
                            <a:srgbClr val="322A2A"/>
                          </a:solidFill>
                          <a:latin typeface="Aileron Ultra-Bold"/>
                          <a:ea typeface="+mn-ea"/>
                          <a:cs typeface="+mn-cs"/>
                          <a:sym typeface="Aileron"/>
                        </a:rPr>
                        <a:t>Cascade進行人臉偵測</a:t>
                      </a:r>
                      <a:endParaRPr lang="en-US" sz="3200" b="1" kern="1200" dirty="0">
                        <a:solidFill>
                          <a:srgbClr val="322A2A"/>
                        </a:solidFill>
                        <a:latin typeface="Aileron Ultra-Bold"/>
                        <a:ea typeface="+mn-ea"/>
                        <a:cs typeface="+mn-cs"/>
                        <a:sym typeface="Aileron"/>
                      </a:endParaRPr>
                    </a:p>
                  </a:txBody>
                  <a:tcPr marL="0" marR="0" marT="0" marB="0" anchor="ctr">
                    <a:lnL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C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59212"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lnSpc>
                          <a:spcPts val="5040"/>
                        </a:lnSpc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sz="3200" b="1" kern="1200">
                          <a:solidFill>
                            <a:srgbClr val="322A2A"/>
                          </a:solidFill>
                          <a:latin typeface="Aileron Ultra-Bold"/>
                          <a:ea typeface="+mn-ea"/>
                          <a:cs typeface="+mn-cs"/>
                          <a:sym typeface="Aileron"/>
                        </a:rPr>
                        <a:t>李品臻</a:t>
                      </a:r>
                      <a:endParaRPr lang="en-US" sz="3200" b="1" kern="1200">
                        <a:solidFill>
                          <a:srgbClr val="322A2A"/>
                        </a:solidFill>
                        <a:latin typeface="Aileron Ultra-Bold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C5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lnSpc>
                          <a:spcPts val="5040"/>
                        </a:lnSpc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sz="3200" b="1" kern="1200" dirty="0" err="1">
                          <a:solidFill>
                            <a:srgbClr val="322A2A"/>
                          </a:solidFill>
                          <a:latin typeface="Aileron Ultra-Bold"/>
                          <a:ea typeface="+mn-ea"/>
                          <a:cs typeface="+mn-cs"/>
                          <a:sym typeface="Aileron"/>
                        </a:rPr>
                        <a:t>附近警局和安全知識相關</a:t>
                      </a:r>
                      <a:r>
                        <a:rPr lang="en-US" sz="3200" b="1" kern="1200" dirty="0">
                          <a:solidFill>
                            <a:srgbClr val="322A2A"/>
                          </a:solidFill>
                          <a:latin typeface="Aileron Ultra-Bold"/>
                          <a:ea typeface="+mn-ea"/>
                          <a:cs typeface="+mn-cs"/>
                          <a:sym typeface="Aileron"/>
                        </a:rPr>
                        <a:t>/</a:t>
                      </a:r>
                      <a:r>
                        <a:rPr lang="en-US" sz="3200" b="1" kern="1200" dirty="0" err="1">
                          <a:solidFill>
                            <a:srgbClr val="322A2A"/>
                          </a:solidFill>
                          <a:latin typeface="Aileron Ultra-Bold"/>
                          <a:ea typeface="+mn-ea"/>
                          <a:cs typeface="+mn-cs"/>
                          <a:sym typeface="Aileron"/>
                        </a:rPr>
                        <a:t>用戶管理</a:t>
                      </a:r>
                      <a:r>
                        <a:rPr lang="en-US" sz="3200" b="1" kern="1200" dirty="0">
                          <a:solidFill>
                            <a:srgbClr val="322A2A"/>
                          </a:solidFill>
                          <a:latin typeface="Aileron Ultra-Bold"/>
                          <a:ea typeface="+mn-ea"/>
                          <a:cs typeface="+mn-cs"/>
                          <a:sym typeface="Aileron"/>
                        </a:rPr>
                        <a:t>/</a:t>
                      </a:r>
                      <a:r>
                        <a:rPr lang="en-US" sz="3200" b="1" kern="1200" dirty="0" err="1">
                          <a:solidFill>
                            <a:srgbClr val="322A2A"/>
                          </a:solidFill>
                          <a:latin typeface="Aileron Ultra-Bold"/>
                          <a:ea typeface="+mn-ea"/>
                          <a:cs typeface="+mn-cs"/>
                          <a:sym typeface="Aileron"/>
                        </a:rPr>
                        <a:t>資料校正</a:t>
                      </a:r>
                      <a:r>
                        <a:rPr lang="en-US" sz="3200" b="1" kern="1200" dirty="0">
                          <a:solidFill>
                            <a:srgbClr val="322A2A"/>
                          </a:solidFill>
                          <a:latin typeface="Aileron Ultra-Bold"/>
                          <a:ea typeface="+mn-ea"/>
                          <a:cs typeface="+mn-cs"/>
                          <a:sym typeface="Aileron"/>
                        </a:rPr>
                        <a:t>/</a:t>
                      </a:r>
                      <a:endParaRPr lang="en-US" sz="3200" b="1" kern="1200" dirty="0">
                        <a:solidFill>
                          <a:srgbClr val="322A2A"/>
                        </a:solidFill>
                        <a:latin typeface="Aileron Ultra-Bold"/>
                        <a:ea typeface="+mn-ea"/>
                        <a:cs typeface="+mn-cs"/>
                      </a:endParaRPr>
                    </a:p>
                    <a:p>
                      <a:pPr marL="0" lvl="1" indent="0" algn="ctr" defTabSz="914400" rtl="0" eaLnBrk="1" latinLnBrk="0" hangingPunct="1">
                        <a:lnSpc>
                          <a:spcPts val="5040"/>
                        </a:lnSpc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sz="3200" b="1" kern="1200" dirty="0" err="1">
                          <a:solidFill>
                            <a:srgbClr val="322A2A"/>
                          </a:solidFill>
                          <a:latin typeface="Aileron Ultra-Bold"/>
                          <a:ea typeface="+mn-ea"/>
                          <a:cs typeface="+mn-cs"/>
                          <a:sym typeface="Aileron"/>
                        </a:rPr>
                        <a:t>文件</a:t>
                      </a:r>
                      <a:r>
                        <a:rPr lang="en-US" sz="3200" b="1" kern="1200" dirty="0">
                          <a:solidFill>
                            <a:srgbClr val="322A2A"/>
                          </a:solidFill>
                          <a:latin typeface="Aileron Ultra-Bold"/>
                          <a:ea typeface="+mn-ea"/>
                          <a:cs typeface="+mn-cs"/>
                          <a:sym typeface="Aileron"/>
                        </a:rPr>
                        <a:t>/OpenCV Haar </a:t>
                      </a:r>
                      <a:r>
                        <a:rPr lang="en-US" sz="3200" b="1" kern="1200" dirty="0" err="1">
                          <a:solidFill>
                            <a:srgbClr val="322A2A"/>
                          </a:solidFill>
                          <a:latin typeface="Aileron Ultra-Bold"/>
                          <a:ea typeface="+mn-ea"/>
                          <a:cs typeface="+mn-cs"/>
                          <a:sym typeface="Aileron"/>
                        </a:rPr>
                        <a:t>Cascade進行模糊化</a:t>
                      </a:r>
                      <a:endParaRPr lang="en-US" sz="3200" b="1" kern="1200" dirty="0">
                        <a:solidFill>
                          <a:srgbClr val="322A2A"/>
                        </a:solidFill>
                        <a:latin typeface="Aileron Ultra-Bold"/>
                        <a:ea typeface="+mn-ea"/>
                        <a:cs typeface="+mn-cs"/>
                        <a:sym typeface="Aileron"/>
                      </a:endParaRPr>
                    </a:p>
                  </a:txBody>
                  <a:tcPr marL="0" marR="0" marT="0" marB="0" anchor="ctr">
                    <a:lnL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C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34659"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lnSpc>
                          <a:spcPts val="5040"/>
                        </a:lnSpc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sz="3200" b="1" kern="1200">
                          <a:solidFill>
                            <a:srgbClr val="322A2A"/>
                          </a:solidFill>
                          <a:latin typeface="Aileron Ultra-Bold"/>
                          <a:ea typeface="+mn-ea"/>
                          <a:cs typeface="+mn-cs"/>
                          <a:sym typeface="Aileron"/>
                        </a:rPr>
                        <a:t>黃思璇</a:t>
                      </a:r>
                      <a:endParaRPr lang="en-US" sz="3200" b="1" kern="1200">
                        <a:solidFill>
                          <a:srgbClr val="322A2A"/>
                        </a:solidFill>
                        <a:latin typeface="Aileron Ultra-Bold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C5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0" hangingPunct="1">
                        <a:lnSpc>
                          <a:spcPts val="5040"/>
                        </a:lnSpc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sz="3200" b="1" kern="1200" dirty="0" err="1">
                          <a:solidFill>
                            <a:srgbClr val="322A2A"/>
                          </a:solidFill>
                          <a:latin typeface="Aileron Ultra-Bold"/>
                          <a:ea typeface="+mn-ea"/>
                          <a:cs typeface="+mn-cs"/>
                          <a:sym typeface="Aileron"/>
                        </a:rPr>
                        <a:t>使用者資料填寫</a:t>
                      </a:r>
                      <a:r>
                        <a:rPr lang="en-US" sz="3200" b="1" kern="1200" dirty="0">
                          <a:solidFill>
                            <a:srgbClr val="322A2A"/>
                          </a:solidFill>
                          <a:latin typeface="Aileron Ultra-Bold"/>
                          <a:ea typeface="+mn-ea"/>
                          <a:cs typeface="+mn-cs"/>
                          <a:sym typeface="Aileron"/>
                        </a:rPr>
                        <a:t>/</a:t>
                      </a:r>
                      <a:r>
                        <a:rPr lang="en-US" sz="3200" b="1" kern="1200" dirty="0" err="1">
                          <a:solidFill>
                            <a:srgbClr val="322A2A"/>
                          </a:solidFill>
                          <a:latin typeface="Aileron Ultra-Bold"/>
                          <a:ea typeface="+mn-ea"/>
                          <a:cs typeface="+mn-cs"/>
                          <a:sym typeface="Aileron"/>
                        </a:rPr>
                        <a:t>其他資料查詢</a:t>
                      </a:r>
                      <a:r>
                        <a:rPr lang="en-US" sz="3200" b="1" kern="1200" dirty="0">
                          <a:solidFill>
                            <a:srgbClr val="322A2A"/>
                          </a:solidFill>
                          <a:latin typeface="Aileron Ultra-Bold"/>
                          <a:ea typeface="+mn-ea"/>
                          <a:cs typeface="+mn-cs"/>
                          <a:sym typeface="Aileron"/>
                        </a:rPr>
                        <a:t>/</a:t>
                      </a:r>
                      <a:r>
                        <a:rPr lang="en-US" sz="3200" b="1" kern="1200" dirty="0" err="1">
                          <a:solidFill>
                            <a:srgbClr val="322A2A"/>
                          </a:solidFill>
                          <a:latin typeface="Aileron Ultra-Bold"/>
                          <a:ea typeface="+mn-ea"/>
                          <a:cs typeface="+mn-cs"/>
                          <a:sym typeface="Aileron"/>
                        </a:rPr>
                        <a:t>文件</a:t>
                      </a:r>
                      <a:r>
                        <a:rPr lang="en-US" sz="3200" b="1" kern="1200" dirty="0">
                          <a:solidFill>
                            <a:srgbClr val="322A2A"/>
                          </a:solidFill>
                          <a:latin typeface="Aileron Ultra-Bold"/>
                          <a:ea typeface="+mn-ea"/>
                          <a:cs typeface="+mn-cs"/>
                          <a:sym typeface="Aileron"/>
                        </a:rPr>
                        <a:t>/</a:t>
                      </a:r>
                      <a:r>
                        <a:rPr lang="en-US" sz="3200" b="1" kern="1200" dirty="0" err="1">
                          <a:solidFill>
                            <a:srgbClr val="322A2A"/>
                          </a:solidFill>
                          <a:latin typeface="Aileron Ultra-Bold"/>
                          <a:ea typeface="+mn-ea"/>
                          <a:cs typeface="+mn-cs"/>
                          <a:sym typeface="Aileron"/>
                        </a:rPr>
                        <a:t>PWA推播</a:t>
                      </a:r>
                      <a:endParaRPr lang="en-US" sz="3200" b="1" kern="1200" dirty="0">
                        <a:solidFill>
                          <a:srgbClr val="322A2A"/>
                        </a:solidFill>
                        <a:latin typeface="Aileron Ultra-Bold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C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7"/>
          <p:cNvSpPr txBox="1"/>
          <p:nvPr/>
        </p:nvSpPr>
        <p:spPr>
          <a:xfrm>
            <a:off x="16922949" y="956947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Page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258300"/>
            <a:ext cx="18288000" cy="1028700"/>
            <a:chOff x="0" y="0"/>
            <a:chExt cx="4816593" cy="2709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70933"/>
            </a:xfrm>
            <a:custGeom>
              <a:avLst/>
              <a:gdLst/>
              <a:ahLst/>
              <a:cxnLst/>
              <a:rect l="l" t="t" r="r" b="b"/>
              <a:pathLst>
                <a:path w="4816592" h="270933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D9DFCE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3280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057153" y="0"/>
            <a:ext cx="3427276" cy="4020223"/>
            <a:chOff x="0" y="0"/>
            <a:chExt cx="902657" cy="105882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02657" cy="1058824"/>
            </a:xfrm>
            <a:custGeom>
              <a:avLst/>
              <a:gdLst/>
              <a:ahLst/>
              <a:cxnLst/>
              <a:rect l="l" t="t" r="r" b="b"/>
              <a:pathLst>
                <a:path w="902657" h="1058824">
                  <a:moveTo>
                    <a:pt x="0" y="0"/>
                  </a:moveTo>
                  <a:lnTo>
                    <a:pt x="902657" y="0"/>
                  </a:lnTo>
                  <a:lnTo>
                    <a:pt x="902657" y="1058824"/>
                  </a:lnTo>
                  <a:lnTo>
                    <a:pt x="0" y="1058824"/>
                  </a:lnTo>
                  <a:close/>
                </a:path>
              </a:pathLst>
            </a:custGeom>
            <a:solidFill>
              <a:srgbClr val="F5F8EE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902657" cy="11159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5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5770791" y="8489711"/>
            <a:ext cx="1709818" cy="254918"/>
          </a:xfrm>
          <a:custGeom>
            <a:avLst/>
            <a:gdLst/>
            <a:ahLst/>
            <a:cxnLst/>
            <a:rect l="l" t="t" r="r" b="b"/>
            <a:pathLst>
              <a:path w="1709818" h="254918">
                <a:moveTo>
                  <a:pt x="0" y="0"/>
                </a:moveTo>
                <a:lnTo>
                  <a:pt x="1709818" y="0"/>
                </a:lnTo>
                <a:lnTo>
                  <a:pt x="1709818" y="254919"/>
                </a:lnTo>
                <a:lnTo>
                  <a:pt x="0" y="2549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9" name="Freeform 9"/>
          <p:cNvSpPr/>
          <p:nvPr/>
        </p:nvSpPr>
        <p:spPr>
          <a:xfrm>
            <a:off x="12290212" y="791170"/>
            <a:ext cx="5523940" cy="3369604"/>
          </a:xfrm>
          <a:custGeom>
            <a:avLst/>
            <a:gdLst/>
            <a:ahLst/>
            <a:cxnLst/>
            <a:rect l="l" t="t" r="r" b="b"/>
            <a:pathLst>
              <a:path w="5523940" h="3369604">
                <a:moveTo>
                  <a:pt x="0" y="0"/>
                </a:moveTo>
                <a:lnTo>
                  <a:pt x="5523941" y="0"/>
                </a:lnTo>
                <a:lnTo>
                  <a:pt x="5523941" y="3369604"/>
                </a:lnTo>
                <a:lnTo>
                  <a:pt x="0" y="33696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0" name="TextBox 10"/>
          <p:cNvSpPr txBox="1"/>
          <p:nvPr/>
        </p:nvSpPr>
        <p:spPr>
          <a:xfrm>
            <a:off x="1271155" y="1853055"/>
            <a:ext cx="5401078" cy="5904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40" lvl="1" indent="-388620">
              <a:lnSpc>
                <a:spcPts val="5040"/>
              </a:lnSpc>
              <a:buFont typeface="Arial"/>
              <a:buChar char="•"/>
            </a:pPr>
            <a:r>
              <a:rPr lang="en-US" sz="3600" b="1" dirty="0" err="1">
                <a:solidFill>
                  <a:srgbClr val="322A2A"/>
                </a:solidFill>
                <a:latin typeface="Aileron Ultra-Bold"/>
                <a:sym typeface="Aileron Bold"/>
              </a:rPr>
              <a:t>目前暫無</a:t>
            </a:r>
            <a:endParaRPr lang="en-US" sz="3600" b="1" dirty="0">
              <a:solidFill>
                <a:srgbClr val="322A2A"/>
              </a:solidFill>
              <a:latin typeface="Aileron Ultra-Bold"/>
              <a:sym typeface="Aileron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621762" y="2777704"/>
            <a:ext cx="12804395" cy="942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496"/>
              </a:lnSpc>
              <a:spcBef>
                <a:spcPct val="0"/>
              </a:spcBef>
            </a:pPr>
            <a:r>
              <a:rPr lang="en-US" sz="5600" b="1">
                <a:solidFill>
                  <a:srgbClr val="134E1A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5.3 合作夥伴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71155" y="3644320"/>
            <a:ext cx="15745691" cy="1899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40" lvl="1" indent="-388620">
              <a:lnSpc>
                <a:spcPts val="5040"/>
              </a:lnSpc>
              <a:buFont typeface="Arial"/>
              <a:buChar char="•"/>
            </a:pPr>
            <a:r>
              <a:rPr lang="en-US" sz="3600" b="1" dirty="0" err="1">
                <a:solidFill>
                  <a:srgbClr val="322A2A"/>
                </a:solidFill>
                <a:latin typeface="Aileron Ultra-Bold"/>
                <a:sym typeface="Aileron Ultra-Bold"/>
              </a:rPr>
              <a:t>林育志助理教授（北商大資管系</a:t>
            </a:r>
            <a:r>
              <a:rPr lang="en-US" sz="3600" b="1" dirty="0">
                <a:solidFill>
                  <a:srgbClr val="322A2A"/>
                </a:solidFill>
                <a:latin typeface="Aileron Ultra-Bold"/>
                <a:sym typeface="Aileron Ultra-Bold"/>
              </a:rPr>
              <a:t>） → </a:t>
            </a:r>
            <a:r>
              <a:rPr lang="en-US" sz="3600" b="1" dirty="0" err="1">
                <a:solidFill>
                  <a:srgbClr val="322A2A"/>
                </a:solidFill>
                <a:latin typeface="Aileron Ultra-Bold"/>
                <a:sym typeface="Aileron Ultra-Bold"/>
              </a:rPr>
              <a:t>專題指導</a:t>
            </a:r>
            <a:endParaRPr lang="en-US" sz="3600" b="1" dirty="0">
              <a:solidFill>
                <a:srgbClr val="322A2A"/>
              </a:solidFill>
              <a:latin typeface="Aileron Ultra-Bold"/>
              <a:sym typeface="Aileron Ultra-Bold"/>
            </a:endParaRPr>
          </a:p>
          <a:p>
            <a:pPr marL="777240" lvl="1" indent="-388620">
              <a:lnSpc>
                <a:spcPts val="5040"/>
              </a:lnSpc>
              <a:buFont typeface="Arial"/>
              <a:buChar char="•"/>
            </a:pPr>
            <a:r>
              <a:rPr lang="en-US" sz="3600" b="1" dirty="0" err="1">
                <a:solidFill>
                  <a:srgbClr val="322A2A"/>
                </a:solidFill>
                <a:latin typeface="Aileron Ultra-Bold"/>
                <a:sym typeface="Aileron Ultra-Bold"/>
              </a:rPr>
              <a:t>預計與警局、地方政府、便利商店、咖啡廳、校安中心合作</a:t>
            </a:r>
            <a:endParaRPr lang="en-US" sz="3600" b="1" dirty="0">
              <a:solidFill>
                <a:srgbClr val="322A2A"/>
              </a:solidFill>
              <a:latin typeface="Aileron Ultra-Bold"/>
              <a:sym typeface="Aileron Ultra-Bold"/>
            </a:endParaRPr>
          </a:p>
          <a:p>
            <a:pPr marL="777240" lvl="1" indent="-388620">
              <a:lnSpc>
                <a:spcPts val="5040"/>
              </a:lnSpc>
              <a:buFont typeface="Arial"/>
              <a:buChar char="•"/>
            </a:pPr>
            <a:r>
              <a:rPr lang="en-US" sz="3600" b="1" dirty="0" err="1">
                <a:solidFill>
                  <a:srgbClr val="322A2A"/>
                </a:solidFill>
                <a:latin typeface="Aileron Ultra-Bold"/>
                <a:sym typeface="Aileron Ultra-Bold"/>
              </a:rPr>
              <a:t>尋找業師</a:t>
            </a:r>
            <a:r>
              <a:rPr lang="en-US" sz="3600" b="1" dirty="0">
                <a:solidFill>
                  <a:srgbClr val="322A2A"/>
                </a:solidFill>
                <a:latin typeface="Aileron Ultra-Bold"/>
                <a:sym typeface="Aileron Ultra-Bold"/>
              </a:rPr>
              <a:t>/</a:t>
            </a:r>
            <a:r>
              <a:rPr lang="en-US" sz="3600" b="1" dirty="0" err="1">
                <a:solidFill>
                  <a:srgbClr val="322A2A"/>
                </a:solidFill>
                <a:latin typeface="Aileron Ultra-Bold"/>
                <a:sym typeface="Aileron Ultra-Bold"/>
              </a:rPr>
              <a:t>顧問提供法規、隱私保護及AI技術支援</a:t>
            </a:r>
            <a:endParaRPr lang="en-US" sz="3600" b="1" dirty="0">
              <a:solidFill>
                <a:srgbClr val="322A2A"/>
              </a:solidFill>
              <a:latin typeface="Aileron Ultra-Bold"/>
              <a:sym typeface="Aileron Ultra-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621762" y="933450"/>
            <a:ext cx="12804395" cy="942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496"/>
              </a:lnSpc>
              <a:spcBef>
                <a:spcPct val="0"/>
              </a:spcBef>
            </a:pPr>
            <a:r>
              <a:rPr lang="en-US" sz="5600" b="1">
                <a:solidFill>
                  <a:srgbClr val="134E1A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5.2 獲獎經歷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21762" y="5848351"/>
            <a:ext cx="12804395" cy="942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496"/>
              </a:lnSpc>
              <a:spcBef>
                <a:spcPct val="0"/>
              </a:spcBef>
            </a:pPr>
            <a:r>
              <a:rPr lang="en-US" sz="5600" b="1">
                <a:solidFill>
                  <a:srgbClr val="134E1A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5.4 專利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71155" y="6714967"/>
            <a:ext cx="15745691" cy="1261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40" lvl="1" indent="-388620">
              <a:lnSpc>
                <a:spcPts val="5040"/>
              </a:lnSpc>
              <a:buFont typeface="Arial"/>
              <a:buChar char="•"/>
            </a:pPr>
            <a:r>
              <a:rPr lang="en-US" sz="3600" b="1" dirty="0" err="1">
                <a:solidFill>
                  <a:srgbClr val="322A2A"/>
                </a:solidFill>
                <a:latin typeface="Aileron Ultra-Bold"/>
                <a:sym typeface="Aileron Ultra-Bold"/>
              </a:rPr>
              <a:t>目前尚未申請專利，但具備資料庫設計與事件審核AI模組的創新潛力，未來規劃申請軟體著作權與專利保護</a:t>
            </a:r>
            <a:endParaRPr lang="en-US" sz="3600" b="1" dirty="0">
              <a:solidFill>
                <a:srgbClr val="322A2A"/>
              </a:solidFill>
              <a:latin typeface="Aileron Ultra-Bold"/>
              <a:sym typeface="Aileron Ultra-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6922949" y="956947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Page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6884463"/>
            <a:ext cx="18288000" cy="3402537"/>
            <a:chOff x="0" y="0"/>
            <a:chExt cx="4816593" cy="89614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896141"/>
            </a:xfrm>
            <a:custGeom>
              <a:avLst/>
              <a:gdLst/>
              <a:ahLst/>
              <a:cxnLst/>
              <a:rect l="l" t="t" r="r" b="b"/>
              <a:pathLst>
                <a:path w="4816592" h="896141">
                  <a:moveTo>
                    <a:pt x="0" y="0"/>
                  </a:moveTo>
                  <a:lnTo>
                    <a:pt x="4816592" y="0"/>
                  </a:lnTo>
                  <a:lnTo>
                    <a:pt x="4816592" y="896141"/>
                  </a:lnTo>
                  <a:lnTo>
                    <a:pt x="0" y="896141"/>
                  </a:lnTo>
                  <a:close/>
                </a:path>
              </a:pathLst>
            </a:custGeom>
            <a:solidFill>
              <a:srgbClr val="577550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9532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5400000">
            <a:off x="6973362" y="3650247"/>
            <a:ext cx="4341276" cy="8914961"/>
          </a:xfrm>
          <a:custGeom>
            <a:avLst/>
            <a:gdLst/>
            <a:ahLst/>
            <a:cxnLst/>
            <a:rect l="l" t="t" r="r" b="b"/>
            <a:pathLst>
              <a:path w="4341276" h="8914961">
                <a:moveTo>
                  <a:pt x="0" y="0"/>
                </a:moveTo>
                <a:lnTo>
                  <a:pt x="4341276" y="0"/>
                </a:lnTo>
                <a:lnTo>
                  <a:pt x="4341276" y="8914962"/>
                </a:lnTo>
                <a:lnTo>
                  <a:pt x="0" y="89149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-1702"/>
            </a:stretch>
          </a:blipFill>
        </p:spPr>
        <p:txBody>
          <a:bodyPr/>
          <a:lstStyle/>
          <a:p>
            <a:endParaRPr lang="zh-TW" altLang="en-US"/>
          </a:p>
        </p:txBody>
      </p:sp>
      <p:grpSp>
        <p:nvGrpSpPr>
          <p:cNvPr id="6" name="Group 6"/>
          <p:cNvGrpSpPr/>
          <p:nvPr/>
        </p:nvGrpSpPr>
        <p:grpSpPr>
          <a:xfrm>
            <a:off x="5159337" y="5504123"/>
            <a:ext cx="7969325" cy="3600582"/>
            <a:chOff x="0" y="0"/>
            <a:chExt cx="1234657" cy="55782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34657" cy="557824"/>
            </a:xfrm>
            <a:custGeom>
              <a:avLst/>
              <a:gdLst/>
              <a:ahLst/>
              <a:cxnLst/>
              <a:rect l="l" t="t" r="r" b="b"/>
              <a:pathLst>
                <a:path w="1234657" h="557824">
                  <a:moveTo>
                    <a:pt x="0" y="0"/>
                  </a:moveTo>
                  <a:lnTo>
                    <a:pt x="1234657" y="0"/>
                  </a:lnTo>
                  <a:lnTo>
                    <a:pt x="1234657" y="557824"/>
                  </a:lnTo>
                  <a:lnTo>
                    <a:pt x="0" y="557824"/>
                  </a:lnTo>
                  <a:close/>
                </a:path>
              </a:pathLst>
            </a:custGeom>
            <a:blipFill>
              <a:blip r:embed="rId3"/>
              <a:stretch>
                <a:fillRect t="-23732" b="-23732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8" name="Freeform 8"/>
          <p:cNvSpPr/>
          <p:nvPr/>
        </p:nvSpPr>
        <p:spPr>
          <a:xfrm>
            <a:off x="1028700" y="5504123"/>
            <a:ext cx="2729160" cy="406893"/>
          </a:xfrm>
          <a:custGeom>
            <a:avLst/>
            <a:gdLst/>
            <a:ahLst/>
            <a:cxnLst/>
            <a:rect l="l" t="t" r="r" b="b"/>
            <a:pathLst>
              <a:path w="2729160" h="406893">
                <a:moveTo>
                  <a:pt x="0" y="0"/>
                </a:moveTo>
                <a:lnTo>
                  <a:pt x="2729160" y="0"/>
                </a:lnTo>
                <a:lnTo>
                  <a:pt x="2729160" y="406893"/>
                </a:lnTo>
                <a:lnTo>
                  <a:pt x="0" y="4068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9" name="Freeform 9"/>
          <p:cNvSpPr/>
          <p:nvPr/>
        </p:nvSpPr>
        <p:spPr>
          <a:xfrm>
            <a:off x="14530140" y="5504123"/>
            <a:ext cx="2729160" cy="406893"/>
          </a:xfrm>
          <a:custGeom>
            <a:avLst/>
            <a:gdLst/>
            <a:ahLst/>
            <a:cxnLst/>
            <a:rect l="l" t="t" r="r" b="b"/>
            <a:pathLst>
              <a:path w="2729160" h="406893">
                <a:moveTo>
                  <a:pt x="0" y="0"/>
                </a:moveTo>
                <a:lnTo>
                  <a:pt x="2729160" y="0"/>
                </a:lnTo>
                <a:lnTo>
                  <a:pt x="2729160" y="406893"/>
                </a:lnTo>
                <a:lnTo>
                  <a:pt x="0" y="4068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10" name="TextBox 10"/>
          <p:cNvSpPr txBox="1"/>
          <p:nvPr/>
        </p:nvSpPr>
        <p:spPr>
          <a:xfrm>
            <a:off x="2474733" y="1651989"/>
            <a:ext cx="13419987" cy="2880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49"/>
              </a:lnSpc>
            </a:pPr>
            <a:r>
              <a:rPr lang="en-US" sz="14463" b="1">
                <a:solidFill>
                  <a:srgbClr val="134E1A"/>
                </a:solidFill>
                <a:latin typeface="Agrandir Narrow Heavy"/>
                <a:ea typeface="Agrandir Narrow Heavy"/>
                <a:cs typeface="Agrandir Narrow Heavy"/>
                <a:sym typeface="Agrandir Narrow Heavy"/>
              </a:rPr>
              <a:t>THANK YOU!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922949" y="956947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Page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</TotalTime>
  <Words>690</Words>
  <Application>Microsoft Office PowerPoint</Application>
  <PresentationFormat>自訂</PresentationFormat>
  <Paragraphs>171</Paragraphs>
  <Slides>16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5" baseType="lpstr">
      <vt:lpstr>Aileron Ultra-Bold</vt:lpstr>
      <vt:lpstr>Noto Sans T Chinese</vt:lpstr>
      <vt:lpstr>Calibri</vt:lpstr>
      <vt:lpstr>Arial</vt:lpstr>
      <vt:lpstr>Agrandir Narrow Heavy</vt:lpstr>
      <vt:lpstr>Aileron Bold</vt:lpstr>
      <vt:lpstr>Akzidenz-Grotesk Heavy</vt:lpstr>
      <vt:lpstr>Akzidenz-Grotesk Bold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and Dark Green Minimalist Restoring The Forest Presentation</dc:title>
  <cp:lastModifiedBy>品臻 李</cp:lastModifiedBy>
  <cp:revision>4</cp:revision>
  <dcterms:created xsi:type="dcterms:W3CDTF">2006-08-16T00:00:00Z</dcterms:created>
  <dcterms:modified xsi:type="dcterms:W3CDTF">2025-09-15T13:08:38Z</dcterms:modified>
  <dc:identifier>DAGxuDVA0jk</dc:identifier>
</cp:coreProperties>
</file>