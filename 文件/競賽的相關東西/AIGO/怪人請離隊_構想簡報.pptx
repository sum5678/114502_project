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to Sans Bold" charset="1" panose="020B0802040504020204"/>
      <p:regular r:id="rId21"/>
    </p:embeddedFont>
    <p:embeddedFont>
      <p:font typeface="Noto Sans" charset="1" panose="020B0502040504020204"/>
      <p:regular r:id="rId22"/>
    </p:embeddedFont>
    <p:embeddedFont>
      <p:font typeface="Calibri (MS)" charset="1" panose="020F0502020204030204"/>
      <p:regular r:id="rId23"/>
    </p:embeddedFont>
    <p:embeddedFont>
      <p:font typeface="Arimo Bold" charset="1" panose="020B0704020202020204"/>
      <p:regular r:id="rId24"/>
    </p:embeddedFont>
    <p:embeddedFont>
      <p:font typeface="Poppins Ultra-Bold" charset="1" panose="00000900000000000000"/>
      <p:regular r:id="rId25"/>
    </p:embeddedFont>
    <p:embeddedFont>
      <p:font typeface="Poppins Semi-Bold" charset="1" panose="00000700000000000000"/>
      <p:regular r:id="rId26"/>
    </p:embeddedFont>
    <p:embeddedFont>
      <p:font typeface="Poppins Bold" charset="1" panose="00000800000000000000"/>
      <p:regular r:id="rId27"/>
    </p:embeddedFont>
    <p:embeddedFont>
      <p:font typeface="Poppins" charset="1" panose="00000500000000000000"/>
      <p:regular r:id="rId28"/>
    </p:embeddedFont>
    <p:embeddedFont>
      <p:font typeface="Yeseva One" charset="1" panose="00000500000000000000"/>
      <p:regular r:id="rId29"/>
    </p:embeddedFont>
    <p:embeddedFont>
      <p:font typeface="Arimo" charset="1" panose="020B0604020202020204"/>
      <p:regular r:id="rId30"/>
    </p:embeddedFont>
    <p:embeddedFont>
      <p:font typeface="Noto Sans T Chinese Bold" charset="1" panose="020B0800000000000000"/>
      <p:regular r:id="rId31"/>
    </p:embeddedFont>
    <p:embeddedFont>
      <p:font typeface="Calibri (MS) Bold" charset="1" panose="020F07020304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69" t="-979" r="-717" b="-383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708596" y="6911331"/>
            <a:ext cx="10808455" cy="220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4200" spc="450">
                <a:solidFill>
                  <a:srgbClr val="2387C4"/>
                </a:solidFill>
                <a:latin typeface="Arimo Bold"/>
                <a:ea typeface="Arimo Bold"/>
                <a:cs typeface="Arimo Bold"/>
                <a:sym typeface="Arimo Bold"/>
              </a:rPr>
              <a:t>題目名：怪怪走開，護您安全</a:t>
            </a:r>
          </a:p>
          <a:p>
            <a:pPr algn="ctr">
              <a:lnSpc>
                <a:spcPts val="5040"/>
              </a:lnSpc>
            </a:pPr>
            <a:r>
              <a:rPr lang="en-US" b="true" sz="4200" spc="450">
                <a:solidFill>
                  <a:srgbClr val="2387C4"/>
                </a:solidFill>
                <a:latin typeface="Arimo Bold"/>
                <a:ea typeface="Arimo Bold"/>
                <a:cs typeface="Arimo Bold"/>
                <a:sym typeface="Arimo Bold"/>
              </a:rPr>
              <a:t>團隊名：怪人請離隊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b="true" sz="3000" spc="450">
                <a:solidFill>
                  <a:srgbClr val="2387C4"/>
                </a:solidFill>
                <a:latin typeface="Arimo Bold"/>
                <a:ea typeface="Arimo Bold"/>
                <a:cs typeface="Arimo Bold"/>
                <a:sym typeface="Arimo Bold"/>
              </a:rPr>
              <a:t>114/08/29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2890" y="4167985"/>
            <a:ext cx="17933670" cy="2422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200" b="true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114年度AIGO淬煉實戰盃</a:t>
            </a:r>
          </a:p>
          <a:p>
            <a:pPr algn="ctr">
              <a:lnSpc>
                <a:spcPts val="9000"/>
              </a:lnSpc>
            </a:pPr>
            <a:r>
              <a:rPr lang="en-US" sz="7200" b="true">
                <a:solidFill>
                  <a:srgbClr val="C00000"/>
                </a:solidFill>
                <a:latin typeface="Arimo Bold"/>
                <a:ea typeface="Arimo Bold"/>
                <a:cs typeface="Arimo Bold"/>
                <a:sym typeface="Arimo Bold"/>
              </a:rPr>
              <a:t>競賽提案報告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097850" y="1872794"/>
            <a:ext cx="8437959" cy="2067250"/>
            <a:chOff x="0" y="0"/>
            <a:chExt cx="11250612" cy="27563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250549" cy="2756281"/>
            </a:xfrm>
            <a:custGeom>
              <a:avLst/>
              <a:gdLst/>
              <a:ahLst/>
              <a:cxnLst/>
              <a:rect r="r" b="b" t="t" l="l"/>
              <a:pathLst>
                <a:path h="2756281" w="11250549">
                  <a:moveTo>
                    <a:pt x="0" y="0"/>
                  </a:moveTo>
                  <a:lnTo>
                    <a:pt x="11250549" y="0"/>
                  </a:lnTo>
                  <a:lnTo>
                    <a:pt x="11250549" y="2756281"/>
                  </a:lnTo>
                  <a:lnTo>
                    <a:pt x="0" y="2756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1976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報告大綱(參考，格式不拘)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15416" y="2334799"/>
            <a:ext cx="717453" cy="717453"/>
            <a:chOff x="0" y="0"/>
            <a:chExt cx="956604" cy="9566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715416" y="3288814"/>
            <a:ext cx="717453" cy="717453"/>
            <a:chOff x="0" y="0"/>
            <a:chExt cx="956604" cy="9566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15416" y="4241675"/>
            <a:ext cx="717453" cy="717453"/>
            <a:chOff x="0" y="0"/>
            <a:chExt cx="956604" cy="9566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715416" y="5104898"/>
            <a:ext cx="717453" cy="717453"/>
            <a:chOff x="0" y="0"/>
            <a:chExt cx="956604" cy="9566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484945" y="2077624"/>
            <a:ext cx="14128933" cy="736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8850" indent="-369425" lvl="1">
              <a:lnSpc>
                <a:spcPts val="7348"/>
              </a:lnSpc>
              <a:buFont typeface="Arial"/>
              <a:buChar char="•"/>
            </a:pPr>
            <a:r>
              <a:rPr lang="en-US" b="true" sz="408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團隊簡介</a:t>
            </a:r>
          </a:p>
          <a:p>
            <a:pPr algn="l" marL="738850" indent="-369425" lvl="1">
              <a:lnSpc>
                <a:spcPts val="7348"/>
              </a:lnSpc>
              <a:buFont typeface="Arial"/>
              <a:buChar char="•"/>
            </a:pPr>
            <a:r>
              <a:rPr lang="en-US" b="true" sz="408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解題計畫宗旨及目的</a:t>
            </a:r>
          </a:p>
          <a:p>
            <a:pPr algn="l" marL="760095" indent="-380047" lvl="1">
              <a:lnSpc>
                <a:spcPts val="7560"/>
              </a:lnSpc>
              <a:buFont typeface="Arial"/>
              <a:buChar char="•"/>
            </a:pPr>
            <a:r>
              <a:rPr lang="en-US" b="true" sz="4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解題技術架構及進行步驟</a:t>
            </a:r>
          </a:p>
          <a:p>
            <a:pPr algn="l" marL="738850" indent="-369425" lvl="1">
              <a:lnSpc>
                <a:spcPts val="7348"/>
              </a:lnSpc>
              <a:buFont typeface="Arial"/>
              <a:buChar char="•"/>
            </a:pPr>
            <a:r>
              <a:rPr lang="en-US" b="true" sz="408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數據應用及作法</a:t>
            </a:r>
          </a:p>
          <a:p>
            <a:pPr algn="l" marL="738850" indent="-369425" lvl="1">
              <a:lnSpc>
                <a:spcPts val="7348"/>
              </a:lnSpc>
              <a:buFont typeface="Arial"/>
              <a:buChar char="•"/>
            </a:pPr>
            <a:r>
              <a:rPr lang="en-US" b="true" sz="408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預期完成之工作目標</a:t>
            </a:r>
          </a:p>
          <a:p>
            <a:pPr algn="l" marL="738850" indent="-369425" lvl="1">
              <a:lnSpc>
                <a:spcPts val="7348"/>
              </a:lnSpc>
              <a:buFont typeface="Arial"/>
              <a:buChar char="•"/>
            </a:pPr>
            <a:r>
              <a:rPr lang="en-US" b="true" sz="408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預期工作摘要及進度表</a:t>
            </a:r>
          </a:p>
          <a:p>
            <a:pPr algn="l" marL="738850" indent="-369425" lvl="1">
              <a:lnSpc>
                <a:spcPts val="7348"/>
              </a:lnSpc>
              <a:buFont typeface="Arial"/>
              <a:buChar char="•"/>
            </a:pPr>
            <a:r>
              <a:rPr lang="en-US" b="true" sz="408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預期成果與效益</a:t>
            </a:r>
          </a:p>
          <a:p>
            <a:pPr algn="l" marL="738850" indent="-369425" lvl="1">
              <a:lnSpc>
                <a:spcPts val="7348"/>
              </a:lnSpc>
              <a:buFont typeface="Arial"/>
              <a:buChar char="•"/>
            </a:pPr>
            <a:r>
              <a:rPr lang="en-US" b="true" sz="408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其他有利審查項目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2715416" y="6057883"/>
            <a:ext cx="717453" cy="717453"/>
            <a:chOff x="0" y="0"/>
            <a:chExt cx="956604" cy="9566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738359" y="7004248"/>
            <a:ext cx="717453" cy="717453"/>
            <a:chOff x="0" y="0"/>
            <a:chExt cx="956604" cy="9566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738359" y="7950613"/>
            <a:ext cx="717453" cy="717453"/>
            <a:chOff x="0" y="0"/>
            <a:chExt cx="956604" cy="9566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738359" y="8810387"/>
            <a:ext cx="717453" cy="717453"/>
            <a:chOff x="0" y="0"/>
            <a:chExt cx="956604" cy="9566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6564" cy="956564"/>
            </a:xfrm>
            <a:custGeom>
              <a:avLst/>
              <a:gdLst/>
              <a:ahLst/>
              <a:cxnLst/>
              <a:rect r="r" b="b" t="t" l="l"/>
              <a:pathLst>
                <a:path h="956564" w="956564">
                  <a:moveTo>
                    <a:pt x="0" y="478282"/>
                  </a:moveTo>
                  <a:cubicBezTo>
                    <a:pt x="0" y="214122"/>
                    <a:pt x="214122" y="0"/>
                    <a:pt x="478282" y="0"/>
                  </a:cubicBezTo>
                  <a:lnTo>
                    <a:pt x="478282" y="9525"/>
                  </a:lnTo>
                  <a:lnTo>
                    <a:pt x="478282" y="0"/>
                  </a:lnTo>
                  <a:cubicBezTo>
                    <a:pt x="742442" y="0"/>
                    <a:pt x="956564" y="214122"/>
                    <a:pt x="956564" y="478282"/>
                  </a:cubicBezTo>
                  <a:lnTo>
                    <a:pt x="947039" y="478282"/>
                  </a:lnTo>
                  <a:lnTo>
                    <a:pt x="956564" y="478282"/>
                  </a:lnTo>
                  <a:cubicBezTo>
                    <a:pt x="956564" y="742442"/>
                    <a:pt x="742442" y="956564"/>
                    <a:pt x="478282" y="956564"/>
                  </a:cubicBezTo>
                  <a:lnTo>
                    <a:pt x="478282" y="947039"/>
                  </a:lnTo>
                  <a:lnTo>
                    <a:pt x="478282" y="956564"/>
                  </a:lnTo>
                  <a:cubicBezTo>
                    <a:pt x="214122" y="956564"/>
                    <a:pt x="0" y="742442"/>
                    <a:pt x="0" y="478282"/>
                  </a:cubicBezTo>
                  <a:lnTo>
                    <a:pt x="9525" y="478282"/>
                  </a:lnTo>
                  <a:lnTo>
                    <a:pt x="19050" y="478282"/>
                  </a:lnTo>
                  <a:lnTo>
                    <a:pt x="9525" y="478282"/>
                  </a:lnTo>
                  <a:lnTo>
                    <a:pt x="0" y="478282"/>
                  </a:lnTo>
                  <a:moveTo>
                    <a:pt x="19050" y="478282"/>
                  </a:moveTo>
                  <a:cubicBezTo>
                    <a:pt x="19050" y="483489"/>
                    <a:pt x="14732" y="487807"/>
                    <a:pt x="9525" y="487807"/>
                  </a:cubicBezTo>
                  <a:cubicBezTo>
                    <a:pt x="4318" y="487807"/>
                    <a:pt x="0" y="483616"/>
                    <a:pt x="0" y="478282"/>
                  </a:cubicBezTo>
                  <a:cubicBezTo>
                    <a:pt x="0" y="472948"/>
                    <a:pt x="4318" y="468757"/>
                    <a:pt x="9525" y="468757"/>
                  </a:cubicBezTo>
                  <a:cubicBezTo>
                    <a:pt x="14732" y="468757"/>
                    <a:pt x="19050" y="473075"/>
                    <a:pt x="19050" y="478282"/>
                  </a:cubicBezTo>
                  <a:cubicBezTo>
                    <a:pt x="19050" y="731901"/>
                    <a:pt x="224663" y="937514"/>
                    <a:pt x="478282" y="937514"/>
                  </a:cubicBezTo>
                  <a:cubicBezTo>
                    <a:pt x="731901" y="937514"/>
                    <a:pt x="937514" y="731901"/>
                    <a:pt x="937514" y="478282"/>
                  </a:cubicBezTo>
                  <a:cubicBezTo>
                    <a:pt x="937514" y="224663"/>
                    <a:pt x="731901" y="19050"/>
                    <a:pt x="478282" y="19050"/>
                  </a:cubicBezTo>
                  <a:lnTo>
                    <a:pt x="478282" y="9525"/>
                  </a:lnTo>
                  <a:lnTo>
                    <a:pt x="478282" y="19050"/>
                  </a:lnTo>
                  <a:cubicBezTo>
                    <a:pt x="224663" y="19050"/>
                    <a:pt x="19050" y="224663"/>
                    <a:pt x="19050" y="478282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956604" cy="10137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團隊簡介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00098" y="6148086"/>
            <a:ext cx="2143125" cy="2143125"/>
            <a:chOff x="0" y="0"/>
            <a:chExt cx="804703" cy="8047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4703" cy="804703"/>
            </a:xfrm>
            <a:custGeom>
              <a:avLst/>
              <a:gdLst/>
              <a:ahLst/>
              <a:cxnLst/>
              <a:rect r="r" b="b" t="t" l="l"/>
              <a:pathLst>
                <a:path h="804703" w="804703">
                  <a:moveTo>
                    <a:pt x="402351" y="0"/>
                  </a:moveTo>
                  <a:cubicBezTo>
                    <a:pt x="180139" y="0"/>
                    <a:pt x="0" y="180139"/>
                    <a:pt x="0" y="402351"/>
                  </a:cubicBezTo>
                  <a:cubicBezTo>
                    <a:pt x="0" y="624564"/>
                    <a:pt x="180139" y="804703"/>
                    <a:pt x="402351" y="804703"/>
                  </a:cubicBezTo>
                  <a:cubicBezTo>
                    <a:pt x="624564" y="804703"/>
                    <a:pt x="804703" y="624564"/>
                    <a:pt x="804703" y="402351"/>
                  </a:cubicBezTo>
                  <a:cubicBezTo>
                    <a:pt x="804703" y="180139"/>
                    <a:pt x="624564" y="0"/>
                    <a:pt x="402351" y="0"/>
                  </a:cubicBezTo>
                  <a:close/>
                </a:path>
              </a:pathLst>
            </a:custGeom>
            <a:blipFill>
              <a:blip r:embed="rId4"/>
              <a:stretch>
                <a:fillRect l="-482521" t="-442651" r="-35928" b="-38560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569008" y="6148086"/>
            <a:ext cx="2143125" cy="2143125"/>
            <a:chOff x="0" y="0"/>
            <a:chExt cx="804703" cy="8047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703" cy="804703"/>
            </a:xfrm>
            <a:custGeom>
              <a:avLst/>
              <a:gdLst/>
              <a:ahLst/>
              <a:cxnLst/>
              <a:rect r="r" b="b" t="t" l="l"/>
              <a:pathLst>
                <a:path h="804703" w="804703">
                  <a:moveTo>
                    <a:pt x="402351" y="0"/>
                  </a:moveTo>
                  <a:cubicBezTo>
                    <a:pt x="180139" y="0"/>
                    <a:pt x="0" y="180139"/>
                    <a:pt x="0" y="402351"/>
                  </a:cubicBezTo>
                  <a:cubicBezTo>
                    <a:pt x="0" y="624564"/>
                    <a:pt x="180139" y="804703"/>
                    <a:pt x="402351" y="804703"/>
                  </a:cubicBezTo>
                  <a:cubicBezTo>
                    <a:pt x="624564" y="804703"/>
                    <a:pt x="804703" y="624564"/>
                    <a:pt x="804703" y="402351"/>
                  </a:cubicBezTo>
                  <a:cubicBezTo>
                    <a:pt x="804703" y="180139"/>
                    <a:pt x="624564" y="0"/>
                    <a:pt x="402351" y="0"/>
                  </a:cubicBezTo>
                  <a:close/>
                </a:path>
              </a:pathLst>
            </a:custGeom>
            <a:blipFill>
              <a:blip r:embed="rId5"/>
              <a:stretch>
                <a:fillRect l="-259399" t="-207676" r="0" b="-47150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100098" y="2979629"/>
            <a:ext cx="2143125" cy="2143125"/>
            <a:chOff x="0" y="0"/>
            <a:chExt cx="804703" cy="804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4703" cy="804703"/>
            </a:xfrm>
            <a:custGeom>
              <a:avLst/>
              <a:gdLst/>
              <a:ahLst/>
              <a:cxnLst/>
              <a:rect r="r" b="b" t="t" l="l"/>
              <a:pathLst>
                <a:path h="804703" w="804703">
                  <a:moveTo>
                    <a:pt x="402351" y="0"/>
                  </a:moveTo>
                  <a:cubicBezTo>
                    <a:pt x="180139" y="0"/>
                    <a:pt x="0" y="180139"/>
                    <a:pt x="0" y="402351"/>
                  </a:cubicBezTo>
                  <a:cubicBezTo>
                    <a:pt x="0" y="624564"/>
                    <a:pt x="180139" y="804703"/>
                    <a:pt x="402351" y="804703"/>
                  </a:cubicBezTo>
                  <a:cubicBezTo>
                    <a:pt x="624564" y="804703"/>
                    <a:pt x="804703" y="624564"/>
                    <a:pt x="804703" y="402351"/>
                  </a:cubicBezTo>
                  <a:cubicBezTo>
                    <a:pt x="804703" y="180139"/>
                    <a:pt x="624564" y="0"/>
                    <a:pt x="402351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5894" r="-8213" b="-554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569008" y="2979629"/>
            <a:ext cx="2143125" cy="2143125"/>
            <a:chOff x="0" y="0"/>
            <a:chExt cx="13579362" cy="135793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79362" cy="13579362"/>
            </a:xfrm>
            <a:custGeom>
              <a:avLst/>
              <a:gdLst/>
              <a:ahLst/>
              <a:cxnLst/>
              <a:rect r="r" b="b" t="t" l="l"/>
              <a:pathLst>
                <a:path h="13579362" w="13579362">
                  <a:moveTo>
                    <a:pt x="6789681" y="0"/>
                  </a:moveTo>
                  <a:cubicBezTo>
                    <a:pt x="3039844" y="0"/>
                    <a:pt x="0" y="3039844"/>
                    <a:pt x="0" y="6789681"/>
                  </a:cubicBezTo>
                  <a:cubicBezTo>
                    <a:pt x="0" y="10539519"/>
                    <a:pt x="3039844" y="13579362"/>
                    <a:pt x="6789681" y="13579362"/>
                  </a:cubicBezTo>
                  <a:cubicBezTo>
                    <a:pt x="10539519" y="13579362"/>
                    <a:pt x="13579362" y="10539519"/>
                    <a:pt x="13579362" y="6789681"/>
                  </a:cubicBezTo>
                  <a:cubicBezTo>
                    <a:pt x="13579362" y="3039844"/>
                    <a:pt x="10539519" y="0"/>
                    <a:pt x="6789681" y="0"/>
                  </a:cubicBezTo>
                  <a:close/>
                </a:path>
              </a:pathLst>
            </a:custGeom>
            <a:blipFill>
              <a:blip r:embed="rId7"/>
              <a:stretch>
                <a:fillRect l="-83125" t="-156604" r="-92248" b="-20941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00098" y="5336776"/>
            <a:ext cx="2143125" cy="531613"/>
            <a:chOff x="0" y="0"/>
            <a:chExt cx="2857500" cy="7088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57500" cy="708818"/>
            </a:xfrm>
            <a:custGeom>
              <a:avLst/>
              <a:gdLst/>
              <a:ahLst/>
              <a:cxnLst/>
              <a:rect r="r" b="b" t="t" l="l"/>
              <a:pathLst>
                <a:path h="708818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08818"/>
                  </a:lnTo>
                  <a:lnTo>
                    <a:pt x="0" y="70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0367" t="0" r="-1036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85157" y="-45638"/>
              <a:ext cx="2687187" cy="723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吳想想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00098" y="8500761"/>
            <a:ext cx="2143125" cy="531613"/>
            <a:chOff x="0" y="0"/>
            <a:chExt cx="2857500" cy="7088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7500" cy="708818"/>
            </a:xfrm>
            <a:custGeom>
              <a:avLst/>
              <a:gdLst/>
              <a:ahLst/>
              <a:cxnLst/>
              <a:rect r="r" b="b" t="t" l="l"/>
              <a:pathLst>
                <a:path h="708818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08818"/>
                  </a:lnTo>
                  <a:lnTo>
                    <a:pt x="0" y="70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-10367" t="0" r="-10367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 rot="0">
              <a:off x="85157" y="-45638"/>
              <a:ext cx="2687187" cy="723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李品臻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569008" y="5389454"/>
            <a:ext cx="2143125" cy="531613"/>
            <a:chOff x="0" y="0"/>
            <a:chExt cx="2857500" cy="7088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57500" cy="708818"/>
            </a:xfrm>
            <a:custGeom>
              <a:avLst/>
              <a:gdLst/>
              <a:ahLst/>
              <a:cxnLst/>
              <a:rect r="r" b="b" t="t" l="l"/>
              <a:pathLst>
                <a:path h="708818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08818"/>
                  </a:lnTo>
                  <a:lnTo>
                    <a:pt x="0" y="70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-10367" t="0" r="-1036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85157" y="-45638"/>
              <a:ext cx="2687187" cy="723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陳雨琦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569008" y="8500761"/>
            <a:ext cx="2143125" cy="531613"/>
            <a:chOff x="0" y="0"/>
            <a:chExt cx="2857500" cy="7088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57500" cy="708818"/>
            </a:xfrm>
            <a:custGeom>
              <a:avLst/>
              <a:gdLst/>
              <a:ahLst/>
              <a:cxnLst/>
              <a:rect r="r" b="b" t="t" l="l"/>
              <a:pathLst>
                <a:path h="708818" w="2857500">
                  <a:moveTo>
                    <a:pt x="0" y="0"/>
                  </a:moveTo>
                  <a:lnTo>
                    <a:pt x="2857500" y="0"/>
                  </a:lnTo>
                  <a:lnTo>
                    <a:pt x="2857500" y="708818"/>
                  </a:lnTo>
                  <a:lnTo>
                    <a:pt x="0" y="70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0367" t="0" r="-1036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85157" y="-45638"/>
              <a:ext cx="2687187" cy="723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黃思璇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70692" y="2979628"/>
            <a:ext cx="10450720" cy="6278672"/>
            <a:chOff x="0" y="0"/>
            <a:chExt cx="2752453" cy="16536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52453" cy="1653642"/>
            </a:xfrm>
            <a:custGeom>
              <a:avLst/>
              <a:gdLst/>
              <a:ahLst/>
              <a:cxnLst/>
              <a:rect r="r" b="b" t="t" l="l"/>
              <a:pathLst>
                <a:path h="1653642" w="2752453">
                  <a:moveTo>
                    <a:pt x="37781" y="0"/>
                  </a:moveTo>
                  <a:lnTo>
                    <a:pt x="2714672" y="0"/>
                  </a:lnTo>
                  <a:cubicBezTo>
                    <a:pt x="2724692" y="0"/>
                    <a:pt x="2734302" y="3980"/>
                    <a:pt x="2741387" y="11066"/>
                  </a:cubicBezTo>
                  <a:cubicBezTo>
                    <a:pt x="2748473" y="18151"/>
                    <a:pt x="2752453" y="27761"/>
                    <a:pt x="2752453" y="37781"/>
                  </a:cubicBezTo>
                  <a:lnTo>
                    <a:pt x="2752453" y="1615861"/>
                  </a:lnTo>
                  <a:cubicBezTo>
                    <a:pt x="2752453" y="1625881"/>
                    <a:pt x="2748473" y="1635491"/>
                    <a:pt x="2741387" y="1642576"/>
                  </a:cubicBezTo>
                  <a:cubicBezTo>
                    <a:pt x="2734302" y="1649662"/>
                    <a:pt x="2724692" y="1653642"/>
                    <a:pt x="2714672" y="1653642"/>
                  </a:cubicBezTo>
                  <a:lnTo>
                    <a:pt x="37781" y="1653642"/>
                  </a:lnTo>
                  <a:cubicBezTo>
                    <a:pt x="27761" y="1653642"/>
                    <a:pt x="18151" y="1649662"/>
                    <a:pt x="11066" y="1642576"/>
                  </a:cubicBezTo>
                  <a:cubicBezTo>
                    <a:pt x="3980" y="1635491"/>
                    <a:pt x="0" y="1625881"/>
                    <a:pt x="0" y="1615861"/>
                  </a:cubicBezTo>
                  <a:lnTo>
                    <a:pt x="0" y="37781"/>
                  </a:lnTo>
                  <a:cubicBezTo>
                    <a:pt x="0" y="27761"/>
                    <a:pt x="3980" y="18151"/>
                    <a:pt x="11066" y="11066"/>
                  </a:cubicBezTo>
                  <a:cubicBezTo>
                    <a:pt x="18151" y="3980"/>
                    <a:pt x="27761" y="0"/>
                    <a:pt x="37781" y="0"/>
                  </a:cubicBezTo>
                  <a:close/>
                </a:path>
              </a:pathLst>
            </a:custGeom>
            <a:solidFill>
              <a:srgbClr val="AEE4FF">
                <a:alpha val="46667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2752453" cy="1710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4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52626" y="3643031"/>
            <a:ext cx="9286851" cy="493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我們的團隊由四位來自臺北商業大學專資管科五年甲班的同學組成，成員彼此熟悉且合作默契良好。我們具備資訊管理、資料分析與專案規劃的專業基礎，能有效結合理論與實務。我們重視團隊合作與溝通，強調彼此之間的分工協調與互助支持，使工作能在效率與品質間取得平衡。在專案進行過程中，團隊秉持積極主動、責任分工與精益求精的精神，並以創新與實用並重為目標。我們相信，透過良好的協作與專業能力，能夠在專案中展現團隊價值，並創造兼具創意與成效的成果。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解題計畫宗旨及目的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7711501" y="4320012"/>
            <a:ext cx="2600670" cy="0"/>
          </a:xfrm>
          <a:prstGeom prst="line">
            <a:avLst/>
          </a:prstGeom>
          <a:ln cap="flat" w="295275">
            <a:solidFill>
              <a:srgbClr val="457B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7711501" y="7547868"/>
            <a:ext cx="2600670" cy="0"/>
          </a:xfrm>
          <a:prstGeom prst="line">
            <a:avLst/>
          </a:prstGeom>
          <a:ln cap="flat" w="295275">
            <a:solidFill>
              <a:srgbClr val="2A9D8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0676688" y="4684529"/>
            <a:ext cx="0" cy="2600670"/>
          </a:xfrm>
          <a:prstGeom prst="line">
            <a:avLst/>
          </a:prstGeom>
          <a:ln cap="flat" w="295275">
            <a:solidFill>
              <a:srgbClr val="B5E4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7565422" y="4684529"/>
            <a:ext cx="0" cy="2600670"/>
          </a:xfrm>
          <a:prstGeom prst="line">
            <a:avLst/>
          </a:prstGeom>
          <a:ln cap="flat" w="295275">
            <a:solidFill>
              <a:srgbClr val="A8DAD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6281327" y="3086108"/>
            <a:ext cx="2401408" cy="2401408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457B9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09184" y="6313965"/>
            <a:ext cx="2401408" cy="2401408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-5400000">
            <a:off x="9509184" y="3086108"/>
            <a:ext cx="2401408" cy="2401408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B5E48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281327" y="6313965"/>
            <a:ext cx="2401408" cy="2401408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8DAD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59898" y="3264679"/>
            <a:ext cx="2044267" cy="2044267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-5400000">
            <a:off x="9687754" y="3264679"/>
            <a:ext cx="2044267" cy="2044267"/>
            <a:chOff x="0" y="0"/>
            <a:chExt cx="6350000" cy="635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87754" y="6492535"/>
            <a:ext cx="2044267" cy="2044267"/>
            <a:chOff x="0" y="0"/>
            <a:chExt cx="6350000" cy="635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59898" y="6492535"/>
            <a:ext cx="2044267" cy="2044267"/>
            <a:chOff x="0" y="0"/>
            <a:chExt cx="6350000" cy="6350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0206348" y="6975947"/>
            <a:ext cx="1007080" cy="1007080"/>
          </a:xfrm>
          <a:custGeom>
            <a:avLst/>
            <a:gdLst/>
            <a:ahLst/>
            <a:cxnLst/>
            <a:rect r="r" b="b" t="t" l="l"/>
            <a:pathLst>
              <a:path h="1007080" w="1007080">
                <a:moveTo>
                  <a:pt x="0" y="0"/>
                </a:moveTo>
                <a:lnTo>
                  <a:pt x="1007080" y="0"/>
                </a:lnTo>
                <a:lnTo>
                  <a:pt x="1007080" y="1007080"/>
                </a:lnTo>
                <a:lnTo>
                  <a:pt x="0" y="1007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0059168" y="3911157"/>
            <a:ext cx="1301439" cy="817710"/>
          </a:xfrm>
          <a:custGeom>
            <a:avLst/>
            <a:gdLst/>
            <a:ahLst/>
            <a:cxnLst/>
            <a:rect r="r" b="b" t="t" l="l"/>
            <a:pathLst>
              <a:path h="817710" w="1301439">
                <a:moveTo>
                  <a:pt x="0" y="0"/>
                </a:moveTo>
                <a:lnTo>
                  <a:pt x="1301439" y="0"/>
                </a:lnTo>
                <a:lnTo>
                  <a:pt x="1301439" y="817710"/>
                </a:lnTo>
                <a:lnTo>
                  <a:pt x="0" y="817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7025281" y="7112710"/>
            <a:ext cx="913501" cy="870317"/>
          </a:xfrm>
          <a:custGeom>
            <a:avLst/>
            <a:gdLst/>
            <a:ahLst/>
            <a:cxnLst/>
            <a:rect r="r" b="b" t="t" l="l"/>
            <a:pathLst>
              <a:path h="870317" w="913501">
                <a:moveTo>
                  <a:pt x="0" y="0"/>
                </a:moveTo>
                <a:lnTo>
                  <a:pt x="913501" y="0"/>
                </a:lnTo>
                <a:lnTo>
                  <a:pt x="913501" y="870317"/>
                </a:lnTo>
                <a:lnTo>
                  <a:pt x="0" y="8703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6875400" y="3406860"/>
            <a:ext cx="1213263" cy="157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9"/>
              </a:lnSpc>
              <a:spcBef>
                <a:spcPct val="0"/>
              </a:spcBef>
            </a:pPr>
            <a:r>
              <a:rPr lang="en-US" b="true" sz="8771">
                <a:solidFill>
                  <a:srgbClr val="457B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?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52022" y="2714134"/>
            <a:ext cx="376177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4200">
                <a:solidFill>
                  <a:srgbClr val="B5E48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解題構想摘要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52022" y="6338498"/>
            <a:ext cx="376177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4200">
                <a:solidFill>
                  <a:srgbClr val="2A9D8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技術創新點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100449" y="2870881"/>
            <a:ext cx="376177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b="true" sz="4200">
                <a:solidFill>
                  <a:srgbClr val="457B9D"/>
                </a:solidFill>
                <a:latin typeface="Poppins Bold"/>
                <a:ea typeface="Poppins Bold"/>
                <a:cs typeface="Poppins Bold"/>
                <a:sym typeface="Poppins Bold"/>
              </a:rPr>
              <a:t>問題與需求分析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8042" y="3542705"/>
            <a:ext cx="5303236" cy="230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街頭騷擾頻傳，87%受害者為年輕族群</a:t>
            </a:r>
          </a:p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現有APP功能單一，缺乏整合</a:t>
            </a:r>
          </a:p>
          <a:p>
            <a:pPr algn="just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風險資訊不透明，難即時掌握</a:t>
            </a:r>
          </a:p>
          <a:p>
            <a:pPr algn="just">
              <a:lnSpc>
                <a:spcPts val="3639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12129667" y="3430951"/>
            <a:ext cx="5758665" cy="276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建立「怪怪走開，護您安全」平台</a:t>
            </a:r>
          </a:p>
          <a:p>
            <a:pPr algn="l" marL="604521" indent="-302261" lvl="1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事件回報、地圖警示、匿名聊天室、快速求助</a:t>
            </a:r>
          </a:p>
          <a:p>
            <a:pPr algn="l" marL="604521" indent="-302261" lvl="1">
              <a:lnSpc>
                <a:spcPts val="364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安全合作店家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+ 教育與防身知識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2152022" y="6962462"/>
            <a:ext cx="4808693" cy="230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PWA 跨平台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內容審核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GPS + 地圖 API 熱點推播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兼顧透明與隱私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1753692" y="6338498"/>
            <a:ext cx="3761778" cy="550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80"/>
              </a:lnSpc>
            </a:pPr>
            <a:r>
              <a:rPr lang="en-US" b="true" sz="4200">
                <a:solidFill>
                  <a:srgbClr val="A0C9CA"/>
                </a:solidFill>
                <a:latin typeface="Poppins Bold"/>
                <a:ea typeface="Poppins Bold"/>
                <a:cs typeface="Poppins Bold"/>
                <a:sym typeface="Poppins Bold"/>
              </a:rPr>
              <a:t>應用價值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8042" y="6962462"/>
            <a:ext cx="5057536" cy="2307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快速回報與查詢高風險區域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即時求助、多元聯絡方式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數據支援警方決策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商家與社群共建安全網</a:t>
            </a:r>
          </a:p>
          <a:p>
            <a:pPr algn="l">
              <a:lnSpc>
                <a:spcPts val="36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解題技術架構及進行步驟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64653" y="2457287"/>
            <a:ext cx="5491140" cy="7122464"/>
            <a:chOff x="0" y="0"/>
            <a:chExt cx="1446226" cy="18758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6226" cy="1875875"/>
            </a:xfrm>
            <a:custGeom>
              <a:avLst/>
              <a:gdLst/>
              <a:ahLst/>
              <a:cxnLst/>
              <a:rect r="r" b="b" t="t" l="l"/>
              <a:pathLst>
                <a:path h="1875875" w="1446226">
                  <a:moveTo>
                    <a:pt x="71905" y="0"/>
                  </a:moveTo>
                  <a:lnTo>
                    <a:pt x="1374322" y="0"/>
                  </a:lnTo>
                  <a:cubicBezTo>
                    <a:pt x="1414034" y="0"/>
                    <a:pt x="1446226" y="32193"/>
                    <a:pt x="1446226" y="71905"/>
                  </a:cubicBezTo>
                  <a:lnTo>
                    <a:pt x="1446226" y="1803971"/>
                  </a:lnTo>
                  <a:cubicBezTo>
                    <a:pt x="1446226" y="1823041"/>
                    <a:pt x="1438651" y="1841330"/>
                    <a:pt x="1425166" y="1854815"/>
                  </a:cubicBezTo>
                  <a:cubicBezTo>
                    <a:pt x="1411681" y="1868300"/>
                    <a:pt x="1393392" y="1875875"/>
                    <a:pt x="1374322" y="1875875"/>
                  </a:cubicBezTo>
                  <a:lnTo>
                    <a:pt x="71905" y="1875875"/>
                  </a:lnTo>
                  <a:cubicBezTo>
                    <a:pt x="52834" y="1875875"/>
                    <a:pt x="34545" y="1868300"/>
                    <a:pt x="21060" y="1854815"/>
                  </a:cubicBezTo>
                  <a:cubicBezTo>
                    <a:pt x="7576" y="1841330"/>
                    <a:pt x="0" y="1823041"/>
                    <a:pt x="0" y="1803971"/>
                  </a:cubicBezTo>
                  <a:lnTo>
                    <a:pt x="0" y="71905"/>
                  </a:lnTo>
                  <a:cubicBezTo>
                    <a:pt x="0" y="52834"/>
                    <a:pt x="7576" y="34545"/>
                    <a:pt x="21060" y="21060"/>
                  </a:cubicBezTo>
                  <a:cubicBezTo>
                    <a:pt x="34545" y="7576"/>
                    <a:pt x="52834" y="0"/>
                    <a:pt x="71905" y="0"/>
                  </a:cubicBezTo>
                  <a:close/>
                </a:path>
              </a:pathLst>
            </a:custGeom>
            <a:solidFill>
              <a:srgbClr val="A8E6CF">
                <a:alpha val="46667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46226" cy="193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63962" y="2457287"/>
            <a:ext cx="5491140" cy="7122464"/>
            <a:chOff x="0" y="0"/>
            <a:chExt cx="1446226" cy="18758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6226" cy="1875875"/>
            </a:xfrm>
            <a:custGeom>
              <a:avLst/>
              <a:gdLst/>
              <a:ahLst/>
              <a:cxnLst/>
              <a:rect r="r" b="b" t="t" l="l"/>
              <a:pathLst>
                <a:path h="1875875" w="1446226">
                  <a:moveTo>
                    <a:pt x="71905" y="0"/>
                  </a:moveTo>
                  <a:lnTo>
                    <a:pt x="1374322" y="0"/>
                  </a:lnTo>
                  <a:cubicBezTo>
                    <a:pt x="1414034" y="0"/>
                    <a:pt x="1446226" y="32193"/>
                    <a:pt x="1446226" y="71905"/>
                  </a:cubicBezTo>
                  <a:lnTo>
                    <a:pt x="1446226" y="1803971"/>
                  </a:lnTo>
                  <a:cubicBezTo>
                    <a:pt x="1446226" y="1823041"/>
                    <a:pt x="1438651" y="1841330"/>
                    <a:pt x="1425166" y="1854815"/>
                  </a:cubicBezTo>
                  <a:cubicBezTo>
                    <a:pt x="1411681" y="1868300"/>
                    <a:pt x="1393392" y="1875875"/>
                    <a:pt x="1374322" y="1875875"/>
                  </a:cubicBezTo>
                  <a:lnTo>
                    <a:pt x="71905" y="1875875"/>
                  </a:lnTo>
                  <a:cubicBezTo>
                    <a:pt x="52834" y="1875875"/>
                    <a:pt x="34545" y="1868300"/>
                    <a:pt x="21060" y="1854815"/>
                  </a:cubicBezTo>
                  <a:cubicBezTo>
                    <a:pt x="7576" y="1841330"/>
                    <a:pt x="0" y="1823041"/>
                    <a:pt x="0" y="1803971"/>
                  </a:cubicBezTo>
                  <a:lnTo>
                    <a:pt x="0" y="71905"/>
                  </a:lnTo>
                  <a:cubicBezTo>
                    <a:pt x="0" y="52834"/>
                    <a:pt x="7576" y="34545"/>
                    <a:pt x="21060" y="21060"/>
                  </a:cubicBezTo>
                  <a:cubicBezTo>
                    <a:pt x="34545" y="7576"/>
                    <a:pt x="52834" y="0"/>
                    <a:pt x="71905" y="0"/>
                  </a:cubicBezTo>
                  <a:close/>
                </a:path>
              </a:pathLst>
            </a:custGeom>
            <a:solidFill>
              <a:srgbClr val="8EDFD1">
                <a:alpha val="4666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446226" cy="193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4237" y="2457287"/>
            <a:ext cx="5835733" cy="7122464"/>
            <a:chOff x="0" y="0"/>
            <a:chExt cx="1536983" cy="18758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36983" cy="1875875"/>
            </a:xfrm>
            <a:custGeom>
              <a:avLst/>
              <a:gdLst/>
              <a:ahLst/>
              <a:cxnLst/>
              <a:rect r="r" b="b" t="t" l="l"/>
              <a:pathLst>
                <a:path h="1875875" w="1536983">
                  <a:moveTo>
                    <a:pt x="67659" y="0"/>
                  </a:moveTo>
                  <a:lnTo>
                    <a:pt x="1469325" y="0"/>
                  </a:lnTo>
                  <a:cubicBezTo>
                    <a:pt x="1487269" y="0"/>
                    <a:pt x="1504478" y="7128"/>
                    <a:pt x="1517167" y="19817"/>
                  </a:cubicBezTo>
                  <a:cubicBezTo>
                    <a:pt x="1529855" y="32505"/>
                    <a:pt x="1536983" y="49714"/>
                    <a:pt x="1536983" y="67659"/>
                  </a:cubicBezTo>
                  <a:lnTo>
                    <a:pt x="1536983" y="1808217"/>
                  </a:lnTo>
                  <a:cubicBezTo>
                    <a:pt x="1536983" y="1826161"/>
                    <a:pt x="1529855" y="1843370"/>
                    <a:pt x="1517167" y="1856058"/>
                  </a:cubicBezTo>
                  <a:cubicBezTo>
                    <a:pt x="1504478" y="1868747"/>
                    <a:pt x="1487269" y="1875875"/>
                    <a:pt x="1469325" y="1875875"/>
                  </a:cubicBezTo>
                  <a:lnTo>
                    <a:pt x="67659" y="1875875"/>
                  </a:lnTo>
                  <a:cubicBezTo>
                    <a:pt x="49714" y="1875875"/>
                    <a:pt x="32505" y="1868747"/>
                    <a:pt x="19817" y="1856058"/>
                  </a:cubicBezTo>
                  <a:cubicBezTo>
                    <a:pt x="7128" y="1843370"/>
                    <a:pt x="0" y="1826161"/>
                    <a:pt x="0" y="1808217"/>
                  </a:cubicBezTo>
                  <a:lnTo>
                    <a:pt x="0" y="67659"/>
                  </a:lnTo>
                  <a:cubicBezTo>
                    <a:pt x="0" y="49714"/>
                    <a:pt x="7128" y="32505"/>
                    <a:pt x="19817" y="19817"/>
                  </a:cubicBezTo>
                  <a:cubicBezTo>
                    <a:pt x="32505" y="7128"/>
                    <a:pt x="49714" y="0"/>
                    <a:pt x="67659" y="0"/>
                  </a:cubicBezTo>
                  <a:close/>
                </a:path>
              </a:pathLst>
            </a:custGeom>
            <a:solidFill>
              <a:srgbClr val="AEE4FF">
                <a:alpha val="46667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536983" cy="193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8226" y="2688137"/>
            <a:ext cx="771999" cy="771999"/>
            <a:chOff x="0" y="0"/>
            <a:chExt cx="1029332" cy="1029332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029332" cy="1029332"/>
              <a:chOff x="0" y="0"/>
              <a:chExt cx="6350000" cy="6350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D7EA6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51192" y="8317"/>
              <a:ext cx="726948" cy="869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84833" y="2724799"/>
            <a:ext cx="771999" cy="771999"/>
            <a:chOff x="0" y="0"/>
            <a:chExt cx="1029332" cy="1029332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29332" cy="1029332"/>
              <a:chOff x="0" y="0"/>
              <a:chExt cx="6350000" cy="6350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AAFA9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151192" y="8317"/>
              <a:ext cx="726948" cy="869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652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582920" y="2688137"/>
            <a:ext cx="771999" cy="771999"/>
            <a:chOff x="0" y="0"/>
            <a:chExt cx="1029332" cy="1029332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029332" cy="1029332"/>
              <a:chOff x="0" y="0"/>
              <a:chExt cx="6350000" cy="6350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CB69F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151192" y="8317"/>
              <a:ext cx="726948" cy="869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652"/>
                </a:lnSpc>
                <a:spcBef>
                  <a:spcPct val="0"/>
                </a:spcBef>
              </a:pPr>
              <a:r>
                <a:rPr lang="en-US" sz="3600" u="none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3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78981" y="3523856"/>
            <a:ext cx="5823776" cy="596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後端：Django（穩定、支援權限控管）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資料庫：MySQL（結構化、可擴展）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前端：HTML/CSS/JS + PWA（跨平台）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推播：Service Worker + Web Push API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登入：OAuth（快速註冊帳號）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地圖：Google Maps API / Routes API</a:t>
            </a:r>
          </a:p>
          <a:p>
            <a:pPr algn="l" marL="604519" indent="-302260" lvl="1">
              <a:lnSpc>
                <a:spcPts val="3639"/>
              </a:lnSpc>
              <a:buFont typeface="Arial"/>
              <a:buChar char="•"/>
            </a:pPr>
            <a:r>
              <a:rPr lang="en-US" sz="2799" spc="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 與過濾：OpenCV DNN（人臉遮蔽）、Bleach（XSS 過濾）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85732" y="2812041"/>
            <a:ext cx="3251268" cy="54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採用的方法與原因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009232" y="2919771"/>
            <a:ext cx="2778564" cy="54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技術流程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07318" y="2812041"/>
            <a:ext cx="4078542" cy="54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可能挑戰</a:t>
            </a:r>
            <a:r>
              <a:rPr lang="en-US" b="true" sz="3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與對策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480773" y="3992082"/>
            <a:ext cx="5326455" cy="467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資料蒐集：使用者回報 → 後端接收 → 管理員審核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地圖呈現：整合 GPS 與地圖 API → 標示危險事件與安全店家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互動交流：匿名聊天室 → AI 審查後發佈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快速求助：簡訊/定位 → 通知緊急聯絡人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系統安全：加密儲存、權限控管、SQL/XSS 防護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512303" y="4422161"/>
            <a:ext cx="5060273" cy="341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誤報/惡意使用 → 審核制度 + 使用者信用積分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隱私風險 → 敏感資訊加密、匿名化顯示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商家反彈 → 「安全合作店家」曝光回饋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使用者不足 → 獎勵機制 + 社群行銷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解題技術架構及進行步驟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73800" y="5467350"/>
            <a:ext cx="14975692" cy="4165032"/>
            <a:chOff x="0" y="0"/>
            <a:chExt cx="3944215" cy="10969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44215" cy="1096963"/>
            </a:xfrm>
            <a:custGeom>
              <a:avLst/>
              <a:gdLst/>
              <a:ahLst/>
              <a:cxnLst/>
              <a:rect r="r" b="b" t="t" l="l"/>
              <a:pathLst>
                <a:path h="1096963" w="3944215">
                  <a:moveTo>
                    <a:pt x="26365" y="0"/>
                  </a:moveTo>
                  <a:lnTo>
                    <a:pt x="3917850" y="0"/>
                  </a:lnTo>
                  <a:cubicBezTo>
                    <a:pt x="3932411" y="0"/>
                    <a:pt x="3944215" y="11804"/>
                    <a:pt x="3944215" y="26365"/>
                  </a:cubicBezTo>
                  <a:lnTo>
                    <a:pt x="3944215" y="1070598"/>
                  </a:lnTo>
                  <a:cubicBezTo>
                    <a:pt x="3944215" y="1085159"/>
                    <a:pt x="3932411" y="1096963"/>
                    <a:pt x="3917850" y="1096963"/>
                  </a:cubicBezTo>
                  <a:lnTo>
                    <a:pt x="26365" y="1096963"/>
                  </a:lnTo>
                  <a:cubicBezTo>
                    <a:pt x="11804" y="1096963"/>
                    <a:pt x="0" y="1085159"/>
                    <a:pt x="0" y="1070598"/>
                  </a:cubicBezTo>
                  <a:lnTo>
                    <a:pt x="0" y="26365"/>
                  </a:lnTo>
                  <a:cubicBezTo>
                    <a:pt x="0" y="11804"/>
                    <a:pt x="11804" y="0"/>
                    <a:pt x="26365" y="0"/>
                  </a:cubicBezTo>
                  <a:close/>
                </a:path>
              </a:pathLst>
            </a:custGeom>
            <a:solidFill>
              <a:srgbClr val="A8E6CF">
                <a:alpha val="46667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944215" cy="1154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73800" y="2295965"/>
            <a:ext cx="14975692" cy="2847536"/>
            <a:chOff x="0" y="0"/>
            <a:chExt cx="3944215" cy="749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44215" cy="749968"/>
            </a:xfrm>
            <a:custGeom>
              <a:avLst/>
              <a:gdLst/>
              <a:ahLst/>
              <a:cxnLst/>
              <a:rect r="r" b="b" t="t" l="l"/>
              <a:pathLst>
                <a:path h="749968" w="3944215">
                  <a:moveTo>
                    <a:pt x="26365" y="0"/>
                  </a:moveTo>
                  <a:lnTo>
                    <a:pt x="3917850" y="0"/>
                  </a:lnTo>
                  <a:cubicBezTo>
                    <a:pt x="3932411" y="0"/>
                    <a:pt x="3944215" y="11804"/>
                    <a:pt x="3944215" y="26365"/>
                  </a:cubicBezTo>
                  <a:lnTo>
                    <a:pt x="3944215" y="723603"/>
                  </a:lnTo>
                  <a:cubicBezTo>
                    <a:pt x="3944215" y="738164"/>
                    <a:pt x="3932411" y="749968"/>
                    <a:pt x="3917850" y="749968"/>
                  </a:cubicBezTo>
                  <a:lnTo>
                    <a:pt x="26365" y="749968"/>
                  </a:lnTo>
                  <a:cubicBezTo>
                    <a:pt x="11804" y="749968"/>
                    <a:pt x="0" y="738164"/>
                    <a:pt x="0" y="723603"/>
                  </a:cubicBezTo>
                  <a:lnTo>
                    <a:pt x="0" y="26365"/>
                  </a:lnTo>
                  <a:cubicBezTo>
                    <a:pt x="0" y="11804"/>
                    <a:pt x="11804" y="0"/>
                    <a:pt x="26365" y="0"/>
                  </a:cubicBezTo>
                  <a:close/>
                </a:path>
              </a:pathLst>
            </a:custGeom>
            <a:solidFill>
              <a:srgbClr val="AEE4FF">
                <a:alpha val="4666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944215" cy="807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74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156726" y="2698734"/>
            <a:ext cx="2165441" cy="2063075"/>
          </a:xfrm>
          <a:custGeom>
            <a:avLst/>
            <a:gdLst/>
            <a:ahLst/>
            <a:cxnLst/>
            <a:rect r="r" b="b" t="t" l="l"/>
            <a:pathLst>
              <a:path h="2063075" w="2165441">
                <a:moveTo>
                  <a:pt x="0" y="0"/>
                </a:moveTo>
                <a:lnTo>
                  <a:pt x="2165441" y="0"/>
                </a:lnTo>
                <a:lnTo>
                  <a:pt x="2165441" y="2063075"/>
                </a:lnTo>
                <a:lnTo>
                  <a:pt x="0" y="2063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270377" y="6345727"/>
            <a:ext cx="11273020" cy="299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清理：移除不合法/惡意內容（Bleach 過濾）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特徵工程：依事件型態分類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疊合：整合多來源地理資訊至地圖系統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加值：風險熱點 → 推播警示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圖片隱私保護：OpenCV Haar Cascade 偵測人臉 → 馬賽克/模糊化 → Base64 儲存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70377" y="3228296"/>
            <a:ext cx="6785861" cy="153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使用者自主回報表單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政府開放數據（警局、案件統計）</a:t>
            </a:r>
          </a:p>
          <a:p>
            <a:pPr algn="l" marL="690877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商家登錄安全合作據點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76302" y="2595824"/>
            <a:ext cx="2133404" cy="70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資料來源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76302" y="5713255"/>
            <a:ext cx="3200055" cy="70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資料處理方式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解題技術架構及進行步驟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34701" y="446079"/>
            <a:ext cx="3200456" cy="61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主要欄位與類型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757488" y="2172140"/>
          <a:ext cx="16773023" cy="7074096"/>
        </p:xfrm>
        <a:graphic>
          <a:graphicData uri="http://schemas.openxmlformats.org/drawingml/2006/table">
            <a:tbl>
              <a:tblPr/>
              <a:tblGrid>
                <a:gridCol w="3669736"/>
                <a:gridCol w="13103288"/>
              </a:tblGrid>
              <a:tr h="10821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資料表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核心欄位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13693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事件資料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類別、原因、地址、經緯度、圖片、建立時間、審核狀態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61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事件回報檢視表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顯示回報事件給前端 類別、子類別、地址、經緯度、圖片、建立時間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1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商家資料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店名、地址、經緯度、營業時間、電話、建立時間、審核狀態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1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使用者個人資料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使用者名稱、Gmail、暱稱、緊急聯絡、頭像、建立時間、狀態顏色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1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警局資料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分局名稱、地址、電話、經緯度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解題技術架構及進行步驟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34701" y="446079"/>
            <a:ext cx="3200456" cy="61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主要欄位與類型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1873800" y="2255196"/>
          <a:ext cx="15207023" cy="7464804"/>
        </p:xfrm>
        <a:graphic>
          <a:graphicData uri="http://schemas.openxmlformats.org/drawingml/2006/table">
            <a:tbl>
              <a:tblPr/>
              <a:tblGrid>
                <a:gridCol w="4070703"/>
                <a:gridCol w="11136320"/>
              </a:tblGrid>
              <a:tr h="10818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資料表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核心欄位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13689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聊天室資料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聊天室代碼、城市、區域、收藏次數、建立時間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57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聊天室訊息表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使用者、暱稱、留言內容、留言時間、回覆對象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18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使用者收藏聊天室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使用者、聊天室、建立時間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18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管理員資料表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姓名、電話、Gmail、簡介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45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0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交流區資料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00"/>
                        </a:lnSpc>
                        <a:defRPr/>
                      </a:pPr>
                      <a:r>
                        <a:rPr lang="en-US" sz="3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使用者、暱稱、標題、留言內容、愛心數、建立時間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753692" y="2038790"/>
          <a:ext cx="14905230" cy="7721796"/>
        </p:xfrm>
        <a:graphic>
          <a:graphicData uri="http://schemas.openxmlformats.org/drawingml/2006/table">
            <a:tbl>
              <a:tblPr/>
              <a:tblGrid>
                <a:gridCol w="3072111"/>
                <a:gridCol w="7834248"/>
                <a:gridCol w="3998871"/>
              </a:tblGrid>
              <a:tr h="995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工作項目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指標內容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量化目標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13687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模型建置與測試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事件回報與審核系統完成，並進行上線測試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上線測試 ≥ 50 筆資料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55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系統原型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完成 PWA 原型，支援事件地圖與安全商家顯示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系統原型完成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準確率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AI 內容審核正確率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≥ 85%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效能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地圖載入時間與系統可用率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≤ 3 秒、≥ 99%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用戶數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上線後用戶成長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 個月 ≥ 100 名使用者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商家合作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安全合作店家加入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≥ 20 家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預期完成之工作目標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544915" y="216854"/>
            <a:ext cx="1620007" cy="1620007"/>
          </a:xfrm>
          <a:custGeom>
            <a:avLst/>
            <a:gdLst/>
            <a:ahLst/>
            <a:cxnLst/>
            <a:rect r="r" b="b" t="t" l="l"/>
            <a:pathLst>
              <a:path h="1620007" w="1620007">
                <a:moveTo>
                  <a:pt x="0" y="0"/>
                </a:moveTo>
                <a:lnTo>
                  <a:pt x="1620007" y="0"/>
                </a:lnTo>
                <a:lnTo>
                  <a:pt x="1620007" y="1620007"/>
                </a:lnTo>
                <a:lnTo>
                  <a:pt x="0" y="1620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4241935" y="2158246"/>
          <a:ext cx="11262668" cy="7561754"/>
        </p:xfrm>
        <a:graphic>
          <a:graphicData uri="http://schemas.openxmlformats.org/drawingml/2006/table">
            <a:tbl>
              <a:tblPr/>
              <a:tblGrid>
                <a:gridCol w="1902305"/>
                <a:gridCol w="9360363"/>
              </a:tblGrid>
              <a:tr h="11009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月份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預定工作及階段目標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ADC"/>
                    </a:solidFill>
                  </a:tcPr>
                </a:tc>
              </a:tr>
              <a:tr h="1557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資料庫及系統架構規劃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7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3~8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功能完成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19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系統測試及修正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4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系統上線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預期工作摘要及進度表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837092">
            <a:off x="815260" y="5094547"/>
            <a:ext cx="3068531" cy="2343242"/>
          </a:xfrm>
          <a:custGeom>
            <a:avLst/>
            <a:gdLst/>
            <a:ahLst/>
            <a:cxnLst/>
            <a:rect r="r" b="b" t="t" l="l"/>
            <a:pathLst>
              <a:path h="2343242" w="3068531">
                <a:moveTo>
                  <a:pt x="0" y="0"/>
                </a:moveTo>
                <a:lnTo>
                  <a:pt x="3068531" y="0"/>
                </a:lnTo>
                <a:lnTo>
                  <a:pt x="3068531" y="2343242"/>
                </a:lnTo>
                <a:lnTo>
                  <a:pt x="0" y="23432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806435" y="357890"/>
            <a:ext cx="1096967" cy="1125620"/>
          </a:xfrm>
          <a:custGeom>
            <a:avLst/>
            <a:gdLst/>
            <a:ahLst/>
            <a:cxnLst/>
            <a:rect r="r" b="b" t="t" l="l"/>
            <a:pathLst>
              <a:path h="1125620" w="1096967">
                <a:moveTo>
                  <a:pt x="0" y="0"/>
                </a:moveTo>
                <a:lnTo>
                  <a:pt x="1096967" y="0"/>
                </a:lnTo>
                <a:lnTo>
                  <a:pt x="1096967" y="1125620"/>
                </a:lnTo>
                <a:lnTo>
                  <a:pt x="0" y="112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73800" y="0"/>
            <a:ext cx="14040000" cy="1841400"/>
            <a:chOff x="0" y="0"/>
            <a:chExt cx="18720000" cy="245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720000" cy="2455200"/>
            </a:xfrm>
            <a:custGeom>
              <a:avLst/>
              <a:gdLst/>
              <a:ahLst/>
              <a:cxnLst/>
              <a:rect r="r" b="b" t="t" l="l"/>
              <a:pathLst>
                <a:path h="2455200" w="18720000">
                  <a:moveTo>
                    <a:pt x="0" y="0"/>
                  </a:moveTo>
                  <a:lnTo>
                    <a:pt x="18720000" y="0"/>
                  </a:lnTo>
                  <a:lnTo>
                    <a:pt x="18720000" y="2455200"/>
                  </a:lnTo>
                  <a:lnTo>
                    <a:pt x="0" y="245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18720000" cy="2398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b="true" sz="5400" spc="450">
                  <a:solidFill>
                    <a:srgbClr val="1F333C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預期成果與效益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067964" y="2363062"/>
            <a:ext cx="3482540" cy="3241928"/>
          </a:xfrm>
          <a:custGeom>
            <a:avLst/>
            <a:gdLst/>
            <a:ahLst/>
            <a:cxnLst/>
            <a:rect r="r" b="b" t="t" l="l"/>
            <a:pathLst>
              <a:path h="3241928" w="3482540">
                <a:moveTo>
                  <a:pt x="0" y="0"/>
                </a:moveTo>
                <a:lnTo>
                  <a:pt x="3482540" y="0"/>
                </a:lnTo>
                <a:lnTo>
                  <a:pt x="3482540" y="3241928"/>
                </a:lnTo>
                <a:lnTo>
                  <a:pt x="0" y="3241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36579" y="2172140"/>
            <a:ext cx="3687632" cy="3432850"/>
          </a:xfrm>
          <a:custGeom>
            <a:avLst/>
            <a:gdLst/>
            <a:ahLst/>
            <a:cxnLst/>
            <a:rect r="r" b="b" t="t" l="l"/>
            <a:pathLst>
              <a:path h="3432850" w="3687632">
                <a:moveTo>
                  <a:pt x="0" y="0"/>
                </a:moveTo>
                <a:lnTo>
                  <a:pt x="3687632" y="0"/>
                </a:lnTo>
                <a:lnTo>
                  <a:pt x="3687632" y="3432850"/>
                </a:lnTo>
                <a:lnTo>
                  <a:pt x="0" y="343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062271" y="2889247"/>
            <a:ext cx="3861691" cy="2189557"/>
          </a:xfrm>
          <a:custGeom>
            <a:avLst/>
            <a:gdLst/>
            <a:ahLst/>
            <a:cxnLst/>
            <a:rect r="r" b="b" t="t" l="l"/>
            <a:pathLst>
              <a:path h="2189557" w="3861691">
                <a:moveTo>
                  <a:pt x="0" y="0"/>
                </a:moveTo>
                <a:lnTo>
                  <a:pt x="3861691" y="0"/>
                </a:lnTo>
                <a:lnTo>
                  <a:pt x="3861691" y="2189557"/>
                </a:lnTo>
                <a:lnTo>
                  <a:pt x="0" y="2189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38312" y="2545124"/>
            <a:ext cx="7116031" cy="2936980"/>
          </a:xfrm>
          <a:custGeom>
            <a:avLst/>
            <a:gdLst/>
            <a:ahLst/>
            <a:cxnLst/>
            <a:rect r="r" b="b" t="t" l="l"/>
            <a:pathLst>
              <a:path h="2936980" w="7116031">
                <a:moveTo>
                  <a:pt x="0" y="0"/>
                </a:moveTo>
                <a:lnTo>
                  <a:pt x="7116032" y="0"/>
                </a:lnTo>
                <a:lnTo>
                  <a:pt x="7116032" y="2936981"/>
                </a:lnTo>
                <a:lnTo>
                  <a:pt x="0" y="29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077828" y="6774963"/>
            <a:ext cx="6456" cy="3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  <a:spcBef>
                <a:spcPct val="0"/>
              </a:spcBef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16283" y="6529855"/>
            <a:ext cx="7026727" cy="2900122"/>
          </a:xfrm>
          <a:custGeom>
            <a:avLst/>
            <a:gdLst/>
            <a:ahLst/>
            <a:cxnLst/>
            <a:rect r="r" b="b" t="t" l="l"/>
            <a:pathLst>
              <a:path h="2900122" w="7026727">
                <a:moveTo>
                  <a:pt x="0" y="0"/>
                </a:moveTo>
                <a:lnTo>
                  <a:pt x="7026727" y="0"/>
                </a:lnTo>
                <a:lnTo>
                  <a:pt x="7026727" y="2900121"/>
                </a:lnTo>
                <a:lnTo>
                  <a:pt x="0" y="29001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067964" y="6262637"/>
            <a:ext cx="3482540" cy="3241928"/>
          </a:xfrm>
          <a:custGeom>
            <a:avLst/>
            <a:gdLst/>
            <a:ahLst/>
            <a:cxnLst/>
            <a:rect r="r" b="b" t="t" l="l"/>
            <a:pathLst>
              <a:path h="3241928" w="3482540">
                <a:moveTo>
                  <a:pt x="0" y="0"/>
                </a:moveTo>
                <a:lnTo>
                  <a:pt x="3482540" y="0"/>
                </a:lnTo>
                <a:lnTo>
                  <a:pt x="3482540" y="3241928"/>
                </a:lnTo>
                <a:lnTo>
                  <a:pt x="0" y="3241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6579" y="6071715"/>
            <a:ext cx="3687632" cy="3432850"/>
          </a:xfrm>
          <a:custGeom>
            <a:avLst/>
            <a:gdLst/>
            <a:ahLst/>
            <a:cxnLst/>
            <a:rect r="r" b="b" t="t" l="l"/>
            <a:pathLst>
              <a:path h="3432850" w="3687632">
                <a:moveTo>
                  <a:pt x="0" y="0"/>
                </a:moveTo>
                <a:lnTo>
                  <a:pt x="3687632" y="0"/>
                </a:lnTo>
                <a:lnTo>
                  <a:pt x="3687632" y="3432850"/>
                </a:lnTo>
                <a:lnTo>
                  <a:pt x="0" y="343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419023" y="6693366"/>
            <a:ext cx="3861691" cy="2189557"/>
          </a:xfrm>
          <a:custGeom>
            <a:avLst/>
            <a:gdLst/>
            <a:ahLst/>
            <a:cxnLst/>
            <a:rect r="r" b="b" t="t" l="l"/>
            <a:pathLst>
              <a:path h="2189557" w="3861691">
                <a:moveTo>
                  <a:pt x="0" y="0"/>
                </a:moveTo>
                <a:lnTo>
                  <a:pt x="3861691" y="0"/>
                </a:lnTo>
                <a:lnTo>
                  <a:pt x="3861691" y="2189557"/>
                </a:lnTo>
                <a:lnTo>
                  <a:pt x="0" y="2189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504603" y="4222725"/>
            <a:ext cx="1811097" cy="2307130"/>
          </a:xfrm>
          <a:custGeom>
            <a:avLst/>
            <a:gdLst/>
            <a:ahLst/>
            <a:cxnLst/>
            <a:rect r="r" b="b" t="t" l="l"/>
            <a:pathLst>
              <a:path h="2307130" w="1811097">
                <a:moveTo>
                  <a:pt x="0" y="0"/>
                </a:moveTo>
                <a:lnTo>
                  <a:pt x="1811097" y="0"/>
                </a:lnTo>
                <a:lnTo>
                  <a:pt x="1811097" y="2307130"/>
                </a:lnTo>
                <a:lnTo>
                  <a:pt x="0" y="23071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622429" y="3483117"/>
            <a:ext cx="3214571" cy="73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4"/>
              </a:lnSpc>
            </a:pPr>
            <a:r>
              <a:rPr lang="en-US" sz="4324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最終產出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81181" y="3111258"/>
            <a:ext cx="6696931" cy="165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系統原型：PWA 平台📱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地圖</a:t>
            </a: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標示模型：危險熱點、合作商家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專案報告📑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21147" y="6746388"/>
            <a:ext cx="3017136" cy="2252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sz="432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價值</a:t>
            </a:r>
          </a:p>
          <a:p>
            <a:pPr algn="ctr">
              <a:lnSpc>
                <a:spcPts val="6048"/>
              </a:lnSpc>
            </a:pPr>
            <a:r>
              <a:rPr lang="en-US" sz="432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&amp;</a:t>
            </a:r>
          </a:p>
          <a:p>
            <a:pPr algn="ctr">
              <a:lnSpc>
                <a:spcPts val="6048"/>
              </a:lnSpc>
            </a:pPr>
            <a:r>
              <a:rPr lang="en-US" sz="432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可擴展性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29456" y="6849053"/>
            <a:ext cx="6813554" cy="221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對產業</a:t>
            </a: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：拓展安全應用與商家合作商機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對社會：強化個人安全與社區防護</a:t>
            </a:r>
          </a:p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可擴展：結合 IoT、AI 影像辨識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64">
            <a:off x="364236" y="9720000"/>
            <a:ext cx="17559528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3090206" y="9731296"/>
            <a:ext cx="4828794" cy="432220"/>
            <a:chOff x="0" y="0"/>
            <a:chExt cx="6438392" cy="576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38392" cy="576294"/>
            </a:xfrm>
            <a:custGeom>
              <a:avLst/>
              <a:gdLst/>
              <a:ahLst/>
              <a:cxnLst/>
              <a:rect r="r" b="b" t="t" l="l"/>
              <a:pathLst>
                <a:path h="576294" w="6438392">
                  <a:moveTo>
                    <a:pt x="0" y="0"/>
                  </a:moveTo>
                  <a:lnTo>
                    <a:pt x="6438392" y="0"/>
                  </a:lnTo>
                  <a:lnTo>
                    <a:pt x="6438392" y="576294"/>
                  </a:lnTo>
                  <a:lnTo>
                    <a:pt x="0" y="576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438392" cy="5762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520"/>
                </a:lnSpc>
              </a:pPr>
              <a:r>
                <a:rPr lang="en-US" sz="2100" b="true">
                  <a:solidFill>
                    <a:srgbClr val="80808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數位發展部  </a:t>
              </a:r>
              <a:r>
                <a:rPr lang="en-US" sz="2100">
                  <a:solidFill>
                    <a:srgbClr val="808080"/>
                  </a:solidFill>
                  <a:latin typeface="Noto Sans"/>
                  <a:ea typeface="Noto Sans"/>
                  <a:cs typeface="Noto Sans"/>
                  <a:sym typeface="Noto Sans"/>
                </a:rPr>
                <a:t>Ministry of Digital Affairs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5724674" y="177842"/>
            <a:ext cx="2472082" cy="1214607"/>
            <a:chOff x="0" y="0"/>
            <a:chExt cx="3296110" cy="161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6158" cy="1619504"/>
            </a:xfrm>
            <a:custGeom>
              <a:avLst/>
              <a:gdLst/>
              <a:ahLst/>
              <a:cxnLst/>
              <a:rect r="r" b="b" t="t" l="l"/>
              <a:pathLst>
                <a:path h="1619504" w="3296158">
                  <a:moveTo>
                    <a:pt x="0" y="0"/>
                  </a:moveTo>
                  <a:lnTo>
                    <a:pt x="3296158" y="0"/>
                  </a:lnTo>
                  <a:lnTo>
                    <a:pt x="3296158" y="1619504"/>
                  </a:lnTo>
                  <a:lnTo>
                    <a:pt x="0" y="1619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75334" y="9439502"/>
            <a:ext cx="535353" cy="280498"/>
            <a:chOff x="0" y="0"/>
            <a:chExt cx="713804" cy="373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804" cy="373998"/>
            </a:xfrm>
            <a:custGeom>
              <a:avLst/>
              <a:gdLst/>
              <a:ahLst/>
              <a:cxnLst/>
              <a:rect r="r" b="b" t="t" l="l"/>
              <a:pathLst>
                <a:path h="373998" w="713804">
                  <a:moveTo>
                    <a:pt x="0" y="0"/>
                  </a:moveTo>
                  <a:lnTo>
                    <a:pt x="713804" y="0"/>
                  </a:lnTo>
                  <a:lnTo>
                    <a:pt x="713804" y="373998"/>
                  </a:lnTo>
                  <a:lnTo>
                    <a:pt x="0" y="373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713804" cy="4311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‹#›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9095960" y="1903536"/>
            <a:ext cx="8517918" cy="68578"/>
            <a:chOff x="0" y="0"/>
            <a:chExt cx="11357224" cy="91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1B87C3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042" y="1903536"/>
            <a:ext cx="8517918" cy="68578"/>
            <a:chOff x="0" y="0"/>
            <a:chExt cx="11357224" cy="914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57229" cy="91440"/>
            </a:xfrm>
            <a:custGeom>
              <a:avLst/>
              <a:gdLst/>
              <a:ahLst/>
              <a:cxnLst/>
              <a:rect r="r" b="b" t="t" l="l"/>
              <a:pathLst>
                <a:path h="91440" w="11357229">
                  <a:moveTo>
                    <a:pt x="0" y="0"/>
                  </a:moveTo>
                  <a:lnTo>
                    <a:pt x="11357229" y="0"/>
                  </a:lnTo>
                  <a:lnTo>
                    <a:pt x="11357229" y="91440"/>
                  </a:lnTo>
                  <a:lnTo>
                    <a:pt x="0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42000">
                  <a:srgbClr val="EBF5E7">
                    <a:alpha val="100000"/>
                  </a:srgbClr>
                </a:gs>
                <a:gs pos="100000">
                  <a:srgbClr val="C5E0B4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7692" y="177842"/>
            <a:ext cx="1566000" cy="1523742"/>
            <a:chOff x="0" y="0"/>
            <a:chExt cx="2088000" cy="20316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88007" cy="2031619"/>
            </a:xfrm>
            <a:custGeom>
              <a:avLst/>
              <a:gdLst/>
              <a:ahLst/>
              <a:cxnLst/>
              <a:rect r="r" b="b" t="t" l="l"/>
              <a:pathLst>
                <a:path h="2031619" w="2088007">
                  <a:moveTo>
                    <a:pt x="0" y="0"/>
                  </a:moveTo>
                  <a:lnTo>
                    <a:pt x="2088007" y="0"/>
                  </a:lnTo>
                  <a:lnTo>
                    <a:pt x="2088007" y="2031619"/>
                  </a:lnTo>
                  <a:lnTo>
                    <a:pt x="0" y="2031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69" t="-979" r="-717" b="-383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951492" y="5762165"/>
            <a:ext cx="4613194" cy="120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20"/>
              </a:lnSpc>
            </a:pPr>
            <a:r>
              <a:rPr lang="en-US" sz="6600" b="true">
                <a:solidFill>
                  <a:srgbClr val="5482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6600" b="true">
                <a:solidFill>
                  <a:srgbClr val="24A8C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Freeform 18" id="18" descr="本素材由iSlide™ 提供 iSlide™尊重知识产权并注重保护用户享有的各项权利。郑重提醒您： iSlide™插件中提供的任何信息内容的所有权、知识产权归其原始权利人或权利受让人所有，您免费/购买获得的是信息内容的使用权，并受下述条款的约束； 1. 您仅可以个人非商业用途使用该等信息内容，不可将信息内容的全部或部分用于出售，或以出租、出借、转让、分销、发布等其他任何方式供他人使用； 2. 禁止在接入互联网或移动互联网的任何网站、平台、应用或程序上以任何方式为他人提供iSlide™插件资..."/>
          <p:cNvSpPr/>
          <p:nvPr/>
        </p:nvSpPr>
        <p:spPr>
          <a:xfrm flipH="false" flipV="false" rot="0">
            <a:off x="4881548" y="4168237"/>
            <a:ext cx="3018285" cy="2919831"/>
          </a:xfrm>
          <a:custGeom>
            <a:avLst/>
            <a:gdLst/>
            <a:ahLst/>
            <a:cxnLst/>
            <a:rect r="r" b="b" t="t" l="l"/>
            <a:pathLst>
              <a:path h="2919831" w="3018285">
                <a:moveTo>
                  <a:pt x="0" y="0"/>
                </a:moveTo>
                <a:lnTo>
                  <a:pt x="3018284" y="0"/>
                </a:lnTo>
                <a:lnTo>
                  <a:pt x="3018284" y="2919831"/>
                </a:lnTo>
                <a:lnTo>
                  <a:pt x="0" y="2919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370174" y="4097406"/>
            <a:ext cx="4010607" cy="173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80"/>
              </a:lnSpc>
            </a:pPr>
            <a:r>
              <a:rPr lang="en-US" sz="5400" b="true">
                <a:solidFill>
                  <a:srgbClr val="333F50"/>
                </a:solidFill>
                <a:latin typeface="Arimo Bold"/>
                <a:ea typeface="Arimo Bold"/>
                <a:cs typeface="Arimo Bold"/>
                <a:sym typeface="Arimo Bold"/>
              </a:rPr>
              <a:t>簡報完畢</a:t>
            </a:r>
          </a:p>
          <a:p>
            <a:pPr algn="just">
              <a:lnSpc>
                <a:spcPts val="6480"/>
              </a:lnSpc>
            </a:pPr>
            <a:r>
              <a:rPr lang="en-US" sz="5400" b="true">
                <a:solidFill>
                  <a:srgbClr val="333F50"/>
                </a:solidFill>
                <a:latin typeface="Arimo Bold"/>
                <a:ea typeface="Arimo Bold"/>
                <a:cs typeface="Arimo Bold"/>
                <a:sym typeface="Arimo Bold"/>
              </a:rPr>
              <a:t>敬請指導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DAGxRqvuVDY</dc:identifier>
  <dcterms:modified xsi:type="dcterms:W3CDTF">2011-08-01T06:04:30Z</dcterms:modified>
  <cp:revision>1</cp:revision>
  <dc:title>附件4_構想簡報格式.pptx</dc:title>
</cp:coreProperties>
</file>