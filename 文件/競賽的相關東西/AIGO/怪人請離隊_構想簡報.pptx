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Arimo Bold" panose="02020500000000000000" charset="0"/>
      <p:regular r:id="rId15"/>
    </p:embeddedFont>
    <p:embeddedFont>
      <p:font typeface="Calibri (MS)" panose="02020500000000000000" charset="0"/>
      <p:regular r:id="rId16"/>
    </p:embeddedFont>
    <p:embeddedFont>
      <p:font typeface="Calibri (MS) Bold" panose="02020500000000000000" charset="0"/>
      <p:regular r:id="rId17"/>
    </p:embeddedFont>
    <p:embeddedFont>
      <p:font typeface="Noto Sans" panose="020B0502040504020204" pitchFamily="34" charset="0"/>
      <p:regular r:id="rId18"/>
      <p:bold r:id="rId19"/>
      <p:italic r:id="rId20"/>
      <p:boldItalic r:id="rId21"/>
    </p:embeddedFont>
    <p:embeddedFont>
      <p:font typeface="Noto Sans Bold" panose="020B0802040504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29.08.2025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2.jpeg"/><Relationship Id="rId7" Type="http://schemas.openxmlformats.org/officeDocument/2006/relationships/image" Target="../media/image7.jpe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jpeg"/><Relationship Id="rId7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2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jpeg"/><Relationship Id="rId7" Type="http://schemas.openxmlformats.org/officeDocument/2006/relationships/image" Target="../media/image31.svg"/><Relationship Id="rId12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svg"/><Relationship Id="rId5" Type="http://schemas.openxmlformats.org/officeDocument/2006/relationships/image" Target="../media/image29.sv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‹1›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08596" y="6911331"/>
            <a:ext cx="10808455" cy="220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 b="1" spc="450">
                <a:solidFill>
                  <a:srgbClr val="2387C4"/>
                </a:solidFill>
                <a:latin typeface="Arimo Bold"/>
                <a:ea typeface="Arimo Bold"/>
                <a:cs typeface="Arimo Bold"/>
                <a:sym typeface="Arimo Bold"/>
              </a:rPr>
              <a:t>題目名：怪怪走開，護您安全</a:t>
            </a:r>
          </a:p>
          <a:p>
            <a:pPr algn="ctr">
              <a:lnSpc>
                <a:spcPts val="5040"/>
              </a:lnSpc>
            </a:pPr>
            <a:r>
              <a:rPr lang="en-US" sz="4200" b="1" spc="450">
                <a:solidFill>
                  <a:srgbClr val="2387C4"/>
                </a:solidFill>
                <a:latin typeface="Arimo Bold"/>
                <a:ea typeface="Arimo Bold"/>
                <a:cs typeface="Arimo Bold"/>
                <a:sym typeface="Arimo Bold"/>
              </a:rPr>
              <a:t>團隊名：怪人請離隊</a:t>
            </a:r>
          </a:p>
          <a:p>
            <a:pPr algn="ctr">
              <a:lnSpc>
                <a:spcPts val="3600"/>
              </a:lnSpc>
            </a:pPr>
            <a:endParaRPr lang="en-US" sz="4200" b="1" spc="450">
              <a:solidFill>
                <a:srgbClr val="2387C4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algn="ctr">
              <a:lnSpc>
                <a:spcPts val="3600"/>
              </a:lnSpc>
            </a:pPr>
            <a:r>
              <a:rPr lang="en-US" sz="3000" b="1" spc="450">
                <a:solidFill>
                  <a:srgbClr val="2387C4"/>
                </a:solidFill>
                <a:latin typeface="Arimo Bold"/>
                <a:ea typeface="Arimo Bold"/>
                <a:cs typeface="Arimo Bold"/>
                <a:sym typeface="Arimo Bold"/>
              </a:rPr>
              <a:t>114/08/29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62890" y="4167985"/>
            <a:ext cx="17933670" cy="2422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en-US" sz="7200" b="1">
                <a:solidFill>
                  <a:srgbClr val="C00000"/>
                </a:solidFill>
                <a:latin typeface="Arimo Bold"/>
                <a:ea typeface="Arimo Bold"/>
                <a:cs typeface="Arimo Bold"/>
                <a:sym typeface="Arimo Bold"/>
              </a:rPr>
              <a:t>114年度AIGO淬煉實戰盃</a:t>
            </a:r>
          </a:p>
          <a:p>
            <a:pPr algn="ctr">
              <a:lnSpc>
                <a:spcPts val="9000"/>
              </a:lnSpc>
            </a:pPr>
            <a:r>
              <a:rPr lang="en-US" sz="7200" b="1">
                <a:solidFill>
                  <a:srgbClr val="C00000"/>
                </a:solidFill>
                <a:latin typeface="Arimo Bold"/>
                <a:ea typeface="Arimo Bold"/>
                <a:cs typeface="Arimo Bold"/>
                <a:sym typeface="Arimo Bold"/>
              </a:rPr>
              <a:t>競賽提案報告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097850" y="1872794"/>
            <a:ext cx="8437959" cy="2067250"/>
            <a:chOff x="0" y="0"/>
            <a:chExt cx="11250612" cy="275633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250549" cy="2756281"/>
            </a:xfrm>
            <a:custGeom>
              <a:avLst/>
              <a:gdLst/>
              <a:ahLst/>
              <a:cxnLst/>
              <a:rect l="l" t="t" r="r" b="b"/>
              <a:pathLst>
                <a:path w="11250549" h="2756281">
                  <a:moveTo>
                    <a:pt x="0" y="0"/>
                  </a:moveTo>
                  <a:lnTo>
                    <a:pt x="11250549" y="0"/>
                  </a:lnTo>
                  <a:lnTo>
                    <a:pt x="11250549" y="2756281"/>
                  </a:lnTo>
                  <a:lnTo>
                    <a:pt x="0" y="2756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51976" b="-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‹2›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711888" y="-16072"/>
            <a:ext cx="14201912" cy="1857472"/>
            <a:chOff x="-215883" y="-21429"/>
            <a:chExt cx="18935883" cy="2476629"/>
          </a:xfrm>
        </p:grpSpPr>
        <p:sp>
          <p:nvSpPr>
            <p:cNvPr id="18" name="Freeform 18"/>
            <p:cNvSpPr/>
            <p:nvPr/>
          </p:nvSpPr>
          <p:spPr>
            <a:xfrm>
              <a:off x="-215883" y="-21429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 dirty="0" err="1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報告大綱</a:t>
              </a:r>
              <a:endParaRPr lang="en-US" sz="5400" b="1" spc="450" dirty="0">
                <a:solidFill>
                  <a:srgbClr val="1F333C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693158" y="2612657"/>
            <a:ext cx="717453" cy="717453"/>
            <a:chOff x="0" y="0"/>
            <a:chExt cx="956604" cy="95660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693158" y="3566672"/>
            <a:ext cx="717453" cy="717453"/>
            <a:chOff x="0" y="0"/>
            <a:chExt cx="956604" cy="95660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693158" y="4519533"/>
            <a:ext cx="717453" cy="717453"/>
            <a:chOff x="0" y="0"/>
            <a:chExt cx="956604" cy="95660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93158" y="5382756"/>
            <a:ext cx="717453" cy="717453"/>
            <a:chOff x="0" y="0"/>
            <a:chExt cx="956604" cy="95660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410581" y="2422831"/>
            <a:ext cx="9292561" cy="64774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團隊簡介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解題計畫宗旨及目的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60095" lvl="1" indent="-380047" algn="l">
              <a:lnSpc>
                <a:spcPts val="7560"/>
              </a:lnSpc>
              <a:buFont typeface="Arial"/>
              <a:buChar char="•"/>
            </a:pPr>
            <a:r>
              <a:rPr lang="en-US" sz="420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解題技術架構及進行步驟</a:t>
            </a:r>
            <a:endParaRPr lang="en-US" sz="420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數據應用及作法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預期完成之工作目標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預期工作摘要及進度表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738850" lvl="1" indent="-369425" algn="l">
              <a:lnSpc>
                <a:spcPts val="7348"/>
              </a:lnSpc>
              <a:buFont typeface="Arial"/>
              <a:buChar char="•"/>
            </a:pPr>
            <a:r>
              <a:rPr lang="en-US" sz="4082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預期成果與效益</a:t>
            </a:r>
            <a:endParaRPr lang="en-US" sz="4082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grpSp>
        <p:nvGrpSpPr>
          <p:cNvPr id="33" name="Group 33"/>
          <p:cNvGrpSpPr/>
          <p:nvPr/>
        </p:nvGrpSpPr>
        <p:grpSpPr>
          <a:xfrm>
            <a:off x="4693158" y="6335741"/>
            <a:ext cx="717453" cy="717453"/>
            <a:chOff x="0" y="0"/>
            <a:chExt cx="956604" cy="95660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716101" y="7282106"/>
            <a:ext cx="717453" cy="717453"/>
            <a:chOff x="0" y="0"/>
            <a:chExt cx="956604" cy="956604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716101" y="8228471"/>
            <a:ext cx="717453" cy="717453"/>
            <a:chOff x="0" y="0"/>
            <a:chExt cx="956604" cy="956604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956564" cy="956564"/>
            </a:xfrm>
            <a:custGeom>
              <a:avLst/>
              <a:gdLst/>
              <a:ahLst/>
              <a:cxnLst/>
              <a:rect l="l" t="t" r="r" b="b"/>
              <a:pathLst>
                <a:path w="956564" h="956564">
                  <a:moveTo>
                    <a:pt x="0" y="478282"/>
                  </a:moveTo>
                  <a:cubicBezTo>
                    <a:pt x="0" y="214122"/>
                    <a:pt x="214122" y="0"/>
                    <a:pt x="478282" y="0"/>
                  </a:cubicBezTo>
                  <a:lnTo>
                    <a:pt x="478282" y="9525"/>
                  </a:lnTo>
                  <a:lnTo>
                    <a:pt x="478282" y="0"/>
                  </a:lnTo>
                  <a:cubicBezTo>
                    <a:pt x="742442" y="0"/>
                    <a:pt x="956564" y="214122"/>
                    <a:pt x="956564" y="478282"/>
                  </a:cubicBezTo>
                  <a:lnTo>
                    <a:pt x="947039" y="478282"/>
                  </a:lnTo>
                  <a:lnTo>
                    <a:pt x="956564" y="478282"/>
                  </a:lnTo>
                  <a:cubicBezTo>
                    <a:pt x="956564" y="742442"/>
                    <a:pt x="742442" y="956564"/>
                    <a:pt x="478282" y="956564"/>
                  </a:cubicBezTo>
                  <a:lnTo>
                    <a:pt x="478282" y="947039"/>
                  </a:lnTo>
                  <a:lnTo>
                    <a:pt x="478282" y="956564"/>
                  </a:lnTo>
                  <a:cubicBezTo>
                    <a:pt x="214122" y="956564"/>
                    <a:pt x="0" y="742442"/>
                    <a:pt x="0" y="478282"/>
                  </a:cubicBezTo>
                  <a:lnTo>
                    <a:pt x="9525" y="478282"/>
                  </a:lnTo>
                  <a:lnTo>
                    <a:pt x="19050" y="478282"/>
                  </a:lnTo>
                  <a:lnTo>
                    <a:pt x="9525" y="478282"/>
                  </a:lnTo>
                  <a:lnTo>
                    <a:pt x="0" y="478282"/>
                  </a:lnTo>
                  <a:moveTo>
                    <a:pt x="19050" y="478282"/>
                  </a:moveTo>
                  <a:cubicBezTo>
                    <a:pt x="19050" y="483489"/>
                    <a:pt x="14732" y="487807"/>
                    <a:pt x="9525" y="487807"/>
                  </a:cubicBezTo>
                  <a:cubicBezTo>
                    <a:pt x="4318" y="487807"/>
                    <a:pt x="0" y="483616"/>
                    <a:pt x="0" y="478282"/>
                  </a:cubicBezTo>
                  <a:cubicBezTo>
                    <a:pt x="0" y="472948"/>
                    <a:pt x="4318" y="468757"/>
                    <a:pt x="9525" y="468757"/>
                  </a:cubicBezTo>
                  <a:cubicBezTo>
                    <a:pt x="14732" y="468757"/>
                    <a:pt x="19050" y="473075"/>
                    <a:pt x="19050" y="478282"/>
                  </a:cubicBezTo>
                  <a:cubicBezTo>
                    <a:pt x="19050" y="731901"/>
                    <a:pt x="224663" y="937514"/>
                    <a:pt x="478282" y="937514"/>
                  </a:cubicBezTo>
                  <a:cubicBezTo>
                    <a:pt x="731901" y="937514"/>
                    <a:pt x="937514" y="731901"/>
                    <a:pt x="937514" y="478282"/>
                  </a:cubicBezTo>
                  <a:cubicBezTo>
                    <a:pt x="937514" y="224663"/>
                    <a:pt x="731901" y="19050"/>
                    <a:pt x="478282" y="19050"/>
                  </a:cubicBezTo>
                  <a:lnTo>
                    <a:pt x="478282" y="9525"/>
                  </a:lnTo>
                  <a:lnTo>
                    <a:pt x="478282" y="19050"/>
                  </a:lnTo>
                  <a:cubicBezTo>
                    <a:pt x="224663" y="19050"/>
                    <a:pt x="19050" y="224663"/>
                    <a:pt x="19050" y="478282"/>
                  </a:cubicBezTo>
                  <a:close/>
                </a:path>
              </a:pathLst>
            </a:custGeom>
            <a:solidFill>
              <a:srgbClr val="4472C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956604" cy="1013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2738359" y="8767525"/>
            <a:ext cx="717453" cy="76031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40"/>
              </a:lnSpc>
            </a:pPr>
            <a:endParaRPr lang="en-US" sz="27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 dirty="0" err="1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團隊簡介</a:t>
              </a:r>
              <a:endParaRPr lang="en-US" sz="5400" b="1" spc="450" dirty="0">
                <a:solidFill>
                  <a:srgbClr val="1F333C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100098" y="6148086"/>
            <a:ext cx="2143125" cy="2143125"/>
            <a:chOff x="0" y="0"/>
            <a:chExt cx="804703" cy="80470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04703" cy="804703"/>
            </a:xfrm>
            <a:custGeom>
              <a:avLst/>
              <a:gdLst/>
              <a:ahLst/>
              <a:cxnLst/>
              <a:rect l="l" t="t" r="r" b="b"/>
              <a:pathLst>
                <a:path w="804703" h="804703">
                  <a:moveTo>
                    <a:pt x="402351" y="0"/>
                  </a:moveTo>
                  <a:cubicBezTo>
                    <a:pt x="180139" y="0"/>
                    <a:pt x="0" y="180139"/>
                    <a:pt x="0" y="402351"/>
                  </a:cubicBezTo>
                  <a:cubicBezTo>
                    <a:pt x="0" y="624564"/>
                    <a:pt x="180139" y="804703"/>
                    <a:pt x="402351" y="804703"/>
                  </a:cubicBezTo>
                  <a:cubicBezTo>
                    <a:pt x="624564" y="804703"/>
                    <a:pt x="804703" y="624564"/>
                    <a:pt x="804703" y="402351"/>
                  </a:cubicBezTo>
                  <a:cubicBezTo>
                    <a:pt x="804703" y="180139"/>
                    <a:pt x="624564" y="0"/>
                    <a:pt x="402351" y="0"/>
                  </a:cubicBezTo>
                  <a:close/>
                </a:path>
              </a:pathLst>
            </a:custGeom>
            <a:blipFill>
              <a:blip r:embed="rId4"/>
              <a:stretch>
                <a:fillRect l="-482521" t="-442651" r="-35928" b="-38560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569008" y="6148086"/>
            <a:ext cx="2143125" cy="2143125"/>
            <a:chOff x="0" y="0"/>
            <a:chExt cx="804703" cy="80470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04703" cy="804703"/>
            </a:xfrm>
            <a:custGeom>
              <a:avLst/>
              <a:gdLst/>
              <a:ahLst/>
              <a:cxnLst/>
              <a:rect l="l" t="t" r="r" b="b"/>
              <a:pathLst>
                <a:path w="804703" h="804703">
                  <a:moveTo>
                    <a:pt x="402351" y="0"/>
                  </a:moveTo>
                  <a:cubicBezTo>
                    <a:pt x="180139" y="0"/>
                    <a:pt x="0" y="180139"/>
                    <a:pt x="0" y="402351"/>
                  </a:cubicBezTo>
                  <a:cubicBezTo>
                    <a:pt x="0" y="624564"/>
                    <a:pt x="180139" y="804703"/>
                    <a:pt x="402351" y="804703"/>
                  </a:cubicBezTo>
                  <a:cubicBezTo>
                    <a:pt x="624564" y="804703"/>
                    <a:pt x="804703" y="624564"/>
                    <a:pt x="804703" y="402351"/>
                  </a:cubicBezTo>
                  <a:cubicBezTo>
                    <a:pt x="804703" y="180139"/>
                    <a:pt x="624564" y="0"/>
                    <a:pt x="402351" y="0"/>
                  </a:cubicBezTo>
                  <a:close/>
                </a:path>
              </a:pathLst>
            </a:custGeom>
            <a:blipFill>
              <a:blip r:embed="rId5"/>
              <a:stretch>
                <a:fillRect l="-259399" t="-207676" b="-47150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100098" y="2979629"/>
            <a:ext cx="2143125" cy="2143125"/>
            <a:chOff x="0" y="0"/>
            <a:chExt cx="804703" cy="80470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4703" cy="804703"/>
            </a:xfrm>
            <a:custGeom>
              <a:avLst/>
              <a:gdLst/>
              <a:ahLst/>
              <a:cxnLst/>
              <a:rect l="l" t="t" r="r" b="b"/>
              <a:pathLst>
                <a:path w="804703" h="804703">
                  <a:moveTo>
                    <a:pt x="402351" y="0"/>
                  </a:moveTo>
                  <a:cubicBezTo>
                    <a:pt x="180139" y="0"/>
                    <a:pt x="0" y="180139"/>
                    <a:pt x="0" y="402351"/>
                  </a:cubicBezTo>
                  <a:cubicBezTo>
                    <a:pt x="0" y="624564"/>
                    <a:pt x="180139" y="804703"/>
                    <a:pt x="402351" y="804703"/>
                  </a:cubicBezTo>
                  <a:cubicBezTo>
                    <a:pt x="624564" y="804703"/>
                    <a:pt x="804703" y="624564"/>
                    <a:pt x="804703" y="402351"/>
                  </a:cubicBezTo>
                  <a:cubicBezTo>
                    <a:pt x="804703" y="180139"/>
                    <a:pt x="624564" y="0"/>
                    <a:pt x="402351" y="0"/>
                  </a:cubicBezTo>
                  <a:close/>
                </a:path>
              </a:pathLst>
            </a:custGeom>
            <a:blipFill>
              <a:blip r:embed="rId6"/>
              <a:stretch>
                <a:fillRect t="-45894" r="-8213" b="-5543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4569008" y="2979629"/>
            <a:ext cx="2143125" cy="2143125"/>
            <a:chOff x="0" y="0"/>
            <a:chExt cx="13579362" cy="1357936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579362" cy="13579362"/>
            </a:xfrm>
            <a:custGeom>
              <a:avLst/>
              <a:gdLst/>
              <a:ahLst/>
              <a:cxnLst/>
              <a:rect l="l" t="t" r="r" b="b"/>
              <a:pathLst>
                <a:path w="13579362" h="13579362">
                  <a:moveTo>
                    <a:pt x="6789681" y="0"/>
                  </a:moveTo>
                  <a:cubicBezTo>
                    <a:pt x="3039844" y="0"/>
                    <a:pt x="0" y="3039844"/>
                    <a:pt x="0" y="6789681"/>
                  </a:cubicBezTo>
                  <a:cubicBezTo>
                    <a:pt x="0" y="10539519"/>
                    <a:pt x="3039844" y="13579362"/>
                    <a:pt x="6789681" y="13579362"/>
                  </a:cubicBezTo>
                  <a:cubicBezTo>
                    <a:pt x="10539519" y="13579362"/>
                    <a:pt x="13579362" y="10539519"/>
                    <a:pt x="13579362" y="6789681"/>
                  </a:cubicBezTo>
                  <a:cubicBezTo>
                    <a:pt x="13579362" y="3039844"/>
                    <a:pt x="10539519" y="0"/>
                    <a:pt x="6789681" y="0"/>
                  </a:cubicBezTo>
                  <a:close/>
                </a:path>
              </a:pathLst>
            </a:custGeom>
            <a:blipFill>
              <a:blip r:embed="rId7"/>
              <a:stretch>
                <a:fillRect l="-83125" t="-156604" r="-92248" b="-20941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100098" y="5302548"/>
            <a:ext cx="2143125" cy="565841"/>
            <a:chOff x="0" y="-45637"/>
            <a:chExt cx="2857500" cy="75445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857500" cy="708818"/>
            </a:xfrm>
            <a:custGeom>
              <a:avLst/>
              <a:gdLst/>
              <a:ahLst/>
              <a:cxnLst/>
              <a:rect l="l" t="t" r="r" b="b"/>
              <a:pathLst>
                <a:path w="2857500" h="708818">
                  <a:moveTo>
                    <a:pt x="0" y="0"/>
                  </a:moveTo>
                  <a:lnTo>
                    <a:pt x="2857500" y="0"/>
                  </a:lnTo>
                  <a:lnTo>
                    <a:pt x="2857500" y="708818"/>
                  </a:lnTo>
                  <a:lnTo>
                    <a:pt x="0" y="708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-10367" r="-10367"/>
              </a:stretch>
            </a:blipFill>
          </p:spPr>
          <p:txBody>
            <a:bodyPr/>
            <a:lstStyle/>
            <a:p>
              <a:endParaRPr lang="zh-TW" altLang="en-US" sz="3200">
                <a:latin typeface="Times New Roman" panose="02020603050405020304" pitchFamily="18" charset="0"/>
                <a:ea typeface="標楷體" panose="03000509000000000000" pitchFamily="65" charset="-120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5157" y="-45637"/>
              <a:ext cx="2687187" cy="649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r>
                <a:rPr lang="en-US" sz="32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Calibri (MS)"/>
                  <a:sym typeface="Calibri (MS)"/>
                </a:rPr>
                <a:t>吳想想</a:t>
              </a:r>
              <a:endParaRPr lang="en-US" sz="3200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Calibri (MS)"/>
                <a:sym typeface="Calibri (MS)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100098" y="8466533"/>
            <a:ext cx="2143125" cy="565841"/>
            <a:chOff x="0" y="-45637"/>
            <a:chExt cx="2857500" cy="75445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857500" cy="708818"/>
            </a:xfrm>
            <a:custGeom>
              <a:avLst/>
              <a:gdLst/>
              <a:ahLst/>
              <a:cxnLst/>
              <a:rect l="l" t="t" r="r" b="b"/>
              <a:pathLst>
                <a:path w="2857500" h="708818">
                  <a:moveTo>
                    <a:pt x="0" y="0"/>
                  </a:moveTo>
                  <a:lnTo>
                    <a:pt x="2857500" y="0"/>
                  </a:lnTo>
                  <a:lnTo>
                    <a:pt x="2857500" y="708818"/>
                  </a:lnTo>
                  <a:lnTo>
                    <a:pt x="0" y="708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-10367" r="-10367"/>
              </a:stretch>
            </a:blipFill>
          </p:spPr>
          <p:txBody>
            <a:bodyPr/>
            <a:lstStyle/>
            <a:p>
              <a:endParaRPr lang="zh-TW" altLang="en-US" sz="3200">
                <a:latin typeface="Times New Roman" panose="02020603050405020304" pitchFamily="18" charset="0"/>
                <a:ea typeface="標楷體" panose="03000509000000000000" pitchFamily="65" charset="-120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157" y="-45637"/>
              <a:ext cx="2687187" cy="649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Calibri (MS)"/>
                  <a:sym typeface="Calibri (MS)"/>
                </a:rPr>
                <a:t>李品臻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569008" y="5355226"/>
            <a:ext cx="2143125" cy="565841"/>
            <a:chOff x="0" y="-45637"/>
            <a:chExt cx="2857500" cy="75445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857500" cy="708818"/>
            </a:xfrm>
            <a:custGeom>
              <a:avLst/>
              <a:gdLst/>
              <a:ahLst/>
              <a:cxnLst/>
              <a:rect l="l" t="t" r="r" b="b"/>
              <a:pathLst>
                <a:path w="2857500" h="708818">
                  <a:moveTo>
                    <a:pt x="0" y="0"/>
                  </a:moveTo>
                  <a:lnTo>
                    <a:pt x="2857500" y="0"/>
                  </a:lnTo>
                  <a:lnTo>
                    <a:pt x="2857500" y="708818"/>
                  </a:lnTo>
                  <a:lnTo>
                    <a:pt x="0" y="708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-10367" r="-10367"/>
              </a:stretch>
            </a:blipFill>
          </p:spPr>
          <p:txBody>
            <a:bodyPr/>
            <a:lstStyle/>
            <a:p>
              <a:endParaRPr lang="zh-TW" altLang="en-US" sz="3200">
                <a:latin typeface="Times New Roman" panose="02020603050405020304" pitchFamily="18" charset="0"/>
                <a:ea typeface="標楷體" panose="03000509000000000000" pitchFamily="65" charset="-120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157" y="-45637"/>
              <a:ext cx="2687187" cy="649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r>
                <a:rPr lang="en-US" sz="32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Calibri (MS)"/>
                  <a:sym typeface="Calibri (MS)"/>
                </a:rPr>
                <a:t>陳雨琦</a:t>
              </a:r>
              <a:endParaRPr lang="en-US" sz="3200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Calibri (MS)"/>
                <a:sym typeface="Calibri (MS)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569008" y="8466533"/>
            <a:ext cx="2143125" cy="565841"/>
            <a:chOff x="0" y="-45637"/>
            <a:chExt cx="2857500" cy="75445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857500" cy="708818"/>
            </a:xfrm>
            <a:custGeom>
              <a:avLst/>
              <a:gdLst/>
              <a:ahLst/>
              <a:cxnLst/>
              <a:rect l="l" t="t" r="r" b="b"/>
              <a:pathLst>
                <a:path w="2857500" h="708818">
                  <a:moveTo>
                    <a:pt x="0" y="0"/>
                  </a:moveTo>
                  <a:lnTo>
                    <a:pt x="2857500" y="0"/>
                  </a:lnTo>
                  <a:lnTo>
                    <a:pt x="2857500" y="708818"/>
                  </a:lnTo>
                  <a:lnTo>
                    <a:pt x="0" y="708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-10367" r="-10367"/>
              </a:stretch>
            </a:blipFill>
          </p:spPr>
          <p:txBody>
            <a:bodyPr/>
            <a:lstStyle/>
            <a:p>
              <a:endParaRPr lang="zh-TW" altLang="en-US" sz="3200">
                <a:latin typeface="Times New Roman" panose="02020603050405020304" pitchFamily="18" charset="0"/>
                <a:ea typeface="標楷體" panose="03000509000000000000" pitchFamily="65" charset="-120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157" y="-45637"/>
              <a:ext cx="2687187" cy="649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Calibri (MS)"/>
                  <a:sym typeface="Calibri (MS)"/>
                </a:rPr>
                <a:t>黃思璇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70692" y="2979628"/>
            <a:ext cx="10450720" cy="6278672"/>
            <a:chOff x="0" y="0"/>
            <a:chExt cx="2752453" cy="165364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752453" cy="1653642"/>
            </a:xfrm>
            <a:custGeom>
              <a:avLst/>
              <a:gdLst/>
              <a:ahLst/>
              <a:cxnLst/>
              <a:rect l="l" t="t" r="r" b="b"/>
              <a:pathLst>
                <a:path w="2752453" h="1653642">
                  <a:moveTo>
                    <a:pt x="37781" y="0"/>
                  </a:moveTo>
                  <a:lnTo>
                    <a:pt x="2714672" y="0"/>
                  </a:lnTo>
                  <a:cubicBezTo>
                    <a:pt x="2724692" y="0"/>
                    <a:pt x="2734302" y="3980"/>
                    <a:pt x="2741387" y="11066"/>
                  </a:cubicBezTo>
                  <a:cubicBezTo>
                    <a:pt x="2748473" y="18151"/>
                    <a:pt x="2752453" y="27761"/>
                    <a:pt x="2752453" y="37781"/>
                  </a:cubicBezTo>
                  <a:lnTo>
                    <a:pt x="2752453" y="1615861"/>
                  </a:lnTo>
                  <a:cubicBezTo>
                    <a:pt x="2752453" y="1625881"/>
                    <a:pt x="2748473" y="1635491"/>
                    <a:pt x="2741387" y="1642576"/>
                  </a:cubicBezTo>
                  <a:cubicBezTo>
                    <a:pt x="2734302" y="1649662"/>
                    <a:pt x="2724692" y="1653642"/>
                    <a:pt x="2714672" y="1653642"/>
                  </a:cubicBezTo>
                  <a:lnTo>
                    <a:pt x="37781" y="1653642"/>
                  </a:lnTo>
                  <a:cubicBezTo>
                    <a:pt x="27761" y="1653642"/>
                    <a:pt x="18151" y="1649662"/>
                    <a:pt x="11066" y="1642576"/>
                  </a:cubicBezTo>
                  <a:cubicBezTo>
                    <a:pt x="3980" y="1635491"/>
                    <a:pt x="0" y="1625881"/>
                    <a:pt x="0" y="1615861"/>
                  </a:cubicBezTo>
                  <a:lnTo>
                    <a:pt x="0" y="37781"/>
                  </a:lnTo>
                  <a:cubicBezTo>
                    <a:pt x="0" y="27761"/>
                    <a:pt x="3980" y="18151"/>
                    <a:pt x="11066" y="11066"/>
                  </a:cubicBezTo>
                  <a:cubicBezTo>
                    <a:pt x="18151" y="3980"/>
                    <a:pt x="27761" y="0"/>
                    <a:pt x="37781" y="0"/>
                  </a:cubicBezTo>
                  <a:close/>
                </a:path>
              </a:pathLst>
            </a:custGeom>
            <a:solidFill>
              <a:srgbClr val="AEE4FF">
                <a:alpha val="46667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2752453" cy="17107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485965" y="3682399"/>
            <a:ext cx="9420174" cy="4873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839"/>
              </a:lnSpc>
              <a:spcBef>
                <a:spcPct val="0"/>
              </a:spcBef>
            </a:pPr>
            <a:r>
              <a:rPr lang="zh-TW" altLang="en-US" sz="3200" dirty="0">
                <a:solidFill>
                  <a:srgbClr val="000000"/>
                </a:solidFill>
                <a:latin typeface="+mj-ea"/>
                <a:ea typeface="+mj-ea"/>
                <a:cs typeface="Calibri (MS)"/>
                <a:sym typeface="Calibri (MS)"/>
              </a:rPr>
              <a:t>我們的團隊由四位來自臺北商業大學專資管科五年甲班的同學組成，成員彼此熟悉且合作默契良好。我們具備資訊管理、資料分析與專案規劃的專業基礎，能有效結合理論與實務。我們重視團隊合作與溝通，強調彼此之間的分工協調與互助支持，使工作能在效率與品質間取得平衡。</a:t>
            </a:r>
          </a:p>
          <a:p>
            <a:pPr algn="just">
              <a:lnSpc>
                <a:spcPts val="3839"/>
              </a:lnSpc>
              <a:spcBef>
                <a:spcPct val="0"/>
              </a:spcBef>
            </a:pPr>
            <a:r>
              <a:rPr lang="zh-TW" altLang="en-US" sz="3200" dirty="0">
                <a:solidFill>
                  <a:srgbClr val="000000"/>
                </a:solidFill>
                <a:latin typeface="+mj-ea"/>
                <a:ea typeface="+mj-ea"/>
                <a:cs typeface="Calibri (MS)"/>
                <a:sym typeface="Calibri (MS)"/>
              </a:rPr>
              <a:t>在專案進行過程中，我們秉持積極主動、責任分工與精益求精的精神，並以創新與實用並重為目標。我們相信，透過良好的協作與專業能力，能夠在專案中展現團隊價值，並創造兼具創意與成效的成果。</a:t>
            </a:r>
            <a:endParaRPr lang="en-US" sz="3200" dirty="0">
              <a:solidFill>
                <a:srgbClr val="000000"/>
              </a:solidFill>
              <a:latin typeface="+mj-ea"/>
              <a:ea typeface="+mj-ea"/>
              <a:cs typeface="Calibri (MS)"/>
              <a:sym typeface="Calibri (MS)"/>
            </a:endParaRPr>
          </a:p>
        </p:txBody>
      </p:sp>
      <p:grpSp>
        <p:nvGrpSpPr>
          <p:cNvPr id="37" name="Group 3">
            <a:extLst>
              <a:ext uri="{FF2B5EF4-FFF2-40B4-BE49-F238E27FC236}">
                <a16:creationId xmlns:a16="http://schemas.microsoft.com/office/drawing/2014/main" id="{3DBF2588-1F45-64A3-0C97-3D86011C7D4B}"/>
              </a:ext>
            </a:extLst>
          </p:cNvPr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38" name="Freeform 4">
              <a:extLst>
                <a:ext uri="{FF2B5EF4-FFF2-40B4-BE49-F238E27FC236}">
                  <a16:creationId xmlns:a16="http://schemas.microsoft.com/office/drawing/2014/main" id="{12ADFF2E-3E2E-70A5-4F9F-25BA422DD38F}"/>
                </a:ext>
              </a:extLst>
            </p:cNvPr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39" name="TextBox 5">
              <a:extLst>
                <a:ext uri="{FF2B5EF4-FFF2-40B4-BE49-F238E27FC236}">
                  <a16:creationId xmlns:a16="http://schemas.microsoft.com/office/drawing/2014/main" id="{17C3B59D-2921-80CA-F03C-311E35894EA8}"/>
                </a:ext>
              </a:extLst>
            </p:cNvPr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+mj-ea"/>
                  <a:ea typeface="+mj-ea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+mj-ea"/>
                  <a:ea typeface="+mj-ea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40" name="Group 8">
            <a:extLst>
              <a:ext uri="{FF2B5EF4-FFF2-40B4-BE49-F238E27FC236}">
                <a16:creationId xmlns:a16="http://schemas.microsoft.com/office/drawing/2014/main" id="{306BC122-9DD6-13BD-C64F-2391BFBF1F09}"/>
              </a:ext>
            </a:extLst>
          </p:cNvPr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871ED585-4862-71DB-2FD8-DD91E667F12F}"/>
                </a:ext>
              </a:extLst>
            </p:cNvPr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42" name="TextBox 10">
              <a:extLst>
                <a:ext uri="{FF2B5EF4-FFF2-40B4-BE49-F238E27FC236}">
                  <a16:creationId xmlns:a16="http://schemas.microsoft.com/office/drawing/2014/main" id="{88642999-D66C-C28E-4302-C07DFF144900}"/>
                </a:ext>
              </a:extLst>
            </p:cNvPr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+mj-ea"/>
                  <a:ea typeface="+mj-ea"/>
                  <a:cs typeface="Calibri (MS)"/>
                  <a:sym typeface="Calibri (MS)"/>
                </a:rPr>
                <a:t>‹3›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+mj-ea"/>
                  <a:ea typeface="+mj-ea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+mj-ea"/>
                  <a:ea typeface="+mj-ea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+mj-ea"/>
                  <a:ea typeface="+mj-ea"/>
                  <a:cs typeface="Calibri (MS)"/>
                  <a:sym typeface="Calibri (MS)"/>
                </a:rPr>
                <a:t>‹4›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 dirty="0" err="1">
                  <a:solidFill>
                    <a:srgbClr val="1F333C"/>
                  </a:solidFill>
                  <a:latin typeface="+mj-ea"/>
                  <a:ea typeface="+mj-ea"/>
                  <a:cs typeface="Noto Sans Bold"/>
                  <a:sym typeface="Noto Sans Bold"/>
                </a:rPr>
                <a:t>解題計畫宗旨及目的</a:t>
              </a:r>
              <a:endParaRPr lang="en-US" sz="5400" b="1" spc="450" dirty="0">
                <a:solidFill>
                  <a:srgbClr val="1F333C"/>
                </a:solidFill>
                <a:latin typeface="+mj-ea"/>
                <a:ea typeface="+mj-ea"/>
                <a:cs typeface="Noto Sans Bold"/>
                <a:sym typeface="Noto Sans Bold"/>
              </a:endParaRPr>
            </a:p>
          </p:txBody>
        </p:sp>
      </p:grpSp>
      <p:sp>
        <p:nvSpPr>
          <p:cNvPr id="20" name="AutoShape 20"/>
          <p:cNvSpPr/>
          <p:nvPr/>
        </p:nvSpPr>
        <p:spPr>
          <a:xfrm>
            <a:off x="7711501" y="4320012"/>
            <a:ext cx="2600670" cy="0"/>
          </a:xfrm>
          <a:prstGeom prst="line">
            <a:avLst/>
          </a:prstGeom>
          <a:ln w="295275" cap="flat">
            <a:solidFill>
              <a:srgbClr val="457B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711501" y="7547868"/>
            <a:ext cx="2600670" cy="0"/>
          </a:xfrm>
          <a:prstGeom prst="line">
            <a:avLst/>
          </a:prstGeom>
          <a:ln w="295275" cap="flat">
            <a:solidFill>
              <a:srgbClr val="2A9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10676688" y="4684529"/>
            <a:ext cx="0" cy="2600670"/>
          </a:xfrm>
          <a:prstGeom prst="line">
            <a:avLst/>
          </a:prstGeom>
          <a:ln w="295275" cap="flat">
            <a:solidFill>
              <a:srgbClr val="B5E48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7565422" y="4684529"/>
            <a:ext cx="0" cy="2600670"/>
          </a:xfrm>
          <a:prstGeom prst="line">
            <a:avLst/>
          </a:prstGeom>
          <a:ln w="295275" cap="flat">
            <a:solidFill>
              <a:srgbClr val="A8DAD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6281327" y="3086108"/>
            <a:ext cx="2401408" cy="2401408"/>
            <a:chOff x="0" y="0"/>
            <a:chExt cx="6350000" cy="6350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457B9D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09184" y="6313965"/>
            <a:ext cx="2401408" cy="2401408"/>
            <a:chOff x="0" y="0"/>
            <a:chExt cx="6350000" cy="6350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2A9D8F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 rot="-5400000">
            <a:off x="9509184" y="3086108"/>
            <a:ext cx="2401408" cy="2401408"/>
            <a:chOff x="0" y="0"/>
            <a:chExt cx="6350000" cy="6350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B5E48C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281327" y="6313965"/>
            <a:ext cx="2401408" cy="2401408"/>
            <a:chOff x="0" y="0"/>
            <a:chExt cx="6350000" cy="6350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8DADC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59898" y="3264679"/>
            <a:ext cx="2044267" cy="2044267"/>
            <a:chOff x="0" y="0"/>
            <a:chExt cx="6350000" cy="6350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 rot="-5400000">
            <a:off x="9687754" y="3264679"/>
            <a:ext cx="2044267" cy="2044267"/>
            <a:chOff x="0" y="0"/>
            <a:chExt cx="6350000" cy="63500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687754" y="6492535"/>
            <a:ext cx="2044267" cy="2044267"/>
            <a:chOff x="0" y="0"/>
            <a:chExt cx="6350000" cy="63500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459898" y="6492535"/>
            <a:ext cx="2044267" cy="2044267"/>
            <a:chOff x="0" y="0"/>
            <a:chExt cx="6350000" cy="63500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sp>
        <p:nvSpPr>
          <p:cNvPr id="40" name="Freeform 40"/>
          <p:cNvSpPr/>
          <p:nvPr/>
        </p:nvSpPr>
        <p:spPr>
          <a:xfrm>
            <a:off x="10206348" y="6975947"/>
            <a:ext cx="1007080" cy="1007080"/>
          </a:xfrm>
          <a:custGeom>
            <a:avLst/>
            <a:gdLst/>
            <a:ahLst/>
            <a:cxnLst/>
            <a:rect l="l" t="t" r="r" b="b"/>
            <a:pathLst>
              <a:path w="1007080" h="1007080">
                <a:moveTo>
                  <a:pt x="0" y="0"/>
                </a:moveTo>
                <a:lnTo>
                  <a:pt x="1007080" y="0"/>
                </a:lnTo>
                <a:lnTo>
                  <a:pt x="1007080" y="1007080"/>
                </a:lnTo>
                <a:lnTo>
                  <a:pt x="0" y="10070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41" name="Freeform 41"/>
          <p:cNvSpPr/>
          <p:nvPr/>
        </p:nvSpPr>
        <p:spPr>
          <a:xfrm>
            <a:off x="10059168" y="3911157"/>
            <a:ext cx="1301439" cy="817710"/>
          </a:xfrm>
          <a:custGeom>
            <a:avLst/>
            <a:gdLst/>
            <a:ahLst/>
            <a:cxnLst/>
            <a:rect l="l" t="t" r="r" b="b"/>
            <a:pathLst>
              <a:path w="1301439" h="817710">
                <a:moveTo>
                  <a:pt x="0" y="0"/>
                </a:moveTo>
                <a:lnTo>
                  <a:pt x="1301439" y="0"/>
                </a:lnTo>
                <a:lnTo>
                  <a:pt x="1301439" y="817710"/>
                </a:lnTo>
                <a:lnTo>
                  <a:pt x="0" y="8177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42" name="Freeform 42"/>
          <p:cNvSpPr/>
          <p:nvPr/>
        </p:nvSpPr>
        <p:spPr>
          <a:xfrm>
            <a:off x="7025281" y="7112710"/>
            <a:ext cx="913501" cy="870317"/>
          </a:xfrm>
          <a:custGeom>
            <a:avLst/>
            <a:gdLst/>
            <a:ahLst/>
            <a:cxnLst/>
            <a:rect l="l" t="t" r="r" b="b"/>
            <a:pathLst>
              <a:path w="913501" h="870317">
                <a:moveTo>
                  <a:pt x="0" y="0"/>
                </a:moveTo>
                <a:lnTo>
                  <a:pt x="913501" y="0"/>
                </a:lnTo>
                <a:lnTo>
                  <a:pt x="913501" y="870317"/>
                </a:lnTo>
                <a:lnTo>
                  <a:pt x="0" y="87031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6842943" y="3506139"/>
            <a:ext cx="1213263" cy="1439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79"/>
              </a:lnSpc>
              <a:spcBef>
                <a:spcPct val="0"/>
              </a:spcBef>
            </a:pPr>
            <a:r>
              <a:rPr lang="en-US" sz="8771" b="1" dirty="0">
                <a:solidFill>
                  <a:srgbClr val="457B9D"/>
                </a:solidFill>
                <a:latin typeface="+mj-ea"/>
                <a:ea typeface="+mj-ea"/>
                <a:cs typeface="Poppins Ultra-Bold"/>
                <a:sym typeface="Poppins Ultra-Bold"/>
              </a:rPr>
              <a:t>?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152022" y="2714134"/>
            <a:ext cx="3761778" cy="493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4200" b="1" dirty="0" err="1">
                <a:solidFill>
                  <a:srgbClr val="B5E48C"/>
                </a:solidFill>
                <a:latin typeface="+mj-ea"/>
                <a:ea typeface="+mj-ea"/>
                <a:cs typeface="Poppins Semi-Bold"/>
                <a:sym typeface="Poppins Semi-Bold"/>
              </a:rPr>
              <a:t>解題構想摘要</a:t>
            </a:r>
            <a:endParaRPr lang="en-US" sz="4200" b="1" dirty="0">
              <a:solidFill>
                <a:srgbClr val="B5E48C"/>
              </a:solidFill>
              <a:latin typeface="+mj-ea"/>
              <a:ea typeface="+mj-ea"/>
              <a:cs typeface="Poppins Semi-Bold"/>
              <a:sym typeface="Poppins Semi-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2152022" y="6338498"/>
            <a:ext cx="3761778" cy="493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4200" b="1">
                <a:solidFill>
                  <a:srgbClr val="2A9D8F"/>
                </a:solidFill>
                <a:latin typeface="+mj-ea"/>
                <a:ea typeface="+mj-ea"/>
                <a:cs typeface="Poppins Semi-Bold"/>
                <a:sym typeface="Poppins Semi-Bold"/>
              </a:rPr>
              <a:t>技術創新點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38200" y="2870881"/>
            <a:ext cx="5024027" cy="4930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780"/>
              </a:lnSpc>
            </a:pPr>
            <a:r>
              <a:rPr lang="en-US" sz="4200" b="1" dirty="0" err="1">
                <a:solidFill>
                  <a:srgbClr val="457B9D"/>
                </a:solidFill>
                <a:latin typeface="+mj-ea"/>
                <a:ea typeface="+mj-ea"/>
                <a:cs typeface="Poppins Bold"/>
                <a:sym typeface="Poppins Bold"/>
              </a:rPr>
              <a:t>問題與需求分析</a:t>
            </a:r>
            <a:endParaRPr lang="en-US" sz="4200" b="1" dirty="0">
              <a:solidFill>
                <a:srgbClr val="457B9D"/>
              </a:solidFill>
              <a:latin typeface="+mj-ea"/>
              <a:ea typeface="+mj-ea"/>
              <a:cs typeface="Poppins Bold"/>
              <a:sym typeface="Poppins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578042" y="3542705"/>
            <a:ext cx="5303236" cy="1816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街頭騷擾頻傳</a:t>
            </a: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，</a:t>
            </a:r>
            <a:r>
              <a:rPr lang="zh-TW" alt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約</a:t>
            </a: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87%受害者為年輕族群</a:t>
            </a:r>
          </a:p>
          <a:p>
            <a:pPr marL="604519" lvl="1" indent="-302260" algn="just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現有APP功能單一，缺乏整合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just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風險資訊不透明，難即時掌握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1910591" y="3447766"/>
            <a:ext cx="5977741" cy="1816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21" lvl="1" indent="-302261" algn="l">
              <a:lnSpc>
                <a:spcPts val="3640"/>
              </a:lnSpc>
              <a:buFont typeface="Arial"/>
              <a:buChar char="•"/>
            </a:pPr>
            <a:r>
              <a:rPr lang="en-US" sz="2800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建立「怪怪走開，護您安全」平台</a:t>
            </a:r>
            <a:endParaRPr lang="en-US" sz="2800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21" lvl="1" indent="-302261" algn="l">
              <a:lnSpc>
                <a:spcPts val="3640"/>
              </a:lnSpc>
              <a:buFont typeface="Arial"/>
              <a:buChar char="•"/>
            </a:pPr>
            <a:r>
              <a:rPr lang="en-US" sz="2800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事件回報、地圖警示、匿名聊天室、快速求助</a:t>
            </a:r>
            <a:endParaRPr lang="en-US" sz="2800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21" lvl="1" indent="-302261" algn="l">
              <a:lnSpc>
                <a:spcPts val="3640"/>
              </a:lnSpc>
              <a:buFont typeface="Arial"/>
              <a:buChar char="•"/>
            </a:pPr>
            <a:r>
              <a:rPr lang="en-US" sz="2800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安全合作店家</a:t>
            </a:r>
            <a:r>
              <a:rPr lang="en-US" sz="2800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 + </a:t>
            </a:r>
            <a:r>
              <a:rPr lang="en-US" sz="2800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教育與防身知識</a:t>
            </a:r>
            <a:endParaRPr lang="en-US" sz="2800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12152022" y="6962462"/>
            <a:ext cx="4808693" cy="18162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PWA </a:t>
            </a: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跨平台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AI </a:t>
            </a: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內容審核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GPS + </a:t>
            </a: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地圖</a:t>
            </a:r>
            <a:r>
              <a:rPr lang="en-US" sz="2799" dirty="0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 API </a:t>
            </a: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熱點推播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兼顧透明與隱私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838200" y="6338498"/>
            <a:ext cx="4677270" cy="4930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780"/>
              </a:lnSpc>
            </a:pPr>
            <a:r>
              <a:rPr lang="en-US" sz="4200" b="1" dirty="0" err="1">
                <a:solidFill>
                  <a:srgbClr val="A0C9CA"/>
                </a:solidFill>
                <a:latin typeface="+mj-ea"/>
                <a:ea typeface="+mj-ea"/>
                <a:cs typeface="Poppins Bold"/>
                <a:sym typeface="Poppins Bold"/>
              </a:rPr>
              <a:t>應用價值</a:t>
            </a:r>
            <a:endParaRPr lang="en-US" sz="4200" b="1" dirty="0">
              <a:solidFill>
                <a:srgbClr val="A0C9CA"/>
              </a:solidFill>
              <a:latin typeface="+mj-ea"/>
              <a:ea typeface="+mj-ea"/>
              <a:cs typeface="Poppins Bold"/>
              <a:sym typeface="Poppins Bold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578042" y="6962462"/>
            <a:ext cx="5057536" cy="1816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快速回報與查詢高風險區域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即時求助、多元聯絡方式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數據支援警方決策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+mj-ea"/>
                <a:ea typeface="+mj-ea"/>
                <a:cs typeface="Poppins"/>
                <a:sym typeface="Poppins"/>
              </a:rPr>
              <a:t>商家與社群共建安全網</a:t>
            </a:r>
            <a:endParaRPr lang="en-US" sz="2799" dirty="0">
              <a:solidFill>
                <a:srgbClr val="000000"/>
              </a:solidFill>
              <a:latin typeface="+mj-ea"/>
              <a:ea typeface="+mj-ea"/>
              <a:cs typeface="Poppins"/>
              <a:sym typeface="Poppins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+mj-ea"/>
                  <a:ea typeface="+mj-ea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+mj-ea"/>
                  <a:ea typeface="+mj-ea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+mj-ea"/>
                  <a:ea typeface="+mj-ea"/>
                  <a:cs typeface="Calibri (MS)"/>
                  <a:sym typeface="Calibri (MS)"/>
                </a:rPr>
                <a:t>‹5›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>
                  <a:solidFill>
                    <a:srgbClr val="1F333C"/>
                  </a:solidFill>
                  <a:latin typeface="+mj-ea"/>
                  <a:ea typeface="+mj-ea"/>
                  <a:cs typeface="Noto Sans Bold"/>
                  <a:sym typeface="Noto Sans Bold"/>
                </a:rPr>
                <a:t>解題技術架構及進行步驟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264653" y="2457287"/>
            <a:ext cx="5491140" cy="7122464"/>
            <a:chOff x="0" y="0"/>
            <a:chExt cx="1446226" cy="187587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46226" cy="1875875"/>
            </a:xfrm>
            <a:custGeom>
              <a:avLst/>
              <a:gdLst/>
              <a:ahLst/>
              <a:cxnLst/>
              <a:rect l="l" t="t" r="r" b="b"/>
              <a:pathLst>
                <a:path w="1446226" h="1875875">
                  <a:moveTo>
                    <a:pt x="71905" y="0"/>
                  </a:moveTo>
                  <a:lnTo>
                    <a:pt x="1374322" y="0"/>
                  </a:lnTo>
                  <a:cubicBezTo>
                    <a:pt x="1414034" y="0"/>
                    <a:pt x="1446226" y="32193"/>
                    <a:pt x="1446226" y="71905"/>
                  </a:cubicBezTo>
                  <a:lnTo>
                    <a:pt x="1446226" y="1803971"/>
                  </a:lnTo>
                  <a:cubicBezTo>
                    <a:pt x="1446226" y="1823041"/>
                    <a:pt x="1438651" y="1841330"/>
                    <a:pt x="1425166" y="1854815"/>
                  </a:cubicBezTo>
                  <a:cubicBezTo>
                    <a:pt x="1411681" y="1868300"/>
                    <a:pt x="1393392" y="1875875"/>
                    <a:pt x="1374322" y="1875875"/>
                  </a:cubicBezTo>
                  <a:lnTo>
                    <a:pt x="71905" y="1875875"/>
                  </a:lnTo>
                  <a:cubicBezTo>
                    <a:pt x="52834" y="1875875"/>
                    <a:pt x="34545" y="1868300"/>
                    <a:pt x="21060" y="1854815"/>
                  </a:cubicBezTo>
                  <a:cubicBezTo>
                    <a:pt x="7576" y="1841330"/>
                    <a:pt x="0" y="1823041"/>
                    <a:pt x="0" y="1803971"/>
                  </a:cubicBezTo>
                  <a:lnTo>
                    <a:pt x="0" y="71905"/>
                  </a:lnTo>
                  <a:cubicBezTo>
                    <a:pt x="0" y="52834"/>
                    <a:pt x="7576" y="34545"/>
                    <a:pt x="21060" y="21060"/>
                  </a:cubicBezTo>
                  <a:cubicBezTo>
                    <a:pt x="34545" y="7576"/>
                    <a:pt x="52834" y="0"/>
                    <a:pt x="71905" y="0"/>
                  </a:cubicBezTo>
                  <a:close/>
                </a:path>
              </a:pathLst>
            </a:custGeom>
            <a:solidFill>
              <a:srgbClr val="A8E6CF">
                <a:alpha val="46667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446226" cy="1933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>
                <a:latin typeface="+mj-ea"/>
                <a:ea typeface="+mj-ea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563962" y="2457287"/>
            <a:ext cx="5491140" cy="7122464"/>
            <a:chOff x="0" y="0"/>
            <a:chExt cx="1446226" cy="187587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446226" cy="1875875"/>
            </a:xfrm>
            <a:custGeom>
              <a:avLst/>
              <a:gdLst/>
              <a:ahLst/>
              <a:cxnLst/>
              <a:rect l="l" t="t" r="r" b="b"/>
              <a:pathLst>
                <a:path w="1446226" h="1875875">
                  <a:moveTo>
                    <a:pt x="71905" y="0"/>
                  </a:moveTo>
                  <a:lnTo>
                    <a:pt x="1374322" y="0"/>
                  </a:lnTo>
                  <a:cubicBezTo>
                    <a:pt x="1414034" y="0"/>
                    <a:pt x="1446226" y="32193"/>
                    <a:pt x="1446226" y="71905"/>
                  </a:cubicBezTo>
                  <a:lnTo>
                    <a:pt x="1446226" y="1803971"/>
                  </a:lnTo>
                  <a:cubicBezTo>
                    <a:pt x="1446226" y="1823041"/>
                    <a:pt x="1438651" y="1841330"/>
                    <a:pt x="1425166" y="1854815"/>
                  </a:cubicBezTo>
                  <a:cubicBezTo>
                    <a:pt x="1411681" y="1868300"/>
                    <a:pt x="1393392" y="1875875"/>
                    <a:pt x="1374322" y="1875875"/>
                  </a:cubicBezTo>
                  <a:lnTo>
                    <a:pt x="71905" y="1875875"/>
                  </a:lnTo>
                  <a:cubicBezTo>
                    <a:pt x="52834" y="1875875"/>
                    <a:pt x="34545" y="1868300"/>
                    <a:pt x="21060" y="1854815"/>
                  </a:cubicBezTo>
                  <a:cubicBezTo>
                    <a:pt x="7576" y="1841330"/>
                    <a:pt x="0" y="1823041"/>
                    <a:pt x="0" y="1803971"/>
                  </a:cubicBezTo>
                  <a:lnTo>
                    <a:pt x="0" y="71905"/>
                  </a:lnTo>
                  <a:cubicBezTo>
                    <a:pt x="0" y="52834"/>
                    <a:pt x="7576" y="34545"/>
                    <a:pt x="21060" y="21060"/>
                  </a:cubicBezTo>
                  <a:cubicBezTo>
                    <a:pt x="34545" y="7576"/>
                    <a:pt x="52834" y="0"/>
                    <a:pt x="71905" y="0"/>
                  </a:cubicBezTo>
                  <a:close/>
                </a:path>
              </a:pathLst>
            </a:custGeom>
            <a:solidFill>
              <a:srgbClr val="8EDFD1">
                <a:alpha val="46667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446226" cy="1933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>
                <a:latin typeface="+mj-ea"/>
                <a:ea typeface="+mj-ea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64237" y="2457287"/>
            <a:ext cx="5835733" cy="7122464"/>
            <a:chOff x="0" y="0"/>
            <a:chExt cx="1536983" cy="187587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536983" cy="1875875"/>
            </a:xfrm>
            <a:custGeom>
              <a:avLst/>
              <a:gdLst/>
              <a:ahLst/>
              <a:cxnLst/>
              <a:rect l="l" t="t" r="r" b="b"/>
              <a:pathLst>
                <a:path w="1536983" h="1875875">
                  <a:moveTo>
                    <a:pt x="67659" y="0"/>
                  </a:moveTo>
                  <a:lnTo>
                    <a:pt x="1469325" y="0"/>
                  </a:lnTo>
                  <a:cubicBezTo>
                    <a:pt x="1487269" y="0"/>
                    <a:pt x="1504478" y="7128"/>
                    <a:pt x="1517167" y="19817"/>
                  </a:cubicBezTo>
                  <a:cubicBezTo>
                    <a:pt x="1529855" y="32505"/>
                    <a:pt x="1536983" y="49714"/>
                    <a:pt x="1536983" y="67659"/>
                  </a:cubicBezTo>
                  <a:lnTo>
                    <a:pt x="1536983" y="1808217"/>
                  </a:lnTo>
                  <a:cubicBezTo>
                    <a:pt x="1536983" y="1826161"/>
                    <a:pt x="1529855" y="1843370"/>
                    <a:pt x="1517167" y="1856058"/>
                  </a:cubicBezTo>
                  <a:cubicBezTo>
                    <a:pt x="1504478" y="1868747"/>
                    <a:pt x="1487269" y="1875875"/>
                    <a:pt x="1469325" y="1875875"/>
                  </a:cubicBezTo>
                  <a:lnTo>
                    <a:pt x="67659" y="1875875"/>
                  </a:lnTo>
                  <a:cubicBezTo>
                    <a:pt x="49714" y="1875875"/>
                    <a:pt x="32505" y="1868747"/>
                    <a:pt x="19817" y="1856058"/>
                  </a:cubicBezTo>
                  <a:cubicBezTo>
                    <a:pt x="7128" y="1843370"/>
                    <a:pt x="0" y="1826161"/>
                    <a:pt x="0" y="1808217"/>
                  </a:cubicBezTo>
                  <a:lnTo>
                    <a:pt x="0" y="67659"/>
                  </a:lnTo>
                  <a:cubicBezTo>
                    <a:pt x="0" y="49714"/>
                    <a:pt x="7128" y="32505"/>
                    <a:pt x="19817" y="19817"/>
                  </a:cubicBezTo>
                  <a:cubicBezTo>
                    <a:pt x="32505" y="7128"/>
                    <a:pt x="49714" y="0"/>
                    <a:pt x="67659" y="0"/>
                  </a:cubicBezTo>
                  <a:close/>
                </a:path>
              </a:pathLst>
            </a:custGeom>
            <a:solidFill>
              <a:srgbClr val="AEE4FF">
                <a:alpha val="46667"/>
              </a:srgbClr>
            </a:solidFill>
          </p:spPr>
          <p:txBody>
            <a:bodyPr/>
            <a:lstStyle/>
            <a:p>
              <a:endParaRPr lang="zh-TW" altLang="en-US">
                <a:latin typeface="+mj-ea"/>
                <a:ea typeface="+mj-ea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1536983" cy="1933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>
                <a:latin typeface="+mj-ea"/>
                <a:ea typeface="+mj-ea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58226" y="2688137"/>
            <a:ext cx="771999" cy="771999"/>
            <a:chOff x="0" y="0"/>
            <a:chExt cx="1029332" cy="1029332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1029332" cy="1029332"/>
              <a:chOff x="0" y="0"/>
              <a:chExt cx="6350000" cy="63500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D7EA6"/>
              </a:solidFill>
            </p:spPr>
            <p:txBody>
              <a:bodyPr/>
              <a:lstStyle/>
              <a:p>
                <a:endParaRPr lang="zh-TW" altLang="en-US">
                  <a:latin typeface="Times New Roman" panose="02020603050405020304" pitchFamily="18" charset="0"/>
                  <a:ea typeface="新細明體" panose="02020500000000000000" pitchFamily="18" charset="-120"/>
                </a:endParaRP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51192" y="8317"/>
              <a:ext cx="726948" cy="8698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52"/>
                </a:lnSpc>
              </a:pPr>
              <a:r>
                <a:rPr lang="en-US" sz="3600">
                  <a:solidFill>
                    <a:srgbClr val="FFFFFF"/>
                  </a:solidFill>
                  <a:latin typeface="Times New Roman" panose="02020603050405020304" pitchFamily="18" charset="0"/>
                  <a:ea typeface="新細明體" panose="02020500000000000000" pitchFamily="18" charset="-120"/>
                  <a:cs typeface="Yeseva One"/>
                  <a:sym typeface="Yeseva One"/>
                </a:rPr>
                <a:t>1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084833" y="2724799"/>
            <a:ext cx="771999" cy="771999"/>
            <a:chOff x="0" y="0"/>
            <a:chExt cx="1029332" cy="1029332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029332" cy="1029332"/>
              <a:chOff x="0" y="0"/>
              <a:chExt cx="6350000" cy="63500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3AAFA9"/>
              </a:solidFill>
            </p:spPr>
            <p:txBody>
              <a:bodyPr/>
              <a:lstStyle/>
              <a:p>
                <a:endParaRPr lang="zh-TW" altLang="en-US">
                  <a:latin typeface="Times New Roman" panose="02020603050405020304" pitchFamily="18" charset="0"/>
                  <a:ea typeface="新細明體" panose="02020500000000000000" pitchFamily="18" charset="-120"/>
                </a:endParaRPr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51192" y="8317"/>
              <a:ext cx="726948" cy="8698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ctr">
                <a:lnSpc>
                  <a:spcPts val="5652"/>
                </a:lnSpc>
                <a:spcBef>
                  <a:spcPct val="0"/>
                </a:spcBef>
              </a:pPr>
              <a:r>
                <a:rPr lang="en-US" sz="3600" u="none">
                  <a:solidFill>
                    <a:srgbClr val="FFFFFF"/>
                  </a:solidFill>
                  <a:latin typeface="Times New Roman" panose="02020603050405020304" pitchFamily="18" charset="0"/>
                  <a:ea typeface="新細明體" panose="02020500000000000000" pitchFamily="18" charset="-120"/>
                  <a:cs typeface="Yeseva One"/>
                  <a:sym typeface="Yeseva One"/>
                </a:rPr>
                <a:t>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82920" y="2688137"/>
            <a:ext cx="771999" cy="771999"/>
            <a:chOff x="0" y="0"/>
            <a:chExt cx="1029332" cy="1029332"/>
          </a:xfrm>
        </p:grpSpPr>
        <p:grpSp>
          <p:nvGrpSpPr>
            <p:cNvPr id="38" name="Group 38"/>
            <p:cNvGrpSpPr/>
            <p:nvPr/>
          </p:nvGrpSpPr>
          <p:grpSpPr>
            <a:xfrm>
              <a:off x="0" y="0"/>
              <a:ext cx="1029332" cy="1029332"/>
              <a:chOff x="0" y="0"/>
              <a:chExt cx="6350000" cy="63500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4CB69F"/>
              </a:solidFill>
            </p:spPr>
            <p:txBody>
              <a:bodyPr/>
              <a:lstStyle/>
              <a:p>
                <a:endParaRPr lang="zh-TW" altLang="en-US">
                  <a:latin typeface="Times New Roman" panose="02020603050405020304" pitchFamily="18" charset="0"/>
                  <a:ea typeface="新細明體" panose="02020500000000000000" pitchFamily="18" charset="-120"/>
                </a:endParaRPr>
              </a:p>
            </p:txBody>
          </p:sp>
        </p:grpSp>
        <p:sp>
          <p:nvSpPr>
            <p:cNvPr id="40" name="TextBox 40"/>
            <p:cNvSpPr txBox="1"/>
            <p:nvPr/>
          </p:nvSpPr>
          <p:spPr>
            <a:xfrm>
              <a:off x="151192" y="8317"/>
              <a:ext cx="726948" cy="8698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ctr">
                <a:lnSpc>
                  <a:spcPts val="5652"/>
                </a:lnSpc>
                <a:spcBef>
                  <a:spcPct val="0"/>
                </a:spcBef>
              </a:pPr>
              <a:r>
                <a:rPr lang="en-US" sz="3600" u="none">
                  <a:solidFill>
                    <a:srgbClr val="FFFFFF"/>
                  </a:solidFill>
                  <a:latin typeface="Times New Roman" panose="02020603050405020304" pitchFamily="18" charset="0"/>
                  <a:ea typeface="新細明體" panose="02020500000000000000" pitchFamily="18" charset="-120"/>
                  <a:cs typeface="Yeseva One"/>
                  <a:sym typeface="Yeseva One"/>
                </a:rPr>
                <a:t>3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369680" y="3580062"/>
            <a:ext cx="5658057" cy="5510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後端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：Django（穩定、支援權限控管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</a:t>
            </a:r>
          </a:p>
          <a:p>
            <a:pPr marL="604519" lvl="1" indent="-28800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資料庫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：MySQL（結構化、可擴展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</a:t>
            </a: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前端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：HTML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/CSS/JS + 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PWA（跨平台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</a:t>
            </a: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推播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：Service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 Worker + Web Push API</a:t>
            </a: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登入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：OAuth（快速註冊帳號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</a:t>
            </a: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地圖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：Google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 Maps API / Routes API</a:t>
            </a:r>
          </a:p>
          <a:p>
            <a:pPr marL="604519" lvl="1" indent="-302260" algn="l">
              <a:lnSpc>
                <a:spcPts val="3639"/>
              </a:lnSpc>
              <a:buFont typeface="Arial"/>
              <a:buChar char="•"/>
            </a:pPr>
            <a:r>
              <a:rPr lang="en-US" sz="2800" b="1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AI </a:t>
            </a:r>
            <a:r>
              <a:rPr lang="en-US" sz="2800" b="1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與過濾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：OpenCV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 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DNN（人臉遮蔽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）、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Bleach（XSS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 </a:t>
            </a:r>
            <a:r>
              <a:rPr lang="en-US" sz="2800" spc="-15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過濾</a:t>
            </a:r>
            <a:r>
              <a:rPr lang="en-US" sz="2800" spc="-15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"/>
                <a:sym typeface="Poppins"/>
              </a:rPr>
              <a:t>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585732" y="2812041"/>
            <a:ext cx="3251268" cy="501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 Bold"/>
                <a:sym typeface="Poppins Bold"/>
              </a:rPr>
              <a:t>採用的方法與原因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9785" y="2845579"/>
            <a:ext cx="2778564" cy="501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 Bold"/>
                <a:sym typeface="Poppins Bold"/>
              </a:rPr>
              <a:t>技術流程</a:t>
            </a:r>
            <a:endParaRPr lang="en-US" sz="320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Poppins Bold"/>
              <a:sym typeface="Poppins Bold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3507318" y="2812041"/>
            <a:ext cx="4078542" cy="501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 Bold"/>
                <a:sym typeface="Poppins Bold"/>
              </a:rPr>
              <a:t>可能挑戰與對策</a:t>
            </a:r>
            <a:endParaRPr lang="en-US" sz="320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Poppins Bold"/>
              <a:sym typeface="Poppins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6480773" y="3992082"/>
            <a:ext cx="5326455" cy="4769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資料蒐集：使用者回報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後端接收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管理員審核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地圖呈現：整合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GPS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與地圖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API 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標示危險事件與安全店家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互動交流：匿名聊天室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→ AI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審查後發佈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快速求助：簡訊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/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定位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通知緊急聯絡人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系統安全：加密儲存、權限控管、SQL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/XSS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防護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12171221" y="3968852"/>
            <a:ext cx="5529844" cy="47721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誤報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/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惡意使用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</a:t>
            </a:r>
          </a:p>
          <a:p>
            <a:pPr marL="302259" lvl="1" algn="l">
              <a:lnSpc>
                <a:spcPts val="3359"/>
              </a:lnSpc>
            </a:pPr>
            <a:r>
              <a:rPr lang="zh-TW" alt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  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審核制度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+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使用者信用積分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302259" lvl="1" algn="l">
              <a:lnSpc>
                <a:spcPts val="3359"/>
              </a:lnSpc>
            </a:pP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隱私風險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</a:t>
            </a:r>
          </a:p>
          <a:p>
            <a:pPr marL="302259" lvl="1" algn="l">
              <a:lnSpc>
                <a:spcPts val="3359"/>
              </a:lnSpc>
            </a:pPr>
            <a:r>
              <a:rPr lang="zh-TW" alt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   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敏感資訊加密、匿名化顯示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商家反彈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</a:t>
            </a:r>
          </a:p>
          <a:p>
            <a:pPr marL="302259" lvl="1" algn="l">
              <a:lnSpc>
                <a:spcPts val="3359"/>
              </a:lnSpc>
            </a:pPr>
            <a:r>
              <a:rPr lang="zh-TW" alt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   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→ 「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安全合作店家」曝光回饋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04519" lvl="1" indent="-302260" algn="l">
              <a:lnSpc>
                <a:spcPts val="3359"/>
              </a:lnSpc>
              <a:buFont typeface="Arial"/>
              <a:buChar char="•"/>
            </a:pP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使用者不足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302259" lvl="1" algn="l">
              <a:lnSpc>
                <a:spcPts val="3359"/>
              </a:lnSpc>
            </a:pPr>
            <a:r>
              <a:rPr lang="zh-TW" alt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   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→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獎勵機制</a:t>
            </a:r>
            <a:r>
              <a:rPr lang="en-US" sz="27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 + </a:t>
            </a:r>
            <a:r>
              <a:rPr lang="en-US" sz="27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社群行銷</a:t>
            </a:r>
            <a:endParaRPr lang="en-US" sz="27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‹6›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解題技術架構及進行步驟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873800" y="5467350"/>
            <a:ext cx="14975692" cy="4165032"/>
            <a:chOff x="0" y="0"/>
            <a:chExt cx="3944215" cy="109696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944215" cy="1096963"/>
            </a:xfrm>
            <a:custGeom>
              <a:avLst/>
              <a:gdLst/>
              <a:ahLst/>
              <a:cxnLst/>
              <a:rect l="l" t="t" r="r" b="b"/>
              <a:pathLst>
                <a:path w="3944215" h="1096963">
                  <a:moveTo>
                    <a:pt x="26365" y="0"/>
                  </a:moveTo>
                  <a:lnTo>
                    <a:pt x="3917850" y="0"/>
                  </a:lnTo>
                  <a:cubicBezTo>
                    <a:pt x="3932411" y="0"/>
                    <a:pt x="3944215" y="11804"/>
                    <a:pt x="3944215" y="26365"/>
                  </a:cubicBezTo>
                  <a:lnTo>
                    <a:pt x="3944215" y="1070598"/>
                  </a:lnTo>
                  <a:cubicBezTo>
                    <a:pt x="3944215" y="1085159"/>
                    <a:pt x="3932411" y="1096963"/>
                    <a:pt x="3917850" y="1096963"/>
                  </a:cubicBezTo>
                  <a:lnTo>
                    <a:pt x="26365" y="1096963"/>
                  </a:lnTo>
                  <a:cubicBezTo>
                    <a:pt x="11804" y="1096963"/>
                    <a:pt x="0" y="1085159"/>
                    <a:pt x="0" y="1070598"/>
                  </a:cubicBezTo>
                  <a:lnTo>
                    <a:pt x="0" y="26365"/>
                  </a:lnTo>
                  <a:cubicBezTo>
                    <a:pt x="0" y="11804"/>
                    <a:pt x="11804" y="0"/>
                    <a:pt x="26365" y="0"/>
                  </a:cubicBezTo>
                  <a:close/>
                </a:path>
              </a:pathLst>
            </a:custGeom>
            <a:solidFill>
              <a:srgbClr val="A8E6CF">
                <a:alpha val="46667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3944215" cy="1154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873800" y="2295965"/>
            <a:ext cx="14975692" cy="2847536"/>
            <a:chOff x="0" y="0"/>
            <a:chExt cx="3944215" cy="74996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944215" cy="749968"/>
            </a:xfrm>
            <a:custGeom>
              <a:avLst/>
              <a:gdLst/>
              <a:ahLst/>
              <a:cxnLst/>
              <a:rect l="l" t="t" r="r" b="b"/>
              <a:pathLst>
                <a:path w="3944215" h="749968">
                  <a:moveTo>
                    <a:pt x="26365" y="0"/>
                  </a:moveTo>
                  <a:lnTo>
                    <a:pt x="3917850" y="0"/>
                  </a:lnTo>
                  <a:cubicBezTo>
                    <a:pt x="3932411" y="0"/>
                    <a:pt x="3944215" y="11804"/>
                    <a:pt x="3944215" y="26365"/>
                  </a:cubicBezTo>
                  <a:lnTo>
                    <a:pt x="3944215" y="723603"/>
                  </a:lnTo>
                  <a:cubicBezTo>
                    <a:pt x="3944215" y="738164"/>
                    <a:pt x="3932411" y="749968"/>
                    <a:pt x="3917850" y="749968"/>
                  </a:cubicBezTo>
                  <a:lnTo>
                    <a:pt x="26365" y="749968"/>
                  </a:lnTo>
                  <a:cubicBezTo>
                    <a:pt x="11804" y="749968"/>
                    <a:pt x="0" y="738164"/>
                    <a:pt x="0" y="723603"/>
                  </a:cubicBezTo>
                  <a:lnTo>
                    <a:pt x="0" y="26365"/>
                  </a:lnTo>
                  <a:cubicBezTo>
                    <a:pt x="0" y="11804"/>
                    <a:pt x="11804" y="0"/>
                    <a:pt x="26365" y="0"/>
                  </a:cubicBezTo>
                  <a:close/>
                </a:path>
              </a:pathLst>
            </a:custGeom>
            <a:solidFill>
              <a:srgbClr val="AEE4FF">
                <a:alpha val="46667"/>
              </a:srgbClr>
            </a:solidFill>
          </p:spPr>
          <p:txBody>
            <a:bodyPr/>
            <a:lstStyle/>
            <a:p>
              <a:endParaRPr lang="zh-TW" altLang="en-US">
                <a:latin typeface="Times New Roman" panose="0202060305040502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3944215" cy="807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74"/>
                </a:lnSpc>
              </a:pPr>
              <a:endParaRPr>
                <a:latin typeface="Times New Roman" panose="02020603050405020304" pitchFamily="18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26" name="Freeform 26"/>
          <p:cNvSpPr/>
          <p:nvPr/>
        </p:nvSpPr>
        <p:spPr>
          <a:xfrm>
            <a:off x="14156726" y="2698734"/>
            <a:ext cx="2165441" cy="2063075"/>
          </a:xfrm>
          <a:custGeom>
            <a:avLst/>
            <a:gdLst/>
            <a:ahLst/>
            <a:cxnLst/>
            <a:rect l="l" t="t" r="r" b="b"/>
            <a:pathLst>
              <a:path w="2165441" h="2063075">
                <a:moveTo>
                  <a:pt x="0" y="0"/>
                </a:moveTo>
                <a:lnTo>
                  <a:pt x="2165441" y="0"/>
                </a:lnTo>
                <a:lnTo>
                  <a:pt x="2165441" y="2063075"/>
                </a:lnTo>
                <a:lnTo>
                  <a:pt x="0" y="20630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270377" y="6345727"/>
            <a:ext cx="11273020" cy="2990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清理：移除不合法/惡意內容（Bleach 過濾）</a:t>
            </a: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特徵工程：依事件型態分類</a:t>
            </a: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疊合：整合多來源地理資訊至地圖系統</a:t>
            </a: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加值：風險熱點 → 推播警示</a:t>
            </a: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圖片隱私保護：OpenCV Haar Cascade 偵測人臉 → 馬賽克/模糊化 → Base64 儲存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270377" y="3228296"/>
            <a:ext cx="7302623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使用者自主回報表單</a:t>
            </a:r>
            <a:endParaRPr lang="en-US" sz="31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政府開放數據（警局、案件統計</a:t>
            </a:r>
            <a:r>
              <a:rPr lang="en-US" sz="3199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）</a:t>
            </a:r>
          </a:p>
          <a:p>
            <a:pPr marL="690877" lvl="1" indent="-345439" algn="l">
              <a:lnSpc>
                <a:spcPts val="3839"/>
              </a:lnSpc>
              <a:buFont typeface="Arial"/>
              <a:buChar char="•"/>
            </a:pPr>
            <a:r>
              <a:rPr lang="en-US" sz="3199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Calibri (MS)"/>
                <a:sym typeface="Calibri (MS)"/>
              </a:rPr>
              <a:t>商家登錄安全合作據點</a:t>
            </a:r>
            <a:endParaRPr lang="en-US" sz="3199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Calibri (MS)"/>
              <a:sym typeface="Calibri (MS)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076301" y="2595824"/>
            <a:ext cx="2165441" cy="674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4199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 Bold"/>
                <a:sym typeface="Poppins Bold"/>
              </a:rPr>
              <a:t>資料來源</a:t>
            </a:r>
            <a:endParaRPr lang="en-US" sz="4199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Poppins Bold"/>
              <a:sym typeface="Poppins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2076302" y="5713255"/>
            <a:ext cx="3333898" cy="674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4199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Poppins Bold"/>
                <a:sym typeface="Poppins Bold"/>
              </a:rPr>
              <a:t>資料處理方式</a:t>
            </a:r>
            <a:endParaRPr lang="en-US" sz="4199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Poppins Bold"/>
              <a:sym typeface="Poppins Bold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‹7›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 dirty="0" err="1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解題技術架構及進行步驟</a:t>
              </a:r>
              <a:r>
                <a:rPr lang="en-US" sz="5400" b="1" spc="450" dirty="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-</a:t>
              </a:r>
              <a:r>
                <a:rPr lang="zh-TW" altLang="en-US" sz="5400" b="1" spc="450" dirty="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主要欄位與類型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291310"/>
              </p:ext>
            </p:extLst>
          </p:nvPr>
        </p:nvGraphicFramePr>
        <p:xfrm>
          <a:off x="757488" y="2172140"/>
          <a:ext cx="16773024" cy="7074094"/>
        </p:xfrm>
        <a:graphic>
          <a:graphicData uri="http://schemas.openxmlformats.org/drawingml/2006/table">
            <a:tbl>
              <a:tblPr/>
              <a:tblGrid>
                <a:gridCol w="3669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3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82153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資料表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核心欄位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9344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事件資料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類別、原因、地址、經緯度、圖片、建立時間、審核狀態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6138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事件回報檢視表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顯示回報事件給前端 類別、子類別、地址、經緯度、圖片、建立時間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2153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商家資料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店名、地址、經緯度、營業時間、電話、建立時間、審核狀態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2153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使用者個人資料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使用者名稱、Gmail、暱稱、緊急聯絡、頭像、建立時間、狀態顏色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82153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警局資料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分局名稱、地址、電話、經緯度</a:t>
                      </a:r>
                      <a:endParaRPr lang="en-US" sz="11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‹8›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 dirty="0" err="1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解題技術架構及進行步驟</a:t>
              </a:r>
              <a:r>
                <a:rPr lang="en-US" sz="5400" b="1" spc="450" dirty="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-</a:t>
              </a:r>
              <a:r>
                <a:rPr lang="zh-TW" altLang="en-US" sz="5400" b="1" spc="450" dirty="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主要欄位與類型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751388"/>
              </p:ext>
            </p:extLst>
          </p:nvPr>
        </p:nvGraphicFramePr>
        <p:xfrm>
          <a:off x="1873800" y="2255196"/>
          <a:ext cx="15207023" cy="7464804"/>
        </p:xfrm>
        <a:graphic>
          <a:graphicData uri="http://schemas.openxmlformats.org/drawingml/2006/table">
            <a:tbl>
              <a:tblPr/>
              <a:tblGrid>
                <a:gridCol w="4070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81847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資料表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核心欄位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8956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聊天室資料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聊天室代碼、城市、區域、收藏次數、建立時間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5748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聊天室訊息表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使用者、暱稱、留言內容、留言時間、回覆對象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1847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使用者收藏聊天室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使用者、聊天室、建立時間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1847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管理員資料表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姓名、電話、Gmail、簡介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74559">
                <a:tc>
                  <a:txBody>
                    <a:bodyPr/>
                    <a:lstStyle/>
                    <a:p>
                      <a:pPr algn="ctr">
                        <a:lnSpc>
                          <a:spcPts val="3200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交流區資料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00"/>
                        </a:lnSpc>
                        <a:defRPr/>
                      </a:pPr>
                      <a:r>
                        <a:rPr lang="en-US" sz="3100" baseline="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使用者、暱稱、標題、留言內容、愛心數、建立時間</a:t>
                      </a:r>
                      <a:endParaRPr lang="en-US" sz="11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75334" y="9439502"/>
            <a:ext cx="535353" cy="280498"/>
            <a:chOff x="0" y="0"/>
            <a:chExt cx="713804" cy="3739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713804" cy="4311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‹9›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197521"/>
              </p:ext>
            </p:extLst>
          </p:nvPr>
        </p:nvGraphicFramePr>
        <p:xfrm>
          <a:off x="1753692" y="2038790"/>
          <a:ext cx="14905230" cy="7721796"/>
        </p:xfrm>
        <a:graphic>
          <a:graphicData uri="http://schemas.openxmlformats.org/drawingml/2006/table">
            <a:tbl>
              <a:tblPr/>
              <a:tblGrid>
                <a:gridCol w="30721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34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8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95512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工作項目</a:t>
                      </a:r>
                      <a:endParaRPr lang="en-US" sz="11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指標內容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量化目標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8723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模型建置與測試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事件回報與審核系統完成，並進行上線測試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上線測試 ≥ 50 筆資料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5513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系統原型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完成 PWA 原型，支援事件地圖與安全商家顯示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系統原型完成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5512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準確率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AI 內容審核正確率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≥ 85%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5512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效能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地圖載入時間與系統可用率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≤ 3 秒、≥ 99%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5512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用戶數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上線後用戶成長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2 個月 ≥ 100 名使用者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5512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商家合作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安全合作店家加入</a:t>
                      </a:r>
                      <a:endParaRPr lang="en-US" sz="11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 baseline="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≥ 20 家</a:t>
                      </a:r>
                      <a:endParaRPr lang="en-US" sz="11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18" name="Group 18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預期完成之工作目標</a:t>
              </a:r>
            </a:p>
          </p:txBody>
        </p:sp>
      </p:grpSp>
      <p:sp>
        <p:nvSpPr>
          <p:cNvPr id="21" name="Freeform 21"/>
          <p:cNvSpPr/>
          <p:nvPr/>
        </p:nvSpPr>
        <p:spPr>
          <a:xfrm>
            <a:off x="12544915" y="216854"/>
            <a:ext cx="1620007" cy="1620007"/>
          </a:xfrm>
          <a:custGeom>
            <a:avLst/>
            <a:gdLst/>
            <a:ahLst/>
            <a:cxnLst/>
            <a:rect l="l" t="t" r="r" b="b"/>
            <a:pathLst>
              <a:path w="1620007" h="1620007">
                <a:moveTo>
                  <a:pt x="0" y="0"/>
                </a:moveTo>
                <a:lnTo>
                  <a:pt x="1620007" y="0"/>
                </a:lnTo>
                <a:lnTo>
                  <a:pt x="1620007" y="1620007"/>
                </a:lnTo>
                <a:lnTo>
                  <a:pt x="0" y="16200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297400" y="9396640"/>
            <a:ext cx="613287" cy="323360"/>
            <a:chOff x="-103912" y="-57149"/>
            <a:chExt cx="817716" cy="4311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-103912" y="-57149"/>
              <a:ext cx="817716" cy="43114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‹10›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893236"/>
              </p:ext>
            </p:extLst>
          </p:nvPr>
        </p:nvGraphicFramePr>
        <p:xfrm>
          <a:off x="4241935" y="2158246"/>
          <a:ext cx="11262668" cy="7561754"/>
        </p:xfrm>
        <a:graphic>
          <a:graphicData uri="http://schemas.openxmlformats.org/drawingml/2006/table">
            <a:tbl>
              <a:tblPr/>
              <a:tblGrid>
                <a:gridCol w="190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0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0922"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月份</a:t>
                      </a:r>
                      <a:endParaRPr lang="en-US" sz="32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預定工作及階段目標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7063"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2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資料庫及系統架構規劃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063"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3~8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功能完成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91906"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9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系統測試及修正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4800"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10</a:t>
                      </a:r>
                      <a:endParaRPr lang="en-US" sz="3200" baseline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00" baseline="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新細明體" panose="02020500000000000000" pitchFamily="18" charset="-120"/>
                          <a:cs typeface="Arimo"/>
                          <a:sym typeface="Arimo"/>
                        </a:rPr>
                        <a:t>系統上線</a:t>
                      </a:r>
                      <a:endParaRPr lang="en-US" sz="3200" baseline="0" dirty="0"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8" name="Group 18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預期工作摘要及進度表</a:t>
              </a:r>
            </a:p>
          </p:txBody>
        </p:sp>
      </p:grpSp>
      <p:sp>
        <p:nvSpPr>
          <p:cNvPr id="21" name="Freeform 21"/>
          <p:cNvSpPr/>
          <p:nvPr/>
        </p:nvSpPr>
        <p:spPr>
          <a:xfrm rot="-837092">
            <a:off x="815260" y="5094547"/>
            <a:ext cx="3068531" cy="2343242"/>
          </a:xfrm>
          <a:custGeom>
            <a:avLst/>
            <a:gdLst/>
            <a:ahLst/>
            <a:cxnLst/>
            <a:rect l="l" t="t" r="r" b="b"/>
            <a:pathLst>
              <a:path w="3068531" h="2343242">
                <a:moveTo>
                  <a:pt x="0" y="0"/>
                </a:moveTo>
                <a:lnTo>
                  <a:pt x="3068531" y="0"/>
                </a:lnTo>
                <a:lnTo>
                  <a:pt x="3068531" y="2343242"/>
                </a:lnTo>
                <a:lnTo>
                  <a:pt x="0" y="23432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Freeform 22"/>
          <p:cNvSpPr/>
          <p:nvPr/>
        </p:nvSpPr>
        <p:spPr>
          <a:xfrm>
            <a:off x="12806435" y="357890"/>
            <a:ext cx="1096967" cy="1125620"/>
          </a:xfrm>
          <a:custGeom>
            <a:avLst/>
            <a:gdLst/>
            <a:ahLst/>
            <a:cxnLst/>
            <a:rect l="l" t="t" r="r" b="b"/>
            <a:pathLst>
              <a:path w="1096967" h="1125620">
                <a:moveTo>
                  <a:pt x="0" y="0"/>
                </a:moveTo>
                <a:lnTo>
                  <a:pt x="1096967" y="0"/>
                </a:lnTo>
                <a:lnTo>
                  <a:pt x="1096967" y="1125620"/>
                </a:lnTo>
                <a:lnTo>
                  <a:pt x="0" y="112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315700" y="9396640"/>
            <a:ext cx="594987" cy="323360"/>
            <a:chOff x="-79512" y="-57149"/>
            <a:chExt cx="793316" cy="4311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-79512" y="-57149"/>
              <a:ext cx="793316" cy="43114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‹12›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873800" y="0"/>
            <a:ext cx="14040000" cy="1841400"/>
            <a:chOff x="0" y="0"/>
            <a:chExt cx="18720000" cy="245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720000" cy="2455200"/>
            </a:xfrm>
            <a:custGeom>
              <a:avLst/>
              <a:gdLst/>
              <a:ahLst/>
              <a:cxnLst/>
              <a:rect l="l" t="t" r="r" b="b"/>
              <a:pathLst>
                <a:path w="18720000" h="2455200">
                  <a:moveTo>
                    <a:pt x="0" y="0"/>
                  </a:moveTo>
                  <a:lnTo>
                    <a:pt x="18720000" y="0"/>
                  </a:lnTo>
                  <a:lnTo>
                    <a:pt x="18720000" y="2455200"/>
                  </a:lnTo>
                  <a:lnTo>
                    <a:pt x="0" y="2455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57150"/>
              <a:ext cx="18720000" cy="239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832"/>
                </a:lnSpc>
              </a:pPr>
              <a:r>
                <a:rPr lang="en-US" sz="5400" b="1" spc="450">
                  <a:solidFill>
                    <a:srgbClr val="1F333C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預期成果與效益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2067964" y="2363062"/>
            <a:ext cx="3482540" cy="3241928"/>
          </a:xfrm>
          <a:custGeom>
            <a:avLst/>
            <a:gdLst/>
            <a:ahLst/>
            <a:cxnLst/>
            <a:rect l="l" t="t" r="r" b="b"/>
            <a:pathLst>
              <a:path w="3482540" h="3241928">
                <a:moveTo>
                  <a:pt x="0" y="0"/>
                </a:moveTo>
                <a:lnTo>
                  <a:pt x="3482540" y="0"/>
                </a:lnTo>
                <a:lnTo>
                  <a:pt x="3482540" y="3241928"/>
                </a:lnTo>
                <a:lnTo>
                  <a:pt x="0" y="3241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1436579" y="2172140"/>
            <a:ext cx="3687632" cy="3432850"/>
          </a:xfrm>
          <a:custGeom>
            <a:avLst/>
            <a:gdLst/>
            <a:ahLst/>
            <a:cxnLst/>
            <a:rect l="l" t="t" r="r" b="b"/>
            <a:pathLst>
              <a:path w="3687632" h="3432850">
                <a:moveTo>
                  <a:pt x="0" y="0"/>
                </a:moveTo>
                <a:lnTo>
                  <a:pt x="3687632" y="0"/>
                </a:lnTo>
                <a:lnTo>
                  <a:pt x="3687632" y="3432850"/>
                </a:lnTo>
                <a:lnTo>
                  <a:pt x="0" y="34328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2" name="Freeform 22"/>
          <p:cNvSpPr/>
          <p:nvPr/>
        </p:nvSpPr>
        <p:spPr>
          <a:xfrm>
            <a:off x="6062271" y="2889247"/>
            <a:ext cx="3861691" cy="2189557"/>
          </a:xfrm>
          <a:custGeom>
            <a:avLst/>
            <a:gdLst/>
            <a:ahLst/>
            <a:cxnLst/>
            <a:rect l="l" t="t" r="r" b="b"/>
            <a:pathLst>
              <a:path w="3861691" h="2189557">
                <a:moveTo>
                  <a:pt x="0" y="0"/>
                </a:moveTo>
                <a:lnTo>
                  <a:pt x="3861691" y="0"/>
                </a:lnTo>
                <a:lnTo>
                  <a:pt x="3861691" y="2189557"/>
                </a:lnTo>
                <a:lnTo>
                  <a:pt x="0" y="218955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10438312" y="2545124"/>
            <a:ext cx="7116031" cy="2936980"/>
          </a:xfrm>
          <a:custGeom>
            <a:avLst/>
            <a:gdLst/>
            <a:ahLst/>
            <a:cxnLst/>
            <a:rect l="l" t="t" r="r" b="b"/>
            <a:pathLst>
              <a:path w="7116031" h="2936980">
                <a:moveTo>
                  <a:pt x="0" y="0"/>
                </a:moveTo>
                <a:lnTo>
                  <a:pt x="7116032" y="0"/>
                </a:lnTo>
                <a:lnTo>
                  <a:pt x="7116032" y="2936981"/>
                </a:lnTo>
                <a:lnTo>
                  <a:pt x="0" y="29369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077828" y="6774963"/>
            <a:ext cx="6456" cy="313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7"/>
              </a:lnSpc>
              <a:spcBef>
                <a:spcPct val="0"/>
              </a:spcBef>
            </a:pPr>
            <a:endParaRPr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5" name="Freeform 25"/>
          <p:cNvSpPr/>
          <p:nvPr/>
        </p:nvSpPr>
        <p:spPr>
          <a:xfrm>
            <a:off x="10616283" y="6529855"/>
            <a:ext cx="7026727" cy="2900122"/>
          </a:xfrm>
          <a:custGeom>
            <a:avLst/>
            <a:gdLst/>
            <a:ahLst/>
            <a:cxnLst/>
            <a:rect l="l" t="t" r="r" b="b"/>
            <a:pathLst>
              <a:path w="7026727" h="2900122">
                <a:moveTo>
                  <a:pt x="0" y="0"/>
                </a:moveTo>
                <a:lnTo>
                  <a:pt x="7026727" y="0"/>
                </a:lnTo>
                <a:lnTo>
                  <a:pt x="7026727" y="2900121"/>
                </a:lnTo>
                <a:lnTo>
                  <a:pt x="0" y="290012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6" name="Freeform 26"/>
          <p:cNvSpPr/>
          <p:nvPr/>
        </p:nvSpPr>
        <p:spPr>
          <a:xfrm>
            <a:off x="2067964" y="6262637"/>
            <a:ext cx="3482540" cy="3241928"/>
          </a:xfrm>
          <a:custGeom>
            <a:avLst/>
            <a:gdLst/>
            <a:ahLst/>
            <a:cxnLst/>
            <a:rect l="l" t="t" r="r" b="b"/>
            <a:pathLst>
              <a:path w="3482540" h="3241928">
                <a:moveTo>
                  <a:pt x="0" y="0"/>
                </a:moveTo>
                <a:lnTo>
                  <a:pt x="3482540" y="0"/>
                </a:lnTo>
                <a:lnTo>
                  <a:pt x="3482540" y="3241928"/>
                </a:lnTo>
                <a:lnTo>
                  <a:pt x="0" y="3241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7" name="Freeform 27"/>
          <p:cNvSpPr/>
          <p:nvPr/>
        </p:nvSpPr>
        <p:spPr>
          <a:xfrm>
            <a:off x="1436579" y="6071715"/>
            <a:ext cx="3687632" cy="3432850"/>
          </a:xfrm>
          <a:custGeom>
            <a:avLst/>
            <a:gdLst/>
            <a:ahLst/>
            <a:cxnLst/>
            <a:rect l="l" t="t" r="r" b="b"/>
            <a:pathLst>
              <a:path w="3687632" h="3432850">
                <a:moveTo>
                  <a:pt x="0" y="0"/>
                </a:moveTo>
                <a:lnTo>
                  <a:pt x="3687632" y="0"/>
                </a:lnTo>
                <a:lnTo>
                  <a:pt x="3687632" y="3432850"/>
                </a:lnTo>
                <a:lnTo>
                  <a:pt x="0" y="34328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8" name="Freeform 28"/>
          <p:cNvSpPr/>
          <p:nvPr/>
        </p:nvSpPr>
        <p:spPr>
          <a:xfrm>
            <a:off x="6419023" y="6693366"/>
            <a:ext cx="3861691" cy="2189557"/>
          </a:xfrm>
          <a:custGeom>
            <a:avLst/>
            <a:gdLst/>
            <a:ahLst/>
            <a:cxnLst/>
            <a:rect l="l" t="t" r="r" b="b"/>
            <a:pathLst>
              <a:path w="3861691" h="2189557">
                <a:moveTo>
                  <a:pt x="0" y="0"/>
                </a:moveTo>
                <a:lnTo>
                  <a:pt x="3861691" y="0"/>
                </a:lnTo>
                <a:lnTo>
                  <a:pt x="3861691" y="2189557"/>
                </a:lnTo>
                <a:lnTo>
                  <a:pt x="0" y="218955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9" name="Freeform 29"/>
          <p:cNvSpPr/>
          <p:nvPr/>
        </p:nvSpPr>
        <p:spPr>
          <a:xfrm>
            <a:off x="15504603" y="4222725"/>
            <a:ext cx="1811097" cy="2307130"/>
          </a:xfrm>
          <a:custGeom>
            <a:avLst/>
            <a:gdLst/>
            <a:ahLst/>
            <a:cxnLst/>
            <a:rect l="l" t="t" r="r" b="b"/>
            <a:pathLst>
              <a:path w="1811097" h="2307130">
                <a:moveTo>
                  <a:pt x="0" y="0"/>
                </a:moveTo>
                <a:lnTo>
                  <a:pt x="1811097" y="0"/>
                </a:lnTo>
                <a:lnTo>
                  <a:pt x="1811097" y="2307130"/>
                </a:lnTo>
                <a:lnTo>
                  <a:pt x="0" y="230713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622429" y="3483117"/>
            <a:ext cx="3214571" cy="734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4"/>
              </a:lnSpc>
            </a:pPr>
            <a:r>
              <a:rPr lang="en-US" sz="4324" b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最終產出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781181" y="3111258"/>
            <a:ext cx="6696931" cy="16840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系統原型：PWA 平台📱</a:t>
            </a:r>
          </a:p>
          <a:p>
            <a:pPr algn="just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地圖標示模型：危險熱點、合作商家</a:t>
            </a:r>
          </a:p>
          <a:p>
            <a:pPr algn="just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專案報告📑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721146" y="6661904"/>
            <a:ext cx="3017136" cy="225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8"/>
              </a:lnSpc>
            </a:pPr>
            <a:r>
              <a:rPr lang="en-US" sz="432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價值</a:t>
            </a:r>
            <a:endParaRPr lang="en-US" sz="432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Noto Sans T Chinese Bold"/>
              <a:sym typeface="Noto Sans T Chinese Bold"/>
            </a:endParaRPr>
          </a:p>
          <a:p>
            <a:pPr algn="ctr">
              <a:lnSpc>
                <a:spcPts val="6048"/>
              </a:lnSpc>
            </a:pPr>
            <a:r>
              <a:rPr lang="en-US" sz="4320" b="1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&amp;</a:t>
            </a:r>
          </a:p>
          <a:p>
            <a:pPr algn="ctr">
              <a:lnSpc>
                <a:spcPts val="6048"/>
              </a:lnSpc>
            </a:pPr>
            <a:r>
              <a:rPr lang="en-US" sz="432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可擴展性</a:t>
            </a:r>
            <a:endParaRPr lang="en-US" sz="432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Noto Sans T Chinese Bold"/>
              <a:sym typeface="Noto Sans T Chinese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0829456" y="6849053"/>
            <a:ext cx="6486244" cy="22617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對產業：拓展安全應用與商家合作商機</a:t>
            </a:r>
            <a:endParaRPr lang="en-US" sz="320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Noto Sans T Chinese Bold"/>
              <a:sym typeface="Noto Sans T Chinese Bold"/>
            </a:endParaRPr>
          </a:p>
          <a:p>
            <a:pPr algn="just">
              <a:lnSpc>
                <a:spcPts val="4480"/>
              </a:lnSpc>
            </a:pP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對社會：強化個人安全與社區防護</a:t>
            </a:r>
            <a:endParaRPr lang="en-US" sz="320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Noto Sans T Chinese Bold"/>
              <a:sym typeface="Noto Sans T Chinese Bold"/>
            </a:endParaRPr>
          </a:p>
          <a:p>
            <a:pPr algn="just">
              <a:lnSpc>
                <a:spcPts val="4480"/>
              </a:lnSpc>
            </a:pP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可擴展：結合</a:t>
            </a:r>
            <a:r>
              <a:rPr 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 </a:t>
            </a: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IoT、AI</a:t>
            </a:r>
            <a:r>
              <a:rPr 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 </a:t>
            </a:r>
            <a:r>
              <a:rPr lang="en-US" sz="32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Noto Sans T Chinese Bold"/>
                <a:sym typeface="Noto Sans T Chinese Bold"/>
              </a:rPr>
              <a:t>影像辨識</a:t>
            </a:r>
            <a:endParaRPr lang="en-US" sz="3200" b="1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  <a:cs typeface="Noto Sans T Chinese Bold"/>
              <a:sym typeface="Noto Sans T Chinese 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864">
            <a:off x="364236" y="9720000"/>
            <a:ext cx="17559528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13090206" y="9731296"/>
            <a:ext cx="4828794" cy="432220"/>
            <a:chOff x="0" y="0"/>
            <a:chExt cx="6438392" cy="5762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8392" cy="576294"/>
            </a:xfrm>
            <a:custGeom>
              <a:avLst/>
              <a:gdLst/>
              <a:ahLst/>
              <a:cxnLst/>
              <a:rect l="l" t="t" r="r" b="b"/>
              <a:pathLst>
                <a:path w="6438392" h="576294">
                  <a:moveTo>
                    <a:pt x="0" y="0"/>
                  </a:moveTo>
                  <a:lnTo>
                    <a:pt x="6438392" y="0"/>
                  </a:lnTo>
                  <a:lnTo>
                    <a:pt x="6438392" y="576294"/>
                  </a:lnTo>
                  <a:lnTo>
                    <a:pt x="0" y="57629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438392" cy="5762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>
                <a:lnSpc>
                  <a:spcPts val="2520"/>
                </a:lnSpc>
              </a:pPr>
              <a:r>
                <a:rPr lang="en-US" sz="2100" b="1">
                  <a:solidFill>
                    <a:srgbClr val="80808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數位發展部  </a:t>
              </a:r>
              <a:r>
                <a:rPr lang="en-US" sz="2100">
                  <a:solidFill>
                    <a:srgbClr val="808080"/>
                  </a:solidFill>
                  <a:latin typeface="Noto Sans"/>
                  <a:ea typeface="Noto Sans"/>
                  <a:cs typeface="Noto Sans"/>
                  <a:sym typeface="Noto Sans"/>
                </a:rPr>
                <a:t>Ministry of Digital Affairs</a:t>
              </a:r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724674" y="177842"/>
            <a:ext cx="2472082" cy="1214607"/>
            <a:chOff x="0" y="0"/>
            <a:chExt cx="3296110" cy="16194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96158" cy="1619504"/>
            </a:xfrm>
            <a:custGeom>
              <a:avLst/>
              <a:gdLst/>
              <a:ahLst/>
              <a:cxnLst/>
              <a:rect l="l" t="t" r="r" b="b"/>
              <a:pathLst>
                <a:path w="3296158" h="1619504">
                  <a:moveTo>
                    <a:pt x="0" y="0"/>
                  </a:moveTo>
                  <a:lnTo>
                    <a:pt x="3296158" y="0"/>
                  </a:lnTo>
                  <a:lnTo>
                    <a:pt x="3296158" y="1619504"/>
                  </a:lnTo>
                  <a:lnTo>
                    <a:pt x="0" y="1619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7297400" y="9396640"/>
            <a:ext cx="613287" cy="323360"/>
            <a:chOff x="-103912" y="-57149"/>
            <a:chExt cx="817716" cy="4311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3804" cy="373998"/>
            </a:xfrm>
            <a:custGeom>
              <a:avLst/>
              <a:gdLst/>
              <a:ahLst/>
              <a:cxnLst/>
              <a:rect l="l" t="t" r="r" b="b"/>
              <a:pathLst>
                <a:path w="713804" h="373998">
                  <a:moveTo>
                    <a:pt x="0" y="0"/>
                  </a:moveTo>
                  <a:lnTo>
                    <a:pt x="713804" y="0"/>
                  </a:lnTo>
                  <a:lnTo>
                    <a:pt x="713804" y="373998"/>
                  </a:lnTo>
                  <a:lnTo>
                    <a:pt x="0" y="37399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-103912" y="-57149"/>
              <a:ext cx="817716" cy="43114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dirty="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‹13›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95960" y="1903536"/>
            <a:ext cx="8517918" cy="68578"/>
            <a:chOff x="0" y="0"/>
            <a:chExt cx="11357224" cy="91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1B87C3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8042" y="1903536"/>
            <a:ext cx="8517918" cy="68578"/>
            <a:chOff x="0" y="0"/>
            <a:chExt cx="11357224" cy="914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357229" cy="91440"/>
            </a:xfrm>
            <a:custGeom>
              <a:avLst/>
              <a:gdLst/>
              <a:ahLst/>
              <a:cxnLst/>
              <a:rect l="l" t="t" r="r" b="b"/>
              <a:pathLst>
                <a:path w="11357229" h="91440">
                  <a:moveTo>
                    <a:pt x="0" y="0"/>
                  </a:moveTo>
                  <a:lnTo>
                    <a:pt x="11357229" y="0"/>
                  </a:lnTo>
                  <a:lnTo>
                    <a:pt x="11357229" y="91440"/>
                  </a:lnTo>
                  <a:lnTo>
                    <a:pt x="0" y="9144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42000">
                  <a:srgbClr val="EBF5E7">
                    <a:alpha val="100000"/>
                  </a:srgbClr>
                </a:gs>
                <a:gs pos="100000">
                  <a:srgbClr val="C5E0B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87692" y="177842"/>
            <a:ext cx="1566000" cy="1523742"/>
            <a:chOff x="0" y="0"/>
            <a:chExt cx="2088000" cy="20316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88007" cy="2031619"/>
            </a:xfrm>
            <a:custGeom>
              <a:avLst/>
              <a:gdLst/>
              <a:ahLst/>
              <a:cxnLst/>
              <a:rect l="l" t="t" r="r" b="b"/>
              <a:pathLst>
                <a:path w="2088007" h="2031619">
                  <a:moveTo>
                    <a:pt x="0" y="0"/>
                  </a:moveTo>
                  <a:lnTo>
                    <a:pt x="2088007" y="0"/>
                  </a:lnTo>
                  <a:lnTo>
                    <a:pt x="2088007" y="2031619"/>
                  </a:lnTo>
                  <a:lnTo>
                    <a:pt x="0" y="2031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69" t="-979" r="-717" b="-383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951492" y="5762165"/>
            <a:ext cx="4613194" cy="1205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920"/>
              </a:lnSpc>
            </a:pPr>
            <a:r>
              <a:rPr lang="en-US" sz="6600" b="1">
                <a:solidFill>
                  <a:srgbClr val="54823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6600" b="1">
                <a:solidFill>
                  <a:srgbClr val="24A8C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id="18" name="Freeform 18" descr="本素材由iSlide™ 提供 iSlide™尊重知识产权并注重保护用户享有的各项权利。郑重提醒您： iSlide™插件中提供的任何信息内容的所有权、知识产权归其原始权利人或权利受让人所有，您免费/购买获得的是信息内容的使用权，并受下述条款的约束； 1. 您仅可以个人非商业用途使用该等信息内容，不可将信息内容的全部或部分用于出售，或以出租、出借、转让、分销、发布等其他任何方式供他人使用； 2. 禁止在接入互联网或移动互联网的任何网站、平台、应用或程序上以任何方式为他人提供iSlide™插件资..."/>
          <p:cNvSpPr/>
          <p:nvPr/>
        </p:nvSpPr>
        <p:spPr>
          <a:xfrm>
            <a:off x="4881548" y="4168237"/>
            <a:ext cx="3018285" cy="2919831"/>
          </a:xfrm>
          <a:custGeom>
            <a:avLst/>
            <a:gdLst/>
            <a:ahLst/>
            <a:cxnLst/>
            <a:rect l="l" t="t" r="r" b="b"/>
            <a:pathLst>
              <a:path w="3018285" h="2919831">
                <a:moveTo>
                  <a:pt x="0" y="0"/>
                </a:moveTo>
                <a:lnTo>
                  <a:pt x="3018284" y="0"/>
                </a:lnTo>
                <a:lnTo>
                  <a:pt x="3018284" y="2919831"/>
                </a:lnTo>
                <a:lnTo>
                  <a:pt x="0" y="29198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370174" y="4097406"/>
            <a:ext cx="4010607" cy="1737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480"/>
              </a:lnSpc>
            </a:pPr>
            <a:r>
              <a:rPr lang="en-US" sz="5400" b="1">
                <a:solidFill>
                  <a:srgbClr val="333F50"/>
                </a:solidFill>
                <a:latin typeface="Arimo Bold"/>
                <a:ea typeface="Arimo Bold"/>
                <a:cs typeface="Arimo Bold"/>
                <a:sym typeface="Arimo Bold"/>
              </a:rPr>
              <a:t>簡報完畢</a:t>
            </a:r>
          </a:p>
          <a:p>
            <a:pPr algn="just">
              <a:lnSpc>
                <a:spcPts val="6480"/>
              </a:lnSpc>
            </a:pPr>
            <a:r>
              <a:rPr lang="en-US" sz="5400" b="1">
                <a:solidFill>
                  <a:srgbClr val="333F50"/>
                </a:solidFill>
                <a:latin typeface="Arimo Bold"/>
                <a:ea typeface="Arimo Bold"/>
                <a:cs typeface="Arimo Bold"/>
                <a:sym typeface="Arimo Bold"/>
              </a:rPr>
              <a:t>敬請指導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709</Words>
  <Application>Microsoft Office PowerPoint</Application>
  <PresentationFormat>自訂</PresentationFormat>
  <Paragraphs>189</Paragraphs>
  <Slides>12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21" baseType="lpstr">
      <vt:lpstr>Calibri (MS)</vt:lpstr>
      <vt:lpstr>Calibri</vt:lpstr>
      <vt:lpstr>Calibri (MS) Bold</vt:lpstr>
      <vt:lpstr>Arial</vt:lpstr>
      <vt:lpstr>Times New Roman</vt:lpstr>
      <vt:lpstr>Noto Sans Bold</vt:lpstr>
      <vt:lpstr>Arimo Bold</vt:lpstr>
      <vt:lpstr>Noto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附件4_構想簡報格式.pptx</dc:title>
  <cp:lastModifiedBy>品臻 李</cp:lastModifiedBy>
  <cp:revision>2</cp:revision>
  <dcterms:created xsi:type="dcterms:W3CDTF">2006-08-16T00:00:00Z</dcterms:created>
  <dcterms:modified xsi:type="dcterms:W3CDTF">2025-08-29T07:46:41Z</dcterms:modified>
  <dc:identifier>DAGxRqvuVDY</dc:identifier>
</cp:coreProperties>
</file>