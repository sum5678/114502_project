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8288000" cy="10287000"/>
  <p:notesSz cx="6858000" cy="9144000"/>
  <p:embeddedFontLst>
    <p:embeddedFont>
      <p:font typeface="Atma" panose="02020500000000000000" charset="0"/>
      <p:regular r:id="rId49"/>
    </p:embeddedFont>
    <p:embeddedFont>
      <p:font typeface="Atma Medium" panose="02020500000000000000" charset="0"/>
      <p:regular r:id="rId50"/>
    </p:embeddedFont>
    <p:embeddedFont>
      <p:font typeface="Noot" charset="-79"/>
      <p:regular r:id="rId51"/>
    </p:embeddedFont>
    <p:embeddedFont>
      <p:font typeface="Quicksand" panose="02020500000000000000" charset="0"/>
      <p:regular r:id="rId52"/>
    </p:embeddedFont>
    <p:embeddedFont>
      <p:font typeface="Quicksand Bold" panose="02020500000000000000" charset="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8" d="100"/>
          <a:sy n="38" d="100"/>
        </p:scale>
        <p:origin x="1328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9.png"/><Relationship Id="rId3" Type="http://schemas.openxmlformats.org/officeDocument/2006/relationships/image" Target="../media/image23.svg"/><Relationship Id="rId7" Type="http://schemas.openxmlformats.org/officeDocument/2006/relationships/image" Target="../media/image25.svg"/><Relationship Id="rId12" Type="http://schemas.openxmlformats.org/officeDocument/2006/relationships/image" Target="../media/image2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2.svg"/><Relationship Id="rId10" Type="http://schemas.openxmlformats.org/officeDocument/2006/relationships/image" Target="../media/image26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3.svg"/><Relationship Id="rId7" Type="http://schemas.openxmlformats.org/officeDocument/2006/relationships/image" Target="../media/image25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.svg"/><Relationship Id="rId10" Type="http://schemas.openxmlformats.org/officeDocument/2006/relationships/image" Target="../media/image30.png"/><Relationship Id="rId4" Type="http://schemas.openxmlformats.org/officeDocument/2006/relationships/image" Target="../media/image1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10" Type="http://schemas.openxmlformats.org/officeDocument/2006/relationships/image" Target="../media/image37.png"/><Relationship Id="rId4" Type="http://schemas.openxmlformats.org/officeDocument/2006/relationships/image" Target="../media/image1.png"/><Relationship Id="rId9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33.png"/><Relationship Id="rId3" Type="http://schemas.openxmlformats.org/officeDocument/2006/relationships/image" Target="../media/image23.sv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2.svg"/><Relationship Id="rId15" Type="http://schemas.openxmlformats.org/officeDocument/2006/relationships/image" Target="../media/image48.png"/><Relationship Id="rId10" Type="http://schemas.openxmlformats.org/officeDocument/2006/relationships/image" Target="../media/image45.svg"/><Relationship Id="rId4" Type="http://schemas.openxmlformats.org/officeDocument/2006/relationships/image" Target="../media/image1.png"/><Relationship Id="rId9" Type="http://schemas.openxmlformats.org/officeDocument/2006/relationships/image" Target="../media/image44.png"/><Relationship Id="rId14" Type="http://schemas.openxmlformats.org/officeDocument/2006/relationships/image" Target="../media/image3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23.svg"/><Relationship Id="rId7" Type="http://schemas.openxmlformats.org/officeDocument/2006/relationships/image" Target="../media/image5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5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3.svg"/><Relationship Id="rId7" Type="http://schemas.openxmlformats.org/officeDocument/2006/relationships/image" Target="../media/image2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34.svg"/><Relationship Id="rId10" Type="http://schemas.openxmlformats.org/officeDocument/2006/relationships/image" Target="../media/image57.svg"/><Relationship Id="rId4" Type="http://schemas.openxmlformats.org/officeDocument/2006/relationships/image" Target="../media/image33.png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3.svg"/><Relationship Id="rId7" Type="http://schemas.openxmlformats.org/officeDocument/2006/relationships/image" Target="../media/image5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2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3.svg"/><Relationship Id="rId7" Type="http://schemas.openxmlformats.org/officeDocument/2006/relationships/image" Target="../media/image5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3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3.svg"/><Relationship Id="rId7" Type="http://schemas.openxmlformats.org/officeDocument/2006/relationships/image" Target="../media/image5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4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3.svg"/><Relationship Id="rId7" Type="http://schemas.openxmlformats.org/officeDocument/2006/relationships/image" Target="../media/image5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2.svg"/><Relationship Id="rId10" Type="http://schemas.openxmlformats.org/officeDocument/2006/relationships/image" Target="../media/image65.png"/><Relationship Id="rId4" Type="http://schemas.openxmlformats.org/officeDocument/2006/relationships/image" Target="../media/image1.png"/><Relationship Id="rId9" Type="http://schemas.openxmlformats.org/officeDocument/2006/relationships/image" Target="../media/image61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68.jpe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59.svg"/><Relationship Id="rId5" Type="http://schemas.openxmlformats.org/officeDocument/2006/relationships/image" Target="../media/image2.svg"/><Relationship Id="rId10" Type="http://schemas.openxmlformats.org/officeDocument/2006/relationships/image" Target="../media/image58.png"/><Relationship Id="rId4" Type="http://schemas.openxmlformats.org/officeDocument/2006/relationships/image" Target="../media/image1.png"/><Relationship Id="rId9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34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7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19.svg"/><Relationship Id="rId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21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23.svg"/><Relationship Id="rId7" Type="http://schemas.openxmlformats.org/officeDocument/2006/relationships/image" Target="../media/image76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2.svg"/><Relationship Id="rId10" Type="http://schemas.openxmlformats.org/officeDocument/2006/relationships/image" Target="../media/image79.png"/><Relationship Id="rId4" Type="http://schemas.openxmlformats.org/officeDocument/2006/relationships/image" Target="../media/image1.png"/><Relationship Id="rId9" Type="http://schemas.openxmlformats.org/officeDocument/2006/relationships/image" Target="../media/image7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svg"/><Relationship Id="rId7" Type="http://schemas.openxmlformats.org/officeDocument/2006/relationships/hyperlink" Target="https://www.nownews.com/news/6439951?utm_source=chatgpt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gS_9FgAKXw" TargetMode="External"/><Relationship Id="rId11" Type="http://schemas.openxmlformats.org/officeDocument/2006/relationships/image" Target="../media/image19.svg"/><Relationship Id="rId5" Type="http://schemas.openxmlformats.org/officeDocument/2006/relationships/hyperlink" Target="https://www.npa.gov.tw/ch/app/data/list?module=wg054&amp;id=2206" TargetMode="External"/><Relationship Id="rId10" Type="http://schemas.openxmlformats.org/officeDocument/2006/relationships/image" Target="../media/image18.png"/><Relationship Id="rId4" Type="http://schemas.openxmlformats.org/officeDocument/2006/relationships/hyperlink" Target="https://udn.com/news/story/7314/8766037?utm_source=yahoonews&amp;utm_medium=yahoo" TargetMode="External"/><Relationship Id="rId9" Type="http://schemas.openxmlformats.org/officeDocument/2006/relationships/image" Target="../media/image21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89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88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sv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4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12" Type="http://schemas.openxmlformats.org/officeDocument/2006/relationships/image" Target="../media/image9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Relationship Id="rId14" Type="http://schemas.openxmlformats.org/officeDocument/2006/relationships/image" Target="../media/image9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3.svg"/><Relationship Id="rId7" Type="http://schemas.openxmlformats.org/officeDocument/2006/relationships/image" Target="../media/image2.sv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81.svg"/><Relationship Id="rId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84.png"/><Relationship Id="rId9" Type="http://schemas.openxmlformats.org/officeDocument/2006/relationships/image" Target="../media/image87.sv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21236" y="-40735"/>
            <a:ext cx="21425453" cy="11138325"/>
            <a:chOff x="0" y="0"/>
            <a:chExt cx="5642918" cy="29335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642918" cy="2933551"/>
            </a:xfrm>
            <a:custGeom>
              <a:avLst/>
              <a:gdLst/>
              <a:ahLst/>
              <a:cxnLst/>
              <a:rect l="l" t="t" r="r" b="b"/>
              <a:pathLst>
                <a:path w="5642918" h="2933551">
                  <a:moveTo>
                    <a:pt x="0" y="0"/>
                  </a:moveTo>
                  <a:lnTo>
                    <a:pt x="5642918" y="0"/>
                  </a:lnTo>
                  <a:lnTo>
                    <a:pt x="5642918" y="2933551"/>
                  </a:lnTo>
                  <a:lnTo>
                    <a:pt x="0" y="2933551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642918" cy="29716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496443" y="-71472"/>
            <a:ext cx="22500660" cy="11884799"/>
            <a:chOff x="0" y="0"/>
            <a:chExt cx="30000880" cy="15846399"/>
          </a:xfrm>
        </p:grpSpPr>
        <p:sp>
          <p:nvSpPr>
            <p:cNvPr id="6" name="Freeform 6"/>
            <p:cNvSpPr/>
            <p:nvPr/>
          </p:nvSpPr>
          <p:spPr>
            <a:xfrm>
              <a:off x="42168" y="166557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8"/>
                  </a:lnTo>
                  <a:lnTo>
                    <a:pt x="0" y="9916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775383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4" y="0"/>
                  </a:lnTo>
                  <a:lnTo>
                    <a:pt x="9967124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0017166" y="72561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6" y="0"/>
                  </a:lnTo>
                  <a:lnTo>
                    <a:pt x="9924956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974997" y="9681388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0075923" y="0"/>
              <a:ext cx="9924956" cy="9916679"/>
            </a:xfrm>
            <a:custGeom>
              <a:avLst/>
              <a:gdLst/>
              <a:ahLst/>
              <a:cxnLst/>
              <a:rect l="l" t="t" r="r" b="b"/>
              <a:pathLst>
                <a:path w="9924956" h="9916679">
                  <a:moveTo>
                    <a:pt x="0" y="0"/>
                  </a:moveTo>
                  <a:lnTo>
                    <a:pt x="9924957" y="0"/>
                  </a:lnTo>
                  <a:lnTo>
                    <a:pt x="9924957" y="9916679"/>
                  </a:lnTo>
                  <a:lnTo>
                    <a:pt x="0" y="9916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20033755" y="9608827"/>
              <a:ext cx="9967124" cy="6071016"/>
            </a:xfrm>
            <a:custGeom>
              <a:avLst/>
              <a:gdLst/>
              <a:ahLst/>
              <a:cxnLst/>
              <a:rect l="l" t="t" r="r" b="b"/>
              <a:pathLst>
                <a:path w="9967124" h="6071016">
                  <a:moveTo>
                    <a:pt x="0" y="0"/>
                  </a:moveTo>
                  <a:lnTo>
                    <a:pt x="9967125" y="0"/>
                  </a:lnTo>
                  <a:lnTo>
                    <a:pt x="9967125" y="6071016"/>
                  </a:lnTo>
                  <a:lnTo>
                    <a:pt x="0" y="60710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-6403573" y="-6114974"/>
            <a:ext cx="6647232" cy="6544610"/>
          </a:xfrm>
          <a:custGeom>
            <a:avLst/>
            <a:gdLst/>
            <a:ahLst/>
            <a:cxnLst/>
            <a:rect l="l" t="t" r="r" b="b"/>
            <a:pathLst>
              <a:path w="6647232" h="6544610">
                <a:moveTo>
                  <a:pt x="0" y="0"/>
                </a:moveTo>
                <a:lnTo>
                  <a:pt x="6647232" y="0"/>
                </a:lnTo>
                <a:lnTo>
                  <a:pt x="6647232" y="6544610"/>
                </a:lnTo>
                <a:lnTo>
                  <a:pt x="0" y="6544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85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12083" b="-1384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6792052" y="619601"/>
            <a:ext cx="6636719" cy="6472691"/>
          </a:xfrm>
          <a:custGeom>
            <a:avLst/>
            <a:gdLst/>
            <a:ahLst/>
            <a:cxnLst/>
            <a:rect l="l" t="t" r="r" b="b"/>
            <a:pathLst>
              <a:path w="6636719" h="6472691">
                <a:moveTo>
                  <a:pt x="0" y="0"/>
                </a:moveTo>
                <a:lnTo>
                  <a:pt x="6636719" y="0"/>
                </a:lnTo>
                <a:lnTo>
                  <a:pt x="6636719" y="6472691"/>
                </a:lnTo>
                <a:lnTo>
                  <a:pt x="0" y="64726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5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234" r="-12261" b="-1387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489246">
            <a:off x="-1325099" y="-1603819"/>
            <a:ext cx="10953089" cy="10136586"/>
          </a:xfrm>
          <a:custGeom>
            <a:avLst/>
            <a:gdLst/>
            <a:ahLst/>
            <a:cxnLst/>
            <a:rect l="l" t="t" r="r" b="b"/>
            <a:pathLst>
              <a:path w="10953089" h="10136586">
                <a:moveTo>
                  <a:pt x="0" y="0"/>
                </a:moveTo>
                <a:lnTo>
                  <a:pt x="10953089" y="0"/>
                </a:lnTo>
                <a:lnTo>
                  <a:pt x="10953089" y="10136586"/>
                </a:lnTo>
                <a:lnTo>
                  <a:pt x="0" y="101365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3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10944976" y="1099154"/>
            <a:ext cx="6841267" cy="6983793"/>
          </a:xfrm>
          <a:custGeom>
            <a:avLst/>
            <a:gdLst/>
            <a:ahLst/>
            <a:cxnLst/>
            <a:rect l="l" t="t" r="r" b="b"/>
            <a:pathLst>
              <a:path w="6841267" h="6983793">
                <a:moveTo>
                  <a:pt x="0" y="0"/>
                </a:moveTo>
                <a:lnTo>
                  <a:pt x="6841267" y="0"/>
                </a:lnTo>
                <a:lnTo>
                  <a:pt x="6841267" y="6983793"/>
                </a:lnTo>
                <a:lnTo>
                  <a:pt x="0" y="69837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943659">
            <a:off x="14423715" y="5189849"/>
            <a:ext cx="9477027" cy="8649941"/>
          </a:xfrm>
          <a:custGeom>
            <a:avLst/>
            <a:gdLst/>
            <a:ahLst/>
            <a:cxnLst/>
            <a:rect l="l" t="t" r="r" b="b"/>
            <a:pathLst>
              <a:path w="9477027" h="8649941">
                <a:moveTo>
                  <a:pt x="0" y="0"/>
                </a:moveTo>
                <a:lnTo>
                  <a:pt x="9477027" y="0"/>
                </a:lnTo>
                <a:lnTo>
                  <a:pt x="9477027" y="8649941"/>
                </a:lnTo>
                <a:lnTo>
                  <a:pt x="0" y="86499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4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 rot="5003348">
            <a:off x="-166105" y="1217192"/>
            <a:ext cx="11428530" cy="10732810"/>
          </a:xfrm>
          <a:custGeom>
            <a:avLst/>
            <a:gdLst/>
            <a:ahLst/>
            <a:cxnLst/>
            <a:rect l="l" t="t" r="r" b="b"/>
            <a:pathLst>
              <a:path w="11428530" h="10732810">
                <a:moveTo>
                  <a:pt x="0" y="0"/>
                </a:moveTo>
                <a:lnTo>
                  <a:pt x="11428530" y="0"/>
                </a:lnTo>
                <a:lnTo>
                  <a:pt x="11428530" y="10732810"/>
                </a:lnTo>
                <a:lnTo>
                  <a:pt x="0" y="1073281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29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591546" y="5143500"/>
            <a:ext cx="9518866" cy="4758572"/>
            <a:chOff x="0" y="0"/>
            <a:chExt cx="2507026" cy="125328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507026" cy="1253287"/>
            </a:xfrm>
            <a:custGeom>
              <a:avLst/>
              <a:gdLst/>
              <a:ahLst/>
              <a:cxnLst/>
              <a:rect l="l" t="t" r="r" b="b"/>
              <a:pathLst>
                <a:path w="2507026" h="1253287">
                  <a:moveTo>
                    <a:pt x="41480" y="0"/>
                  </a:moveTo>
                  <a:lnTo>
                    <a:pt x="2465547" y="0"/>
                  </a:lnTo>
                  <a:cubicBezTo>
                    <a:pt x="2476548" y="0"/>
                    <a:pt x="2487098" y="4370"/>
                    <a:pt x="2494877" y="12149"/>
                  </a:cubicBezTo>
                  <a:cubicBezTo>
                    <a:pt x="2502656" y="19928"/>
                    <a:pt x="2507026" y="30478"/>
                    <a:pt x="2507026" y="41480"/>
                  </a:cubicBezTo>
                  <a:lnTo>
                    <a:pt x="2507026" y="1211807"/>
                  </a:lnTo>
                  <a:cubicBezTo>
                    <a:pt x="2507026" y="1234716"/>
                    <a:pt x="2488455" y="1253287"/>
                    <a:pt x="2465547" y="1253287"/>
                  </a:cubicBezTo>
                  <a:lnTo>
                    <a:pt x="41480" y="1253287"/>
                  </a:lnTo>
                  <a:cubicBezTo>
                    <a:pt x="18571" y="1253287"/>
                    <a:pt x="0" y="1234716"/>
                    <a:pt x="0" y="1211807"/>
                  </a:cubicBezTo>
                  <a:lnTo>
                    <a:pt x="0" y="41480"/>
                  </a:lnTo>
                  <a:cubicBezTo>
                    <a:pt x="0" y="30478"/>
                    <a:pt x="4370" y="19928"/>
                    <a:pt x="12149" y="12149"/>
                  </a:cubicBezTo>
                  <a:cubicBezTo>
                    <a:pt x="19928" y="4370"/>
                    <a:pt x="30478" y="0"/>
                    <a:pt x="4148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507026" cy="1291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52172" y="371951"/>
            <a:ext cx="10408816" cy="4517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怪怪走開,</a:t>
            </a:r>
          </a:p>
          <a:p>
            <a:pPr algn="l">
              <a:lnSpc>
                <a:spcPts val="18233"/>
              </a:lnSpc>
              <a:spcBef>
                <a:spcPct val="0"/>
              </a:spcBef>
            </a:pPr>
            <a:r>
              <a:rPr lang="en-US" sz="13024">
                <a:solidFill>
                  <a:srgbClr val="494F56"/>
                </a:solidFill>
                <a:latin typeface="Noot"/>
                <a:ea typeface="Noot"/>
                <a:cs typeface="Noot"/>
                <a:sym typeface="Noot"/>
              </a:rPr>
              <a:t>       護您安全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5567" y="5461753"/>
            <a:ext cx="8725187" cy="4250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組別:第114502組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指導老師:林育志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組長: 11056001吳想想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組員: 11056035陳雨琦</a:t>
            </a:r>
          </a:p>
          <a:p>
            <a:pPr algn="just">
              <a:lnSpc>
                <a:spcPts val="5634"/>
              </a:lnSpc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11056042李品臻</a:t>
            </a:r>
          </a:p>
          <a:p>
            <a:pPr algn="just">
              <a:lnSpc>
                <a:spcPts val="5634"/>
              </a:lnSpc>
              <a:spcBef>
                <a:spcPct val="0"/>
              </a:spcBef>
            </a:pPr>
            <a:r>
              <a:rPr lang="en-US" sz="4024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        11056045黃思璇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586176" y="1496580"/>
            <a:ext cx="14206380" cy="8138778"/>
            <a:chOff x="0" y="0"/>
            <a:chExt cx="3741598" cy="214354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41598" cy="2143546"/>
            </a:xfrm>
            <a:custGeom>
              <a:avLst/>
              <a:gdLst/>
              <a:ahLst/>
              <a:cxnLst/>
              <a:rect l="l" t="t" r="r" b="b"/>
              <a:pathLst>
                <a:path w="3741598" h="2143546">
                  <a:moveTo>
                    <a:pt x="27793" y="0"/>
                  </a:moveTo>
                  <a:lnTo>
                    <a:pt x="3713805" y="0"/>
                  </a:lnTo>
                  <a:cubicBezTo>
                    <a:pt x="3729155" y="0"/>
                    <a:pt x="3741598" y="12443"/>
                    <a:pt x="3741598" y="27793"/>
                  </a:cubicBezTo>
                  <a:lnTo>
                    <a:pt x="3741598" y="2115753"/>
                  </a:lnTo>
                  <a:cubicBezTo>
                    <a:pt x="3741598" y="2123125"/>
                    <a:pt x="3738670" y="2130194"/>
                    <a:pt x="3733458" y="2135406"/>
                  </a:cubicBezTo>
                  <a:cubicBezTo>
                    <a:pt x="3728245" y="2140618"/>
                    <a:pt x="3721176" y="2143546"/>
                    <a:pt x="3713805" y="2143546"/>
                  </a:cubicBezTo>
                  <a:lnTo>
                    <a:pt x="27793" y="2143546"/>
                  </a:lnTo>
                  <a:cubicBezTo>
                    <a:pt x="12443" y="2143546"/>
                    <a:pt x="0" y="2131103"/>
                    <a:pt x="0" y="2115753"/>
                  </a:cubicBezTo>
                  <a:lnTo>
                    <a:pt x="0" y="27793"/>
                  </a:lnTo>
                  <a:cubicBezTo>
                    <a:pt x="0" y="20422"/>
                    <a:pt x="2928" y="13353"/>
                    <a:pt x="8140" y="8140"/>
                  </a:cubicBezTo>
                  <a:cubicBezTo>
                    <a:pt x="13353" y="2928"/>
                    <a:pt x="20422" y="0"/>
                    <a:pt x="27793" y="0"/>
                  </a:cubicBezTo>
                  <a:close/>
                </a:path>
              </a:pathLst>
            </a:custGeom>
            <a:solidFill>
              <a:srgbClr val="FFFFFF">
                <a:alpha val="76863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741598" cy="21816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TextBox 14"/>
          <p:cNvSpPr txBox="1"/>
          <p:nvPr/>
        </p:nvSpPr>
        <p:spPr>
          <a:xfrm>
            <a:off x="3449378" y="2739591"/>
            <a:ext cx="13809922" cy="5443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三. 系統功能介紹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商業模式圖</a:t>
            </a:r>
          </a:p>
          <a:p>
            <a:pPr algn="l">
              <a:lnSpc>
                <a:spcPts val="8677"/>
              </a:lnSpc>
            </a:pPr>
            <a:r>
              <a:rPr lang="en-US" sz="619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五. 未來展望</a:t>
            </a:r>
          </a:p>
        </p:txBody>
      </p:sp>
      <p:sp>
        <p:nvSpPr>
          <p:cNvPr id="15" name="Freeform 15"/>
          <p:cNvSpPr/>
          <p:nvPr/>
        </p:nvSpPr>
        <p:spPr>
          <a:xfrm>
            <a:off x="11037268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Freeform 16"/>
          <p:cNvSpPr/>
          <p:nvPr/>
        </p:nvSpPr>
        <p:spPr>
          <a:xfrm rot="-10800000">
            <a:off x="-1413279" y="375922"/>
            <a:ext cx="8664010" cy="1120658"/>
          </a:xfrm>
          <a:custGeom>
            <a:avLst/>
            <a:gdLst/>
            <a:ahLst/>
            <a:cxnLst/>
            <a:rect l="l" t="t" r="r" b="b"/>
            <a:pathLst>
              <a:path w="8664010" h="1120658">
                <a:moveTo>
                  <a:pt x="0" y="0"/>
                </a:moveTo>
                <a:lnTo>
                  <a:pt x="8664011" y="0"/>
                </a:lnTo>
                <a:lnTo>
                  <a:pt x="8664011" y="1120658"/>
                </a:lnTo>
                <a:lnTo>
                  <a:pt x="0" y="11206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3533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0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028700" y="1028700"/>
            <a:ext cx="16230600" cy="8852401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597333" y="333685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411418" y="5072736"/>
            <a:ext cx="8464398" cy="4729483"/>
          </a:xfrm>
          <a:custGeom>
            <a:avLst/>
            <a:gdLst/>
            <a:ahLst/>
            <a:cxnLst/>
            <a:rect l="l" t="t" r="r" b="b"/>
            <a:pathLst>
              <a:path w="8464398" h="4729483">
                <a:moveTo>
                  <a:pt x="0" y="0"/>
                </a:moveTo>
                <a:lnTo>
                  <a:pt x="8464399" y="0"/>
                </a:lnTo>
                <a:lnTo>
                  <a:pt x="8464399" y="4729482"/>
                </a:lnTo>
                <a:lnTo>
                  <a:pt x="0" y="47294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Freeform 20"/>
          <p:cNvSpPr/>
          <p:nvPr/>
        </p:nvSpPr>
        <p:spPr>
          <a:xfrm rot="704729">
            <a:off x="818432" y="1191088"/>
            <a:ext cx="7072371" cy="3951687"/>
          </a:xfrm>
          <a:custGeom>
            <a:avLst/>
            <a:gdLst/>
            <a:ahLst/>
            <a:cxnLst/>
            <a:rect l="l" t="t" r="r" b="b"/>
            <a:pathLst>
              <a:path w="7072371" h="3951687">
                <a:moveTo>
                  <a:pt x="0" y="0"/>
                </a:moveTo>
                <a:lnTo>
                  <a:pt x="7072370" y="0"/>
                </a:lnTo>
                <a:lnTo>
                  <a:pt x="7072370" y="3951687"/>
                </a:lnTo>
                <a:lnTo>
                  <a:pt x="0" y="395168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>
            <a:off x="11639541" y="512617"/>
            <a:ext cx="6084397" cy="5873088"/>
          </a:xfrm>
          <a:custGeom>
            <a:avLst/>
            <a:gdLst/>
            <a:ahLst/>
            <a:cxnLst/>
            <a:rect l="l" t="t" r="r" b="b"/>
            <a:pathLst>
              <a:path w="6084397" h="5873088">
                <a:moveTo>
                  <a:pt x="0" y="0"/>
                </a:moveTo>
                <a:lnTo>
                  <a:pt x="6084397" y="0"/>
                </a:lnTo>
                <a:lnTo>
                  <a:pt x="6084397" y="5873087"/>
                </a:lnTo>
                <a:lnTo>
                  <a:pt x="0" y="5873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925" r="-2634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Freeform 22"/>
          <p:cNvSpPr/>
          <p:nvPr/>
        </p:nvSpPr>
        <p:spPr>
          <a:xfrm>
            <a:off x="9292348" y="4847206"/>
            <a:ext cx="7621760" cy="4411094"/>
          </a:xfrm>
          <a:custGeom>
            <a:avLst/>
            <a:gdLst/>
            <a:ahLst/>
            <a:cxnLst/>
            <a:rect l="l" t="t" r="r" b="b"/>
            <a:pathLst>
              <a:path w="7621760" h="4411094">
                <a:moveTo>
                  <a:pt x="0" y="0"/>
                </a:moveTo>
                <a:lnTo>
                  <a:pt x="7621760" y="0"/>
                </a:lnTo>
                <a:lnTo>
                  <a:pt x="7621760" y="4411094"/>
                </a:lnTo>
                <a:lnTo>
                  <a:pt x="0" y="441109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3" name="TextBox 23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08476" y="398317"/>
            <a:ext cx="7907080" cy="2145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</a:t>
            </a:r>
            <a:r>
              <a:rPr lang="en-US" sz="62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背景與動機</a:t>
            </a: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78570" y="-643007"/>
            <a:ext cx="20788475" cy="10980427"/>
            <a:chOff x="0" y="0"/>
            <a:chExt cx="27717966" cy="14640569"/>
          </a:xfrm>
        </p:grpSpPr>
        <p:sp>
          <p:nvSpPr>
            <p:cNvPr id="7" name="Freeform 7"/>
            <p:cNvSpPr/>
            <p:nvPr/>
          </p:nvSpPr>
          <p:spPr>
            <a:xfrm>
              <a:off x="38959" y="153882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1"/>
                  </a:lnTo>
                  <a:lnTo>
                    <a:pt x="0" y="91620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31526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54911" y="6704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7" y="0"/>
                  </a:lnTo>
                  <a:lnTo>
                    <a:pt x="9169717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15951" y="894468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2"/>
                  </a:lnTo>
                  <a:lnTo>
                    <a:pt x="0" y="5609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8248" y="0"/>
              <a:ext cx="9169718" cy="9162070"/>
            </a:xfrm>
            <a:custGeom>
              <a:avLst/>
              <a:gdLst/>
              <a:ahLst/>
              <a:cxnLst/>
              <a:rect l="l" t="t" r="r" b="b"/>
              <a:pathLst>
                <a:path w="9169718" h="9162070">
                  <a:moveTo>
                    <a:pt x="0" y="0"/>
                  </a:moveTo>
                  <a:lnTo>
                    <a:pt x="9169718" y="0"/>
                  </a:lnTo>
                  <a:lnTo>
                    <a:pt x="9169718" y="9162070"/>
                  </a:lnTo>
                  <a:lnTo>
                    <a:pt x="0" y="9162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09289" y="8877644"/>
              <a:ext cx="9208677" cy="5609043"/>
            </a:xfrm>
            <a:custGeom>
              <a:avLst/>
              <a:gdLst/>
              <a:ahLst/>
              <a:cxnLst/>
              <a:rect l="l" t="t" r="r" b="b"/>
              <a:pathLst>
                <a:path w="9208677" h="5609043">
                  <a:moveTo>
                    <a:pt x="0" y="0"/>
                  </a:moveTo>
                  <a:lnTo>
                    <a:pt x="9208677" y="0"/>
                  </a:lnTo>
                  <a:lnTo>
                    <a:pt x="9208677" y="5609043"/>
                  </a:lnTo>
                  <a:lnTo>
                    <a:pt x="0" y="5609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-1946028">
            <a:off x="-482062" y="-4931994"/>
            <a:ext cx="15945596" cy="16423366"/>
          </a:xfrm>
          <a:custGeom>
            <a:avLst/>
            <a:gdLst/>
            <a:ahLst/>
            <a:cxnLst/>
            <a:rect l="l" t="t" r="r" b="b"/>
            <a:pathLst>
              <a:path w="15945596" h="16423366">
                <a:moveTo>
                  <a:pt x="0" y="0"/>
                </a:moveTo>
                <a:lnTo>
                  <a:pt x="15945595" y="0"/>
                </a:lnTo>
                <a:lnTo>
                  <a:pt x="15945595" y="16423367"/>
                </a:lnTo>
                <a:lnTo>
                  <a:pt x="0" y="164233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0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028700" y="1028700"/>
            <a:ext cx="16230600" cy="8852401"/>
            <a:chOff x="0" y="0"/>
            <a:chExt cx="4274726" cy="233149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274726" cy="2331496"/>
            </a:xfrm>
            <a:custGeom>
              <a:avLst/>
              <a:gdLst/>
              <a:ahLst/>
              <a:cxnLst/>
              <a:rect l="l" t="t" r="r" b="b"/>
              <a:pathLst>
                <a:path w="4274726" h="233149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307170"/>
                  </a:lnTo>
                  <a:cubicBezTo>
                    <a:pt x="4274726" y="2320605"/>
                    <a:pt x="4263834" y="2331496"/>
                    <a:pt x="4250399" y="2331496"/>
                  </a:cubicBezTo>
                  <a:lnTo>
                    <a:pt x="24327" y="2331496"/>
                  </a:lnTo>
                  <a:cubicBezTo>
                    <a:pt x="10891" y="2331496"/>
                    <a:pt x="0" y="2320605"/>
                    <a:pt x="0" y="230717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27472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-922393">
            <a:off x="11790760" y="-4171829"/>
            <a:ext cx="8238407" cy="10057863"/>
          </a:xfrm>
          <a:custGeom>
            <a:avLst/>
            <a:gdLst/>
            <a:ahLst/>
            <a:cxnLst/>
            <a:rect l="l" t="t" r="r" b="b"/>
            <a:pathLst>
              <a:path w="8238407" h="10057863">
                <a:moveTo>
                  <a:pt x="0" y="0"/>
                </a:moveTo>
                <a:lnTo>
                  <a:pt x="8238408" y="0"/>
                </a:lnTo>
                <a:lnTo>
                  <a:pt x="8238408" y="10057863"/>
                </a:lnTo>
                <a:lnTo>
                  <a:pt x="0" y="100578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 rot="-922393">
            <a:off x="-9597333" y="333685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41342" y="314742"/>
            <a:ext cx="7907080" cy="2145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80"/>
              </a:lnSpc>
              <a:spcBef>
                <a:spcPct val="0"/>
              </a:spcBef>
            </a:pPr>
            <a:r>
              <a:rPr lang="en-US" sz="62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一. 背景與動機</a:t>
            </a:r>
          </a:p>
          <a:p>
            <a:pPr algn="l">
              <a:lnSpc>
                <a:spcPts val="8680"/>
              </a:lnSpc>
              <a:spcBef>
                <a:spcPct val="0"/>
              </a:spcBef>
            </a:pPr>
            <a:endParaRPr lang="en-US" sz="620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2317873" y="1444596"/>
            <a:ext cx="13395588" cy="8020608"/>
          </a:xfrm>
          <a:custGeom>
            <a:avLst/>
            <a:gdLst/>
            <a:ahLst/>
            <a:cxnLst/>
            <a:rect l="l" t="t" r="r" b="b"/>
            <a:pathLst>
              <a:path w="13395588" h="8020608">
                <a:moveTo>
                  <a:pt x="0" y="0"/>
                </a:moveTo>
                <a:lnTo>
                  <a:pt x="13395588" y="0"/>
                </a:lnTo>
                <a:lnTo>
                  <a:pt x="13395588" y="8020608"/>
                </a:lnTo>
                <a:lnTo>
                  <a:pt x="0" y="802060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5334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二. SWOT分析</a:t>
            </a: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14287"/>
              </a:lnSpc>
              <a:spcBef>
                <a:spcPct val="0"/>
              </a:spcBef>
            </a:pPr>
            <a:endParaRPr lang="en-US" sz="10205">
              <a:solidFill>
                <a:srgbClr val="FFFF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55963"/>
            <a:ext cx="17491126" cy="9378420"/>
            <a:chOff x="0" y="0"/>
            <a:chExt cx="4057722" cy="2175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5676"/>
            </a:xfrm>
            <a:custGeom>
              <a:avLst/>
              <a:gdLst/>
              <a:ahLst/>
              <a:cxnLst/>
              <a:rect l="l" t="t" r="r" b="b"/>
              <a:pathLst>
                <a:path w="4057722" h="2175676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3102"/>
                  </a:lnTo>
                  <a:cubicBezTo>
                    <a:pt x="4057722" y="2159089"/>
                    <a:pt x="4055344" y="2164831"/>
                    <a:pt x="4051111" y="2169065"/>
                  </a:cubicBezTo>
                  <a:cubicBezTo>
                    <a:pt x="4046877" y="2173298"/>
                    <a:pt x="4041136" y="2175676"/>
                    <a:pt x="4035149" y="2175676"/>
                  </a:cubicBezTo>
                  <a:lnTo>
                    <a:pt x="22574" y="2175676"/>
                  </a:lnTo>
                  <a:cubicBezTo>
                    <a:pt x="16587" y="2175676"/>
                    <a:pt x="10845" y="2173298"/>
                    <a:pt x="6612" y="2169065"/>
                  </a:cubicBezTo>
                  <a:cubicBezTo>
                    <a:pt x="2378" y="2164831"/>
                    <a:pt x="0" y="2159089"/>
                    <a:pt x="0" y="2153102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37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20514" y="355963"/>
            <a:ext cx="7555907" cy="3021098"/>
            <a:chOff x="0" y="0"/>
            <a:chExt cx="1990033" cy="7956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2598589" y="3310385"/>
            <a:ext cx="4788053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優勢 (STRENGTHS)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6231" y="1270695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96252" y="624669"/>
            <a:ext cx="347174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市場機會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010086" y="1697425"/>
            <a:ext cx="6366335" cy="1206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缺乏整合型防護平台，</a:t>
            </a:r>
          </a:p>
          <a:p>
            <a:pPr algn="l">
              <a:lnSpc>
                <a:spcPts val="4883"/>
              </a:lnSpc>
              <a:spcBef>
                <a:spcPct val="0"/>
              </a:spcBef>
            </a:pPr>
            <a:r>
              <a:rPr lang="en-US" sz="34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具有先發優勢，市場競爭者尚少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064985" y="3666218"/>
            <a:ext cx="7555907" cy="3021098"/>
            <a:chOff x="0" y="0"/>
            <a:chExt cx="1990033" cy="7956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90033" cy="795680"/>
            </a:xfrm>
            <a:custGeom>
              <a:avLst/>
              <a:gdLst/>
              <a:ahLst/>
              <a:cxnLst/>
              <a:rect l="l" t="t" r="r" b="b"/>
              <a:pathLst>
                <a:path w="1990033" h="795680">
                  <a:moveTo>
                    <a:pt x="52256" y="0"/>
                  </a:moveTo>
                  <a:lnTo>
                    <a:pt x="1937777" y="0"/>
                  </a:lnTo>
                  <a:cubicBezTo>
                    <a:pt x="1966637" y="0"/>
                    <a:pt x="1990033" y="23396"/>
                    <a:pt x="1990033" y="52256"/>
                  </a:cubicBezTo>
                  <a:lnTo>
                    <a:pt x="1990033" y="743425"/>
                  </a:lnTo>
                  <a:cubicBezTo>
                    <a:pt x="1990033" y="772284"/>
                    <a:pt x="1966637" y="795680"/>
                    <a:pt x="1937777" y="795680"/>
                  </a:cubicBezTo>
                  <a:lnTo>
                    <a:pt x="52256" y="795680"/>
                  </a:lnTo>
                  <a:cubicBezTo>
                    <a:pt x="23396" y="795680"/>
                    <a:pt x="0" y="772284"/>
                    <a:pt x="0" y="743425"/>
                  </a:cubicBezTo>
                  <a:lnTo>
                    <a:pt x="0" y="52256"/>
                  </a:lnTo>
                  <a:cubicBezTo>
                    <a:pt x="0" y="23396"/>
                    <a:pt x="23396" y="0"/>
                    <a:pt x="52256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990033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098045" y="3869650"/>
            <a:ext cx="5843061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功能整合</a:t>
            </a:r>
            <a:r>
              <a:rPr lang="en-US" sz="450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+ </a:t>
            </a: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合作擴展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193253" y="4287170"/>
            <a:ext cx="6366335" cy="2878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</a:pPr>
            <a:endParaRPr dirty="0"/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求助、回報、匿名社群功能完整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匿名聊天室交流，減少焦慮與壓力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免費商家認證，創造雙贏</a:t>
            </a: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4603"/>
              </a:lnSpc>
              <a:spcBef>
                <a:spcPct val="0"/>
              </a:spcBef>
            </a:pPr>
            <a:endParaRPr lang="en-US" sz="328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25" name="Group 25"/>
          <p:cNvGrpSpPr/>
          <p:nvPr/>
        </p:nvGrpSpPr>
        <p:grpSpPr>
          <a:xfrm>
            <a:off x="1677271" y="6391695"/>
            <a:ext cx="8278964" cy="3021098"/>
            <a:chOff x="0" y="0"/>
            <a:chExt cx="2180468" cy="79568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80468" cy="795680"/>
            </a:xfrm>
            <a:custGeom>
              <a:avLst/>
              <a:gdLst/>
              <a:ahLst/>
              <a:cxnLst/>
              <a:rect l="l" t="t" r="r" b="b"/>
              <a:pathLst>
                <a:path w="2180468" h="795680">
                  <a:moveTo>
                    <a:pt x="47692" y="0"/>
                  </a:moveTo>
                  <a:lnTo>
                    <a:pt x="2132776" y="0"/>
                  </a:lnTo>
                  <a:cubicBezTo>
                    <a:pt x="2145425" y="0"/>
                    <a:pt x="2157555" y="5025"/>
                    <a:pt x="2166499" y="13969"/>
                  </a:cubicBezTo>
                  <a:cubicBezTo>
                    <a:pt x="2175443" y="22913"/>
                    <a:pt x="2180468" y="35043"/>
                    <a:pt x="2180468" y="47692"/>
                  </a:cubicBezTo>
                  <a:lnTo>
                    <a:pt x="2180468" y="747988"/>
                  </a:lnTo>
                  <a:cubicBezTo>
                    <a:pt x="2180468" y="760637"/>
                    <a:pt x="2175443" y="772768"/>
                    <a:pt x="2166499" y="781711"/>
                  </a:cubicBezTo>
                  <a:cubicBezTo>
                    <a:pt x="2157555" y="790655"/>
                    <a:pt x="2145425" y="795680"/>
                    <a:pt x="2132776" y="795680"/>
                  </a:cubicBezTo>
                  <a:lnTo>
                    <a:pt x="47692" y="795680"/>
                  </a:lnTo>
                  <a:cubicBezTo>
                    <a:pt x="35043" y="795680"/>
                    <a:pt x="22913" y="790655"/>
                    <a:pt x="13969" y="781711"/>
                  </a:cubicBezTo>
                  <a:cubicBezTo>
                    <a:pt x="5025" y="772768"/>
                    <a:pt x="0" y="760637"/>
                    <a:pt x="0" y="747988"/>
                  </a:cubicBezTo>
                  <a:lnTo>
                    <a:pt x="0" y="47692"/>
                  </a:lnTo>
                  <a:cubicBezTo>
                    <a:pt x="0" y="35043"/>
                    <a:pt x="5025" y="22913"/>
                    <a:pt x="13969" y="13969"/>
                  </a:cubicBezTo>
                  <a:cubicBezTo>
                    <a:pt x="22913" y="5025"/>
                    <a:pt x="35043" y="0"/>
                    <a:pt x="47692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180468" cy="833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167613" y="6443582"/>
            <a:ext cx="5673498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技術選型策略明確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515975" y="7353756"/>
            <a:ext cx="11329135" cy="2224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低成本運營(PWA架構降低成)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擴展彈性大，未來可依需求擴充功能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r>
              <a:rPr lang="en-US" sz="31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收集回報數據，分析異常事件，準確預警</a:t>
            </a:r>
          </a:p>
          <a:p>
            <a:pPr algn="l">
              <a:lnSpc>
                <a:spcPts val="4463"/>
              </a:lnSpc>
              <a:spcBef>
                <a:spcPct val="0"/>
              </a:spcBef>
            </a:pPr>
            <a:endParaRPr lang="en-US" sz="3188" b="1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772400" y="4509486"/>
            <a:ext cx="10085047" cy="2064508"/>
            <a:chOff x="0" y="0"/>
            <a:chExt cx="2656144" cy="54373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656144" cy="543739"/>
            </a:xfrm>
            <a:custGeom>
              <a:avLst/>
              <a:gdLst/>
              <a:ahLst/>
              <a:cxnLst/>
              <a:rect l="l" t="t" r="r" b="b"/>
              <a:pathLst>
                <a:path w="2656144" h="543739">
                  <a:moveTo>
                    <a:pt x="39151" y="0"/>
                  </a:moveTo>
                  <a:lnTo>
                    <a:pt x="2616993" y="0"/>
                  </a:lnTo>
                  <a:cubicBezTo>
                    <a:pt x="2627377" y="0"/>
                    <a:pt x="2637335" y="4125"/>
                    <a:pt x="2644677" y="11467"/>
                  </a:cubicBezTo>
                  <a:cubicBezTo>
                    <a:pt x="2652019" y="18809"/>
                    <a:pt x="2656144" y="28767"/>
                    <a:pt x="2656144" y="39151"/>
                  </a:cubicBezTo>
                  <a:lnTo>
                    <a:pt x="2656144" y="504588"/>
                  </a:lnTo>
                  <a:cubicBezTo>
                    <a:pt x="2656144" y="514971"/>
                    <a:pt x="2652019" y="524929"/>
                    <a:pt x="2644677" y="532272"/>
                  </a:cubicBezTo>
                  <a:cubicBezTo>
                    <a:pt x="2637335" y="539614"/>
                    <a:pt x="2627377" y="543739"/>
                    <a:pt x="2616993" y="543739"/>
                  </a:cubicBezTo>
                  <a:lnTo>
                    <a:pt x="39151" y="543739"/>
                  </a:lnTo>
                  <a:cubicBezTo>
                    <a:pt x="17528" y="543739"/>
                    <a:pt x="0" y="526210"/>
                    <a:pt x="0" y="504588"/>
                  </a:cubicBezTo>
                  <a:lnTo>
                    <a:pt x="0" y="39151"/>
                  </a:lnTo>
                  <a:cubicBezTo>
                    <a:pt x="0" y="28767"/>
                    <a:pt x="4125" y="18809"/>
                    <a:pt x="11467" y="11467"/>
                  </a:cubicBezTo>
                  <a:cubicBezTo>
                    <a:pt x="18809" y="4125"/>
                    <a:pt x="28767" y="0"/>
                    <a:pt x="39151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656144" cy="5818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236064" y="3231830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機會(OPPORTUNITIES)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663804" y="393020"/>
            <a:ext cx="743287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外部環境助力，擴大發展潛能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17226" y="1297838"/>
            <a:ext cx="7824925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安全意識提升，個人防護工具需求成長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8773157" y="2343962"/>
            <a:ext cx="8944956" cy="1909086"/>
            <a:chOff x="0" y="0"/>
            <a:chExt cx="2355873" cy="50280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355873" cy="502804"/>
            </a:xfrm>
            <a:custGeom>
              <a:avLst/>
              <a:gdLst/>
              <a:ahLst/>
              <a:cxnLst/>
              <a:rect l="l" t="t" r="r" b="b"/>
              <a:pathLst>
                <a:path w="2355873" h="502804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458664"/>
                  </a:lnTo>
                  <a:cubicBezTo>
                    <a:pt x="2355873" y="470371"/>
                    <a:pt x="2351223" y="481598"/>
                    <a:pt x="2342945" y="489876"/>
                  </a:cubicBezTo>
                  <a:cubicBezTo>
                    <a:pt x="2334667" y="498154"/>
                    <a:pt x="2323439" y="502804"/>
                    <a:pt x="2311732" y="502804"/>
                  </a:cubicBezTo>
                  <a:lnTo>
                    <a:pt x="44141" y="502804"/>
                  </a:lnTo>
                  <a:cubicBezTo>
                    <a:pt x="32434" y="502804"/>
                    <a:pt x="21207" y="498154"/>
                    <a:pt x="12929" y="489876"/>
                  </a:cubicBezTo>
                  <a:cubicBezTo>
                    <a:pt x="4651" y="481598"/>
                    <a:pt x="0" y="470371"/>
                    <a:pt x="0" y="458664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355873" cy="5409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8820253" y="2457042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07295" y="3388928"/>
            <a:ext cx="6513597" cy="613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23"/>
              </a:lnSpc>
              <a:spcBef>
                <a:spcPct val="0"/>
              </a:spcBef>
            </a:pPr>
            <a:r>
              <a:rPr lang="en-US" sz="35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社群媒體擴散力強，推廣效益高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918074" y="4457700"/>
            <a:ext cx="329902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CSR </a:t>
            </a: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合作機會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0439400" y="5291398"/>
            <a:ext cx="7597813" cy="118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43"/>
              </a:lnSpc>
              <a:spcBef>
                <a:spcPct val="0"/>
              </a:spcBef>
            </a:pPr>
            <a:r>
              <a:rPr lang="en-US" sz="338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企業有意願透過贊助強化社會責任形象，可創造資金與品牌合作雙贏</a:t>
            </a:r>
            <a:r>
              <a:rPr lang="en-US" sz="3388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。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861637" y="6738857"/>
            <a:ext cx="9604334" cy="2574831"/>
            <a:chOff x="0" y="0"/>
            <a:chExt cx="2529536" cy="67814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529536" cy="678145"/>
            </a:xfrm>
            <a:custGeom>
              <a:avLst/>
              <a:gdLst/>
              <a:ahLst/>
              <a:cxnLst/>
              <a:rect l="l" t="t" r="r" b="b"/>
              <a:pathLst>
                <a:path w="2529536" h="678145">
                  <a:moveTo>
                    <a:pt x="41110" y="0"/>
                  </a:moveTo>
                  <a:lnTo>
                    <a:pt x="2488426" y="0"/>
                  </a:lnTo>
                  <a:cubicBezTo>
                    <a:pt x="2511131" y="0"/>
                    <a:pt x="2529536" y="18406"/>
                    <a:pt x="2529536" y="41110"/>
                  </a:cubicBezTo>
                  <a:lnTo>
                    <a:pt x="2529536" y="637034"/>
                  </a:lnTo>
                  <a:cubicBezTo>
                    <a:pt x="2529536" y="659739"/>
                    <a:pt x="2511131" y="678145"/>
                    <a:pt x="2488426" y="678145"/>
                  </a:cubicBezTo>
                  <a:lnTo>
                    <a:pt x="41110" y="678145"/>
                  </a:lnTo>
                  <a:cubicBezTo>
                    <a:pt x="18406" y="678145"/>
                    <a:pt x="0" y="659739"/>
                    <a:pt x="0" y="637034"/>
                  </a:cubicBezTo>
                  <a:lnTo>
                    <a:pt x="0" y="41110"/>
                  </a:lnTo>
                  <a:cubicBezTo>
                    <a:pt x="0" y="18406"/>
                    <a:pt x="18406" y="0"/>
                    <a:pt x="41110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529536" cy="7162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993079" y="6929357"/>
            <a:ext cx="343058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政府政策支持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708372" y="7969122"/>
            <a:ext cx="7555632" cy="1135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03"/>
              </a:lnSpc>
              <a:spcBef>
                <a:spcPct val="0"/>
              </a:spcBef>
            </a:pPr>
            <a:r>
              <a:rPr lang="en-US" sz="3288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與治安、婦幼保護、智慧城市發展等目標一致，有機會爭取補助或納入計畫。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391315"/>
            <a:chOff x="0" y="0"/>
            <a:chExt cx="4057722" cy="21786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178668"/>
            </a:xfrm>
            <a:custGeom>
              <a:avLst/>
              <a:gdLst/>
              <a:ahLst/>
              <a:cxnLst/>
              <a:rect l="l" t="t" r="r" b="b"/>
              <a:pathLst>
                <a:path w="4057722" h="21786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156094"/>
                  </a:lnTo>
                  <a:cubicBezTo>
                    <a:pt x="4057722" y="2162081"/>
                    <a:pt x="4055344" y="2167823"/>
                    <a:pt x="4051111" y="2172056"/>
                  </a:cubicBezTo>
                  <a:cubicBezTo>
                    <a:pt x="4046877" y="2176289"/>
                    <a:pt x="4041136" y="2178668"/>
                    <a:pt x="4035149" y="2178668"/>
                  </a:cubicBezTo>
                  <a:lnTo>
                    <a:pt x="22574" y="2178668"/>
                  </a:lnTo>
                  <a:cubicBezTo>
                    <a:pt x="16587" y="2178668"/>
                    <a:pt x="10845" y="2176289"/>
                    <a:pt x="6612" y="2172056"/>
                  </a:cubicBezTo>
                  <a:cubicBezTo>
                    <a:pt x="2378" y="2167823"/>
                    <a:pt x="0" y="2162081"/>
                    <a:pt x="0" y="21560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2167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33634" y="5604502"/>
            <a:ext cx="10664193" cy="3653798"/>
            <a:chOff x="0" y="0"/>
            <a:chExt cx="2808676" cy="96231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962317"/>
            </a:xfrm>
            <a:custGeom>
              <a:avLst/>
              <a:gdLst/>
              <a:ahLst/>
              <a:cxnLst/>
              <a:rect l="l" t="t" r="r" b="b"/>
              <a:pathLst>
                <a:path w="2808676" h="962317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925293"/>
                  </a:lnTo>
                  <a:cubicBezTo>
                    <a:pt x="2808676" y="945741"/>
                    <a:pt x="2792100" y="962317"/>
                    <a:pt x="2771652" y="962317"/>
                  </a:cubicBezTo>
                  <a:lnTo>
                    <a:pt x="37025" y="962317"/>
                  </a:lnTo>
                  <a:cubicBezTo>
                    <a:pt x="16576" y="962317"/>
                    <a:pt x="0" y="945741"/>
                    <a:pt x="0" y="925293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1000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029930" y="31127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劣勢(WEAKNESSES)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20690" y="802476"/>
            <a:ext cx="8110935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 初期數據量少，信任建立需時間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991702" y="2746200"/>
            <a:ext cx="5562497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缺乏即時執法權限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152645" y="3746182"/>
            <a:ext cx="9135355" cy="1029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系統能發送警示與求救，但無法直接處理危險事件，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r>
              <a:rPr lang="en-US" sz="29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仍需仰賴警方與第三方單位介入。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54389" y="5909302"/>
            <a:ext cx="6289378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資源有限，擴展速度有限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80542" y="7071295"/>
            <a:ext cx="7995329" cy="1852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初期人力與資金有限，新增功能、推廣速度可能無法快速對應市場需求。</a:t>
            </a:r>
          </a:p>
          <a:p>
            <a:pPr algn="l">
              <a:lnSpc>
                <a:spcPts val="4987"/>
              </a:lnSpc>
              <a:spcBef>
                <a:spcPct val="0"/>
              </a:spcBef>
            </a:pPr>
            <a:r>
              <a:rPr lang="en-US" sz="35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平台初期曝光度不足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26987" y="343068"/>
            <a:ext cx="17491126" cy="9943932"/>
            <a:chOff x="0" y="0"/>
            <a:chExt cx="4057722" cy="230686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057722" cy="2306868"/>
            </a:xfrm>
            <a:custGeom>
              <a:avLst/>
              <a:gdLst/>
              <a:ahLst/>
              <a:cxnLst/>
              <a:rect l="l" t="t" r="r" b="b"/>
              <a:pathLst>
                <a:path w="4057722" h="2306868">
                  <a:moveTo>
                    <a:pt x="22574" y="0"/>
                  </a:moveTo>
                  <a:lnTo>
                    <a:pt x="4035149" y="0"/>
                  </a:lnTo>
                  <a:cubicBezTo>
                    <a:pt x="4041136" y="0"/>
                    <a:pt x="4046877" y="2378"/>
                    <a:pt x="4051111" y="6612"/>
                  </a:cubicBezTo>
                  <a:cubicBezTo>
                    <a:pt x="4055344" y="10845"/>
                    <a:pt x="4057722" y="16587"/>
                    <a:pt x="4057722" y="22574"/>
                  </a:cubicBezTo>
                  <a:lnTo>
                    <a:pt x="4057722" y="2284294"/>
                  </a:lnTo>
                  <a:cubicBezTo>
                    <a:pt x="4057722" y="2290281"/>
                    <a:pt x="4055344" y="2296023"/>
                    <a:pt x="4051111" y="2300256"/>
                  </a:cubicBezTo>
                  <a:cubicBezTo>
                    <a:pt x="4046877" y="2304490"/>
                    <a:pt x="4041136" y="2306868"/>
                    <a:pt x="4035149" y="2306868"/>
                  </a:cubicBezTo>
                  <a:lnTo>
                    <a:pt x="22574" y="2306868"/>
                  </a:lnTo>
                  <a:cubicBezTo>
                    <a:pt x="16587" y="2306868"/>
                    <a:pt x="10845" y="2304490"/>
                    <a:pt x="6612" y="2300256"/>
                  </a:cubicBezTo>
                  <a:cubicBezTo>
                    <a:pt x="2378" y="2296023"/>
                    <a:pt x="0" y="2290281"/>
                    <a:pt x="0" y="2284294"/>
                  </a:cubicBezTo>
                  <a:lnTo>
                    <a:pt x="0" y="22574"/>
                  </a:lnTo>
                  <a:cubicBezTo>
                    <a:pt x="0" y="16587"/>
                    <a:pt x="2378" y="10845"/>
                    <a:pt x="6612" y="6612"/>
                  </a:cubicBezTo>
                  <a:cubicBezTo>
                    <a:pt x="10845" y="2378"/>
                    <a:pt x="16587" y="0"/>
                    <a:pt x="2257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057722" cy="2344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34115" y="343068"/>
            <a:ext cx="10263711" cy="1715144"/>
            <a:chOff x="0" y="0"/>
            <a:chExt cx="2703200" cy="45172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3200" cy="451725"/>
            </a:xfrm>
            <a:custGeom>
              <a:avLst/>
              <a:gdLst/>
              <a:ahLst/>
              <a:cxnLst/>
              <a:rect l="l" t="t" r="r" b="b"/>
              <a:pathLst>
                <a:path w="2703200" h="451725">
                  <a:moveTo>
                    <a:pt x="38469" y="0"/>
                  </a:moveTo>
                  <a:lnTo>
                    <a:pt x="2664730" y="0"/>
                  </a:lnTo>
                  <a:cubicBezTo>
                    <a:pt x="2685976" y="0"/>
                    <a:pt x="2703200" y="17223"/>
                    <a:pt x="2703200" y="38469"/>
                  </a:cubicBezTo>
                  <a:lnTo>
                    <a:pt x="2703200" y="413256"/>
                  </a:lnTo>
                  <a:cubicBezTo>
                    <a:pt x="2703200" y="423459"/>
                    <a:pt x="2699147" y="433243"/>
                    <a:pt x="2691932" y="440458"/>
                  </a:cubicBezTo>
                  <a:cubicBezTo>
                    <a:pt x="2684718" y="447672"/>
                    <a:pt x="2674933" y="451725"/>
                    <a:pt x="2664730" y="451725"/>
                  </a:cubicBezTo>
                  <a:lnTo>
                    <a:pt x="38469" y="451725"/>
                  </a:lnTo>
                  <a:cubicBezTo>
                    <a:pt x="28267" y="451725"/>
                    <a:pt x="18482" y="447672"/>
                    <a:pt x="11267" y="440458"/>
                  </a:cubicBezTo>
                  <a:cubicBezTo>
                    <a:pt x="4053" y="433243"/>
                    <a:pt x="0" y="423459"/>
                    <a:pt x="0" y="413256"/>
                  </a:cubicBezTo>
                  <a:lnTo>
                    <a:pt x="0" y="38469"/>
                  </a:lnTo>
                  <a:cubicBezTo>
                    <a:pt x="0" y="28267"/>
                    <a:pt x="4053" y="18482"/>
                    <a:pt x="11267" y="11267"/>
                  </a:cubicBezTo>
                  <a:cubicBezTo>
                    <a:pt x="18482" y="4053"/>
                    <a:pt x="28267" y="0"/>
                    <a:pt x="3846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703200" cy="489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595107" y="5490918"/>
            <a:ext cx="10664193" cy="2076778"/>
            <a:chOff x="0" y="0"/>
            <a:chExt cx="2808676" cy="54697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808676" cy="546970"/>
            </a:xfrm>
            <a:custGeom>
              <a:avLst/>
              <a:gdLst/>
              <a:ahLst/>
              <a:cxnLst/>
              <a:rect l="l" t="t" r="r" b="b"/>
              <a:pathLst>
                <a:path w="2808676" h="546970">
                  <a:moveTo>
                    <a:pt x="37025" y="0"/>
                  </a:moveTo>
                  <a:lnTo>
                    <a:pt x="2771652" y="0"/>
                  </a:lnTo>
                  <a:cubicBezTo>
                    <a:pt x="2792100" y="0"/>
                    <a:pt x="2808676" y="16576"/>
                    <a:pt x="2808676" y="37025"/>
                  </a:cubicBezTo>
                  <a:lnTo>
                    <a:pt x="2808676" y="509946"/>
                  </a:lnTo>
                  <a:cubicBezTo>
                    <a:pt x="2808676" y="519765"/>
                    <a:pt x="2804776" y="529183"/>
                    <a:pt x="2797832" y="536126"/>
                  </a:cubicBezTo>
                  <a:cubicBezTo>
                    <a:pt x="2790889" y="543069"/>
                    <a:pt x="2781471" y="546970"/>
                    <a:pt x="2771652" y="546970"/>
                  </a:cubicBezTo>
                  <a:lnTo>
                    <a:pt x="37025" y="546970"/>
                  </a:lnTo>
                  <a:cubicBezTo>
                    <a:pt x="16576" y="546970"/>
                    <a:pt x="0" y="530394"/>
                    <a:pt x="0" y="509946"/>
                  </a:cubicBezTo>
                  <a:lnTo>
                    <a:pt x="0" y="37025"/>
                  </a:lnTo>
                  <a:cubicBezTo>
                    <a:pt x="0" y="16576"/>
                    <a:pt x="16576" y="0"/>
                    <a:pt x="3702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808676" cy="5850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-1335089" y="-2910718"/>
            <a:ext cx="9515631" cy="9440025"/>
          </a:xfrm>
          <a:custGeom>
            <a:avLst/>
            <a:gdLst/>
            <a:ahLst/>
            <a:cxnLst/>
            <a:rect l="l" t="t" r="r" b="b"/>
            <a:pathLst>
              <a:path w="9515631" h="9440025">
                <a:moveTo>
                  <a:pt x="0" y="0"/>
                </a:moveTo>
                <a:lnTo>
                  <a:pt x="9515631" y="0"/>
                </a:lnTo>
                <a:lnTo>
                  <a:pt x="9515631" y="9440025"/>
                </a:lnTo>
                <a:lnTo>
                  <a:pt x="0" y="94400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773622" y="3312403"/>
            <a:ext cx="5791814" cy="64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3"/>
              </a:lnSpc>
              <a:spcBef>
                <a:spcPct val="0"/>
              </a:spcBef>
            </a:pPr>
            <a:r>
              <a:rPr lang="en-US" sz="3802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威脅 (THREATS)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9521" y="1423368"/>
            <a:ext cx="6224283" cy="142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69"/>
              </a:lnSpc>
              <a:spcBef>
                <a:spcPct val="0"/>
              </a:spcBef>
            </a:pPr>
            <a:r>
              <a:rPr lang="en-US" sz="8406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 SWOT分析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9116" y="802476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競爭對手進入市場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769561" y="2506395"/>
            <a:ext cx="8944956" cy="2502598"/>
            <a:chOff x="0" y="0"/>
            <a:chExt cx="2355873" cy="6591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55873" cy="659120"/>
            </a:xfrm>
            <a:custGeom>
              <a:avLst/>
              <a:gdLst/>
              <a:ahLst/>
              <a:cxnLst/>
              <a:rect l="l" t="t" r="r" b="b"/>
              <a:pathLst>
                <a:path w="2355873" h="659120">
                  <a:moveTo>
                    <a:pt x="44141" y="0"/>
                  </a:moveTo>
                  <a:lnTo>
                    <a:pt x="2311732" y="0"/>
                  </a:lnTo>
                  <a:cubicBezTo>
                    <a:pt x="2336111" y="0"/>
                    <a:pt x="2355873" y="19763"/>
                    <a:pt x="2355873" y="44141"/>
                  </a:cubicBezTo>
                  <a:lnTo>
                    <a:pt x="2355873" y="614980"/>
                  </a:lnTo>
                  <a:cubicBezTo>
                    <a:pt x="2355873" y="626686"/>
                    <a:pt x="2351223" y="637914"/>
                    <a:pt x="2342945" y="646192"/>
                  </a:cubicBezTo>
                  <a:cubicBezTo>
                    <a:pt x="2334667" y="654470"/>
                    <a:pt x="2323439" y="659120"/>
                    <a:pt x="2311732" y="659120"/>
                  </a:cubicBezTo>
                  <a:lnTo>
                    <a:pt x="44141" y="659120"/>
                  </a:lnTo>
                  <a:cubicBezTo>
                    <a:pt x="32434" y="659120"/>
                    <a:pt x="21207" y="654470"/>
                    <a:pt x="12929" y="646192"/>
                  </a:cubicBezTo>
                  <a:cubicBezTo>
                    <a:pt x="4651" y="637914"/>
                    <a:pt x="0" y="626686"/>
                    <a:pt x="0" y="614980"/>
                  </a:cubicBezTo>
                  <a:lnTo>
                    <a:pt x="0" y="44141"/>
                  </a:lnTo>
                  <a:cubicBezTo>
                    <a:pt x="0" y="32434"/>
                    <a:pt x="4651" y="21207"/>
                    <a:pt x="12929" y="12929"/>
                  </a:cubicBezTo>
                  <a:cubicBezTo>
                    <a:pt x="21207" y="4651"/>
                    <a:pt x="32434" y="0"/>
                    <a:pt x="44141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355873" cy="6972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893030" y="2775348"/>
            <a:ext cx="5900613" cy="7791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隱私與法律風險存在</a:t>
            </a:r>
            <a:endParaRPr lang="en-US" sz="450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263971" y="3727847"/>
            <a:ext cx="9135355" cy="1553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(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用戶回報、聊天室交流可能涉及個資洩漏、誹謗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，</a:t>
            </a:r>
          </a:p>
          <a:p>
            <a:pPr algn="l">
              <a:lnSpc>
                <a:spcPts val="4147"/>
              </a:lnSpc>
            </a:pP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2962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若處理不慎，會引發法律問題與信任危機</a:t>
            </a:r>
            <a:r>
              <a:rPr lang="en-US" sz="2962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)</a:t>
            </a:r>
          </a:p>
          <a:p>
            <a:pPr algn="l">
              <a:lnSpc>
                <a:spcPts val="4147"/>
              </a:lnSpc>
              <a:spcBef>
                <a:spcPct val="0"/>
              </a:spcBef>
            </a:pPr>
            <a:endParaRPr lang="en-US" sz="2962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086600" y="5649372"/>
            <a:ext cx="4574084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使用者活躍度下降</a:t>
            </a:r>
            <a:endParaRPr lang="en-US" sz="4502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6788055"/>
            <a:ext cx="7995329" cy="555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  <a:spcBef>
                <a:spcPct val="0"/>
              </a:spcBef>
            </a:pPr>
            <a:r>
              <a:rPr lang="en-US" sz="32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過度通知可能會導致用戶疲乏、逐漸流失。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812465" y="7777245"/>
            <a:ext cx="9906113" cy="2189306"/>
            <a:chOff x="0" y="0"/>
            <a:chExt cx="2609017" cy="576607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609017" cy="576607"/>
            </a:xfrm>
            <a:custGeom>
              <a:avLst/>
              <a:gdLst/>
              <a:ahLst/>
              <a:cxnLst/>
              <a:rect l="l" t="t" r="r" b="b"/>
              <a:pathLst>
                <a:path w="2609017" h="576607">
                  <a:moveTo>
                    <a:pt x="39858" y="0"/>
                  </a:moveTo>
                  <a:lnTo>
                    <a:pt x="2569159" y="0"/>
                  </a:lnTo>
                  <a:cubicBezTo>
                    <a:pt x="2579730" y="0"/>
                    <a:pt x="2589868" y="4199"/>
                    <a:pt x="2597343" y="11674"/>
                  </a:cubicBezTo>
                  <a:cubicBezTo>
                    <a:pt x="2604818" y="19149"/>
                    <a:pt x="2609017" y="29287"/>
                    <a:pt x="2609017" y="39858"/>
                  </a:cubicBezTo>
                  <a:lnTo>
                    <a:pt x="2609017" y="536749"/>
                  </a:lnTo>
                  <a:cubicBezTo>
                    <a:pt x="2609017" y="547320"/>
                    <a:pt x="2604818" y="557458"/>
                    <a:pt x="2597343" y="564933"/>
                  </a:cubicBezTo>
                  <a:cubicBezTo>
                    <a:pt x="2589868" y="572408"/>
                    <a:pt x="2579730" y="576607"/>
                    <a:pt x="2569159" y="576607"/>
                  </a:cubicBezTo>
                  <a:lnTo>
                    <a:pt x="39858" y="576607"/>
                  </a:lnTo>
                  <a:cubicBezTo>
                    <a:pt x="29287" y="576607"/>
                    <a:pt x="19149" y="572408"/>
                    <a:pt x="11674" y="564933"/>
                  </a:cubicBezTo>
                  <a:cubicBezTo>
                    <a:pt x="4199" y="557458"/>
                    <a:pt x="0" y="547320"/>
                    <a:pt x="0" y="536749"/>
                  </a:cubicBezTo>
                  <a:lnTo>
                    <a:pt x="0" y="39858"/>
                  </a:lnTo>
                  <a:cubicBezTo>
                    <a:pt x="0" y="29287"/>
                    <a:pt x="4199" y="19149"/>
                    <a:pt x="11674" y="11674"/>
                  </a:cubicBezTo>
                  <a:cubicBezTo>
                    <a:pt x="19149" y="4199"/>
                    <a:pt x="29287" y="0"/>
                    <a:pt x="39858" y="0"/>
                  </a:cubicBezTo>
                  <a:close/>
                </a:path>
              </a:pathLst>
            </a:custGeom>
            <a:solidFill>
              <a:srgbClr val="137064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609017" cy="614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077059" y="7815345"/>
            <a:ext cx="5717580" cy="771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3"/>
              </a:lnSpc>
              <a:spcBef>
                <a:spcPct val="0"/>
              </a:spcBef>
            </a:pPr>
            <a:r>
              <a:rPr lang="en-US" sz="4502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負面公關事件擴散風險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228370" y="9091638"/>
            <a:ext cx="8490208" cy="489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07"/>
              </a:lnSpc>
              <a:spcBef>
                <a:spcPct val="0"/>
              </a:spcBef>
            </a:pPr>
            <a:r>
              <a:rPr lang="en-US" sz="2862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一旦誤報或資訊外洩事件，可能導致信任度急速下滑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809193"/>
            <a:ext cx="13535106" cy="180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858"/>
              </a:lnSpc>
              <a:spcBef>
                <a:spcPct val="0"/>
              </a:spcBef>
            </a:pPr>
            <a:r>
              <a:rPr lang="en-US" sz="10613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252598" y="1135322"/>
            <a:ext cx="7275487" cy="8024982"/>
          </a:xfrm>
          <a:custGeom>
            <a:avLst/>
            <a:gdLst/>
            <a:ahLst/>
            <a:cxnLst/>
            <a:rect l="l" t="t" r="r" b="b"/>
            <a:pathLst>
              <a:path w="7275487" h="8024982">
                <a:moveTo>
                  <a:pt x="0" y="0"/>
                </a:moveTo>
                <a:lnTo>
                  <a:pt x="7275487" y="0"/>
                </a:lnTo>
                <a:lnTo>
                  <a:pt x="7275487" y="8024982"/>
                </a:lnTo>
                <a:lnTo>
                  <a:pt x="0" y="80249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21010" r="-85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7784393" y="146028"/>
            <a:ext cx="10304151" cy="10487685"/>
          </a:xfrm>
          <a:custGeom>
            <a:avLst/>
            <a:gdLst/>
            <a:ahLst/>
            <a:cxnLst/>
            <a:rect l="l" t="t" r="r" b="b"/>
            <a:pathLst>
              <a:path w="10304151" h="10487685">
                <a:moveTo>
                  <a:pt x="0" y="0"/>
                </a:moveTo>
                <a:lnTo>
                  <a:pt x="10304151" y="0"/>
                </a:lnTo>
                <a:lnTo>
                  <a:pt x="10304151" y="10487685"/>
                </a:lnTo>
                <a:lnTo>
                  <a:pt x="0" y="1048768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479606" y="-171450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功能-個人管理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93643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635649" cy="5204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用戶可快速上傳事件，選擇顯示名稱、事件分類與地點資訊。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經審核通過的資料將顯示於對應分類地圖，使用者進入騷擾事件熱點，也能收到通知，有效協助使用者提高警覺。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回報成功可獲得積分，並可累積用戶等級，提升功能使用意願。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86902" y="2572677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事件填單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093" b="-14093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9102" y="8601742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6" name="Freeform 6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2" name="Freeform 12"/>
          <p:cNvSpPr/>
          <p:nvPr/>
        </p:nvSpPr>
        <p:spPr>
          <a:xfrm>
            <a:off x="9144000" y="3631327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560157" y="884087"/>
            <a:ext cx="17304722" cy="8374213"/>
            <a:chOff x="0" y="0"/>
            <a:chExt cx="4557622" cy="220555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57622" cy="2205554"/>
            </a:xfrm>
            <a:custGeom>
              <a:avLst/>
              <a:gdLst/>
              <a:ahLst/>
              <a:cxnLst/>
              <a:rect l="l" t="t" r="r" b="b"/>
              <a:pathLst>
                <a:path w="4557622" h="2205554">
                  <a:moveTo>
                    <a:pt x="22817" y="0"/>
                  </a:moveTo>
                  <a:lnTo>
                    <a:pt x="4534805" y="0"/>
                  </a:lnTo>
                  <a:cubicBezTo>
                    <a:pt x="4547407" y="0"/>
                    <a:pt x="4557622" y="10215"/>
                    <a:pt x="4557622" y="22817"/>
                  </a:cubicBezTo>
                  <a:lnTo>
                    <a:pt x="4557622" y="2182737"/>
                  </a:lnTo>
                  <a:cubicBezTo>
                    <a:pt x="4557622" y="2195338"/>
                    <a:pt x="4547407" y="2205554"/>
                    <a:pt x="4534805" y="2205554"/>
                  </a:cubicBezTo>
                  <a:lnTo>
                    <a:pt x="22817" y="2205554"/>
                  </a:lnTo>
                  <a:cubicBezTo>
                    <a:pt x="10215" y="2205554"/>
                    <a:pt x="0" y="2195338"/>
                    <a:pt x="0" y="2182737"/>
                  </a:cubicBezTo>
                  <a:lnTo>
                    <a:pt x="0" y="22817"/>
                  </a:lnTo>
                  <a:cubicBezTo>
                    <a:pt x="0" y="10215"/>
                    <a:pt x="10215" y="0"/>
                    <a:pt x="228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57622" cy="22436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886902" y="3257077"/>
            <a:ext cx="14114786" cy="4157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endParaRPr/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提供商家申請表單，讓使用者可填寫並上傳商家資訊。</a:t>
            </a:r>
          </a:p>
          <a:p>
            <a:pPr algn="l">
              <a:lnSpc>
                <a:spcPts val="4151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系統會根據使用時間與位置，顯示附近營業中的安全商家地圖，</a:t>
            </a:r>
          </a:p>
          <a:p>
            <a:pPr algn="l">
              <a:lnSpc>
                <a:spcPts val="4151"/>
              </a:lnSpc>
            </a:pPr>
            <a:r>
              <a:rPr lang="en-US" sz="395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並可直接點擊商家聯絡電話進行聯繫。</a:t>
            </a: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5535"/>
              </a:lnSpc>
            </a:pPr>
            <a:endParaRPr lang="en-US" sz="395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 rot="-997594">
            <a:off x="15020124" y="2737814"/>
            <a:ext cx="6535751" cy="5024359"/>
          </a:xfrm>
          <a:custGeom>
            <a:avLst/>
            <a:gdLst/>
            <a:ahLst/>
            <a:cxnLst/>
            <a:rect l="l" t="t" r="r" b="b"/>
            <a:pathLst>
              <a:path w="6535751" h="5024359">
                <a:moveTo>
                  <a:pt x="0" y="0"/>
                </a:moveTo>
                <a:lnTo>
                  <a:pt x="6535752" y="0"/>
                </a:lnTo>
                <a:lnTo>
                  <a:pt x="6535752" y="5024359"/>
                </a:lnTo>
                <a:lnTo>
                  <a:pt x="0" y="50243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452258" y="1083574"/>
            <a:ext cx="7383483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902" y="2721702"/>
            <a:ext cx="14939486" cy="672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35"/>
              </a:lnSpc>
            </a:pPr>
            <a:r>
              <a:rPr lang="en-US" sz="3954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商家申請填單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997594">
            <a:off x="16379870" y="5839901"/>
            <a:ext cx="3816260" cy="2933750"/>
          </a:xfrm>
          <a:custGeom>
            <a:avLst/>
            <a:gdLst/>
            <a:ahLst/>
            <a:cxnLst/>
            <a:rect l="l" t="t" r="r" b="b"/>
            <a:pathLst>
              <a:path w="3816260" h="2933750">
                <a:moveTo>
                  <a:pt x="0" y="0"/>
                </a:moveTo>
                <a:lnTo>
                  <a:pt x="3816260" y="0"/>
                </a:lnTo>
                <a:lnTo>
                  <a:pt x="3816260" y="2933750"/>
                </a:lnTo>
                <a:lnTo>
                  <a:pt x="0" y="2933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3000"/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>
            <a:off x="3430087" y="1185908"/>
            <a:ext cx="11406123" cy="8494527"/>
          </a:xfrm>
          <a:custGeom>
            <a:avLst/>
            <a:gdLst/>
            <a:ahLst/>
            <a:cxnLst/>
            <a:rect l="l" t="t" r="r" b="b"/>
            <a:pathLst>
              <a:path w="11406123" h="8494527">
                <a:moveTo>
                  <a:pt x="0" y="0"/>
                </a:moveTo>
                <a:lnTo>
                  <a:pt x="11406123" y="0"/>
                </a:lnTo>
                <a:lnTo>
                  <a:pt x="11406123" y="8494528"/>
                </a:lnTo>
                <a:lnTo>
                  <a:pt x="0" y="84945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12" r="-1902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4" name="TextBox 4"/>
          <p:cNvSpPr txBox="1"/>
          <p:nvPr/>
        </p:nvSpPr>
        <p:spPr>
          <a:xfrm>
            <a:off x="13583828" y="-104775"/>
            <a:ext cx="5456678" cy="89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6"/>
              </a:lnSpc>
            </a:pPr>
            <a:r>
              <a:rPr lang="en-US" sz="517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功能-我要填單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9287" y="9220200"/>
            <a:ext cx="1677114" cy="266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0"/>
              </a:lnSpc>
              <a:spcBef>
                <a:spcPct val="0"/>
              </a:spcBef>
            </a:pPr>
            <a:r>
              <a:rPr lang="en-US" sz="1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55960" y="971002"/>
            <a:ext cx="12332040" cy="8606817"/>
            <a:chOff x="0" y="0"/>
            <a:chExt cx="3247945" cy="226681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47945" cy="2266816"/>
            </a:xfrm>
            <a:custGeom>
              <a:avLst/>
              <a:gdLst/>
              <a:ahLst/>
              <a:cxnLst/>
              <a:rect l="l" t="t" r="r" b="b"/>
              <a:pathLst>
                <a:path w="3247945" h="2266816">
                  <a:moveTo>
                    <a:pt x="32017" y="0"/>
                  </a:moveTo>
                  <a:lnTo>
                    <a:pt x="3215928" y="0"/>
                  </a:lnTo>
                  <a:cubicBezTo>
                    <a:pt x="3233610" y="0"/>
                    <a:pt x="3247945" y="14335"/>
                    <a:pt x="3247945" y="32017"/>
                  </a:cubicBezTo>
                  <a:lnTo>
                    <a:pt x="3247945" y="2234799"/>
                  </a:lnTo>
                  <a:cubicBezTo>
                    <a:pt x="3247945" y="2243290"/>
                    <a:pt x="3244572" y="2251434"/>
                    <a:pt x="3238567" y="2257438"/>
                  </a:cubicBezTo>
                  <a:cubicBezTo>
                    <a:pt x="3232563" y="2263443"/>
                    <a:pt x="3224419" y="2266816"/>
                    <a:pt x="3215928" y="2266816"/>
                  </a:cubicBezTo>
                  <a:lnTo>
                    <a:pt x="32017" y="2266816"/>
                  </a:lnTo>
                  <a:cubicBezTo>
                    <a:pt x="14335" y="2266816"/>
                    <a:pt x="0" y="2252481"/>
                    <a:pt x="0" y="2234799"/>
                  </a:cubicBezTo>
                  <a:lnTo>
                    <a:pt x="0" y="32017"/>
                  </a:lnTo>
                  <a:cubicBezTo>
                    <a:pt x="0" y="23526"/>
                    <a:pt x="3373" y="15382"/>
                    <a:pt x="9378" y="9378"/>
                  </a:cubicBezTo>
                  <a:cubicBezTo>
                    <a:pt x="15382" y="3373"/>
                    <a:pt x="23526" y="0"/>
                    <a:pt x="32017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247945" cy="23049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92087">
            <a:off x="16028872" y="2862743"/>
            <a:ext cx="2218509" cy="3062805"/>
            <a:chOff x="0" y="0"/>
            <a:chExt cx="2958012" cy="408374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958012" cy="4083741"/>
            </a:xfrm>
            <a:custGeom>
              <a:avLst/>
              <a:gdLst/>
              <a:ahLst/>
              <a:cxnLst/>
              <a:rect l="l" t="t" r="r" b="b"/>
              <a:pathLst>
                <a:path w="2958012" h="4083741">
                  <a:moveTo>
                    <a:pt x="0" y="0"/>
                  </a:moveTo>
                  <a:lnTo>
                    <a:pt x="2958012" y="0"/>
                  </a:lnTo>
                  <a:lnTo>
                    <a:pt x="2958012" y="4083741"/>
                  </a:lnTo>
                  <a:lnTo>
                    <a:pt x="0" y="4083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91000"/>
              </a:blip>
              <a:stretch>
                <a:fillRect t="-1592" b="-159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8"/>
            <p:cNvSpPr/>
            <p:nvPr/>
          </p:nvSpPr>
          <p:spPr>
            <a:xfrm rot="-618166">
              <a:off x="920194" y="1519066"/>
              <a:ext cx="1461444" cy="1372477"/>
            </a:xfrm>
            <a:custGeom>
              <a:avLst/>
              <a:gdLst/>
              <a:ahLst/>
              <a:cxnLst/>
              <a:rect l="l" t="t" r="r" b="b"/>
              <a:pathLst>
                <a:path w="1461444" h="1372477">
                  <a:moveTo>
                    <a:pt x="0" y="0"/>
                  </a:moveTo>
                  <a:lnTo>
                    <a:pt x="1461444" y="0"/>
                  </a:lnTo>
                  <a:lnTo>
                    <a:pt x="1461444" y="1372478"/>
                  </a:lnTo>
                  <a:lnTo>
                    <a:pt x="0" y="1372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80000"/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2174623" y="1186648"/>
              <a:ext cx="224881" cy="212793"/>
            </a:xfrm>
            <a:custGeom>
              <a:avLst/>
              <a:gdLst/>
              <a:ahLst/>
              <a:cxnLst/>
              <a:rect l="l" t="t" r="r" b="b"/>
              <a:pathLst>
                <a:path w="224881" h="212793">
                  <a:moveTo>
                    <a:pt x="0" y="0"/>
                  </a:moveTo>
                  <a:lnTo>
                    <a:pt x="224880" y="0"/>
                  </a:lnTo>
                  <a:lnTo>
                    <a:pt x="224880" y="212793"/>
                  </a:lnTo>
                  <a:lnTo>
                    <a:pt x="0" y="212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497907" y="2462024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896723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973228" y="207288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1097386" y="2528235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3"/>
                  </a:lnTo>
                  <a:lnTo>
                    <a:pt x="0" y="132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165883" y="259673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1250395" y="2258997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021614" y="2395813"/>
              <a:ext cx="153009" cy="132422"/>
            </a:xfrm>
            <a:custGeom>
              <a:avLst/>
              <a:gdLst/>
              <a:ahLst/>
              <a:cxnLst/>
              <a:rect l="l" t="t" r="r" b="b"/>
              <a:pathLst>
                <a:path w="153009" h="132422">
                  <a:moveTo>
                    <a:pt x="0" y="0"/>
                  </a:moveTo>
                  <a:lnTo>
                    <a:pt x="153009" y="0"/>
                  </a:lnTo>
                  <a:lnTo>
                    <a:pt x="153009" y="132422"/>
                  </a:lnTo>
                  <a:lnTo>
                    <a:pt x="0" y="132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136755" y="2689042"/>
            <a:ext cx="11303340" cy="6700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4"/>
              </a:lnSpc>
            </a:pPr>
            <a:r>
              <a:rPr lang="en-US" sz="50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📍 我的地圖功能說明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案件篩選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→使用者可依案件類型與發生時間自訂篩選條件　</a:t>
            </a:r>
          </a:p>
          <a:p>
            <a:pPr algn="just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　　例如：尾隨｜30日內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視覺化熱區分析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</a:p>
          <a:p>
            <a:pPr algn="l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→直觀呈現高風險地點，幫助用戶掌握潛在危險區域</a:t>
            </a:r>
          </a:p>
          <a:p>
            <a:pPr marL="794909" lvl="1" indent="-397455" algn="l">
              <a:lnSpc>
                <a:spcPts val="5154"/>
              </a:lnSpc>
              <a:buFont typeface="Arial"/>
              <a:buChar char="•"/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安全路徑規劃</a:t>
            </a:r>
          </a:p>
          <a:p>
            <a:pPr algn="ctr">
              <a:lnSpc>
                <a:spcPts val="5154"/>
              </a:lnSpc>
            </a:pPr>
            <a:r>
              <a:rPr lang="en-US" sz="368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</a:t>
            </a: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→根據使用者輸入的起點和目的地結合案件分布，</a:t>
            </a:r>
          </a:p>
          <a:p>
            <a:pPr algn="ctr">
              <a:lnSpc>
                <a:spcPts val="5154"/>
              </a:lnSpc>
            </a:pPr>
            <a:r>
              <a:rPr lang="en-US" sz="368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規劃避開危險地點的最佳路線，提升行走安全</a:t>
            </a:r>
          </a:p>
          <a:p>
            <a:pPr algn="l">
              <a:lnSpc>
                <a:spcPts val="5014"/>
              </a:lnSpc>
            </a:pPr>
            <a:endParaRPr lang="en-US" sz="368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8" name="Freeform 28"/>
          <p:cNvSpPr/>
          <p:nvPr/>
        </p:nvSpPr>
        <p:spPr>
          <a:xfrm rot="5528538">
            <a:off x="11727020" y="-42432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9" name="Freeform 29"/>
          <p:cNvSpPr/>
          <p:nvPr/>
        </p:nvSpPr>
        <p:spPr>
          <a:xfrm>
            <a:off x="267285" y="971002"/>
            <a:ext cx="5479869" cy="8606817"/>
          </a:xfrm>
          <a:custGeom>
            <a:avLst/>
            <a:gdLst/>
            <a:ahLst/>
            <a:cxnLst/>
            <a:rect l="l" t="t" r="r" b="b"/>
            <a:pathLst>
              <a:path w="5479869" h="8606817">
                <a:moveTo>
                  <a:pt x="0" y="0"/>
                </a:moveTo>
                <a:lnTo>
                  <a:pt x="5479869" y="0"/>
                </a:lnTo>
                <a:lnTo>
                  <a:pt x="5479869" y="8606817"/>
                </a:lnTo>
                <a:lnTo>
                  <a:pt x="0" y="86068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3435" r="-34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6646535" y="946389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功能-我的地圖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  <p:sp>
        <p:nvSpPr>
          <p:cNvPr id="32" name="Freeform 32"/>
          <p:cNvSpPr/>
          <p:nvPr/>
        </p:nvSpPr>
        <p:spPr>
          <a:xfrm rot="5528538">
            <a:off x="11879420" y="-4090811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2"/>
                </a:lnTo>
                <a:lnTo>
                  <a:pt x="0" y="138337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39000"/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910481" y="862621"/>
            <a:ext cx="11901385" cy="8598783"/>
            <a:chOff x="0" y="0"/>
            <a:chExt cx="3134521" cy="22647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134521" cy="2264700"/>
            </a:xfrm>
            <a:custGeom>
              <a:avLst/>
              <a:gdLst/>
              <a:ahLst/>
              <a:cxnLst/>
              <a:rect l="l" t="t" r="r" b="b"/>
              <a:pathLst>
                <a:path w="3134521" h="2264700">
                  <a:moveTo>
                    <a:pt x="33176" y="0"/>
                  </a:moveTo>
                  <a:lnTo>
                    <a:pt x="3101345" y="0"/>
                  </a:lnTo>
                  <a:cubicBezTo>
                    <a:pt x="3110144" y="0"/>
                    <a:pt x="3118583" y="3495"/>
                    <a:pt x="3124804" y="9717"/>
                  </a:cubicBezTo>
                  <a:cubicBezTo>
                    <a:pt x="3131026" y="15939"/>
                    <a:pt x="3134521" y="24377"/>
                    <a:pt x="3134521" y="33176"/>
                  </a:cubicBezTo>
                  <a:lnTo>
                    <a:pt x="3134521" y="2231524"/>
                  </a:lnTo>
                  <a:cubicBezTo>
                    <a:pt x="3134521" y="2240323"/>
                    <a:pt x="3131026" y="2248761"/>
                    <a:pt x="3124804" y="2254983"/>
                  </a:cubicBezTo>
                  <a:cubicBezTo>
                    <a:pt x="3118583" y="2261205"/>
                    <a:pt x="3110144" y="2264700"/>
                    <a:pt x="3101345" y="2264700"/>
                  </a:cubicBezTo>
                  <a:lnTo>
                    <a:pt x="33176" y="2264700"/>
                  </a:lnTo>
                  <a:cubicBezTo>
                    <a:pt x="24377" y="2264700"/>
                    <a:pt x="15939" y="2261205"/>
                    <a:pt x="9717" y="2254983"/>
                  </a:cubicBezTo>
                  <a:cubicBezTo>
                    <a:pt x="3495" y="2248761"/>
                    <a:pt x="0" y="2240323"/>
                    <a:pt x="0" y="2231524"/>
                  </a:cubicBezTo>
                  <a:lnTo>
                    <a:pt x="0" y="33176"/>
                  </a:lnTo>
                  <a:cubicBezTo>
                    <a:pt x="0" y="24377"/>
                    <a:pt x="3495" y="15939"/>
                    <a:pt x="9717" y="9717"/>
                  </a:cubicBezTo>
                  <a:cubicBezTo>
                    <a:pt x="15939" y="3495"/>
                    <a:pt x="24377" y="0"/>
                    <a:pt x="3317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134521" cy="2302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384239" y="2456249"/>
            <a:ext cx="10922686" cy="7005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04"/>
              </a:lnSpc>
            </a:pPr>
            <a:r>
              <a:rPr lang="en-US" sz="44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🛟 快速避難空間機制</a:t>
            </a:r>
          </a:p>
          <a:p>
            <a:pPr marL="956760" lvl="1" indent="-478380" algn="l">
              <a:lnSpc>
                <a:spcPts val="6204"/>
              </a:lnSpc>
              <a:buFont typeface="Arial"/>
              <a:buChar char="•"/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臨時避難空間查詢</a:t>
            </a:r>
          </a:p>
          <a:p>
            <a:pPr algn="just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→可即時檢視附近「已認證」且「目前時段開放」的避難店家</a:t>
            </a:r>
          </a:p>
          <a:p>
            <a:pPr algn="just">
              <a:lnSpc>
                <a:spcPts val="620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84"/>
              </a:lnSpc>
            </a:pPr>
            <a:r>
              <a:rPr lang="en-US" sz="46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  </a:t>
            </a:r>
            <a:r>
              <a:rPr lang="en-US" sz="4631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商家申請機制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 →通過認證後</a:t>
            </a:r>
          </a:p>
          <a:p>
            <a:pPr algn="l">
              <a:lnSpc>
                <a:spcPts val="6204"/>
              </a:lnSpc>
            </a:pPr>
            <a:r>
              <a:rPr lang="en-US" sz="4431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店家可獲得一個月免費宣傳，提升參與意願</a:t>
            </a:r>
          </a:p>
          <a:p>
            <a:pPr algn="l">
              <a:lnSpc>
                <a:spcPts val="5924"/>
              </a:lnSpc>
            </a:pPr>
            <a:endParaRPr lang="en-US" sz="4431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316136" y="862621"/>
            <a:ext cx="5104816" cy="8598783"/>
          </a:xfrm>
          <a:custGeom>
            <a:avLst/>
            <a:gdLst/>
            <a:ahLst/>
            <a:cxnLst/>
            <a:rect l="l" t="t" r="r" b="b"/>
            <a:pathLst>
              <a:path w="5104816" h="8598783">
                <a:moveTo>
                  <a:pt x="0" y="0"/>
                </a:moveTo>
                <a:lnTo>
                  <a:pt x="5104816" y="0"/>
                </a:lnTo>
                <a:lnTo>
                  <a:pt x="5104816" y="8598783"/>
                </a:lnTo>
                <a:lnTo>
                  <a:pt x="0" y="85987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4010" b="-410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467795" y="6385704"/>
            <a:ext cx="500226" cy="517151"/>
          </a:xfrm>
          <a:custGeom>
            <a:avLst/>
            <a:gdLst/>
            <a:ahLst/>
            <a:cxnLst/>
            <a:rect l="l" t="t" r="r" b="b"/>
            <a:pathLst>
              <a:path w="500226" h="517151">
                <a:moveTo>
                  <a:pt x="0" y="0"/>
                </a:moveTo>
                <a:lnTo>
                  <a:pt x="500226" y="0"/>
                </a:lnTo>
                <a:lnTo>
                  <a:pt x="500226" y="517152"/>
                </a:lnTo>
                <a:lnTo>
                  <a:pt x="0" y="5171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68021" y="864944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功能-安全合作商家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3200" y="803080"/>
            <a:ext cx="17324328" cy="8774739"/>
            <a:chOff x="0" y="0"/>
            <a:chExt cx="4562786" cy="23110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562786" cy="2311042"/>
            </a:xfrm>
            <a:custGeom>
              <a:avLst/>
              <a:gdLst/>
              <a:ahLst/>
              <a:cxnLst/>
              <a:rect l="l" t="t" r="r" b="b"/>
              <a:pathLst>
                <a:path w="4562786" h="2311042">
                  <a:moveTo>
                    <a:pt x="22791" y="0"/>
                  </a:moveTo>
                  <a:lnTo>
                    <a:pt x="4539995" y="0"/>
                  </a:lnTo>
                  <a:cubicBezTo>
                    <a:pt x="4552582" y="0"/>
                    <a:pt x="4562786" y="10204"/>
                    <a:pt x="4562786" y="22791"/>
                  </a:cubicBezTo>
                  <a:lnTo>
                    <a:pt x="4562786" y="2288251"/>
                  </a:lnTo>
                  <a:cubicBezTo>
                    <a:pt x="4562786" y="2300838"/>
                    <a:pt x="4552582" y="2311042"/>
                    <a:pt x="4539995" y="2311042"/>
                  </a:cubicBezTo>
                  <a:lnTo>
                    <a:pt x="22791" y="2311042"/>
                  </a:lnTo>
                  <a:cubicBezTo>
                    <a:pt x="10204" y="2311042"/>
                    <a:pt x="0" y="2300838"/>
                    <a:pt x="0" y="2288251"/>
                  </a:cubicBezTo>
                  <a:lnTo>
                    <a:pt x="0" y="22791"/>
                  </a:lnTo>
                  <a:cubicBezTo>
                    <a:pt x="0" y="10204"/>
                    <a:pt x="10204" y="0"/>
                    <a:pt x="22791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562786" cy="23491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358975" y="857250"/>
            <a:ext cx="8580286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功能-匿名聊天室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0" y="7885363"/>
            <a:ext cx="6894808" cy="1305057"/>
            <a:chOff x="0" y="0"/>
            <a:chExt cx="1815916" cy="3437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815916" cy="343719"/>
            </a:xfrm>
            <a:custGeom>
              <a:avLst/>
              <a:gdLst/>
              <a:ahLst/>
              <a:cxnLst/>
              <a:rect l="l" t="t" r="r" b="b"/>
              <a:pathLst>
                <a:path w="1815916" h="343719">
                  <a:moveTo>
                    <a:pt x="57266" y="0"/>
                  </a:moveTo>
                  <a:lnTo>
                    <a:pt x="1758651" y="0"/>
                  </a:lnTo>
                  <a:cubicBezTo>
                    <a:pt x="1790278" y="0"/>
                    <a:pt x="1815916" y="25639"/>
                    <a:pt x="1815916" y="57266"/>
                  </a:cubicBezTo>
                  <a:lnTo>
                    <a:pt x="1815916" y="286453"/>
                  </a:lnTo>
                  <a:cubicBezTo>
                    <a:pt x="1815916" y="318080"/>
                    <a:pt x="1790278" y="343719"/>
                    <a:pt x="1758651" y="343719"/>
                  </a:cubicBezTo>
                  <a:lnTo>
                    <a:pt x="57266" y="343719"/>
                  </a:lnTo>
                  <a:cubicBezTo>
                    <a:pt x="25639" y="343719"/>
                    <a:pt x="0" y="318080"/>
                    <a:pt x="0" y="286453"/>
                  </a:cubicBezTo>
                  <a:lnTo>
                    <a:pt x="0" y="57266"/>
                  </a:lnTo>
                  <a:cubicBezTo>
                    <a:pt x="0" y="25639"/>
                    <a:pt x="25639" y="0"/>
                    <a:pt x="57266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815916" cy="381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513067" y="2229481"/>
            <a:ext cx="8746233" cy="5956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32"/>
              </a:lnSpc>
            </a:pPr>
            <a:r>
              <a:rPr lang="en-US" sz="5808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💬 聊天室設計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聊天室分類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→依縣市／里別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→可選擇事件類別深入交流</a:t>
            </a:r>
          </a:p>
          <a:p>
            <a:pPr marL="875561" lvl="1" indent="-437780" algn="l">
              <a:lnSpc>
                <a:spcPts val="5677"/>
              </a:lnSpc>
              <a:buFont typeface="Arial"/>
              <a:buChar char="•"/>
            </a:pPr>
            <a:r>
              <a:rPr lang="en-US" sz="405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熱門聊天室推薦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→根據活躍度推薦熱議主題</a:t>
            </a:r>
          </a:p>
          <a:p>
            <a:pPr algn="l">
              <a:lnSpc>
                <a:spcPts val="5677"/>
              </a:lnSpc>
            </a:pPr>
            <a:r>
              <a:rPr lang="en-US" sz="40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   →一鍵加入，快速參與</a:t>
            </a:r>
          </a:p>
          <a:p>
            <a:pPr algn="l">
              <a:lnSpc>
                <a:spcPts val="5180"/>
              </a:lnSpc>
            </a:pPr>
            <a:endParaRPr lang="en-US" sz="4055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1028700" y="2651696"/>
            <a:ext cx="7484367" cy="6606604"/>
          </a:xfrm>
          <a:custGeom>
            <a:avLst/>
            <a:gdLst/>
            <a:ahLst/>
            <a:cxnLst/>
            <a:rect l="l" t="t" r="r" b="b"/>
            <a:pathLst>
              <a:path w="7484367" h="6606604">
                <a:moveTo>
                  <a:pt x="0" y="0"/>
                </a:moveTo>
                <a:lnTo>
                  <a:pt x="7484367" y="0"/>
                </a:lnTo>
                <a:lnTo>
                  <a:pt x="7484367" y="6606604"/>
                </a:lnTo>
                <a:lnTo>
                  <a:pt x="0" y="66066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85" r="-78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299049" y="8057164"/>
            <a:ext cx="6584710" cy="90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用戶隱私與平台安全保障 :</a:t>
            </a:r>
          </a:p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發言內容送出前由 AI 審核，過濾不當言論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9621911"/>
            <a:ext cx="3727450" cy="562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7"/>
              </a:lnSpc>
              <a:spcBef>
                <a:spcPct val="0"/>
              </a:spcBef>
            </a:pPr>
            <a:r>
              <a:rPr lang="en-US" sz="33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(此圖片僅為示意圖)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30291" y="117305"/>
            <a:ext cx="7246604" cy="9465535"/>
            <a:chOff x="0" y="0"/>
            <a:chExt cx="1908571" cy="249298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8571" cy="2492981"/>
            </a:xfrm>
            <a:custGeom>
              <a:avLst/>
              <a:gdLst/>
              <a:ahLst/>
              <a:cxnLst/>
              <a:rect l="l" t="t" r="r" b="b"/>
              <a:pathLst>
                <a:path w="1908571" h="2492981">
                  <a:moveTo>
                    <a:pt x="54486" y="0"/>
                  </a:moveTo>
                  <a:lnTo>
                    <a:pt x="1854085" y="0"/>
                  </a:lnTo>
                  <a:cubicBezTo>
                    <a:pt x="1868535" y="0"/>
                    <a:pt x="1882394" y="5740"/>
                    <a:pt x="1892612" y="15959"/>
                  </a:cubicBezTo>
                  <a:cubicBezTo>
                    <a:pt x="1902830" y="26177"/>
                    <a:pt x="1908571" y="40035"/>
                    <a:pt x="1908571" y="54486"/>
                  </a:cubicBezTo>
                  <a:lnTo>
                    <a:pt x="1908571" y="2438495"/>
                  </a:lnTo>
                  <a:cubicBezTo>
                    <a:pt x="1908571" y="2452945"/>
                    <a:pt x="1902830" y="2466804"/>
                    <a:pt x="1892612" y="2477022"/>
                  </a:cubicBezTo>
                  <a:cubicBezTo>
                    <a:pt x="1882394" y="2487240"/>
                    <a:pt x="1868535" y="2492981"/>
                    <a:pt x="1854085" y="2492981"/>
                  </a:cubicBezTo>
                  <a:lnTo>
                    <a:pt x="54486" y="2492981"/>
                  </a:lnTo>
                  <a:cubicBezTo>
                    <a:pt x="24394" y="2492981"/>
                    <a:pt x="0" y="2468586"/>
                    <a:pt x="0" y="2438495"/>
                  </a:cubicBezTo>
                  <a:lnTo>
                    <a:pt x="0" y="54486"/>
                  </a:lnTo>
                  <a:cubicBezTo>
                    <a:pt x="0" y="40035"/>
                    <a:pt x="5740" y="26177"/>
                    <a:pt x="15959" y="15959"/>
                  </a:cubicBezTo>
                  <a:cubicBezTo>
                    <a:pt x="26177" y="5740"/>
                    <a:pt x="40035" y="0"/>
                    <a:pt x="54486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908571" cy="25310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417733" y="2150521"/>
            <a:ext cx="7020107" cy="4370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31"/>
              </a:lnSpc>
            </a:pPr>
            <a:r>
              <a:rPr lang="en-US" sz="5022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設立交流區目的🫂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使用者可匿名或用暱稱發文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讓他人提高警覺避免受害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分享親身經驗或目擊事件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提醒社區居民注意</a:t>
            </a:r>
          </a:p>
          <a:p>
            <a:pPr marL="857649" lvl="1" indent="-428825" algn="l">
              <a:lnSpc>
                <a:spcPts val="5561"/>
              </a:lnSpc>
              <a:buFont typeface="Arial"/>
              <a:buChar char="•"/>
            </a:pPr>
            <a:r>
              <a:rPr lang="en-US" sz="397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抒發情緒與壓力</a:t>
            </a:r>
          </a:p>
        </p:txBody>
      </p:sp>
      <p:sp>
        <p:nvSpPr>
          <p:cNvPr id="17" name="Freeform 17"/>
          <p:cNvSpPr/>
          <p:nvPr/>
        </p:nvSpPr>
        <p:spPr>
          <a:xfrm>
            <a:off x="121225" y="117305"/>
            <a:ext cx="5091189" cy="9680436"/>
          </a:xfrm>
          <a:custGeom>
            <a:avLst/>
            <a:gdLst/>
            <a:ahLst/>
            <a:cxnLst/>
            <a:rect l="l" t="t" r="r" b="b"/>
            <a:pathLst>
              <a:path w="5091189" h="9680436">
                <a:moveTo>
                  <a:pt x="0" y="0"/>
                </a:moveTo>
                <a:lnTo>
                  <a:pt x="5091189" y="0"/>
                </a:lnTo>
                <a:lnTo>
                  <a:pt x="5091189" y="9680436"/>
                </a:lnTo>
                <a:lnTo>
                  <a:pt x="0" y="96804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351" r="-321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5870291" y="363522"/>
            <a:ext cx="4930422" cy="1227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43"/>
              </a:lnSpc>
            </a:pPr>
            <a:r>
              <a:rPr lang="en-US" sz="7173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功能-交流區</a:t>
            </a:r>
          </a:p>
        </p:txBody>
      </p:sp>
      <p:sp>
        <p:nvSpPr>
          <p:cNvPr id="19" name="Freeform 19"/>
          <p:cNvSpPr/>
          <p:nvPr/>
        </p:nvSpPr>
        <p:spPr>
          <a:xfrm>
            <a:off x="13094772" y="117305"/>
            <a:ext cx="5757812" cy="9465535"/>
          </a:xfrm>
          <a:custGeom>
            <a:avLst/>
            <a:gdLst/>
            <a:ahLst/>
            <a:cxnLst/>
            <a:rect l="l" t="t" r="r" b="b"/>
            <a:pathLst>
              <a:path w="5757812" h="9465535">
                <a:moveTo>
                  <a:pt x="0" y="0"/>
                </a:moveTo>
                <a:lnTo>
                  <a:pt x="5757811" y="0"/>
                </a:lnTo>
                <a:lnTo>
                  <a:pt x="5757811" y="9465535"/>
                </a:lnTo>
                <a:lnTo>
                  <a:pt x="0" y="94655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5502" r="-1313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2945160" y="5057775"/>
            <a:ext cx="2099965" cy="763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33"/>
              </a:lnSpc>
              <a:spcBef>
                <a:spcPct val="0"/>
              </a:spcBef>
            </a:pPr>
            <a:r>
              <a:rPr lang="en-US" sz="4452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(發文前)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5593070" y="7207564"/>
            <a:ext cx="6922051" cy="1762940"/>
            <a:chOff x="0" y="0"/>
            <a:chExt cx="1823092" cy="4643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23092" cy="464313"/>
            </a:xfrm>
            <a:custGeom>
              <a:avLst/>
              <a:gdLst/>
              <a:ahLst/>
              <a:cxnLst/>
              <a:rect l="l" t="t" r="r" b="b"/>
              <a:pathLst>
                <a:path w="1823092" h="464313">
                  <a:moveTo>
                    <a:pt x="57041" y="0"/>
                  </a:moveTo>
                  <a:lnTo>
                    <a:pt x="1766051" y="0"/>
                  </a:lnTo>
                  <a:cubicBezTo>
                    <a:pt x="1781179" y="0"/>
                    <a:pt x="1795688" y="6010"/>
                    <a:pt x="1806385" y="16707"/>
                  </a:cubicBezTo>
                  <a:cubicBezTo>
                    <a:pt x="1817082" y="27404"/>
                    <a:pt x="1823092" y="41912"/>
                    <a:pt x="1823092" y="57041"/>
                  </a:cubicBezTo>
                  <a:lnTo>
                    <a:pt x="1823092" y="407273"/>
                  </a:lnTo>
                  <a:cubicBezTo>
                    <a:pt x="1823092" y="422401"/>
                    <a:pt x="1817082" y="436909"/>
                    <a:pt x="1806385" y="447607"/>
                  </a:cubicBezTo>
                  <a:cubicBezTo>
                    <a:pt x="1795688" y="458304"/>
                    <a:pt x="1781179" y="464313"/>
                    <a:pt x="1766051" y="464313"/>
                  </a:cubicBezTo>
                  <a:lnTo>
                    <a:pt x="57041" y="464313"/>
                  </a:lnTo>
                  <a:cubicBezTo>
                    <a:pt x="41912" y="464313"/>
                    <a:pt x="27404" y="458304"/>
                    <a:pt x="16707" y="447607"/>
                  </a:cubicBezTo>
                  <a:cubicBezTo>
                    <a:pt x="6010" y="436909"/>
                    <a:pt x="0" y="422401"/>
                    <a:pt x="0" y="407273"/>
                  </a:cubicBezTo>
                  <a:lnTo>
                    <a:pt x="0" y="57041"/>
                  </a:lnTo>
                  <a:cubicBezTo>
                    <a:pt x="0" y="41912"/>
                    <a:pt x="6010" y="27404"/>
                    <a:pt x="16707" y="16707"/>
                  </a:cubicBezTo>
                  <a:cubicBezTo>
                    <a:pt x="27404" y="6010"/>
                    <a:pt x="41912" y="0"/>
                    <a:pt x="57041" y="0"/>
                  </a:cubicBezTo>
                  <a:close/>
                </a:path>
              </a:pathLst>
            </a:custGeom>
            <a:solidFill>
              <a:srgbClr val="C9C9C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823092" cy="502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5821585" y="7354162"/>
            <a:ext cx="6644830" cy="1904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貼文送出後會經由 AI 審核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過濾不當言論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r>
              <a:rPr lang="en-US" sz="2700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AI 審核通過的交流文章才會顯示於交流區</a:t>
            </a:r>
          </a:p>
          <a:p>
            <a:pPr algn="just">
              <a:lnSpc>
                <a:spcPts val="3780"/>
              </a:lnSpc>
              <a:spcBef>
                <a:spcPct val="0"/>
              </a:spcBef>
            </a:pPr>
            <a:endParaRPr lang="en-US" sz="2700" b="1">
              <a:solidFill>
                <a:srgbClr val="494F56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212414" y="9748023"/>
            <a:ext cx="7912795" cy="53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7"/>
              </a:lnSpc>
              <a:spcBef>
                <a:spcPct val="0"/>
              </a:spcBef>
            </a:pPr>
            <a:r>
              <a:rPr lang="en-US" sz="315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(我要發文和交流區文章展示圖片僅為示意圖)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91901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報告人:雨琦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9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7" name="Group 7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8" name="Freeform 8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65280" y="1028700"/>
            <a:ext cx="15146585" cy="8550417"/>
            <a:chOff x="0" y="0"/>
            <a:chExt cx="3989224" cy="225196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989224" cy="2251962"/>
            </a:xfrm>
            <a:custGeom>
              <a:avLst/>
              <a:gdLst/>
              <a:ahLst/>
              <a:cxnLst/>
              <a:rect l="l" t="t" r="r" b="b"/>
              <a:pathLst>
                <a:path w="3989224" h="2251962">
                  <a:moveTo>
                    <a:pt x="26068" y="0"/>
                  </a:moveTo>
                  <a:lnTo>
                    <a:pt x="3963157" y="0"/>
                  </a:lnTo>
                  <a:cubicBezTo>
                    <a:pt x="3970070" y="0"/>
                    <a:pt x="3976701" y="2746"/>
                    <a:pt x="3981589" y="7635"/>
                  </a:cubicBezTo>
                  <a:cubicBezTo>
                    <a:pt x="3986478" y="12524"/>
                    <a:pt x="3989224" y="19154"/>
                    <a:pt x="3989224" y="26068"/>
                  </a:cubicBezTo>
                  <a:lnTo>
                    <a:pt x="3989224" y="2225894"/>
                  </a:lnTo>
                  <a:cubicBezTo>
                    <a:pt x="3989224" y="2232807"/>
                    <a:pt x="3986478" y="2239438"/>
                    <a:pt x="3981589" y="2244327"/>
                  </a:cubicBezTo>
                  <a:cubicBezTo>
                    <a:pt x="3976701" y="2249215"/>
                    <a:pt x="3970070" y="2251962"/>
                    <a:pt x="3963157" y="2251962"/>
                  </a:cubicBezTo>
                  <a:lnTo>
                    <a:pt x="26068" y="2251962"/>
                  </a:lnTo>
                  <a:cubicBezTo>
                    <a:pt x="19154" y="2251962"/>
                    <a:pt x="12524" y="2249215"/>
                    <a:pt x="7635" y="2244327"/>
                  </a:cubicBezTo>
                  <a:cubicBezTo>
                    <a:pt x="2746" y="2239438"/>
                    <a:pt x="0" y="2232807"/>
                    <a:pt x="0" y="2225894"/>
                  </a:cubicBezTo>
                  <a:lnTo>
                    <a:pt x="0" y="26068"/>
                  </a:lnTo>
                  <a:cubicBezTo>
                    <a:pt x="0" y="19154"/>
                    <a:pt x="2746" y="12524"/>
                    <a:pt x="7635" y="7635"/>
                  </a:cubicBezTo>
                  <a:cubicBezTo>
                    <a:pt x="12524" y="2746"/>
                    <a:pt x="19154" y="0"/>
                    <a:pt x="2606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3989224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3811829" y="2599446"/>
            <a:ext cx="6055823" cy="5408924"/>
          </a:xfrm>
          <a:custGeom>
            <a:avLst/>
            <a:gdLst/>
            <a:ahLst/>
            <a:cxnLst/>
            <a:rect l="l" t="t" r="r" b="b"/>
            <a:pathLst>
              <a:path w="6055823" h="5408924">
                <a:moveTo>
                  <a:pt x="0" y="0"/>
                </a:moveTo>
                <a:lnTo>
                  <a:pt x="6055823" y="0"/>
                </a:lnTo>
                <a:lnTo>
                  <a:pt x="6055823" y="5408924"/>
                </a:lnTo>
                <a:lnTo>
                  <a:pt x="0" y="540892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8482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TextBox 18"/>
          <p:cNvSpPr txBox="1"/>
          <p:nvPr/>
        </p:nvSpPr>
        <p:spPr>
          <a:xfrm>
            <a:off x="10829882" y="629585"/>
            <a:ext cx="6529626" cy="116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569"/>
              </a:lnSpc>
            </a:pPr>
            <a:r>
              <a:rPr lang="en-US" sz="683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功能-及時求助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0" name="Freeform 20"/>
          <p:cNvSpPr/>
          <p:nvPr/>
        </p:nvSpPr>
        <p:spPr>
          <a:xfrm>
            <a:off x="10470421" y="2599446"/>
            <a:ext cx="6788879" cy="5339393"/>
          </a:xfrm>
          <a:custGeom>
            <a:avLst/>
            <a:gdLst/>
            <a:ahLst/>
            <a:cxnLst/>
            <a:rect l="l" t="t" r="r" b="b"/>
            <a:pathLst>
              <a:path w="6788879" h="5339393">
                <a:moveTo>
                  <a:pt x="0" y="0"/>
                </a:moveTo>
                <a:lnTo>
                  <a:pt x="6788879" y="0"/>
                </a:lnTo>
                <a:lnTo>
                  <a:pt x="6788879" y="5339393"/>
                </a:lnTo>
                <a:lnTo>
                  <a:pt x="0" y="53393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10989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1" name="Freeform 21"/>
          <p:cNvSpPr/>
          <p:nvPr/>
        </p:nvSpPr>
        <p:spPr>
          <a:xfrm rot="3660581">
            <a:off x="-412851" y="3061196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8794021" y="8268982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3" name="Freeform 23"/>
          <p:cNvSpPr/>
          <p:nvPr/>
        </p:nvSpPr>
        <p:spPr>
          <a:xfrm>
            <a:off x="284656" y="3118747"/>
            <a:ext cx="2927098" cy="4820092"/>
          </a:xfrm>
          <a:custGeom>
            <a:avLst/>
            <a:gdLst/>
            <a:ahLst/>
            <a:cxnLst/>
            <a:rect l="l" t="t" r="r" b="b"/>
            <a:pathLst>
              <a:path w="2927098" h="4820092">
                <a:moveTo>
                  <a:pt x="0" y="0"/>
                </a:moveTo>
                <a:lnTo>
                  <a:pt x="2927098" y="0"/>
                </a:lnTo>
                <a:lnTo>
                  <a:pt x="2927098" y="4820092"/>
                </a:lnTo>
                <a:lnTo>
                  <a:pt x="0" y="48200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247" b="-2"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290872" y="3053215"/>
            <a:ext cx="7052150" cy="4180570"/>
          </a:xfrm>
          <a:custGeom>
            <a:avLst/>
            <a:gdLst/>
            <a:ahLst/>
            <a:cxnLst/>
            <a:rect l="l" t="t" r="r" b="b"/>
            <a:pathLst>
              <a:path w="7052150" h="4180570">
                <a:moveTo>
                  <a:pt x="0" y="0"/>
                </a:moveTo>
                <a:lnTo>
                  <a:pt x="7052150" y="0"/>
                </a:lnTo>
                <a:lnTo>
                  <a:pt x="7052150" y="4180570"/>
                </a:lnTo>
                <a:lnTo>
                  <a:pt x="0" y="418057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4675" b="-8599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782579" y="3711714"/>
            <a:ext cx="9838312" cy="2673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教育網頁：學習防範騙擄技巧與案例說明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線上報案連結：快速通報警方、留下證據</a:t>
            </a:r>
          </a:p>
          <a:p>
            <a:pPr marL="831712" lvl="1" indent="-415856" algn="l">
              <a:lnSpc>
                <a:spcPts val="5393"/>
              </a:lnSpc>
              <a:buFont typeface="Arial"/>
              <a:buChar char="•"/>
            </a:pPr>
            <a:r>
              <a:rPr lang="en-US" sz="38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 最近警局：找最近的警察局，立即求助</a:t>
            </a:r>
          </a:p>
          <a:p>
            <a:pPr algn="l">
              <a:lnSpc>
                <a:spcPts val="5393"/>
              </a:lnSpc>
            </a:pPr>
            <a:endParaRPr lang="en-US" sz="38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1083594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功能-騷擾應對防治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681323" y="3411532"/>
            <a:ext cx="11939568" cy="3925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提供各種防身知識網頁的快捷鍵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讓使用者在應對突發事件時能更冷靜更有底氣，減少突發狀況造成的損害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(例：兒童防身術、防身術四要點、認識搭訕騷擾懶人包)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28700" y="-79845"/>
            <a:ext cx="4806085" cy="10366845"/>
          </a:xfrm>
          <a:custGeom>
            <a:avLst/>
            <a:gdLst/>
            <a:ahLst/>
            <a:cxnLst/>
            <a:rect l="l" t="t" r="r" b="b"/>
            <a:pathLst>
              <a:path w="4806085" h="10366845">
                <a:moveTo>
                  <a:pt x="0" y="0"/>
                </a:moveTo>
                <a:lnTo>
                  <a:pt x="4806085" y="0"/>
                </a:lnTo>
                <a:lnTo>
                  <a:pt x="4806085" y="10366845"/>
                </a:lnTo>
                <a:lnTo>
                  <a:pt x="0" y="1036684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708446" y="2166523"/>
            <a:ext cx="5983481" cy="6629896"/>
          </a:xfrm>
          <a:custGeom>
            <a:avLst/>
            <a:gdLst/>
            <a:ahLst/>
            <a:cxnLst/>
            <a:rect l="l" t="t" r="r" b="b"/>
            <a:pathLst>
              <a:path w="5983481" h="6629896">
                <a:moveTo>
                  <a:pt x="0" y="0"/>
                </a:moveTo>
                <a:lnTo>
                  <a:pt x="5983481" y="0"/>
                </a:lnTo>
                <a:lnTo>
                  <a:pt x="5983481" y="6629897"/>
                </a:lnTo>
                <a:lnTo>
                  <a:pt x="0" y="662989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75363" y="3533233"/>
            <a:ext cx="8983937" cy="3134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線上報案連結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線上填寫報案內容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上傳照片或影片證據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由警方受理並聯繫你跟進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功能-線上報案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" name="Freeform 13"/>
          <p:cNvSpPr/>
          <p:nvPr/>
        </p:nvSpPr>
        <p:spPr>
          <a:xfrm rot="3660581">
            <a:off x="1064115" y="328881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 rot="2349442">
            <a:off x="12961826" y="2493035"/>
            <a:ext cx="11394101" cy="819386"/>
          </a:xfrm>
          <a:custGeom>
            <a:avLst/>
            <a:gdLst/>
            <a:ahLst/>
            <a:cxnLst/>
            <a:rect l="l" t="t" r="r" b="b"/>
            <a:pathLst>
              <a:path w="11394101" h="819386">
                <a:moveTo>
                  <a:pt x="0" y="0"/>
                </a:moveTo>
                <a:lnTo>
                  <a:pt x="11394100" y="0"/>
                </a:lnTo>
                <a:lnTo>
                  <a:pt x="11394100" y="819386"/>
                </a:lnTo>
                <a:lnTo>
                  <a:pt x="0" y="8193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5" name="Group 15"/>
          <p:cNvGrpSpPr/>
          <p:nvPr/>
        </p:nvGrpSpPr>
        <p:grpSpPr>
          <a:xfrm>
            <a:off x="1290872" y="1028700"/>
            <a:ext cx="16520994" cy="8776740"/>
            <a:chOff x="0" y="0"/>
            <a:chExt cx="4351208" cy="231156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51208" cy="2311569"/>
            </a:xfrm>
            <a:custGeom>
              <a:avLst/>
              <a:gdLst/>
              <a:ahLst/>
              <a:cxnLst/>
              <a:rect l="l" t="t" r="r" b="b"/>
              <a:pathLst>
                <a:path w="4351208" h="2311569">
                  <a:moveTo>
                    <a:pt x="23899" y="0"/>
                  </a:moveTo>
                  <a:lnTo>
                    <a:pt x="4327309" y="0"/>
                  </a:lnTo>
                  <a:cubicBezTo>
                    <a:pt x="4333648" y="0"/>
                    <a:pt x="4339727" y="2518"/>
                    <a:pt x="4344208" y="7000"/>
                  </a:cubicBezTo>
                  <a:cubicBezTo>
                    <a:pt x="4348690" y="11482"/>
                    <a:pt x="4351208" y="17561"/>
                    <a:pt x="4351208" y="23899"/>
                  </a:cubicBezTo>
                  <a:lnTo>
                    <a:pt x="4351208" y="2287670"/>
                  </a:lnTo>
                  <a:cubicBezTo>
                    <a:pt x="4351208" y="2300869"/>
                    <a:pt x="4340508" y="2311569"/>
                    <a:pt x="4327309" y="2311569"/>
                  </a:cubicBezTo>
                  <a:lnTo>
                    <a:pt x="23899" y="2311569"/>
                  </a:lnTo>
                  <a:cubicBezTo>
                    <a:pt x="17561" y="2311569"/>
                    <a:pt x="11482" y="2309051"/>
                    <a:pt x="7000" y="2304569"/>
                  </a:cubicBezTo>
                  <a:cubicBezTo>
                    <a:pt x="2518" y="2300088"/>
                    <a:pt x="0" y="2294009"/>
                    <a:pt x="0" y="2287670"/>
                  </a:cubicBezTo>
                  <a:lnTo>
                    <a:pt x="0" y="23899"/>
                  </a:lnTo>
                  <a:cubicBezTo>
                    <a:pt x="0" y="10700"/>
                    <a:pt x="10700" y="0"/>
                    <a:pt x="23899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4351208" cy="23496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2034254" y="2340155"/>
            <a:ext cx="4854141" cy="5981171"/>
          </a:xfrm>
          <a:custGeom>
            <a:avLst/>
            <a:gdLst/>
            <a:ahLst/>
            <a:cxnLst/>
            <a:rect l="l" t="t" r="r" b="b"/>
            <a:pathLst>
              <a:path w="4854141" h="5981171">
                <a:moveTo>
                  <a:pt x="0" y="0"/>
                </a:moveTo>
                <a:lnTo>
                  <a:pt x="4854141" y="0"/>
                </a:lnTo>
                <a:lnTo>
                  <a:pt x="4854141" y="5981171"/>
                </a:lnTo>
                <a:lnTo>
                  <a:pt x="0" y="598117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408122" y="3073702"/>
            <a:ext cx="10366265" cy="38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3"/>
              </a:lnSpc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🔹 最近警局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一開始會出現兩個下拉式選單，依照用戶所選的縣市與區域</a:t>
            </a:r>
          </a:p>
          <a:p>
            <a:pPr marL="961248" lvl="1" indent="-480624" algn="l">
              <a:lnSpc>
                <a:spcPts val="6233"/>
              </a:lnSpc>
              <a:buFont typeface="Arial"/>
              <a:buChar char="•"/>
            </a:pPr>
            <a:r>
              <a:rPr lang="en-US" sz="4452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顯示最近的警局名稱、電話與地址</a:t>
            </a:r>
          </a:p>
          <a:p>
            <a:pPr algn="l">
              <a:lnSpc>
                <a:spcPts val="5253"/>
              </a:lnSpc>
            </a:pPr>
            <a:endParaRPr lang="en-US" sz="4452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3210" y="863190"/>
            <a:ext cx="9336090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784879" y="8264176"/>
            <a:ext cx="3352892" cy="55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902488" y="1501093"/>
            <a:ext cx="11123772" cy="7757207"/>
          </a:xfrm>
          <a:custGeom>
            <a:avLst/>
            <a:gdLst/>
            <a:ahLst/>
            <a:cxnLst/>
            <a:rect l="l" t="t" r="r" b="b"/>
            <a:pathLst>
              <a:path w="11123772" h="7757207">
                <a:moveTo>
                  <a:pt x="0" y="0"/>
                </a:moveTo>
                <a:lnTo>
                  <a:pt x="11123772" y="0"/>
                </a:lnTo>
                <a:lnTo>
                  <a:pt x="11123772" y="7757207"/>
                </a:lnTo>
                <a:lnTo>
                  <a:pt x="0" y="77572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b="-65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8287937" y="-63044"/>
            <a:ext cx="9332954" cy="132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927"/>
              </a:lnSpc>
            </a:pPr>
            <a:r>
              <a:rPr lang="en-US" sz="780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952571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Freeform 21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28716" y="1681478"/>
            <a:ext cx="10891101" cy="7785435"/>
          </a:xfrm>
          <a:custGeom>
            <a:avLst/>
            <a:gdLst/>
            <a:ahLst/>
            <a:cxnLst/>
            <a:rect l="l" t="t" r="r" b="b"/>
            <a:pathLst>
              <a:path w="10891101" h="7785435">
                <a:moveTo>
                  <a:pt x="0" y="0"/>
                </a:moveTo>
                <a:lnTo>
                  <a:pt x="10891101" y="0"/>
                </a:lnTo>
                <a:lnTo>
                  <a:pt x="10891101" y="7785435"/>
                </a:lnTo>
                <a:lnTo>
                  <a:pt x="0" y="7785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功能-管理員帳號管理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4569530" y="-1212715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7923" y="3503725"/>
            <a:ext cx="4863562" cy="4193941"/>
          </a:xfrm>
          <a:custGeom>
            <a:avLst/>
            <a:gdLst/>
            <a:ahLst/>
            <a:cxnLst/>
            <a:rect l="l" t="t" r="r" b="b"/>
            <a:pathLst>
              <a:path w="4863562" h="4193941">
                <a:moveTo>
                  <a:pt x="0" y="0"/>
                </a:moveTo>
                <a:lnTo>
                  <a:pt x="4863561" y="0"/>
                </a:lnTo>
                <a:lnTo>
                  <a:pt x="4863561" y="4193940"/>
                </a:lnTo>
                <a:lnTo>
                  <a:pt x="0" y="41939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6975519" y="1661601"/>
            <a:ext cx="10283781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功能-會員管理(標註)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報告人:思璇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59295" y="3919657"/>
            <a:ext cx="10461596" cy="4855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管理員可查詢並選擇用戶，進行基本資料管理與標註操作。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l">
              <a:lnSpc>
                <a:spcPts val="6473"/>
              </a:lnSpc>
            </a:pPr>
            <a:r>
              <a:rPr lang="en-US" sz="4624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透過標註顏色區分用戶審核後的狀態，便於快速辨識與後續管理。</a:t>
            </a:r>
          </a:p>
          <a:p>
            <a:pPr algn="l">
              <a:lnSpc>
                <a:spcPts val="6473"/>
              </a:lnSpc>
            </a:pPr>
            <a:endParaRPr lang="en-US" sz="4624">
              <a:solidFill>
                <a:srgbClr val="494F56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621281" y="1546559"/>
            <a:ext cx="10638019" cy="7711741"/>
          </a:xfrm>
          <a:custGeom>
            <a:avLst/>
            <a:gdLst/>
            <a:ahLst/>
            <a:cxnLst/>
            <a:rect l="l" t="t" r="r" b="b"/>
            <a:pathLst>
              <a:path w="10638019" h="7711741">
                <a:moveTo>
                  <a:pt x="0" y="0"/>
                </a:moveTo>
                <a:lnTo>
                  <a:pt x="10638019" y="0"/>
                </a:lnTo>
                <a:lnTo>
                  <a:pt x="10638019" y="7711741"/>
                </a:lnTo>
                <a:lnTo>
                  <a:pt x="0" y="77117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77" b="-177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65895" y="9201150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550417"/>
            <a:chOff x="0" y="0"/>
            <a:chExt cx="349034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251962"/>
            </a:xfrm>
            <a:custGeom>
              <a:avLst/>
              <a:gdLst/>
              <a:ahLst/>
              <a:cxnLst/>
              <a:rect l="l" t="t" r="r" b="b"/>
              <a:pathLst>
                <a:path w="3490346" h="2251962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222168"/>
                  </a:lnTo>
                  <a:cubicBezTo>
                    <a:pt x="3490346" y="2230070"/>
                    <a:pt x="3487207" y="2237648"/>
                    <a:pt x="3481620" y="2243235"/>
                  </a:cubicBezTo>
                  <a:cubicBezTo>
                    <a:pt x="3476032" y="2248823"/>
                    <a:pt x="3468454" y="2251962"/>
                    <a:pt x="3460552" y="2251962"/>
                  </a:cubicBezTo>
                  <a:lnTo>
                    <a:pt x="29794" y="2251962"/>
                  </a:lnTo>
                  <a:cubicBezTo>
                    <a:pt x="21892" y="2251962"/>
                    <a:pt x="14314" y="2248823"/>
                    <a:pt x="8726" y="2243235"/>
                  </a:cubicBezTo>
                  <a:cubicBezTo>
                    <a:pt x="3139" y="2237648"/>
                    <a:pt x="0" y="2230070"/>
                    <a:pt x="0" y="2222168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6182420" y="1681478"/>
            <a:ext cx="11076880" cy="7850739"/>
          </a:xfrm>
          <a:custGeom>
            <a:avLst/>
            <a:gdLst/>
            <a:ahLst/>
            <a:cxnLst/>
            <a:rect l="l" t="t" r="r" b="b"/>
            <a:pathLst>
              <a:path w="11076880" h="7850739">
                <a:moveTo>
                  <a:pt x="0" y="0"/>
                </a:moveTo>
                <a:lnTo>
                  <a:pt x="11076880" y="0"/>
                </a:lnTo>
                <a:lnTo>
                  <a:pt x="11076880" y="7850739"/>
                </a:lnTo>
                <a:lnTo>
                  <a:pt x="0" y="7850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6975519" y="20447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044460" y="9326746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59458" y="1028700"/>
            <a:ext cx="13252407" cy="8852401"/>
            <a:chOff x="0" y="0"/>
            <a:chExt cx="3490346" cy="23314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90346" cy="2331496"/>
            </a:xfrm>
            <a:custGeom>
              <a:avLst/>
              <a:gdLst/>
              <a:ahLst/>
              <a:cxnLst/>
              <a:rect l="l" t="t" r="r" b="b"/>
              <a:pathLst>
                <a:path w="3490346" h="2331496">
                  <a:moveTo>
                    <a:pt x="29794" y="0"/>
                  </a:moveTo>
                  <a:lnTo>
                    <a:pt x="3460552" y="0"/>
                  </a:lnTo>
                  <a:cubicBezTo>
                    <a:pt x="3468454" y="0"/>
                    <a:pt x="3476032" y="3139"/>
                    <a:pt x="3481620" y="8726"/>
                  </a:cubicBezTo>
                  <a:cubicBezTo>
                    <a:pt x="3487207" y="14314"/>
                    <a:pt x="3490346" y="21892"/>
                    <a:pt x="3490346" y="29794"/>
                  </a:cubicBezTo>
                  <a:lnTo>
                    <a:pt x="3490346" y="2301703"/>
                  </a:lnTo>
                  <a:cubicBezTo>
                    <a:pt x="3490346" y="2309605"/>
                    <a:pt x="3487207" y="2317183"/>
                    <a:pt x="3481620" y="2322770"/>
                  </a:cubicBezTo>
                  <a:cubicBezTo>
                    <a:pt x="3476032" y="2328357"/>
                    <a:pt x="3468454" y="2331496"/>
                    <a:pt x="3460552" y="2331496"/>
                  </a:cubicBezTo>
                  <a:lnTo>
                    <a:pt x="29794" y="2331496"/>
                  </a:lnTo>
                  <a:cubicBezTo>
                    <a:pt x="21892" y="2331496"/>
                    <a:pt x="14314" y="2328357"/>
                    <a:pt x="8726" y="2322770"/>
                  </a:cubicBezTo>
                  <a:cubicBezTo>
                    <a:pt x="3139" y="2317183"/>
                    <a:pt x="0" y="2309605"/>
                    <a:pt x="0" y="2301703"/>
                  </a:cubicBezTo>
                  <a:lnTo>
                    <a:pt x="0" y="29794"/>
                  </a:lnTo>
                  <a:cubicBezTo>
                    <a:pt x="0" y="21892"/>
                    <a:pt x="3139" y="14314"/>
                    <a:pt x="8726" y="8726"/>
                  </a:cubicBezTo>
                  <a:cubicBezTo>
                    <a:pt x="14314" y="3139"/>
                    <a:pt x="21892" y="0"/>
                    <a:pt x="29794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490346" cy="23695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8" name="Freeform 18"/>
          <p:cNvSpPr/>
          <p:nvPr/>
        </p:nvSpPr>
        <p:spPr>
          <a:xfrm>
            <a:off x="5417556" y="1387108"/>
            <a:ext cx="11536212" cy="8190711"/>
          </a:xfrm>
          <a:custGeom>
            <a:avLst/>
            <a:gdLst/>
            <a:ahLst/>
            <a:cxnLst/>
            <a:rect l="l" t="t" r="r" b="b"/>
            <a:pathLst>
              <a:path w="11536212" h="8190711">
                <a:moveTo>
                  <a:pt x="0" y="0"/>
                </a:moveTo>
                <a:lnTo>
                  <a:pt x="11536212" y="0"/>
                </a:lnTo>
                <a:lnTo>
                  <a:pt x="11536212" y="8190711"/>
                </a:lnTo>
                <a:lnTo>
                  <a:pt x="0" y="81907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7083984" y="-310332"/>
            <a:ext cx="12229494" cy="1477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功能-表單審核與封存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75817" y="952066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  <p:sp>
        <p:nvSpPr>
          <p:cNvPr id="22" name="Freeform 22"/>
          <p:cNvSpPr/>
          <p:nvPr/>
        </p:nvSpPr>
        <p:spPr>
          <a:xfrm rot="8453648">
            <a:off x="-3032358" y="-2006157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122504" y="3505528"/>
            <a:ext cx="5394398" cy="3858019"/>
          </a:xfrm>
          <a:custGeom>
            <a:avLst/>
            <a:gdLst/>
            <a:ahLst/>
            <a:cxnLst/>
            <a:rect l="l" t="t" r="r" b="b"/>
            <a:pathLst>
              <a:path w="5394398" h="3858019">
                <a:moveTo>
                  <a:pt x="0" y="0"/>
                </a:moveTo>
                <a:lnTo>
                  <a:pt x="5394398" y="0"/>
                </a:lnTo>
                <a:lnTo>
                  <a:pt x="5394398" y="3858019"/>
                </a:lnTo>
                <a:lnTo>
                  <a:pt x="0" y="385801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功能-教育網頁管理 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592105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algn="l">
              <a:lnSpc>
                <a:spcPts val="6320"/>
              </a:lnSpc>
            </a:pPr>
            <a:endParaRPr lang="en-US" sz="4514" b="1">
              <a:solidFill>
                <a:srgbClr val="494F56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管理員可新增、修改、刪除教育網頁上的防身知識內容。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支援即時編輯，確保內容更新快速且準確。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635115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434924" y="1943090"/>
            <a:ext cx="6540595" cy="7315210"/>
            <a:chOff x="0" y="0"/>
            <a:chExt cx="1722626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22626" cy="1926640"/>
            </a:xfrm>
            <a:custGeom>
              <a:avLst/>
              <a:gdLst/>
              <a:ahLst/>
              <a:cxnLst/>
              <a:rect l="l" t="t" r="r" b="b"/>
              <a:pathLst>
                <a:path w="1722626" h="1926640">
                  <a:moveTo>
                    <a:pt x="60367" y="0"/>
                  </a:moveTo>
                  <a:lnTo>
                    <a:pt x="1662259" y="0"/>
                  </a:lnTo>
                  <a:cubicBezTo>
                    <a:pt x="1695598" y="0"/>
                    <a:pt x="1722626" y="27027"/>
                    <a:pt x="1722626" y="60367"/>
                  </a:cubicBezTo>
                  <a:lnTo>
                    <a:pt x="1722626" y="1866272"/>
                  </a:lnTo>
                  <a:cubicBezTo>
                    <a:pt x="1722626" y="1882283"/>
                    <a:pt x="1716266" y="1897637"/>
                    <a:pt x="1704945" y="1908958"/>
                  </a:cubicBezTo>
                  <a:cubicBezTo>
                    <a:pt x="1693624" y="1920279"/>
                    <a:pt x="1678269" y="1926640"/>
                    <a:pt x="1662259" y="1926640"/>
                  </a:cubicBezTo>
                  <a:lnTo>
                    <a:pt x="60367" y="1926640"/>
                  </a:lnTo>
                  <a:cubicBezTo>
                    <a:pt x="27027" y="1926640"/>
                    <a:pt x="0" y="1899612"/>
                    <a:pt x="0" y="1866272"/>
                  </a:cubicBezTo>
                  <a:lnTo>
                    <a:pt x="0" y="60367"/>
                  </a:lnTo>
                  <a:cubicBezTo>
                    <a:pt x="0" y="44357"/>
                    <a:pt x="6360" y="29002"/>
                    <a:pt x="17681" y="17681"/>
                  </a:cubicBezTo>
                  <a:cubicBezTo>
                    <a:pt x="29002" y="6360"/>
                    <a:pt x="44357" y="0"/>
                    <a:pt x="60367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22626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563305" y="3833524"/>
            <a:ext cx="6283832" cy="3534342"/>
          </a:xfrm>
          <a:custGeom>
            <a:avLst/>
            <a:gdLst/>
            <a:ahLst/>
            <a:cxnLst/>
            <a:rect l="l" t="t" r="r" b="b"/>
            <a:pathLst>
              <a:path w="6283832" h="3534342">
                <a:moveTo>
                  <a:pt x="0" y="0"/>
                </a:moveTo>
                <a:lnTo>
                  <a:pt x="6283833" y="0"/>
                </a:lnTo>
                <a:lnTo>
                  <a:pt x="6283833" y="3534342"/>
                </a:lnTo>
                <a:lnTo>
                  <a:pt x="0" y="353434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52" t="-2394" r="-3891" b="-426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49416" y="284582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下拉式選單維護（縣市／鄉鎮市區）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管理員可新增、修改、刪除下拉選單中的行政區資料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可管理項目：全台灣各縣市名稱、各縣市下屬的鄉鎮市區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28822" y="7560119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298285" y="-138882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8421" y="-338088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209993" y="1028700"/>
            <a:ext cx="13601873" cy="8550417"/>
            <a:chOff x="0" y="0"/>
            <a:chExt cx="3582386" cy="22519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82386" cy="2251962"/>
            </a:xfrm>
            <a:custGeom>
              <a:avLst/>
              <a:gdLst/>
              <a:ahLst/>
              <a:cxnLst/>
              <a:rect l="l" t="t" r="r" b="b"/>
              <a:pathLst>
                <a:path w="3582386" h="2251962">
                  <a:moveTo>
                    <a:pt x="29028" y="0"/>
                  </a:moveTo>
                  <a:lnTo>
                    <a:pt x="3553358" y="0"/>
                  </a:lnTo>
                  <a:cubicBezTo>
                    <a:pt x="3561057" y="0"/>
                    <a:pt x="3568440" y="3058"/>
                    <a:pt x="3573884" y="8502"/>
                  </a:cubicBezTo>
                  <a:cubicBezTo>
                    <a:pt x="3579328" y="13946"/>
                    <a:pt x="3582386" y="21329"/>
                    <a:pt x="3582386" y="29028"/>
                  </a:cubicBezTo>
                  <a:lnTo>
                    <a:pt x="3582386" y="2222933"/>
                  </a:lnTo>
                  <a:cubicBezTo>
                    <a:pt x="3582386" y="2238965"/>
                    <a:pt x="3569390" y="2251962"/>
                    <a:pt x="3553358" y="2251962"/>
                  </a:cubicBezTo>
                  <a:lnTo>
                    <a:pt x="29028" y="2251962"/>
                  </a:lnTo>
                  <a:cubicBezTo>
                    <a:pt x="12996" y="2251962"/>
                    <a:pt x="0" y="2238965"/>
                    <a:pt x="0" y="2222933"/>
                  </a:cubicBezTo>
                  <a:lnTo>
                    <a:pt x="0" y="29028"/>
                  </a:lnTo>
                  <a:cubicBezTo>
                    <a:pt x="0" y="12996"/>
                    <a:pt x="12996" y="0"/>
                    <a:pt x="29028" y="0"/>
                  </a:cubicBezTo>
                  <a:close/>
                </a:path>
              </a:pathLst>
            </a:custGeom>
            <a:solidFill>
              <a:srgbClr val="FFFFFF">
                <a:alpha val="85882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582386" cy="22900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 rot="5528538">
            <a:off x="9263391" y="-5652195"/>
            <a:ext cx="14112853" cy="13833742"/>
          </a:xfrm>
          <a:custGeom>
            <a:avLst/>
            <a:gdLst/>
            <a:ahLst/>
            <a:cxnLst/>
            <a:rect l="l" t="t" r="r" b="b"/>
            <a:pathLst>
              <a:path w="14112853" h="13833742">
                <a:moveTo>
                  <a:pt x="0" y="0"/>
                </a:moveTo>
                <a:lnTo>
                  <a:pt x="14112853" y="0"/>
                </a:lnTo>
                <a:lnTo>
                  <a:pt x="14112853" y="13833743"/>
                </a:lnTo>
                <a:lnTo>
                  <a:pt x="0" y="13833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9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7" name="Freeform 17"/>
          <p:cNvSpPr/>
          <p:nvPr/>
        </p:nvSpPr>
        <p:spPr>
          <a:xfrm>
            <a:off x="1742043" y="4510466"/>
            <a:ext cx="222293" cy="152400"/>
          </a:xfrm>
          <a:custGeom>
            <a:avLst/>
            <a:gdLst/>
            <a:ahLst/>
            <a:cxnLst/>
            <a:rect l="l" t="t" r="r" b="b"/>
            <a:pathLst>
              <a:path w="222293" h="152400">
                <a:moveTo>
                  <a:pt x="0" y="0"/>
                </a:moveTo>
                <a:lnTo>
                  <a:pt x="222293" y="0"/>
                </a:lnTo>
                <a:lnTo>
                  <a:pt x="222293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7519" t="-64966"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028700" y="1943090"/>
            <a:ext cx="5582007" cy="7315210"/>
            <a:chOff x="0" y="0"/>
            <a:chExt cx="1470158" cy="1926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70158" cy="1926640"/>
            </a:xfrm>
            <a:custGeom>
              <a:avLst/>
              <a:gdLst/>
              <a:ahLst/>
              <a:cxnLst/>
              <a:rect l="l" t="t" r="r" b="b"/>
              <a:pathLst>
                <a:path w="1470158" h="1926640">
                  <a:moveTo>
                    <a:pt x="70734" y="0"/>
                  </a:moveTo>
                  <a:lnTo>
                    <a:pt x="1399424" y="0"/>
                  </a:lnTo>
                  <a:cubicBezTo>
                    <a:pt x="1418184" y="0"/>
                    <a:pt x="1436175" y="7452"/>
                    <a:pt x="1449441" y="20718"/>
                  </a:cubicBezTo>
                  <a:cubicBezTo>
                    <a:pt x="1462706" y="33983"/>
                    <a:pt x="1470158" y="51974"/>
                    <a:pt x="1470158" y="70734"/>
                  </a:cubicBezTo>
                  <a:lnTo>
                    <a:pt x="1470158" y="1855906"/>
                  </a:lnTo>
                  <a:cubicBezTo>
                    <a:pt x="1470158" y="1894971"/>
                    <a:pt x="1438489" y="1926640"/>
                    <a:pt x="1399424" y="1926640"/>
                  </a:cubicBezTo>
                  <a:lnTo>
                    <a:pt x="70734" y="1926640"/>
                  </a:lnTo>
                  <a:cubicBezTo>
                    <a:pt x="31669" y="1926640"/>
                    <a:pt x="0" y="1894971"/>
                    <a:pt x="0" y="1855906"/>
                  </a:cubicBezTo>
                  <a:lnTo>
                    <a:pt x="0" y="70734"/>
                  </a:lnTo>
                  <a:cubicBezTo>
                    <a:pt x="0" y="31669"/>
                    <a:pt x="31669" y="0"/>
                    <a:pt x="70734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70158" cy="1964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385455" y="3581701"/>
            <a:ext cx="4868497" cy="3444415"/>
          </a:xfrm>
          <a:custGeom>
            <a:avLst/>
            <a:gdLst/>
            <a:ahLst/>
            <a:cxnLst/>
            <a:rect l="l" t="t" r="r" b="b"/>
            <a:pathLst>
              <a:path w="4868497" h="3444415">
                <a:moveTo>
                  <a:pt x="0" y="0"/>
                </a:moveTo>
                <a:lnTo>
                  <a:pt x="4868497" y="0"/>
                </a:lnTo>
                <a:lnTo>
                  <a:pt x="4868497" y="3444415"/>
                </a:lnTo>
                <a:lnTo>
                  <a:pt x="0" y="344441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242" t="-1480" r="-3179" b="-880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2" name="TextBox 22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四. 系統功能介紹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75519" y="204472"/>
            <a:ext cx="11312481" cy="147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40"/>
              </a:lnSpc>
            </a:pPr>
            <a:r>
              <a:rPr lang="en-US" sz="86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功能-最近警局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761597" y="9501619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75519" y="2714917"/>
            <a:ext cx="9344298" cy="4771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最近警局資料管理</a:t>
            </a:r>
          </a:p>
          <a:p>
            <a:pPr algn="l">
              <a:lnSpc>
                <a:spcPts val="6320"/>
              </a:lnSpc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功能介紹：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管理員可新增、修改、刪除警局資料</a:t>
            </a:r>
          </a:p>
          <a:p>
            <a:pPr marL="974664" lvl="1" indent="-487332" algn="l">
              <a:lnSpc>
                <a:spcPts val="6320"/>
              </a:lnSpc>
              <a:buFont typeface="Arial"/>
              <a:buChar char="•"/>
            </a:pPr>
            <a:r>
              <a:rPr lang="en-US" sz="4514" b="1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</a:rPr>
              <a:t>可管理內容包括：警局名稱、聯絡電話、地址資訊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143303" y="7429208"/>
            <a:ext cx="3352800" cy="55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此圖片僅為示意圖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870903">
            <a:off x="9482394" y="-3401478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5" y="0"/>
                </a:lnTo>
                <a:lnTo>
                  <a:pt x="14620325" y="17849230"/>
                </a:lnTo>
                <a:lnTo>
                  <a:pt x="0" y="17849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-277765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FFFCD9">
                <a:alpha val="50980"/>
              </a:srgbClr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392879" y="-277765"/>
            <a:ext cx="20348204" cy="10564765"/>
            <a:chOff x="0" y="0"/>
            <a:chExt cx="5359198" cy="27824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CEAE6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2844521" y="-1025851"/>
            <a:ext cx="22545800" cy="12338701"/>
          </a:xfrm>
          <a:custGeom>
            <a:avLst/>
            <a:gdLst/>
            <a:ahLst/>
            <a:cxnLst/>
            <a:rect l="l" t="t" r="r" b="b"/>
            <a:pathLst>
              <a:path w="22545800" h="12338701">
                <a:moveTo>
                  <a:pt x="0" y="0"/>
                </a:moveTo>
                <a:lnTo>
                  <a:pt x="22545800" y="0"/>
                </a:lnTo>
                <a:lnTo>
                  <a:pt x="22545800" y="12338702"/>
                </a:lnTo>
                <a:lnTo>
                  <a:pt x="0" y="123387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Freeform 10"/>
          <p:cNvSpPr/>
          <p:nvPr/>
        </p:nvSpPr>
        <p:spPr>
          <a:xfrm rot="-922393">
            <a:off x="-7310162" y="-343886"/>
            <a:ext cx="14620325" cy="17849231"/>
          </a:xfrm>
          <a:custGeom>
            <a:avLst/>
            <a:gdLst/>
            <a:ahLst/>
            <a:cxnLst/>
            <a:rect l="l" t="t" r="r" b="b"/>
            <a:pathLst>
              <a:path w="14620325" h="17849231">
                <a:moveTo>
                  <a:pt x="0" y="0"/>
                </a:moveTo>
                <a:lnTo>
                  <a:pt x="14620324" y="0"/>
                </a:lnTo>
                <a:lnTo>
                  <a:pt x="14620324" y="17849231"/>
                </a:lnTo>
                <a:lnTo>
                  <a:pt x="0" y="17849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7770778" y="-190500"/>
            <a:ext cx="2746445" cy="1687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01"/>
              </a:lnSpc>
            </a:pPr>
            <a:r>
              <a:rPr lang="en-US" sz="9858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目錄</a:t>
            </a: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B3D1FE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16" name="Freeform 16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7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五. 商業模式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907801"/>
            <a:ext cx="9677197" cy="8955806"/>
          </a:xfrm>
          <a:custGeom>
            <a:avLst/>
            <a:gdLst/>
            <a:ahLst/>
            <a:cxnLst/>
            <a:rect l="l" t="t" r="r" b="b"/>
            <a:pathLst>
              <a:path w="9677197" h="8955806">
                <a:moveTo>
                  <a:pt x="0" y="0"/>
                </a:moveTo>
                <a:lnTo>
                  <a:pt x="9677197" y="0"/>
                </a:lnTo>
                <a:lnTo>
                  <a:pt x="9677197" y="8955807"/>
                </a:lnTo>
                <a:lnTo>
                  <a:pt x="0" y="89558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3" name="Group 3"/>
          <p:cNvGrpSpPr/>
          <p:nvPr/>
        </p:nvGrpSpPr>
        <p:grpSpPr>
          <a:xfrm>
            <a:off x="-1030102" y="298843"/>
            <a:ext cx="20348204" cy="10564765"/>
            <a:chOff x="0" y="0"/>
            <a:chExt cx="5359198" cy="27824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59198" cy="2782489"/>
            </a:xfrm>
            <a:custGeom>
              <a:avLst/>
              <a:gdLst/>
              <a:ahLst/>
              <a:cxnLst/>
              <a:rect l="l" t="t" r="r" b="b"/>
              <a:pathLst>
                <a:path w="5359198" h="2782489">
                  <a:moveTo>
                    <a:pt x="0" y="0"/>
                  </a:moveTo>
                  <a:lnTo>
                    <a:pt x="5359198" y="0"/>
                  </a:lnTo>
                  <a:lnTo>
                    <a:pt x="5359198" y="2782489"/>
                  </a:lnTo>
                  <a:lnTo>
                    <a:pt x="0" y="2782489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359198" cy="2820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7" name="Freeform 7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285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24968" y="-3175186"/>
            <a:ext cx="15327790" cy="15327790"/>
            <a:chOff x="0" y="0"/>
            <a:chExt cx="20437053" cy="20437053"/>
          </a:xfrm>
        </p:grpSpPr>
        <p:grpSp>
          <p:nvGrpSpPr>
            <p:cNvPr id="14" name="Group 14"/>
            <p:cNvGrpSpPr/>
            <p:nvPr/>
          </p:nvGrpSpPr>
          <p:grpSpPr>
            <a:xfrm rot="2623268">
              <a:off x="3309159" y="2914006"/>
              <a:ext cx="14129771" cy="14344600"/>
              <a:chOff x="0" y="0"/>
              <a:chExt cx="2791066" cy="28335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91066" cy="2833501"/>
              </a:xfrm>
              <a:custGeom>
                <a:avLst/>
                <a:gdLst/>
                <a:ahLst/>
                <a:cxnLst/>
                <a:rect l="l" t="t" r="r" b="b"/>
                <a:pathLst>
                  <a:path w="2791066" h="2833501">
                    <a:moveTo>
                      <a:pt x="37258" y="0"/>
                    </a:moveTo>
                    <a:lnTo>
                      <a:pt x="2753808" y="0"/>
                    </a:lnTo>
                    <a:cubicBezTo>
                      <a:pt x="2774385" y="0"/>
                      <a:pt x="2791066" y="16681"/>
                      <a:pt x="2791066" y="37258"/>
                    </a:cubicBezTo>
                    <a:lnTo>
                      <a:pt x="2791066" y="2796243"/>
                    </a:lnTo>
                    <a:cubicBezTo>
                      <a:pt x="2791066" y="2816820"/>
                      <a:pt x="2774385" y="2833501"/>
                      <a:pt x="2753808" y="2833501"/>
                    </a:cubicBezTo>
                    <a:lnTo>
                      <a:pt x="37258" y="2833501"/>
                    </a:lnTo>
                    <a:cubicBezTo>
                      <a:pt x="16681" y="2833501"/>
                      <a:pt x="0" y="2816820"/>
                      <a:pt x="0" y="2796243"/>
                    </a:cubicBezTo>
                    <a:lnTo>
                      <a:pt x="0" y="37258"/>
                    </a:lnTo>
                    <a:cubicBezTo>
                      <a:pt x="0" y="16681"/>
                      <a:pt x="16681" y="0"/>
                      <a:pt x="37258" y="0"/>
                    </a:cubicBezTo>
                    <a:close/>
                  </a:path>
                </a:pathLst>
              </a:custGeom>
              <a:solidFill>
                <a:srgbClr val="FFFFFF">
                  <a:alpha val="85882"/>
                </a:srgbClr>
              </a:solidFill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2791066" cy="287160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20"/>
                  </a:lnSpc>
                </a:pPr>
                <a:endParaRPr/>
              </a:p>
            </p:txBody>
          </p:sp>
        </p:grpSp>
        <p:sp>
          <p:nvSpPr>
            <p:cNvPr id="17" name="Freeform 17"/>
            <p:cNvSpPr/>
            <p:nvPr/>
          </p:nvSpPr>
          <p:spPr>
            <a:xfrm rot="8100000">
              <a:off x="2992937" y="2992937"/>
              <a:ext cx="14451179" cy="14451179"/>
            </a:xfrm>
            <a:custGeom>
              <a:avLst/>
              <a:gdLst/>
              <a:ahLst/>
              <a:cxnLst/>
              <a:rect l="l" t="t" r="r" b="b"/>
              <a:pathLst>
                <a:path w="14451179" h="14451179">
                  <a:moveTo>
                    <a:pt x="0" y="0"/>
                  </a:moveTo>
                  <a:lnTo>
                    <a:pt x="14451179" y="0"/>
                  </a:lnTo>
                  <a:lnTo>
                    <a:pt x="14451179" y="14451179"/>
                  </a:lnTo>
                  <a:lnTo>
                    <a:pt x="0" y="14451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8" name="Freeform 18"/>
          <p:cNvSpPr/>
          <p:nvPr/>
        </p:nvSpPr>
        <p:spPr>
          <a:xfrm rot="9321692">
            <a:off x="822020" y="5229145"/>
            <a:ext cx="5153337" cy="5153337"/>
          </a:xfrm>
          <a:custGeom>
            <a:avLst/>
            <a:gdLst/>
            <a:ahLst/>
            <a:cxnLst/>
            <a:rect l="l" t="t" r="r" b="b"/>
            <a:pathLst>
              <a:path w="5153337" h="5153337">
                <a:moveTo>
                  <a:pt x="0" y="0"/>
                </a:moveTo>
                <a:lnTo>
                  <a:pt x="5153337" y="0"/>
                </a:lnTo>
                <a:lnTo>
                  <a:pt x="5153337" y="5153337"/>
                </a:lnTo>
                <a:lnTo>
                  <a:pt x="0" y="515333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Freeform 19"/>
          <p:cNvSpPr/>
          <p:nvPr/>
        </p:nvSpPr>
        <p:spPr>
          <a:xfrm>
            <a:off x="1028700" y="565096"/>
            <a:ext cx="5085795" cy="9418622"/>
          </a:xfrm>
          <a:custGeom>
            <a:avLst/>
            <a:gdLst/>
            <a:ahLst/>
            <a:cxnLst/>
            <a:rect l="l" t="t" r="r" b="b"/>
            <a:pathLst>
              <a:path w="5085795" h="9418622">
                <a:moveTo>
                  <a:pt x="0" y="0"/>
                </a:moveTo>
                <a:lnTo>
                  <a:pt x="5085795" y="0"/>
                </a:lnTo>
                <a:lnTo>
                  <a:pt x="5085795" y="9418622"/>
                </a:lnTo>
                <a:lnTo>
                  <a:pt x="0" y="94186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92633" t="-18131" r="-2506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20" name="TextBox 20"/>
          <p:cNvSpPr txBox="1"/>
          <p:nvPr/>
        </p:nvSpPr>
        <p:spPr>
          <a:xfrm>
            <a:off x="9144000" y="660053"/>
            <a:ext cx="8290475" cy="1538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7"/>
              </a:lnSpc>
            </a:pPr>
            <a:r>
              <a:rPr lang="en-US" sz="9005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目標族群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068351" y="2761064"/>
            <a:ext cx="7041025" cy="4669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夜歸族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獨居者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女性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夜間運動者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學生</a:t>
            </a:r>
          </a:p>
          <a:p>
            <a:pPr marL="949961" lvl="1" indent="-474980" algn="l">
              <a:lnSpc>
                <a:spcPts val="6160"/>
              </a:lnSpc>
              <a:buFont typeface="Arial"/>
              <a:buChar char="•"/>
            </a:pPr>
            <a:r>
              <a:rPr lang="en-US" sz="4400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商家（可付費投放廣告）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報告人:品臻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095387" y="2057400"/>
            <a:ext cx="8326903" cy="3086100"/>
            <a:chOff x="0" y="0"/>
            <a:chExt cx="2193094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產品定位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79232" y="3069506"/>
            <a:ext cx="6217568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提供街頭安全防護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ctr">
              <a:lnSpc>
                <a:spcPts val="7897"/>
              </a:lnSpc>
              <a:spcBef>
                <a:spcPct val="0"/>
              </a:spcBef>
            </a:pP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5095387" y="6339667"/>
            <a:ext cx="8326903" cy="3086100"/>
            <a:chOff x="0" y="0"/>
            <a:chExt cx="2193094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3094" cy="812800"/>
            </a:xfrm>
            <a:custGeom>
              <a:avLst/>
              <a:gdLst/>
              <a:ahLst/>
              <a:cxnLst/>
              <a:rect l="l" t="t" r="r" b="b"/>
              <a:pathLst>
                <a:path w="2193094" h="812800">
                  <a:moveTo>
                    <a:pt x="47417" y="0"/>
                  </a:moveTo>
                  <a:lnTo>
                    <a:pt x="2145677" y="0"/>
                  </a:lnTo>
                  <a:cubicBezTo>
                    <a:pt x="2171864" y="0"/>
                    <a:pt x="2193094" y="21229"/>
                    <a:pt x="2193094" y="47417"/>
                  </a:cubicBezTo>
                  <a:lnTo>
                    <a:pt x="2193094" y="765383"/>
                  </a:lnTo>
                  <a:cubicBezTo>
                    <a:pt x="2193094" y="791571"/>
                    <a:pt x="2171864" y="812800"/>
                    <a:pt x="2145677" y="812800"/>
                  </a:cubicBezTo>
                  <a:lnTo>
                    <a:pt x="47417" y="812800"/>
                  </a:lnTo>
                  <a:cubicBezTo>
                    <a:pt x="21229" y="812800"/>
                    <a:pt x="0" y="791571"/>
                    <a:pt x="0" y="765383"/>
                  </a:cubicBezTo>
                  <a:lnTo>
                    <a:pt x="0" y="47417"/>
                  </a:lnTo>
                  <a:cubicBezTo>
                    <a:pt x="0" y="21229"/>
                    <a:pt x="21229" y="0"/>
                    <a:pt x="47417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193094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602987" y="7446733"/>
            <a:ext cx="6109443" cy="8040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507"/>
              </a:lnSpc>
              <a:spcBef>
                <a:spcPct val="0"/>
              </a:spcBef>
            </a:pPr>
            <a:r>
              <a:rPr lang="en-US" sz="4648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即時求助機制的平台</a:t>
            </a:r>
            <a:endParaRPr lang="en-US" sz="4648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18" name="Freeform 18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5127295">
            <a:off x="-4935882" y="-1192039"/>
            <a:ext cx="14888109" cy="10557022"/>
          </a:xfrm>
          <a:custGeom>
            <a:avLst/>
            <a:gdLst/>
            <a:ahLst/>
            <a:cxnLst/>
            <a:rect l="l" t="t" r="r" b="b"/>
            <a:pathLst>
              <a:path w="14888109" h="10557022">
                <a:moveTo>
                  <a:pt x="0" y="0"/>
                </a:moveTo>
                <a:lnTo>
                  <a:pt x="14888109" y="0"/>
                </a:lnTo>
                <a:lnTo>
                  <a:pt x="14888109" y="10557023"/>
                </a:lnTo>
                <a:lnTo>
                  <a:pt x="0" y="105570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10" name="Group 10"/>
          <p:cNvGrpSpPr/>
          <p:nvPr/>
        </p:nvGrpSpPr>
        <p:grpSpPr>
          <a:xfrm>
            <a:off x="2852689" y="3110777"/>
            <a:ext cx="13683617" cy="2901204"/>
            <a:chOff x="0" y="0"/>
            <a:chExt cx="3603915" cy="7641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852689" y="1837289"/>
            <a:ext cx="13683617" cy="2901204"/>
            <a:chOff x="0" y="0"/>
            <a:chExt cx="3603915" cy="76410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14071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獲利方式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090191" y="1996786"/>
            <a:ext cx="4423880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對象:商家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2852689" y="6986683"/>
            <a:ext cx="13683617" cy="2901204"/>
            <a:chOff x="0" y="0"/>
            <a:chExt cx="3603915" cy="7641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98C1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53121" y="9005650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600/1個月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2852689" y="6180645"/>
            <a:ext cx="13683617" cy="2901204"/>
            <a:chOff x="0" y="0"/>
            <a:chExt cx="3603915" cy="7641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603916" cy="764103"/>
            </a:xfrm>
            <a:custGeom>
              <a:avLst/>
              <a:gdLst/>
              <a:ahLst/>
              <a:cxnLst/>
              <a:rect l="l" t="t" r="r" b="b"/>
              <a:pathLst>
                <a:path w="3603916" h="764103">
                  <a:moveTo>
                    <a:pt x="28855" y="0"/>
                  </a:moveTo>
                  <a:lnTo>
                    <a:pt x="3575061" y="0"/>
                  </a:lnTo>
                  <a:cubicBezTo>
                    <a:pt x="3590997" y="0"/>
                    <a:pt x="3603916" y="12919"/>
                    <a:pt x="3603916" y="28855"/>
                  </a:cubicBezTo>
                  <a:lnTo>
                    <a:pt x="3603916" y="735248"/>
                  </a:lnTo>
                  <a:cubicBezTo>
                    <a:pt x="3603916" y="742901"/>
                    <a:pt x="3600876" y="750240"/>
                    <a:pt x="3595464" y="755652"/>
                  </a:cubicBezTo>
                  <a:cubicBezTo>
                    <a:pt x="3590053" y="761063"/>
                    <a:pt x="3582713" y="764103"/>
                    <a:pt x="3575061" y="764103"/>
                  </a:cubicBezTo>
                  <a:lnTo>
                    <a:pt x="28855" y="764103"/>
                  </a:lnTo>
                  <a:cubicBezTo>
                    <a:pt x="21202" y="764103"/>
                    <a:pt x="13863" y="761063"/>
                    <a:pt x="8451" y="755652"/>
                  </a:cubicBezTo>
                  <a:cubicBezTo>
                    <a:pt x="3040" y="750240"/>
                    <a:pt x="0" y="742901"/>
                    <a:pt x="0" y="735248"/>
                  </a:cubicBezTo>
                  <a:lnTo>
                    <a:pt x="0" y="28855"/>
                  </a:lnTo>
                  <a:cubicBezTo>
                    <a:pt x="0" y="12919"/>
                    <a:pt x="12919" y="0"/>
                    <a:pt x="28855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603915" cy="8022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3090190" y="6466395"/>
            <a:ext cx="5333233" cy="976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97"/>
              </a:lnSpc>
              <a:spcBef>
                <a:spcPct val="0"/>
              </a:spcBef>
            </a:pPr>
            <a:r>
              <a:rPr lang="en-US" sz="564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</a:t>
            </a:r>
            <a:r>
              <a:rPr lang="en-US" sz="564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對象:企業</a:t>
            </a:r>
            <a:endParaRPr lang="en-US" sz="564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4418041" y="3108367"/>
            <a:ext cx="11888759" cy="148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向走入一定範圍內的使用者推播商家活動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/</a:t>
            </a: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訊息</a:t>
            </a:r>
            <a:endParaRPr lang="en-US" sz="4200" b="1" dirty="0">
              <a:solidFill>
                <a:srgbClr val="FFFFFF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吸引使用者走入商家消費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403194" y="7335522"/>
            <a:ext cx="8741470" cy="145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將企業想散播之訊息</a:t>
            </a:r>
            <a:r>
              <a:rPr lang="en-US" sz="4200" dirty="0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/logo  </a:t>
            </a: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嵌入系統中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sz="4200" dirty="0" err="1">
                <a:solidFill>
                  <a:srgbClr val="FFFFFF"/>
                </a:solidFill>
                <a:latin typeface="Atma"/>
                <a:ea typeface="Atma"/>
                <a:cs typeface="Atma"/>
                <a:sym typeface="Atma"/>
              </a:rPr>
              <a:t>提升企業形象</a:t>
            </a:r>
            <a:endParaRPr lang="en-US" sz="4200" dirty="0">
              <a:solidFill>
                <a:srgbClr val="FFFFFF"/>
              </a:solidFill>
              <a:latin typeface="Atma"/>
              <a:ea typeface="Atma"/>
              <a:cs typeface="Atma"/>
              <a:sym typeface="Atma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3090191" y="5014719"/>
            <a:ext cx="11170573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 dirty="0" err="1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以指定地點五公里內投放廣告</a:t>
            </a:r>
            <a:r>
              <a:rPr lang="en-US" sz="4200" b="1" dirty="0">
                <a:solidFill>
                  <a:srgbClr val="FFFFFF"/>
                </a:solidFill>
                <a:latin typeface="Atma Medium"/>
                <a:ea typeface="Atma Medium"/>
                <a:cs typeface="Atma Medium"/>
                <a:sym typeface="Atma Medium"/>
              </a:rPr>
              <a:t>   300/1個月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34924" y="-133350"/>
            <a:ext cx="7825881" cy="1104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5"/>
              </a:lnSpc>
            </a:pPr>
            <a:r>
              <a:rPr lang="en-US" sz="6396" b="1">
                <a:solidFill>
                  <a:srgbClr val="494F56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參考資料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00876" y="1945655"/>
            <a:ext cx="11552211" cy="381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1"/>
              </a:lnSpc>
              <a:spcBef>
                <a:spcPct val="0"/>
              </a:spcBef>
            </a:pP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 聯合報  </a:t>
            </a:r>
            <a:r>
              <a:rPr lang="en-US" sz="2215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 :</a:t>
            </a:r>
            <a:r>
              <a:rPr lang="en-US" sz="2215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4" tooltip="https://udn.com/news/story/7314/8766037?utm_source=yahoonews&amp;utm_medium=yahoo"/>
              </a:rPr>
              <a:t>https://udn.com/news/story/7314/8766037?utm_source=yahoonews&amp;utm_medium=yahoo字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00876" y="2805665"/>
            <a:ext cx="12284472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</a:rPr>
              <a:t>內政部警政署:  </a:t>
            </a:r>
            <a:r>
              <a:rPr lang="en-US" sz="2214" b="1" u="sng">
                <a:solidFill>
                  <a:srgbClr val="494F56"/>
                </a:solidFill>
                <a:latin typeface="Atma Medium"/>
                <a:ea typeface="Atma Medium"/>
                <a:cs typeface="Atma Medium"/>
                <a:sym typeface="Atma Medium"/>
                <a:hlinkClick r:id="rId5" tooltip="https://www.npa.gov.tw/ch/app/data/list?module=wg054&amp;id=2206"/>
              </a:rPr>
              <a:t>https://udn.com/news/story/7314/8766037?utm_source=yahoonews&amp;utm_medium=yahoo字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37543" y="3663815"/>
            <a:ext cx="7206457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6" tooltip="https://www.youtube.com/watch?v=JgS_9FgAKXw"/>
              </a:rPr>
              <a:t>三立新聞網 :  https://www.youtube.com/watch?v=JgS_9FgAKXw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00876" y="4521965"/>
            <a:ext cx="8023424" cy="38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0"/>
              </a:lnSpc>
              <a:spcBef>
                <a:spcPct val="0"/>
              </a:spcBef>
            </a:pPr>
            <a:r>
              <a:rPr lang="en-US" sz="2214" u="sng">
                <a:solidFill>
                  <a:srgbClr val="494F56"/>
                </a:solidFill>
                <a:latin typeface="Atma"/>
                <a:ea typeface="Atma"/>
                <a:cs typeface="Atma"/>
                <a:sym typeface="Atma"/>
                <a:hlinkClick r:id="rId7" tooltip="https://www.nownews.com/news/6439951?utm_source=chatgpt.com"/>
              </a:rPr>
              <a:t>NOWnews今日新聞 :  https://www.youtube.com/watch?v=JgS_9FgAKXw </a:t>
            </a:r>
          </a:p>
        </p:txBody>
      </p:sp>
      <p:grpSp>
        <p:nvGrpSpPr>
          <p:cNvPr id="14" name="Group 14"/>
          <p:cNvGrpSpPr/>
          <p:nvPr/>
        </p:nvGrpSpPr>
        <p:grpSpPr>
          <a:xfrm rot="5400000">
            <a:off x="3474273" y="-4955840"/>
            <a:ext cx="11339454" cy="19920915"/>
            <a:chOff x="0" y="0"/>
            <a:chExt cx="2021507" cy="355134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021507" cy="3551341"/>
            </a:xfrm>
            <a:custGeom>
              <a:avLst/>
              <a:gdLst/>
              <a:ahLst/>
              <a:cxnLst/>
              <a:rect l="l" t="t" r="r" b="b"/>
              <a:pathLst>
                <a:path w="2021507" h="3551341">
                  <a:moveTo>
                    <a:pt x="34820" y="0"/>
                  </a:moveTo>
                  <a:lnTo>
                    <a:pt x="1986687" y="0"/>
                  </a:lnTo>
                  <a:cubicBezTo>
                    <a:pt x="2005918" y="0"/>
                    <a:pt x="2021507" y="15589"/>
                    <a:pt x="2021507" y="34820"/>
                  </a:cubicBezTo>
                  <a:lnTo>
                    <a:pt x="2021507" y="3516521"/>
                  </a:lnTo>
                  <a:cubicBezTo>
                    <a:pt x="2021507" y="3535752"/>
                    <a:pt x="2005918" y="3551341"/>
                    <a:pt x="1986687" y="3551341"/>
                  </a:cubicBezTo>
                  <a:lnTo>
                    <a:pt x="34820" y="3551341"/>
                  </a:lnTo>
                  <a:cubicBezTo>
                    <a:pt x="15589" y="3551341"/>
                    <a:pt x="0" y="3535752"/>
                    <a:pt x="0" y="3516521"/>
                  </a:cubicBezTo>
                  <a:lnTo>
                    <a:pt x="0" y="34820"/>
                  </a:lnTo>
                  <a:cubicBezTo>
                    <a:pt x="0" y="15589"/>
                    <a:pt x="15589" y="0"/>
                    <a:pt x="34820" y="0"/>
                  </a:cubicBezTo>
                  <a:close/>
                </a:path>
              </a:pathLst>
            </a:custGeom>
            <a:solidFill>
              <a:srgbClr val="588157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021507" cy="3589441"/>
            </a:xfrm>
            <a:prstGeom prst="rect">
              <a:avLst/>
            </a:prstGeom>
          </p:spPr>
          <p:txBody>
            <a:bodyPr lIns="75051" tIns="75051" rIns="75051" bIns="75051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244795" y="3952446"/>
            <a:ext cx="13014505" cy="1732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87"/>
              </a:lnSpc>
              <a:spcBef>
                <a:spcPct val="0"/>
              </a:spcBef>
            </a:pPr>
            <a:r>
              <a:rPr lang="en-US" sz="10205">
                <a:solidFill>
                  <a:srgbClr val="FFFFFF"/>
                </a:solidFill>
                <a:latin typeface="Quicksand"/>
                <a:ea typeface="Quicksand"/>
                <a:cs typeface="Quicksand"/>
                <a:sym typeface="Quicksand"/>
              </a:rPr>
              <a:t>六. 未來預期</a:t>
            </a:r>
          </a:p>
        </p:txBody>
      </p:sp>
      <p:grpSp>
        <p:nvGrpSpPr>
          <p:cNvPr id="18" name="Group 18"/>
          <p:cNvGrpSpPr/>
          <p:nvPr/>
        </p:nvGrpSpPr>
        <p:grpSpPr>
          <a:xfrm rot="-10800000">
            <a:off x="-6596594" y="-277765"/>
            <a:ext cx="28734743" cy="2800992"/>
            <a:chOff x="0" y="0"/>
            <a:chExt cx="38312990" cy="3734656"/>
          </a:xfrm>
        </p:grpSpPr>
        <p:sp>
          <p:nvSpPr>
            <p:cNvPr id="19" name="Freeform 19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20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-6409755" y="7486008"/>
            <a:ext cx="28734743" cy="2800992"/>
            <a:chOff x="0" y="0"/>
            <a:chExt cx="38312990" cy="3734656"/>
          </a:xfrm>
        </p:grpSpPr>
        <p:sp>
          <p:nvSpPr>
            <p:cNvPr id="22" name="Freeform 22"/>
            <p:cNvSpPr/>
            <p:nvPr/>
          </p:nvSpPr>
          <p:spPr>
            <a:xfrm>
              <a:off x="15386582" y="769209"/>
              <a:ext cx="22926408" cy="2965446"/>
            </a:xfrm>
            <a:custGeom>
              <a:avLst/>
              <a:gdLst/>
              <a:ahLst/>
              <a:cxnLst/>
              <a:rect l="l" t="t" r="r" b="b"/>
              <a:pathLst>
                <a:path w="22926408" h="2965446">
                  <a:moveTo>
                    <a:pt x="0" y="0"/>
                  </a:moveTo>
                  <a:lnTo>
                    <a:pt x="22926408" y="0"/>
                  </a:lnTo>
                  <a:lnTo>
                    <a:pt x="22926408" y="2965447"/>
                  </a:lnTo>
                  <a:lnTo>
                    <a:pt x="0" y="29654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23"/>
            <p:cNvSpPr/>
            <p:nvPr/>
          </p:nvSpPr>
          <p:spPr>
            <a:xfrm rot="-10800000">
              <a:off x="0" y="0"/>
              <a:ext cx="22569304" cy="2919256"/>
            </a:xfrm>
            <a:custGeom>
              <a:avLst/>
              <a:gdLst/>
              <a:ahLst/>
              <a:cxnLst/>
              <a:rect l="l" t="t" r="r" b="b"/>
              <a:pathLst>
                <a:path w="22569304" h="2919256">
                  <a:moveTo>
                    <a:pt x="0" y="0"/>
                  </a:moveTo>
                  <a:lnTo>
                    <a:pt x="22569304" y="0"/>
                  </a:lnTo>
                  <a:lnTo>
                    <a:pt x="22569304" y="2919256"/>
                  </a:lnTo>
                  <a:lnTo>
                    <a:pt x="0" y="2919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 rot="9862457">
            <a:off x="-4016482" y="-2860877"/>
            <a:ext cx="21704725" cy="15390623"/>
          </a:xfrm>
          <a:custGeom>
            <a:avLst/>
            <a:gdLst/>
            <a:ahLst/>
            <a:cxnLst/>
            <a:rect l="l" t="t" r="r" b="b"/>
            <a:pathLst>
              <a:path w="21704725" h="15390623">
                <a:moveTo>
                  <a:pt x="0" y="0"/>
                </a:moveTo>
                <a:lnTo>
                  <a:pt x="21704725" y="0"/>
                </a:lnTo>
                <a:lnTo>
                  <a:pt x="21704725" y="15390623"/>
                </a:lnTo>
                <a:lnTo>
                  <a:pt x="0" y="153906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028700" y="447675"/>
            <a:ext cx="325985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未來預期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1485900"/>
            <a:ext cx="8115300" cy="3270257"/>
            <a:chOff x="0" y="0"/>
            <a:chExt cx="2137363" cy="86130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13162" y="1855640"/>
            <a:ext cx="7020088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持續優化功能，拓展使用場景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725378" y="3054353"/>
            <a:ext cx="3707872" cy="178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安全路徑推薦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r>
              <a:rPr lang="en-US" sz="34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AI熱點預警系統</a:t>
            </a:r>
          </a:p>
          <a:p>
            <a:pPr algn="l">
              <a:lnSpc>
                <a:spcPts val="4785"/>
              </a:lnSpc>
              <a:spcBef>
                <a:spcPct val="0"/>
              </a:spcBef>
            </a:pPr>
            <a:endParaRPr lang="en-US" sz="34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9505591" y="1485900"/>
            <a:ext cx="8115300" cy="3270257"/>
            <a:chOff x="0" y="0"/>
            <a:chExt cx="2137363" cy="86130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37363" cy="861302"/>
            </a:xfrm>
            <a:custGeom>
              <a:avLst/>
              <a:gdLst/>
              <a:ahLst/>
              <a:cxnLst/>
              <a:rect l="l" t="t" r="r" b="b"/>
              <a:pathLst>
                <a:path w="2137363" h="861302">
                  <a:moveTo>
                    <a:pt x="48654" y="0"/>
                  </a:moveTo>
                  <a:lnTo>
                    <a:pt x="2088710" y="0"/>
                  </a:lnTo>
                  <a:cubicBezTo>
                    <a:pt x="2115580" y="0"/>
                    <a:pt x="2137363" y="21783"/>
                    <a:pt x="2137363" y="48654"/>
                  </a:cubicBezTo>
                  <a:lnTo>
                    <a:pt x="2137363" y="812649"/>
                  </a:lnTo>
                  <a:cubicBezTo>
                    <a:pt x="2137363" y="839519"/>
                    <a:pt x="2115580" y="861302"/>
                    <a:pt x="2088710" y="861302"/>
                  </a:cubicBezTo>
                  <a:lnTo>
                    <a:pt x="48654" y="861302"/>
                  </a:lnTo>
                  <a:cubicBezTo>
                    <a:pt x="21783" y="861302"/>
                    <a:pt x="0" y="839519"/>
                    <a:pt x="0" y="812649"/>
                  </a:cubicBezTo>
                  <a:lnTo>
                    <a:pt x="0" y="48654"/>
                  </a:lnTo>
                  <a:cubicBezTo>
                    <a:pt x="0" y="21783"/>
                    <a:pt x="21783" y="0"/>
                    <a:pt x="48654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137363" cy="8994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183930" y="1865165"/>
            <a:ext cx="6047211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合作發展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54348" y="2513500"/>
            <a:ext cx="4604952" cy="195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與超過50店家建立認證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與政府、NGO 合作申請補助</a:t>
            </a:r>
          </a:p>
          <a:p>
            <a:pPr algn="l">
              <a:lnSpc>
                <a:spcPts val="3945"/>
              </a:lnSpc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建立通報機制</a:t>
            </a:r>
          </a:p>
          <a:p>
            <a:pPr algn="l">
              <a:lnSpc>
                <a:spcPts val="3945"/>
              </a:lnSpc>
              <a:spcBef>
                <a:spcPct val="0"/>
              </a:spcBef>
            </a:pPr>
            <a:r>
              <a:rPr lang="en-US" sz="28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企業 CSR 合作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2068630" y="5946782"/>
            <a:ext cx="14162511" cy="3631037"/>
            <a:chOff x="0" y="0"/>
            <a:chExt cx="3730044" cy="9563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30044" cy="956323"/>
            </a:xfrm>
            <a:custGeom>
              <a:avLst/>
              <a:gdLst/>
              <a:ahLst/>
              <a:cxnLst/>
              <a:rect l="l" t="t" r="r" b="b"/>
              <a:pathLst>
                <a:path w="3730044" h="956323">
                  <a:moveTo>
                    <a:pt x="27879" y="0"/>
                  </a:moveTo>
                  <a:lnTo>
                    <a:pt x="3702165" y="0"/>
                  </a:lnTo>
                  <a:cubicBezTo>
                    <a:pt x="3717562" y="0"/>
                    <a:pt x="3730044" y="12482"/>
                    <a:pt x="3730044" y="27879"/>
                  </a:cubicBezTo>
                  <a:lnTo>
                    <a:pt x="3730044" y="928443"/>
                  </a:lnTo>
                  <a:cubicBezTo>
                    <a:pt x="3730044" y="943841"/>
                    <a:pt x="3717562" y="956323"/>
                    <a:pt x="3702165" y="956323"/>
                  </a:cubicBezTo>
                  <a:lnTo>
                    <a:pt x="27879" y="956323"/>
                  </a:lnTo>
                  <a:cubicBezTo>
                    <a:pt x="12482" y="956323"/>
                    <a:pt x="0" y="943841"/>
                    <a:pt x="0" y="928443"/>
                  </a:cubicBezTo>
                  <a:lnTo>
                    <a:pt x="0" y="27879"/>
                  </a:lnTo>
                  <a:cubicBezTo>
                    <a:pt x="0" y="12482"/>
                    <a:pt x="12482" y="0"/>
                    <a:pt x="27879" y="0"/>
                  </a:cubicBezTo>
                  <a:close/>
                </a:path>
              </a:pathLst>
            </a:custGeom>
            <a:solidFill>
              <a:srgbClr val="0093B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30044" cy="9944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386039" y="6308732"/>
            <a:ext cx="2700311" cy="70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FDF9F1"/>
                </a:solidFill>
                <a:latin typeface="Quicksand"/>
                <a:ea typeface="Quicksand"/>
                <a:cs typeface="Quicksand"/>
                <a:sym typeface="Quicksand"/>
              </a:rPr>
              <a:t>社會影響力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34474" y="6346832"/>
            <a:ext cx="9623758" cy="3181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建立群眾參與的安全資料庫，推動「群眾通報、群眾保護」的公共安全文化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提升社會對「騷擾/跟蹤」議題的敏感度與處理效率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  <a:p>
            <a:pPr algn="l">
              <a:lnSpc>
                <a:spcPts val="3665"/>
              </a:lnSpc>
            </a:pPr>
            <a:r>
              <a:rPr lang="en-US" sz="2618" b="1">
                <a:solidFill>
                  <a:srgbClr val="FDF9F1"/>
                </a:solidFill>
                <a:latin typeface="Atma Medium"/>
                <a:ea typeface="Atma Medium"/>
                <a:cs typeface="Atma Medium"/>
                <a:sym typeface="Atma Medium"/>
              </a:rPr>
              <a:t>長遠成為智慧城市安全一環，納入政府政策平台或警政合作方案</a:t>
            </a:r>
          </a:p>
          <a:p>
            <a:pPr algn="l">
              <a:lnSpc>
                <a:spcPts val="3665"/>
              </a:lnSpc>
            </a:pPr>
            <a:endParaRPr lang="en-US" sz="2618" b="1">
              <a:solidFill>
                <a:srgbClr val="FDF9F1"/>
              </a:solidFill>
              <a:latin typeface="Atma Medium"/>
              <a:ea typeface="Atma Medium"/>
              <a:cs typeface="Atma Medium"/>
              <a:sym typeface="Atma Medium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5191677" y="9604236"/>
            <a:ext cx="5718589" cy="68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3"/>
              </a:lnSpc>
            </a:pPr>
            <a:r>
              <a:rPr lang="en-US" sz="3995">
                <a:solidFill>
                  <a:srgbClr val="494F56"/>
                </a:solidFill>
                <a:latin typeface="Quicksand"/>
                <a:ea typeface="Quicksand"/>
                <a:cs typeface="Quicksand"/>
                <a:sym typeface="Quicksand"/>
              </a:rPr>
              <a:t>報告人:想想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02377" y="1567300"/>
            <a:ext cx="13718513" cy="2846592"/>
          </a:xfrm>
          <a:custGeom>
            <a:avLst/>
            <a:gdLst/>
            <a:ahLst/>
            <a:cxnLst/>
            <a:rect l="l" t="t" r="r" b="b"/>
            <a:pathLst>
              <a:path w="13718513" h="2846592">
                <a:moveTo>
                  <a:pt x="0" y="0"/>
                </a:moveTo>
                <a:lnTo>
                  <a:pt x="13718513" y="0"/>
                </a:lnTo>
                <a:lnTo>
                  <a:pt x="13718513" y="2846592"/>
                </a:lnTo>
                <a:lnTo>
                  <a:pt x="0" y="284659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02377" y="5758394"/>
            <a:ext cx="13718513" cy="3123664"/>
          </a:xfrm>
          <a:custGeom>
            <a:avLst/>
            <a:gdLst/>
            <a:ahLst/>
            <a:cxnLst/>
            <a:rect l="l" t="t" r="r" b="b"/>
            <a:pathLst>
              <a:path w="13718513" h="3123664">
                <a:moveTo>
                  <a:pt x="0" y="0"/>
                </a:moveTo>
                <a:lnTo>
                  <a:pt x="13718513" y="0"/>
                </a:lnTo>
                <a:lnTo>
                  <a:pt x="13718513" y="3123664"/>
                </a:lnTo>
                <a:lnTo>
                  <a:pt x="0" y="312366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054" b="-105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7381666" y="557287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4914" y="4518667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11056001-吳想想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2377" y="9191625"/>
            <a:ext cx="554031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11056035-陳雨琦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2661857" y="5729934"/>
            <a:ext cx="12964286" cy="2787321"/>
          </a:xfrm>
          <a:custGeom>
            <a:avLst/>
            <a:gdLst/>
            <a:ahLst/>
            <a:cxnLst/>
            <a:rect l="l" t="t" r="r" b="b"/>
            <a:pathLst>
              <a:path w="12964286" h="2787321">
                <a:moveTo>
                  <a:pt x="0" y="0"/>
                </a:moveTo>
                <a:lnTo>
                  <a:pt x="12964286" y="0"/>
                </a:lnTo>
                <a:lnTo>
                  <a:pt x="12964286" y="2787321"/>
                </a:lnTo>
                <a:lnTo>
                  <a:pt x="0" y="278732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2661857" y="1567300"/>
            <a:ext cx="13074598" cy="2924201"/>
          </a:xfrm>
          <a:custGeom>
            <a:avLst/>
            <a:gdLst/>
            <a:ahLst/>
            <a:cxnLst/>
            <a:rect l="l" t="t" r="r" b="b"/>
            <a:pathLst>
              <a:path w="13074598" h="2924201">
                <a:moveTo>
                  <a:pt x="0" y="0"/>
                </a:moveTo>
                <a:lnTo>
                  <a:pt x="13074598" y="0"/>
                </a:lnTo>
                <a:lnTo>
                  <a:pt x="13074598" y="2924201"/>
                </a:lnTo>
                <a:lnTo>
                  <a:pt x="0" y="29242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t="-15691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6298713" y="561793"/>
            <a:ext cx="4159936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GITHUB 紀錄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61857" y="87109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11056045-黃思璇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61857" y="4596129"/>
            <a:ext cx="5540317" cy="547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11056042-李品臻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716520" y="0"/>
            <a:ext cx="20772145" cy="10971802"/>
            <a:chOff x="0" y="0"/>
            <a:chExt cx="27696193" cy="14629069"/>
          </a:xfrm>
        </p:grpSpPr>
        <p:sp>
          <p:nvSpPr>
            <p:cNvPr id="3" name="Freeform 3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285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" name="Freeform 9"/>
          <p:cNvSpPr/>
          <p:nvPr/>
        </p:nvSpPr>
        <p:spPr>
          <a:xfrm>
            <a:off x="4105169" y="743314"/>
            <a:ext cx="10143395" cy="9249616"/>
          </a:xfrm>
          <a:custGeom>
            <a:avLst/>
            <a:gdLst/>
            <a:ahLst/>
            <a:cxnLst/>
            <a:rect l="l" t="t" r="r" b="b"/>
            <a:pathLst>
              <a:path w="10143395" h="9249616">
                <a:moveTo>
                  <a:pt x="0" y="0"/>
                </a:moveTo>
                <a:lnTo>
                  <a:pt x="10143395" y="0"/>
                </a:lnTo>
                <a:lnTo>
                  <a:pt x="10143395" y="9249615"/>
                </a:lnTo>
                <a:lnTo>
                  <a:pt x="0" y="92496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39" r="-1139" b="-325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6868708" y="-95250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-9286888" y="2994687"/>
            <a:ext cx="22859459" cy="2228284"/>
            <a:chOff x="0" y="0"/>
            <a:chExt cx="30479278" cy="2971045"/>
          </a:xfrm>
        </p:grpSpPr>
        <p:sp>
          <p:nvSpPr>
            <p:cNvPr id="12" name="Freeform 12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13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4780701" y="3672947"/>
            <a:ext cx="22859459" cy="2228284"/>
            <a:chOff x="0" y="0"/>
            <a:chExt cx="30479278" cy="2971045"/>
          </a:xfrm>
        </p:grpSpPr>
        <p:sp>
          <p:nvSpPr>
            <p:cNvPr id="15" name="Freeform 15"/>
            <p:cNvSpPr/>
            <p:nvPr/>
          </p:nvSpPr>
          <p:spPr>
            <a:xfrm>
              <a:off x="12240546" y="611932"/>
              <a:ext cx="18238732" cy="2359113"/>
            </a:xfrm>
            <a:custGeom>
              <a:avLst/>
              <a:gdLst/>
              <a:ahLst/>
              <a:cxnLst/>
              <a:rect l="l" t="t" r="r" b="b"/>
              <a:pathLst>
                <a:path w="18238732" h="2359113">
                  <a:moveTo>
                    <a:pt x="0" y="0"/>
                  </a:moveTo>
                  <a:lnTo>
                    <a:pt x="18238732" y="0"/>
                  </a:lnTo>
                  <a:lnTo>
                    <a:pt x="18238732" y="2359113"/>
                  </a:lnTo>
                  <a:lnTo>
                    <a:pt x="0" y="2359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16"/>
            <p:cNvSpPr/>
            <p:nvPr/>
          </p:nvSpPr>
          <p:spPr>
            <a:xfrm rot="-10800000">
              <a:off x="0" y="0"/>
              <a:ext cx="17954644" cy="2322367"/>
            </a:xfrm>
            <a:custGeom>
              <a:avLst/>
              <a:gdLst/>
              <a:ahLst/>
              <a:cxnLst/>
              <a:rect l="l" t="t" r="r" b="b"/>
              <a:pathLst>
                <a:path w="17954644" h="2322367">
                  <a:moveTo>
                    <a:pt x="0" y="0"/>
                  </a:moveTo>
                  <a:lnTo>
                    <a:pt x="17954644" y="0"/>
                  </a:lnTo>
                  <a:lnTo>
                    <a:pt x="17954644" y="2322367"/>
                  </a:lnTo>
                  <a:lnTo>
                    <a:pt x="0" y="23223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5876373" y="-8503717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2007391" y="0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Freeform 11"/>
          <p:cNvSpPr/>
          <p:nvPr/>
        </p:nvSpPr>
        <p:spPr>
          <a:xfrm rot="-8526383">
            <a:off x="10524505" y="41127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Freeform 12"/>
          <p:cNvSpPr/>
          <p:nvPr/>
        </p:nvSpPr>
        <p:spPr>
          <a:xfrm rot="5127295">
            <a:off x="-5608990" y="-469229"/>
            <a:ext cx="11217980" cy="7954568"/>
          </a:xfrm>
          <a:custGeom>
            <a:avLst/>
            <a:gdLst/>
            <a:ahLst/>
            <a:cxnLst/>
            <a:rect l="l" t="t" r="r" b="b"/>
            <a:pathLst>
              <a:path w="11217980" h="7954568">
                <a:moveTo>
                  <a:pt x="0" y="0"/>
                </a:moveTo>
                <a:lnTo>
                  <a:pt x="11217980" y="0"/>
                </a:lnTo>
                <a:lnTo>
                  <a:pt x="11217980" y="7954568"/>
                </a:lnTo>
                <a:lnTo>
                  <a:pt x="0" y="7954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>
            <a:off x="3562249" y="3273549"/>
            <a:ext cx="11163501" cy="2934659"/>
          </a:xfrm>
          <a:custGeom>
            <a:avLst/>
            <a:gdLst/>
            <a:ahLst/>
            <a:cxnLst/>
            <a:rect l="l" t="t" r="r" b="b"/>
            <a:pathLst>
              <a:path w="11163501" h="2934659">
                <a:moveTo>
                  <a:pt x="0" y="0"/>
                </a:moveTo>
                <a:lnTo>
                  <a:pt x="11163502" y="0"/>
                </a:lnTo>
                <a:lnTo>
                  <a:pt x="11163502" y="2934659"/>
                </a:lnTo>
                <a:lnTo>
                  <a:pt x="0" y="29346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4" name="Freeform 14"/>
          <p:cNvSpPr/>
          <p:nvPr/>
        </p:nvSpPr>
        <p:spPr>
          <a:xfrm>
            <a:off x="3562249" y="6076713"/>
            <a:ext cx="11163501" cy="3668238"/>
          </a:xfrm>
          <a:custGeom>
            <a:avLst/>
            <a:gdLst/>
            <a:ahLst/>
            <a:cxnLst/>
            <a:rect l="l" t="t" r="r" b="b"/>
            <a:pathLst>
              <a:path w="11163501" h="3668238">
                <a:moveTo>
                  <a:pt x="0" y="0"/>
                </a:moveTo>
                <a:lnTo>
                  <a:pt x="11163502" y="0"/>
                </a:lnTo>
                <a:lnTo>
                  <a:pt x="11163502" y="3668238"/>
                </a:lnTo>
                <a:lnTo>
                  <a:pt x="0" y="36682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r="-29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5" name="Freeform 15"/>
          <p:cNvSpPr/>
          <p:nvPr/>
        </p:nvSpPr>
        <p:spPr>
          <a:xfrm>
            <a:off x="3562249" y="1169052"/>
            <a:ext cx="11163501" cy="2104497"/>
          </a:xfrm>
          <a:custGeom>
            <a:avLst/>
            <a:gdLst/>
            <a:ahLst/>
            <a:cxnLst/>
            <a:rect l="l" t="t" r="r" b="b"/>
            <a:pathLst>
              <a:path w="11163501" h="2104497">
                <a:moveTo>
                  <a:pt x="0" y="0"/>
                </a:moveTo>
                <a:lnTo>
                  <a:pt x="11163502" y="0"/>
                </a:lnTo>
                <a:lnTo>
                  <a:pt x="11163502" y="2104497"/>
                </a:lnTo>
                <a:lnTo>
                  <a:pt x="0" y="210449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58"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6" name="TextBox 16"/>
          <p:cNvSpPr txBox="1"/>
          <p:nvPr/>
        </p:nvSpPr>
        <p:spPr>
          <a:xfrm>
            <a:off x="6868708" y="190136"/>
            <a:ext cx="4550584" cy="838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0"/>
              </a:lnSpc>
              <a:spcBef>
                <a:spcPct val="0"/>
              </a:spcBef>
            </a:pPr>
            <a:r>
              <a:rPr lang="en-US" sz="492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專案組織與分工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739938"/>
            <a:ext cx="17579168" cy="4559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謝謝各位評審們的聆聽</a:t>
            </a:r>
          </a:p>
          <a:p>
            <a:pPr algn="ctr">
              <a:lnSpc>
                <a:spcPts val="18295"/>
              </a:lnSpc>
              <a:spcBef>
                <a:spcPct val="0"/>
              </a:spcBef>
            </a:pPr>
            <a:r>
              <a:rPr lang="en-US" sz="13067" b="1">
                <a:solidFill>
                  <a:srgbClr val="000000"/>
                </a:solidFill>
                <a:latin typeface="Atma Medium"/>
                <a:ea typeface="Atma Medium"/>
                <a:cs typeface="Atma Medium"/>
                <a:sym typeface="Atma Medium"/>
              </a:rPr>
              <a:t>再麻煩評審點評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585398" y="3338671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1" y="0"/>
                </a:lnTo>
                <a:lnTo>
                  <a:pt x="12762971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4413133" y="-1327956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8"/>
                </a:lnTo>
                <a:lnTo>
                  <a:pt x="0" y="93478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096997">
            <a:off x="3444272" y="-7608699"/>
            <a:ext cx="20322237" cy="19085106"/>
          </a:xfrm>
          <a:custGeom>
            <a:avLst/>
            <a:gdLst/>
            <a:ahLst/>
            <a:cxnLst/>
            <a:rect l="l" t="t" r="r" b="b"/>
            <a:pathLst>
              <a:path w="20322237" h="19085106">
                <a:moveTo>
                  <a:pt x="0" y="0"/>
                </a:moveTo>
                <a:lnTo>
                  <a:pt x="20322237" y="0"/>
                </a:lnTo>
                <a:lnTo>
                  <a:pt x="20322237" y="19085106"/>
                </a:lnTo>
                <a:lnTo>
                  <a:pt x="0" y="190851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3" name="Freeform 3"/>
          <p:cNvSpPr/>
          <p:nvPr/>
        </p:nvSpPr>
        <p:spPr>
          <a:xfrm rot="4240771">
            <a:off x="-2892344" y="3676233"/>
            <a:ext cx="16654833" cy="11476694"/>
          </a:xfrm>
          <a:custGeom>
            <a:avLst/>
            <a:gdLst/>
            <a:ahLst/>
            <a:cxnLst/>
            <a:rect l="l" t="t" r="r" b="b"/>
            <a:pathLst>
              <a:path w="16654833" h="11476694">
                <a:moveTo>
                  <a:pt x="0" y="0"/>
                </a:moveTo>
                <a:lnTo>
                  <a:pt x="16654833" y="0"/>
                </a:lnTo>
                <a:lnTo>
                  <a:pt x="16654833" y="11476694"/>
                </a:lnTo>
                <a:lnTo>
                  <a:pt x="0" y="11476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4"/>
          <p:cNvGrpSpPr/>
          <p:nvPr/>
        </p:nvGrpSpPr>
        <p:grpSpPr>
          <a:xfrm>
            <a:off x="-510256" y="-342401"/>
            <a:ext cx="20772145" cy="10971802"/>
            <a:chOff x="0" y="0"/>
            <a:chExt cx="27696193" cy="14629069"/>
          </a:xfrm>
        </p:grpSpPr>
        <p:sp>
          <p:nvSpPr>
            <p:cNvPr id="5" name="Freeform 5"/>
            <p:cNvSpPr/>
            <p:nvPr/>
          </p:nvSpPr>
          <p:spPr>
            <a:xfrm>
              <a:off x="38929" y="153762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9024432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9247641" y="66987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9208712" y="8937657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4" y="0"/>
                  </a:lnTo>
                  <a:lnTo>
                    <a:pt x="9201444" y="5604637"/>
                  </a:lnTo>
                  <a:lnTo>
                    <a:pt x="0" y="5604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8533678" y="0"/>
              <a:ext cx="9162515" cy="9154873"/>
            </a:xfrm>
            <a:custGeom>
              <a:avLst/>
              <a:gdLst/>
              <a:ahLst/>
              <a:cxnLst/>
              <a:rect l="l" t="t" r="r" b="b"/>
              <a:pathLst>
                <a:path w="9162515" h="9154873">
                  <a:moveTo>
                    <a:pt x="0" y="0"/>
                  </a:moveTo>
                  <a:lnTo>
                    <a:pt x="9162515" y="0"/>
                  </a:lnTo>
                  <a:lnTo>
                    <a:pt x="9162515" y="9154873"/>
                  </a:lnTo>
                  <a:lnTo>
                    <a:pt x="0" y="9154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3607" b="-13702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8494750" y="8870671"/>
              <a:ext cx="9201444" cy="5604637"/>
            </a:xfrm>
            <a:custGeom>
              <a:avLst/>
              <a:gdLst/>
              <a:ahLst/>
              <a:cxnLst/>
              <a:rect l="l" t="t" r="r" b="b"/>
              <a:pathLst>
                <a:path w="9201444" h="5604637">
                  <a:moveTo>
                    <a:pt x="0" y="0"/>
                  </a:moveTo>
                  <a:lnTo>
                    <a:pt x="9201443" y="0"/>
                  </a:lnTo>
                  <a:lnTo>
                    <a:pt x="9201443" y="5604636"/>
                  </a:lnTo>
                  <a:lnTo>
                    <a:pt x="0" y="56046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285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r="-14444" b="-87889"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-2213972" y="3129762"/>
            <a:ext cx="22715944" cy="26803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9"/>
              </a:lnSpc>
              <a:spcBef>
                <a:spcPct val="0"/>
              </a:spcBef>
            </a:pPr>
            <a:r>
              <a:rPr lang="en-US" sz="15600">
                <a:solidFill>
                  <a:srgbClr val="000000"/>
                </a:solidFill>
                <a:latin typeface="Atma"/>
                <a:ea typeface="Atma"/>
                <a:cs typeface="Atma"/>
                <a:sym typeface="Atma"/>
              </a:rPr>
              <a:t>預設問題補充</a:t>
            </a:r>
          </a:p>
        </p:txBody>
      </p:sp>
      <p:sp>
        <p:nvSpPr>
          <p:cNvPr id="12" name="Freeform 12"/>
          <p:cNvSpPr/>
          <p:nvPr/>
        </p:nvSpPr>
        <p:spPr>
          <a:xfrm rot="-8526383">
            <a:off x="8344280" y="3274578"/>
            <a:ext cx="12762971" cy="13033246"/>
          </a:xfrm>
          <a:custGeom>
            <a:avLst/>
            <a:gdLst/>
            <a:ahLst/>
            <a:cxnLst/>
            <a:rect l="l" t="t" r="r" b="b"/>
            <a:pathLst>
              <a:path w="12762971" h="13033246">
                <a:moveTo>
                  <a:pt x="0" y="0"/>
                </a:moveTo>
                <a:lnTo>
                  <a:pt x="12762972" y="0"/>
                </a:lnTo>
                <a:lnTo>
                  <a:pt x="12762972" y="13033246"/>
                </a:lnTo>
                <a:lnTo>
                  <a:pt x="0" y="130332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Freeform 13"/>
          <p:cNvSpPr/>
          <p:nvPr/>
        </p:nvSpPr>
        <p:spPr>
          <a:xfrm rot="5127295">
            <a:off x="-3804245" y="-1524000"/>
            <a:ext cx="13182807" cy="9347809"/>
          </a:xfrm>
          <a:custGeom>
            <a:avLst/>
            <a:gdLst/>
            <a:ahLst/>
            <a:cxnLst/>
            <a:rect l="l" t="t" r="r" b="b"/>
            <a:pathLst>
              <a:path w="13182807" h="9347809">
                <a:moveTo>
                  <a:pt x="0" y="0"/>
                </a:moveTo>
                <a:lnTo>
                  <a:pt x="13182807" y="0"/>
                </a:lnTo>
                <a:lnTo>
                  <a:pt x="13182807" y="9347809"/>
                </a:lnTo>
                <a:lnTo>
                  <a:pt x="0" y="934780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811</Words>
  <Application>Microsoft Office PowerPoint</Application>
  <PresentationFormat>自訂</PresentationFormat>
  <Paragraphs>269</Paragraphs>
  <Slides>47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5" baseType="lpstr">
      <vt:lpstr>Atma</vt:lpstr>
      <vt:lpstr>Calibri</vt:lpstr>
      <vt:lpstr>Quicksand Bold</vt:lpstr>
      <vt:lpstr>Noot</vt:lpstr>
      <vt:lpstr>Quicksand</vt:lpstr>
      <vt:lpstr>Arial</vt:lpstr>
      <vt:lpstr>Atma Medium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初審文件</dc:title>
  <dc:creator>Sunny Wu</dc:creator>
  <cp:lastModifiedBy>Sunny Wu</cp:lastModifiedBy>
  <cp:revision>2</cp:revision>
  <dcterms:created xsi:type="dcterms:W3CDTF">2006-08-16T00:00:00Z</dcterms:created>
  <dcterms:modified xsi:type="dcterms:W3CDTF">2025-06-01T14:36:59Z</dcterms:modified>
  <dc:identifier>DAGniwVeG2U</dc:identifier>
</cp:coreProperties>
</file>