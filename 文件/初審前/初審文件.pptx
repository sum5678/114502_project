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303" r:id="rId42"/>
    <p:sldId id="296" r:id="rId43"/>
    <p:sldId id="297" r:id="rId44"/>
    <p:sldId id="304" r:id="rId45"/>
    <p:sldId id="298" r:id="rId46"/>
    <p:sldId id="299" r:id="rId47"/>
    <p:sldId id="306" r:id="rId48"/>
    <p:sldId id="300" r:id="rId49"/>
    <p:sldId id="301" r:id="rId50"/>
    <p:sldId id="302" r:id="rId51"/>
    <p:sldId id="307" r:id="rId52"/>
  </p:sldIdLst>
  <p:sldSz cx="18288000" cy="10287000"/>
  <p:notesSz cx="6858000" cy="9144000"/>
  <p:embeddedFontLst>
    <p:embeddedFont>
      <p:font typeface="Atma" panose="02020500000000000000" charset="0"/>
      <p:regular r:id="rId54"/>
    </p:embeddedFont>
    <p:embeddedFont>
      <p:font typeface="Atma Medium" panose="02020500000000000000" charset="0"/>
      <p:regular r:id="rId55"/>
    </p:embeddedFont>
    <p:embeddedFont>
      <p:font typeface="Noot" charset="-79"/>
      <p:regular r:id="rId56"/>
    </p:embeddedFont>
    <p:embeddedFont>
      <p:font typeface="Quicksand" panose="02020500000000000000" charset="0"/>
      <p:regular r:id="rId57"/>
    </p:embeddedFont>
    <p:embeddedFont>
      <p:font typeface="Quicksand Bold" panose="02020500000000000000" charset="0"/>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22" autoAdjust="0"/>
  </p:normalViewPr>
  <p:slideViewPr>
    <p:cSldViewPr>
      <p:cViewPr varScale="1">
        <p:scale>
          <a:sx n="38" d="100"/>
          <a:sy n="38" d="100"/>
        </p:scale>
        <p:origin x="1364" y="-1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771333-4C8C-44AD-A47F-C61ABA823F4B}" type="datetimeFigureOut">
              <a:rPr lang="zh-TW" altLang="en-US" smtClean="0"/>
              <a:t>2025/6/2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72C9BC-C185-4743-8931-1286DBAD4948}" type="slidenum">
              <a:rPr lang="zh-TW" altLang="en-US" smtClean="0"/>
              <a:t>‹#›</a:t>
            </a:fld>
            <a:endParaRPr lang="zh-TW" altLang="en-US"/>
          </a:p>
        </p:txBody>
      </p:sp>
    </p:spTree>
    <p:extLst>
      <p:ext uri="{BB962C8B-B14F-4D97-AF65-F5344CB8AC3E}">
        <p14:creationId xmlns:p14="http://schemas.microsoft.com/office/powerpoint/2010/main" val="622373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878817D-D1AA-46A8-A58E-754025E30F33}" type="datetime1">
              <a:rPr lang="en-US" altLang="zh-TW"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C90F3A-165E-4994-A22D-2EDBF06E42F4}" type="datetime1">
              <a:rPr lang="en-US" altLang="zh-TW"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C6C8BC-07BC-4730-BB41-E0289BE23F19}" type="datetime1">
              <a:rPr lang="en-US" altLang="zh-TW"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919A962-B568-4869-BACA-93C256142205}" type="datetime1">
              <a:rPr lang="en-US" altLang="zh-TW"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02D149-A9AA-4ADE-B785-3B1173EE8E1C}" type="datetime1">
              <a:rPr lang="en-US" altLang="zh-TW" smtClean="0"/>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C6769F0-D66C-4572-A1FE-488C6C9323AB}" type="datetime1">
              <a:rPr lang="en-US" altLang="zh-TW" smtClean="0"/>
              <a:t>6/2/2025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4DDC5-0F53-4AFB-9763-6BCF2D853782}" type="datetime1">
              <a:rPr lang="en-US" altLang="zh-TW" smtClean="0"/>
              <a:t>6/2/2025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DC0F28-D3DA-4618-9617-498F4C6FC5D1}" type="datetime1">
              <a:rPr lang="en-US" altLang="zh-TW"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FAD07A-8628-4148-AB4D-F3C7BC41D668}" type="datetime1">
              <a:rPr lang="en-US" altLang="zh-TW"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5E8E3D-091C-4585-BB84-143EB2A32036}" type="datetime1">
              <a:rPr lang="en-US" altLang="zh-TW"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6689A5-7C7B-44A0-98BF-C3995B1F6336}" type="datetime1">
              <a:rPr lang="en-US" altLang="zh-TW"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E44EF8-1610-4EB0-9A8F-39FFAA5ED2B9}" type="datetime1">
              <a:rPr lang="en-US" altLang="zh-TW" smtClean="0"/>
              <a:t>6/2/2025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svg"/><Relationship Id="rId5" Type="http://schemas.openxmlformats.org/officeDocument/2006/relationships/image" Target="../media/image15.sv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21.sv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sv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7.png"/><Relationship Id="rId5" Type="http://schemas.openxmlformats.org/officeDocument/2006/relationships/image" Target="../media/image23.svg"/><Relationship Id="rId10" Type="http://schemas.openxmlformats.org/officeDocument/2006/relationships/image" Target="../media/image26.png"/><Relationship Id="rId4" Type="http://schemas.openxmlformats.org/officeDocument/2006/relationships/image" Target="../media/image22.png"/><Relationship Id="rId9"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9.svg"/><Relationship Id="rId7" Type="http://schemas.openxmlformats.org/officeDocument/2006/relationships/image" Target="../media/image23.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svg"/><Relationship Id="rId10" Type="http://schemas.openxmlformats.org/officeDocument/2006/relationships/image" Target="../media/image30.png"/><Relationship Id="rId4" Type="http://schemas.openxmlformats.org/officeDocument/2006/relationships/image" Target="../media/image1.png"/><Relationship Id="rId9" Type="http://schemas.openxmlformats.org/officeDocument/2006/relationships/image" Target="../media/image17.sv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svg"/><Relationship Id="rId5" Type="http://schemas.openxmlformats.org/officeDocument/2006/relationships/image" Target="../media/image15.sv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21.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svg"/><Relationship Id="rId5" Type="http://schemas.openxmlformats.org/officeDocument/2006/relationships/image" Target="../media/image15.sv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21.svg"/></Relationships>
</file>

<file path=ppt/slides/_rels/slide1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2.svg"/><Relationship Id="rId10" Type="http://schemas.openxmlformats.org/officeDocument/2006/relationships/image" Target="../media/image37.png"/><Relationship Id="rId4" Type="http://schemas.openxmlformats.org/officeDocument/2006/relationships/image" Target="../media/image1.png"/><Relationship Id="rId9"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29.sv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29.sv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33.png"/><Relationship Id="rId3" Type="http://schemas.openxmlformats.org/officeDocument/2006/relationships/image" Target="../media/image29.svg"/><Relationship Id="rId7" Type="http://schemas.openxmlformats.org/officeDocument/2006/relationships/image" Target="../media/image42.png"/><Relationship Id="rId12" Type="http://schemas.openxmlformats.org/officeDocument/2006/relationships/image" Target="../media/image47.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2.svg"/><Relationship Id="rId15" Type="http://schemas.openxmlformats.org/officeDocument/2006/relationships/image" Target="../media/image48.png"/><Relationship Id="rId10" Type="http://schemas.openxmlformats.org/officeDocument/2006/relationships/image" Target="../media/image45.svg"/><Relationship Id="rId4" Type="http://schemas.openxmlformats.org/officeDocument/2006/relationships/image" Target="../media/image1.png"/><Relationship Id="rId9" Type="http://schemas.openxmlformats.org/officeDocument/2006/relationships/image" Target="../media/image44.png"/><Relationship Id="rId14" Type="http://schemas.openxmlformats.org/officeDocument/2006/relationships/image" Target="../media/image34.svg"/></Relationships>
</file>

<file path=ppt/slides/_rels/slide18.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29.svg"/><Relationship Id="rId7" Type="http://schemas.openxmlformats.org/officeDocument/2006/relationships/image" Target="../media/image50.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2.sv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2.sv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54.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2.sv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9.svg"/><Relationship Id="rId7"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34.svg"/><Relationship Id="rId10" Type="http://schemas.openxmlformats.org/officeDocument/2006/relationships/image" Target="../media/image57.svg"/><Relationship Id="rId4" Type="http://schemas.openxmlformats.org/officeDocument/2006/relationships/image" Target="../media/image33.png"/><Relationship Id="rId9" Type="http://schemas.openxmlformats.org/officeDocument/2006/relationships/image" Target="../media/image56.png"/></Relationships>
</file>

<file path=ppt/slides/_rels/slide2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29.svg"/><Relationship Id="rId7" Type="http://schemas.openxmlformats.org/officeDocument/2006/relationships/image" Target="../media/image5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2.svg"/><Relationship Id="rId10" Type="http://schemas.openxmlformats.org/officeDocument/2006/relationships/image" Target="../media/image62.png"/><Relationship Id="rId4" Type="http://schemas.openxmlformats.org/officeDocument/2006/relationships/image" Target="../media/image1.png"/><Relationship Id="rId9" Type="http://schemas.openxmlformats.org/officeDocument/2006/relationships/image" Target="../media/image61.svg"/></Relationships>
</file>

<file path=ppt/slides/_rels/slide23.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29.svg"/><Relationship Id="rId7" Type="http://schemas.openxmlformats.org/officeDocument/2006/relationships/image" Target="../media/image5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2.svg"/><Relationship Id="rId10" Type="http://schemas.openxmlformats.org/officeDocument/2006/relationships/image" Target="../media/image63.png"/><Relationship Id="rId4" Type="http://schemas.openxmlformats.org/officeDocument/2006/relationships/image" Target="../media/image1.png"/><Relationship Id="rId9" Type="http://schemas.openxmlformats.org/officeDocument/2006/relationships/image" Target="../media/image61.svg"/></Relationships>
</file>

<file path=ppt/slides/_rels/slide24.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29.svg"/><Relationship Id="rId7" Type="http://schemas.openxmlformats.org/officeDocument/2006/relationships/image" Target="../media/image5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2.sv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61.svg"/></Relationships>
</file>

<file path=ppt/slides/_rels/slide2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29.svg"/><Relationship Id="rId7" Type="http://schemas.openxmlformats.org/officeDocument/2006/relationships/image" Target="../media/image5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2.svg"/><Relationship Id="rId10" Type="http://schemas.openxmlformats.org/officeDocument/2006/relationships/image" Target="../media/image65.png"/><Relationship Id="rId4" Type="http://schemas.openxmlformats.org/officeDocument/2006/relationships/image" Target="../media/image1.png"/><Relationship Id="rId9" Type="http://schemas.openxmlformats.org/officeDocument/2006/relationships/image" Target="../media/image61.svg"/></Relationships>
</file>

<file path=ppt/slides/_rels/slide2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66.png"/><Relationship Id="rId5" Type="http://schemas.openxmlformats.org/officeDocument/2006/relationships/image" Target="../media/image2.svg"/><Relationship Id="rId10" Type="http://schemas.openxmlformats.org/officeDocument/2006/relationships/image" Target="../media/image59.svg"/><Relationship Id="rId4" Type="http://schemas.openxmlformats.org/officeDocument/2006/relationships/image" Target="../media/image1.png"/><Relationship Id="rId9" Type="http://schemas.openxmlformats.org/officeDocument/2006/relationships/image" Target="../media/image58.png"/></Relationships>
</file>

<file path=ppt/slides/_rels/slide2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67.png"/><Relationship Id="rId5" Type="http://schemas.openxmlformats.org/officeDocument/2006/relationships/image" Target="../media/image2.svg"/><Relationship Id="rId10" Type="http://schemas.openxmlformats.org/officeDocument/2006/relationships/image" Target="../media/image59.svg"/><Relationship Id="rId4" Type="http://schemas.openxmlformats.org/officeDocument/2006/relationships/image" Target="../media/image1.png"/><Relationship Id="rId9" Type="http://schemas.openxmlformats.org/officeDocument/2006/relationships/image" Target="../media/image58.png"/></Relationships>
</file>

<file path=ppt/slides/_rels/slide2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68.jpeg"/></Relationships>
</file>

<file path=ppt/slides/_rels/slide2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59.svg"/><Relationship Id="rId5" Type="http://schemas.openxmlformats.org/officeDocument/2006/relationships/image" Target="../media/image2.svg"/><Relationship Id="rId10" Type="http://schemas.openxmlformats.org/officeDocument/2006/relationships/image" Target="../media/image58.png"/><Relationship Id="rId4" Type="http://schemas.openxmlformats.org/officeDocument/2006/relationships/image" Target="../media/image1.png"/><Relationship Id="rId9" Type="http://schemas.openxmlformats.org/officeDocument/2006/relationships/image" Target="../media/image69.png"/></Relationships>
</file>

<file path=ppt/slides/_rels/slide3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59.svg"/><Relationship Id="rId5" Type="http://schemas.openxmlformats.org/officeDocument/2006/relationships/image" Target="../media/image2.svg"/><Relationship Id="rId10" Type="http://schemas.openxmlformats.org/officeDocument/2006/relationships/image" Target="../media/image58.png"/><Relationship Id="rId4" Type="http://schemas.openxmlformats.org/officeDocument/2006/relationships/image" Target="../media/image1.png"/><Relationship Id="rId9" Type="http://schemas.openxmlformats.org/officeDocument/2006/relationships/image" Target="../media/image70.png"/></Relationships>
</file>

<file path=ppt/slides/_rels/slide3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59.svg"/><Relationship Id="rId5" Type="http://schemas.openxmlformats.org/officeDocument/2006/relationships/image" Target="../media/image2.svg"/><Relationship Id="rId10" Type="http://schemas.openxmlformats.org/officeDocument/2006/relationships/image" Target="../media/image58.png"/><Relationship Id="rId4" Type="http://schemas.openxmlformats.org/officeDocument/2006/relationships/image" Target="../media/image1.png"/><Relationship Id="rId9" Type="http://schemas.openxmlformats.org/officeDocument/2006/relationships/image" Target="../media/image71.png"/></Relationships>
</file>

<file path=ppt/slides/_rels/slide3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72.png"/></Relationships>
</file>

<file path=ppt/slides/_rels/slide3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73.png"/></Relationships>
</file>

<file path=ppt/slides/_rels/slide3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svg"/><Relationship Id="rId7" Type="http://schemas.openxmlformats.org/officeDocument/2006/relationships/image" Target="../media/image3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74.png"/></Relationships>
</file>

<file path=ppt/slides/_rels/slide3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svg"/><Relationship Id="rId5" Type="http://schemas.openxmlformats.org/officeDocument/2006/relationships/image" Target="../media/image15.sv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21.svg"/></Relationships>
</file>

<file path=ppt/slides/_rels/slide36.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29.svg"/><Relationship Id="rId7" Type="http://schemas.openxmlformats.org/officeDocument/2006/relationships/image" Target="../media/image76.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2.svg"/><Relationship Id="rId10" Type="http://schemas.openxmlformats.org/officeDocument/2006/relationships/image" Target="../media/image79.png"/><Relationship Id="rId4" Type="http://schemas.openxmlformats.org/officeDocument/2006/relationships/image" Target="../media/image1.png"/><Relationship Id="rId9" Type="http://schemas.openxmlformats.org/officeDocument/2006/relationships/image" Target="../media/image78.svg"/></Relationships>
</file>

<file path=ppt/slides/_rels/slide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1.svg"/><Relationship Id="rId4" Type="http://schemas.openxmlformats.org/officeDocument/2006/relationships/image" Target="../media/image80.png"/></Relationships>
</file>

<file path=ppt/slides/_rels/slide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1.svg"/><Relationship Id="rId4" Type="http://schemas.openxmlformats.org/officeDocument/2006/relationships/image" Target="../media/image80.png"/></Relationships>
</file>

<file path=ppt/slides/_rels/slide3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svg"/><Relationship Id="rId7" Type="http://schemas.openxmlformats.org/officeDocument/2006/relationships/hyperlink" Target="https://www.nownews.com/news/6439951?utm_source=chatgp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youtube.com/watch?v=JgS_9FgAKXw" TargetMode="External"/><Relationship Id="rId11" Type="http://schemas.openxmlformats.org/officeDocument/2006/relationships/image" Target="../media/image19.svg"/><Relationship Id="rId5" Type="http://schemas.openxmlformats.org/officeDocument/2006/relationships/hyperlink" Target="https://www.npa.gov.tw/ch/app/data/list?module=wg054&amp;id=2206" TargetMode="External"/><Relationship Id="rId10" Type="http://schemas.openxmlformats.org/officeDocument/2006/relationships/image" Target="../media/image18.png"/><Relationship Id="rId4" Type="http://schemas.openxmlformats.org/officeDocument/2006/relationships/hyperlink" Target="https://udn.com/news/story/7314/8766037?utm_source=yahoonews&amp;utm_medium=yahoo" TargetMode="External"/><Relationship Id="rId9" Type="http://schemas.openxmlformats.org/officeDocument/2006/relationships/image" Target="../media/image21.svg"/></Relationships>
</file>

<file path=ppt/slides/_rels/slide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1.svg"/><Relationship Id="rId4" Type="http://schemas.openxmlformats.org/officeDocument/2006/relationships/image" Target="../media/image80.png"/></Relationships>
</file>

<file path=ppt/slides/_rels/slide4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svg"/><Relationship Id="rId5" Type="http://schemas.openxmlformats.org/officeDocument/2006/relationships/image" Target="../media/image15.sv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21.svg"/></Relationships>
</file>

<file path=ppt/slides/_rels/slide42.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89.png"/><Relationship Id="rId3" Type="http://schemas.openxmlformats.org/officeDocument/2006/relationships/image" Target="../media/image83.svg"/><Relationship Id="rId7" Type="http://schemas.openxmlformats.org/officeDocument/2006/relationships/image" Target="../media/image2.svg"/><Relationship Id="rId12" Type="http://schemas.openxmlformats.org/officeDocument/2006/relationships/image" Target="../media/image88.pn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81.svg"/><Relationship Id="rId5" Type="http://schemas.openxmlformats.org/officeDocument/2006/relationships/image" Target="../media/image85.svg"/><Relationship Id="rId10" Type="http://schemas.openxmlformats.org/officeDocument/2006/relationships/image" Target="../media/image80.png"/><Relationship Id="rId4" Type="http://schemas.openxmlformats.org/officeDocument/2006/relationships/image" Target="../media/image84.png"/><Relationship Id="rId9" Type="http://schemas.openxmlformats.org/officeDocument/2006/relationships/image" Target="../media/image87.svg"/></Relationships>
</file>

<file path=ppt/slides/_rels/slide43.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png"/><Relationship Id="rId3" Type="http://schemas.openxmlformats.org/officeDocument/2006/relationships/image" Target="../media/image83.svg"/><Relationship Id="rId7" Type="http://schemas.openxmlformats.org/officeDocument/2006/relationships/image" Target="../media/image2.svg"/><Relationship Id="rId12" Type="http://schemas.openxmlformats.org/officeDocument/2006/relationships/image" Target="../media/image90.pn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81.svg"/><Relationship Id="rId5" Type="http://schemas.openxmlformats.org/officeDocument/2006/relationships/image" Target="../media/image85.svg"/><Relationship Id="rId10" Type="http://schemas.openxmlformats.org/officeDocument/2006/relationships/image" Target="../media/image80.png"/><Relationship Id="rId4" Type="http://schemas.openxmlformats.org/officeDocument/2006/relationships/image" Target="../media/image84.png"/><Relationship Id="rId9" Type="http://schemas.openxmlformats.org/officeDocument/2006/relationships/image" Target="../media/image87.svg"/></Relationships>
</file>

<file path=ppt/slides/_rels/slide4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svg"/><Relationship Id="rId7" Type="http://schemas.openxmlformats.org/officeDocument/2006/relationships/hyperlink" Target="https://www.nownews.com/news/6439951?utm_source=chatgp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youtube.com/watch?v=JgS_9FgAKXw" TargetMode="External"/><Relationship Id="rId11" Type="http://schemas.openxmlformats.org/officeDocument/2006/relationships/image" Target="../media/image19.svg"/><Relationship Id="rId5" Type="http://schemas.openxmlformats.org/officeDocument/2006/relationships/hyperlink" Target="https://www.npa.gov.tw/ch/app/data/list?module=wg054&amp;id=2206" TargetMode="External"/><Relationship Id="rId10" Type="http://schemas.openxmlformats.org/officeDocument/2006/relationships/image" Target="../media/image18.png"/><Relationship Id="rId4" Type="http://schemas.openxmlformats.org/officeDocument/2006/relationships/hyperlink" Target="https://udn.com/news/story/7314/8766037?utm_source=yahoonews&amp;utm_medium=yahoo" TargetMode="External"/><Relationship Id="rId9" Type="http://schemas.openxmlformats.org/officeDocument/2006/relationships/image" Target="../media/image21.svg"/></Relationships>
</file>

<file path=ppt/slides/_rels/slide4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sv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92.png"/></Relationships>
</file>

<file path=ppt/slides/_rels/slide46.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4.png"/><Relationship Id="rId3" Type="http://schemas.openxmlformats.org/officeDocument/2006/relationships/image" Target="../media/image2.svg"/><Relationship Id="rId7" Type="http://schemas.openxmlformats.org/officeDocument/2006/relationships/image" Target="../media/image85.svg"/><Relationship Id="rId12" Type="http://schemas.openxmlformats.org/officeDocument/2006/relationships/image" Target="../media/image9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4.png"/><Relationship Id="rId11" Type="http://schemas.openxmlformats.org/officeDocument/2006/relationships/image" Target="../media/image81.svg"/><Relationship Id="rId5" Type="http://schemas.openxmlformats.org/officeDocument/2006/relationships/image" Target="../media/image83.svg"/><Relationship Id="rId10" Type="http://schemas.openxmlformats.org/officeDocument/2006/relationships/image" Target="../media/image80.png"/><Relationship Id="rId4" Type="http://schemas.openxmlformats.org/officeDocument/2006/relationships/image" Target="../media/image82.png"/><Relationship Id="rId9" Type="http://schemas.openxmlformats.org/officeDocument/2006/relationships/image" Target="../media/image87.svg"/><Relationship Id="rId14" Type="http://schemas.openxmlformats.org/officeDocument/2006/relationships/image" Target="../media/image95.png"/></Relationships>
</file>

<file path=ppt/slides/_rels/slide4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hyperlink" Target="https://www.nownews.com/news/6439951?utm_source=chatgpt.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youtube.com/watch?v=JgS_9FgAKXw" TargetMode="External"/><Relationship Id="rId5" Type="http://schemas.openxmlformats.org/officeDocument/2006/relationships/hyperlink" Target="https://www.npa.gov.tw/ch/app/data/list?module=wg054&amp;id=2206" TargetMode="External"/><Relationship Id="rId4" Type="http://schemas.openxmlformats.org/officeDocument/2006/relationships/hyperlink" Target="https://udn.com/news/story/7314/8766037?utm_source=yahoonews&amp;utm_medium=yahoo" TargetMode="External"/></Relationships>
</file>

<file path=ppt/slides/_rels/slide48.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3.svg"/><Relationship Id="rId7" Type="http://schemas.openxmlformats.org/officeDocument/2006/relationships/image" Target="../media/image2.sv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81.svg"/><Relationship Id="rId5" Type="http://schemas.openxmlformats.org/officeDocument/2006/relationships/image" Target="../media/image85.svg"/><Relationship Id="rId10" Type="http://schemas.openxmlformats.org/officeDocument/2006/relationships/image" Target="../media/image80.png"/><Relationship Id="rId4" Type="http://schemas.openxmlformats.org/officeDocument/2006/relationships/image" Target="../media/image84.png"/><Relationship Id="rId9" Type="http://schemas.openxmlformats.org/officeDocument/2006/relationships/image" Target="../media/image87.svg"/></Relationships>
</file>

<file path=ppt/slides/_rels/slide49.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3.svg"/><Relationship Id="rId7" Type="http://schemas.openxmlformats.org/officeDocument/2006/relationships/image" Target="../media/image2.sv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81.svg"/><Relationship Id="rId5" Type="http://schemas.openxmlformats.org/officeDocument/2006/relationships/image" Target="../media/image85.svg"/><Relationship Id="rId10" Type="http://schemas.openxmlformats.org/officeDocument/2006/relationships/image" Target="../media/image80.png"/><Relationship Id="rId4" Type="http://schemas.openxmlformats.org/officeDocument/2006/relationships/image" Target="../media/image84.png"/><Relationship Id="rId9" Type="http://schemas.openxmlformats.org/officeDocument/2006/relationships/image" Target="../media/image87.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21236" y="-40735"/>
            <a:ext cx="21425453" cy="11138325"/>
            <a:chOff x="0" y="0"/>
            <a:chExt cx="5642918" cy="2933551"/>
          </a:xfrm>
        </p:grpSpPr>
        <p:sp>
          <p:nvSpPr>
            <p:cNvPr id="3" name="Freeform 3"/>
            <p:cNvSpPr/>
            <p:nvPr/>
          </p:nvSpPr>
          <p:spPr>
            <a:xfrm>
              <a:off x="0" y="0"/>
              <a:ext cx="5642918" cy="2933551"/>
            </a:xfrm>
            <a:custGeom>
              <a:avLst/>
              <a:gdLst/>
              <a:ahLst/>
              <a:cxnLst/>
              <a:rect l="l" t="t" r="r" b="b"/>
              <a:pathLst>
                <a:path w="5642918" h="2933551">
                  <a:moveTo>
                    <a:pt x="0" y="0"/>
                  </a:moveTo>
                  <a:lnTo>
                    <a:pt x="5642918" y="0"/>
                  </a:lnTo>
                  <a:lnTo>
                    <a:pt x="5642918" y="2933551"/>
                  </a:lnTo>
                  <a:lnTo>
                    <a:pt x="0" y="2933551"/>
                  </a:lnTo>
                  <a:close/>
                </a:path>
              </a:pathLst>
            </a:custGeom>
            <a:solidFill>
              <a:srgbClr val="ECEAE6"/>
            </a:solidFill>
          </p:spPr>
          <p:txBody>
            <a:bodyPr/>
            <a:lstStyle/>
            <a:p>
              <a:endParaRPr lang="zh-TW" altLang="en-US"/>
            </a:p>
          </p:txBody>
        </p:sp>
        <p:sp>
          <p:nvSpPr>
            <p:cNvPr id="4" name="TextBox 4"/>
            <p:cNvSpPr txBox="1"/>
            <p:nvPr/>
          </p:nvSpPr>
          <p:spPr>
            <a:xfrm>
              <a:off x="0" y="-38100"/>
              <a:ext cx="5642918" cy="2971651"/>
            </a:xfrm>
            <a:prstGeom prst="rect">
              <a:avLst/>
            </a:prstGeom>
          </p:spPr>
          <p:txBody>
            <a:bodyPr lIns="50800" tIns="50800" rIns="50800" bIns="50800" rtlCol="0" anchor="ctr"/>
            <a:lstStyle/>
            <a:p>
              <a:pPr algn="ctr">
                <a:lnSpc>
                  <a:spcPts val="2120"/>
                </a:lnSpc>
              </a:pPr>
              <a:endParaRPr/>
            </a:p>
          </p:txBody>
        </p:sp>
      </p:grpSp>
      <p:grpSp>
        <p:nvGrpSpPr>
          <p:cNvPr id="5" name="Group 5"/>
          <p:cNvGrpSpPr/>
          <p:nvPr/>
        </p:nvGrpSpPr>
        <p:grpSpPr>
          <a:xfrm>
            <a:off x="-1496443" y="-71472"/>
            <a:ext cx="22500660" cy="11884799"/>
            <a:chOff x="0" y="0"/>
            <a:chExt cx="30000880" cy="15846399"/>
          </a:xfrm>
        </p:grpSpPr>
        <p:sp>
          <p:nvSpPr>
            <p:cNvPr id="6" name="Freeform 6"/>
            <p:cNvSpPr/>
            <p:nvPr/>
          </p:nvSpPr>
          <p:spPr>
            <a:xfrm>
              <a:off x="42168" y="166557"/>
              <a:ext cx="9924956" cy="9916679"/>
            </a:xfrm>
            <a:custGeom>
              <a:avLst/>
              <a:gdLst/>
              <a:ahLst/>
              <a:cxnLst/>
              <a:rect l="l" t="t" r="r" b="b"/>
              <a:pathLst>
                <a:path w="9924956" h="9916679">
                  <a:moveTo>
                    <a:pt x="0" y="0"/>
                  </a:moveTo>
                  <a:lnTo>
                    <a:pt x="9924956" y="0"/>
                  </a:lnTo>
                  <a:lnTo>
                    <a:pt x="9924956" y="9916678"/>
                  </a:lnTo>
                  <a:lnTo>
                    <a:pt x="0" y="9916678"/>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p:spPr>
          <p:txBody>
            <a:bodyPr/>
            <a:lstStyle/>
            <a:p>
              <a:endParaRPr lang="zh-TW" altLang="en-US"/>
            </a:p>
          </p:txBody>
        </p:sp>
        <p:sp>
          <p:nvSpPr>
            <p:cNvPr id="7" name="Freeform 7"/>
            <p:cNvSpPr/>
            <p:nvPr/>
          </p:nvSpPr>
          <p:spPr>
            <a:xfrm>
              <a:off x="0" y="9775383"/>
              <a:ext cx="9967124" cy="6071016"/>
            </a:xfrm>
            <a:custGeom>
              <a:avLst/>
              <a:gdLst/>
              <a:ahLst/>
              <a:cxnLst/>
              <a:rect l="l" t="t" r="r" b="b"/>
              <a:pathLst>
                <a:path w="9967124" h="6071016">
                  <a:moveTo>
                    <a:pt x="0" y="0"/>
                  </a:moveTo>
                  <a:lnTo>
                    <a:pt x="9967124" y="0"/>
                  </a:lnTo>
                  <a:lnTo>
                    <a:pt x="9967124" y="6071016"/>
                  </a:lnTo>
                  <a:lnTo>
                    <a:pt x="0" y="607101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p:spPr>
          <p:txBody>
            <a:bodyPr/>
            <a:lstStyle/>
            <a:p>
              <a:endParaRPr lang="zh-TW" altLang="en-US"/>
            </a:p>
          </p:txBody>
        </p:sp>
        <p:sp>
          <p:nvSpPr>
            <p:cNvPr id="8" name="Freeform 8"/>
            <p:cNvSpPr/>
            <p:nvPr/>
          </p:nvSpPr>
          <p:spPr>
            <a:xfrm>
              <a:off x="10017166" y="72561"/>
              <a:ext cx="9924956" cy="9916679"/>
            </a:xfrm>
            <a:custGeom>
              <a:avLst/>
              <a:gdLst/>
              <a:ahLst/>
              <a:cxnLst/>
              <a:rect l="l" t="t" r="r" b="b"/>
              <a:pathLst>
                <a:path w="9924956" h="9916679">
                  <a:moveTo>
                    <a:pt x="0" y="0"/>
                  </a:moveTo>
                  <a:lnTo>
                    <a:pt x="9924956" y="0"/>
                  </a:lnTo>
                  <a:lnTo>
                    <a:pt x="9924956" y="9916679"/>
                  </a:lnTo>
                  <a:lnTo>
                    <a:pt x="0" y="9916679"/>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p:spPr>
          <p:txBody>
            <a:bodyPr/>
            <a:lstStyle/>
            <a:p>
              <a:endParaRPr lang="zh-TW" altLang="en-US"/>
            </a:p>
          </p:txBody>
        </p:sp>
        <p:sp>
          <p:nvSpPr>
            <p:cNvPr id="9" name="Freeform 9"/>
            <p:cNvSpPr/>
            <p:nvPr/>
          </p:nvSpPr>
          <p:spPr>
            <a:xfrm>
              <a:off x="9974997" y="9681388"/>
              <a:ext cx="9967124" cy="6071016"/>
            </a:xfrm>
            <a:custGeom>
              <a:avLst/>
              <a:gdLst/>
              <a:ahLst/>
              <a:cxnLst/>
              <a:rect l="l" t="t" r="r" b="b"/>
              <a:pathLst>
                <a:path w="9967124" h="6071016">
                  <a:moveTo>
                    <a:pt x="0" y="0"/>
                  </a:moveTo>
                  <a:lnTo>
                    <a:pt x="9967125" y="0"/>
                  </a:lnTo>
                  <a:lnTo>
                    <a:pt x="9967125" y="6071016"/>
                  </a:lnTo>
                  <a:lnTo>
                    <a:pt x="0" y="607101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p:spPr>
          <p:txBody>
            <a:bodyPr/>
            <a:lstStyle/>
            <a:p>
              <a:endParaRPr lang="zh-TW" altLang="en-US"/>
            </a:p>
          </p:txBody>
        </p:sp>
        <p:sp>
          <p:nvSpPr>
            <p:cNvPr id="10" name="Freeform 10"/>
            <p:cNvSpPr/>
            <p:nvPr/>
          </p:nvSpPr>
          <p:spPr>
            <a:xfrm>
              <a:off x="20075923" y="0"/>
              <a:ext cx="9924956" cy="9916679"/>
            </a:xfrm>
            <a:custGeom>
              <a:avLst/>
              <a:gdLst/>
              <a:ahLst/>
              <a:cxnLst/>
              <a:rect l="l" t="t" r="r" b="b"/>
              <a:pathLst>
                <a:path w="9924956" h="9916679">
                  <a:moveTo>
                    <a:pt x="0" y="0"/>
                  </a:moveTo>
                  <a:lnTo>
                    <a:pt x="9924957" y="0"/>
                  </a:lnTo>
                  <a:lnTo>
                    <a:pt x="9924957" y="9916679"/>
                  </a:lnTo>
                  <a:lnTo>
                    <a:pt x="0" y="9916679"/>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p:spPr>
          <p:txBody>
            <a:bodyPr/>
            <a:lstStyle/>
            <a:p>
              <a:endParaRPr lang="zh-TW" altLang="en-US"/>
            </a:p>
          </p:txBody>
        </p:sp>
        <p:sp>
          <p:nvSpPr>
            <p:cNvPr id="11" name="Freeform 11"/>
            <p:cNvSpPr/>
            <p:nvPr/>
          </p:nvSpPr>
          <p:spPr>
            <a:xfrm>
              <a:off x="20033755" y="9608827"/>
              <a:ext cx="9967124" cy="6071016"/>
            </a:xfrm>
            <a:custGeom>
              <a:avLst/>
              <a:gdLst/>
              <a:ahLst/>
              <a:cxnLst/>
              <a:rect l="l" t="t" r="r" b="b"/>
              <a:pathLst>
                <a:path w="9967124" h="6071016">
                  <a:moveTo>
                    <a:pt x="0" y="0"/>
                  </a:moveTo>
                  <a:lnTo>
                    <a:pt x="9967125" y="0"/>
                  </a:lnTo>
                  <a:lnTo>
                    <a:pt x="9967125" y="6071016"/>
                  </a:lnTo>
                  <a:lnTo>
                    <a:pt x="0" y="607101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p:spPr>
          <p:txBody>
            <a:bodyPr/>
            <a:lstStyle/>
            <a:p>
              <a:endParaRPr lang="zh-TW" altLang="en-US"/>
            </a:p>
          </p:txBody>
        </p:sp>
      </p:grpSp>
      <p:sp>
        <p:nvSpPr>
          <p:cNvPr id="12" name="Freeform 12"/>
          <p:cNvSpPr/>
          <p:nvPr/>
        </p:nvSpPr>
        <p:spPr>
          <a:xfrm>
            <a:off x="-6403573" y="-6114974"/>
            <a:ext cx="6647232" cy="6544610"/>
          </a:xfrm>
          <a:custGeom>
            <a:avLst/>
            <a:gdLst/>
            <a:ahLst/>
            <a:cxnLst/>
            <a:rect l="l" t="t" r="r" b="b"/>
            <a:pathLst>
              <a:path w="6647232" h="6544610">
                <a:moveTo>
                  <a:pt x="0" y="0"/>
                </a:moveTo>
                <a:lnTo>
                  <a:pt x="6647232" y="0"/>
                </a:lnTo>
                <a:lnTo>
                  <a:pt x="6647232" y="6544610"/>
                </a:lnTo>
                <a:lnTo>
                  <a:pt x="0" y="6544610"/>
                </a:lnTo>
                <a:lnTo>
                  <a:pt x="0" y="0"/>
                </a:lnTo>
                <a:close/>
              </a:path>
            </a:pathLst>
          </a:custGeom>
          <a:blipFill>
            <a:blip r:embed="rId2">
              <a:alphaModFix amt="28500"/>
              <a:extLst>
                <a:ext uri="{96DAC541-7B7A-43D3-8B79-37D633B846F1}">
                  <asvg:svgBlip xmlns:asvg="http://schemas.microsoft.com/office/drawing/2016/SVG/main" r:embed="rId3"/>
                </a:ext>
              </a:extLst>
            </a:blip>
            <a:stretch>
              <a:fillRect r="-12083" b="-13841"/>
            </a:stretch>
          </a:blipFill>
        </p:spPr>
        <p:txBody>
          <a:bodyPr/>
          <a:lstStyle/>
          <a:p>
            <a:endParaRPr lang="zh-TW" altLang="en-US"/>
          </a:p>
        </p:txBody>
      </p:sp>
      <p:sp>
        <p:nvSpPr>
          <p:cNvPr id="13" name="Freeform 13"/>
          <p:cNvSpPr/>
          <p:nvPr/>
        </p:nvSpPr>
        <p:spPr>
          <a:xfrm>
            <a:off x="6792052" y="619601"/>
            <a:ext cx="6636719" cy="6472691"/>
          </a:xfrm>
          <a:custGeom>
            <a:avLst/>
            <a:gdLst/>
            <a:ahLst/>
            <a:cxnLst/>
            <a:rect l="l" t="t" r="r" b="b"/>
            <a:pathLst>
              <a:path w="6636719" h="6472691">
                <a:moveTo>
                  <a:pt x="0" y="0"/>
                </a:moveTo>
                <a:lnTo>
                  <a:pt x="6636719" y="0"/>
                </a:lnTo>
                <a:lnTo>
                  <a:pt x="6636719" y="6472691"/>
                </a:lnTo>
                <a:lnTo>
                  <a:pt x="0" y="6472691"/>
                </a:lnTo>
                <a:lnTo>
                  <a:pt x="0" y="0"/>
                </a:lnTo>
                <a:close/>
              </a:path>
            </a:pathLst>
          </a:custGeom>
          <a:blipFill>
            <a:blip r:embed="rId4">
              <a:alphaModFix amt="28500"/>
              <a:extLst>
                <a:ext uri="{96DAC541-7B7A-43D3-8B79-37D633B846F1}">
                  <asvg:svgBlip xmlns:asvg="http://schemas.microsoft.com/office/drawing/2016/SVG/main" r:embed="rId5"/>
                </a:ext>
              </a:extLst>
            </a:blip>
            <a:stretch>
              <a:fillRect t="-1234" r="-12261" b="-13871"/>
            </a:stretch>
          </a:blipFill>
        </p:spPr>
        <p:txBody>
          <a:bodyPr/>
          <a:lstStyle/>
          <a:p>
            <a:endParaRPr lang="zh-TW" altLang="en-US"/>
          </a:p>
        </p:txBody>
      </p:sp>
      <p:sp>
        <p:nvSpPr>
          <p:cNvPr id="14" name="Freeform 14"/>
          <p:cNvSpPr/>
          <p:nvPr/>
        </p:nvSpPr>
        <p:spPr>
          <a:xfrm rot="489246">
            <a:off x="-1325099" y="-1603819"/>
            <a:ext cx="10953089" cy="10136586"/>
          </a:xfrm>
          <a:custGeom>
            <a:avLst/>
            <a:gdLst/>
            <a:ahLst/>
            <a:cxnLst/>
            <a:rect l="l" t="t" r="r" b="b"/>
            <a:pathLst>
              <a:path w="10953089" h="10136586">
                <a:moveTo>
                  <a:pt x="0" y="0"/>
                </a:moveTo>
                <a:lnTo>
                  <a:pt x="10953089" y="0"/>
                </a:lnTo>
                <a:lnTo>
                  <a:pt x="10953089" y="10136586"/>
                </a:lnTo>
                <a:lnTo>
                  <a:pt x="0" y="10136586"/>
                </a:lnTo>
                <a:lnTo>
                  <a:pt x="0" y="0"/>
                </a:lnTo>
                <a:close/>
              </a:path>
            </a:pathLst>
          </a:custGeom>
          <a:blipFill>
            <a:blip r:embed="rId6">
              <a:alphaModFix amt="23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5" name="Freeform 15"/>
          <p:cNvSpPr/>
          <p:nvPr/>
        </p:nvSpPr>
        <p:spPr>
          <a:xfrm>
            <a:off x="10944976" y="1099154"/>
            <a:ext cx="6841267" cy="6983793"/>
          </a:xfrm>
          <a:custGeom>
            <a:avLst/>
            <a:gdLst/>
            <a:ahLst/>
            <a:cxnLst/>
            <a:rect l="l" t="t" r="r" b="b"/>
            <a:pathLst>
              <a:path w="6841267" h="6983793">
                <a:moveTo>
                  <a:pt x="0" y="0"/>
                </a:moveTo>
                <a:lnTo>
                  <a:pt x="6841267" y="0"/>
                </a:lnTo>
                <a:lnTo>
                  <a:pt x="6841267" y="6983793"/>
                </a:lnTo>
                <a:lnTo>
                  <a:pt x="0" y="6983793"/>
                </a:lnTo>
                <a:lnTo>
                  <a:pt x="0" y="0"/>
                </a:lnTo>
                <a:close/>
              </a:path>
            </a:pathLst>
          </a:custGeom>
          <a:blipFill>
            <a:blip r:embed="rId8"/>
            <a:stretch>
              <a:fillRect/>
            </a:stretch>
          </a:blipFill>
        </p:spPr>
        <p:txBody>
          <a:bodyPr/>
          <a:lstStyle/>
          <a:p>
            <a:endParaRPr lang="zh-TW" altLang="en-US"/>
          </a:p>
        </p:txBody>
      </p:sp>
      <p:sp>
        <p:nvSpPr>
          <p:cNvPr id="16" name="Freeform 16"/>
          <p:cNvSpPr/>
          <p:nvPr/>
        </p:nvSpPr>
        <p:spPr>
          <a:xfrm rot="943659">
            <a:off x="14423715" y="5189849"/>
            <a:ext cx="9477027" cy="8649941"/>
          </a:xfrm>
          <a:custGeom>
            <a:avLst/>
            <a:gdLst/>
            <a:ahLst/>
            <a:cxnLst/>
            <a:rect l="l" t="t" r="r" b="b"/>
            <a:pathLst>
              <a:path w="9477027" h="8649941">
                <a:moveTo>
                  <a:pt x="0" y="0"/>
                </a:moveTo>
                <a:lnTo>
                  <a:pt x="9477027" y="0"/>
                </a:lnTo>
                <a:lnTo>
                  <a:pt x="9477027" y="8649941"/>
                </a:lnTo>
                <a:lnTo>
                  <a:pt x="0" y="8649941"/>
                </a:lnTo>
                <a:lnTo>
                  <a:pt x="0" y="0"/>
                </a:lnTo>
                <a:close/>
              </a:path>
            </a:pathLst>
          </a:custGeom>
          <a:blipFill>
            <a:blip r:embed="rId9">
              <a:alphaModFix amt="40000"/>
              <a:extLst>
                <a:ext uri="{96DAC541-7B7A-43D3-8B79-37D633B846F1}">
                  <asvg:svgBlip xmlns:asvg="http://schemas.microsoft.com/office/drawing/2016/SVG/main" r:embed="rId10"/>
                </a:ext>
              </a:extLst>
            </a:blip>
            <a:stretch>
              <a:fillRect/>
            </a:stretch>
          </a:blipFill>
        </p:spPr>
        <p:txBody>
          <a:bodyPr/>
          <a:lstStyle/>
          <a:p>
            <a:endParaRPr lang="zh-TW" altLang="en-US"/>
          </a:p>
        </p:txBody>
      </p:sp>
      <p:sp>
        <p:nvSpPr>
          <p:cNvPr id="17" name="Freeform 17"/>
          <p:cNvSpPr/>
          <p:nvPr/>
        </p:nvSpPr>
        <p:spPr>
          <a:xfrm rot="5003348">
            <a:off x="-166105" y="1217192"/>
            <a:ext cx="11428530" cy="10732810"/>
          </a:xfrm>
          <a:custGeom>
            <a:avLst/>
            <a:gdLst/>
            <a:ahLst/>
            <a:cxnLst/>
            <a:rect l="l" t="t" r="r" b="b"/>
            <a:pathLst>
              <a:path w="11428530" h="10732810">
                <a:moveTo>
                  <a:pt x="0" y="0"/>
                </a:moveTo>
                <a:lnTo>
                  <a:pt x="11428530" y="0"/>
                </a:lnTo>
                <a:lnTo>
                  <a:pt x="11428530" y="10732810"/>
                </a:lnTo>
                <a:lnTo>
                  <a:pt x="0" y="10732810"/>
                </a:lnTo>
                <a:lnTo>
                  <a:pt x="0" y="0"/>
                </a:lnTo>
                <a:close/>
              </a:path>
            </a:pathLst>
          </a:custGeom>
          <a:blipFill>
            <a:blip r:embed="rId11">
              <a:alphaModFix amt="29000"/>
              <a:extLst>
                <a:ext uri="{96DAC541-7B7A-43D3-8B79-37D633B846F1}">
                  <asvg:svgBlip xmlns:asvg="http://schemas.microsoft.com/office/drawing/2016/SVG/main" r:embed="rId12"/>
                </a:ext>
              </a:extLst>
            </a:blip>
            <a:stretch>
              <a:fillRect/>
            </a:stretch>
          </a:blipFill>
        </p:spPr>
        <p:txBody>
          <a:bodyPr/>
          <a:lstStyle/>
          <a:p>
            <a:endParaRPr lang="zh-TW" altLang="en-US"/>
          </a:p>
        </p:txBody>
      </p:sp>
      <p:grpSp>
        <p:nvGrpSpPr>
          <p:cNvPr id="18" name="Group 18"/>
          <p:cNvGrpSpPr/>
          <p:nvPr/>
        </p:nvGrpSpPr>
        <p:grpSpPr>
          <a:xfrm>
            <a:off x="591546" y="5143500"/>
            <a:ext cx="9518866" cy="4758572"/>
            <a:chOff x="0" y="0"/>
            <a:chExt cx="2507026" cy="1253287"/>
          </a:xfrm>
        </p:grpSpPr>
        <p:sp>
          <p:nvSpPr>
            <p:cNvPr id="19" name="Freeform 19"/>
            <p:cNvSpPr/>
            <p:nvPr/>
          </p:nvSpPr>
          <p:spPr>
            <a:xfrm>
              <a:off x="0" y="0"/>
              <a:ext cx="2507026" cy="1253287"/>
            </a:xfrm>
            <a:custGeom>
              <a:avLst/>
              <a:gdLst/>
              <a:ahLst/>
              <a:cxnLst/>
              <a:rect l="l" t="t" r="r" b="b"/>
              <a:pathLst>
                <a:path w="2507026" h="1253287">
                  <a:moveTo>
                    <a:pt x="41480" y="0"/>
                  </a:moveTo>
                  <a:lnTo>
                    <a:pt x="2465547" y="0"/>
                  </a:lnTo>
                  <a:cubicBezTo>
                    <a:pt x="2476548" y="0"/>
                    <a:pt x="2487098" y="4370"/>
                    <a:pt x="2494877" y="12149"/>
                  </a:cubicBezTo>
                  <a:cubicBezTo>
                    <a:pt x="2502656" y="19928"/>
                    <a:pt x="2507026" y="30478"/>
                    <a:pt x="2507026" y="41480"/>
                  </a:cubicBezTo>
                  <a:lnTo>
                    <a:pt x="2507026" y="1211807"/>
                  </a:lnTo>
                  <a:cubicBezTo>
                    <a:pt x="2507026" y="1234716"/>
                    <a:pt x="2488455" y="1253287"/>
                    <a:pt x="2465547" y="1253287"/>
                  </a:cubicBezTo>
                  <a:lnTo>
                    <a:pt x="41480" y="1253287"/>
                  </a:lnTo>
                  <a:cubicBezTo>
                    <a:pt x="18571" y="1253287"/>
                    <a:pt x="0" y="1234716"/>
                    <a:pt x="0" y="1211807"/>
                  </a:cubicBezTo>
                  <a:lnTo>
                    <a:pt x="0" y="41480"/>
                  </a:lnTo>
                  <a:cubicBezTo>
                    <a:pt x="0" y="30478"/>
                    <a:pt x="4370" y="19928"/>
                    <a:pt x="12149" y="12149"/>
                  </a:cubicBezTo>
                  <a:cubicBezTo>
                    <a:pt x="19928" y="4370"/>
                    <a:pt x="30478" y="0"/>
                    <a:pt x="41480" y="0"/>
                  </a:cubicBezTo>
                  <a:close/>
                </a:path>
              </a:pathLst>
            </a:custGeom>
            <a:solidFill>
              <a:srgbClr val="137064"/>
            </a:solidFill>
          </p:spPr>
          <p:txBody>
            <a:bodyPr/>
            <a:lstStyle/>
            <a:p>
              <a:endParaRPr lang="zh-TW" altLang="en-US"/>
            </a:p>
          </p:txBody>
        </p:sp>
        <p:sp>
          <p:nvSpPr>
            <p:cNvPr id="20" name="TextBox 20"/>
            <p:cNvSpPr txBox="1"/>
            <p:nvPr/>
          </p:nvSpPr>
          <p:spPr>
            <a:xfrm>
              <a:off x="0" y="-38100"/>
              <a:ext cx="2507026" cy="1291387"/>
            </a:xfrm>
            <a:prstGeom prst="rect">
              <a:avLst/>
            </a:prstGeom>
          </p:spPr>
          <p:txBody>
            <a:bodyPr lIns="50800" tIns="50800" rIns="50800" bIns="50800" rtlCol="0" anchor="ctr"/>
            <a:lstStyle/>
            <a:p>
              <a:pPr algn="ctr">
                <a:lnSpc>
                  <a:spcPts val="2120"/>
                </a:lnSpc>
              </a:pPr>
              <a:endParaRPr/>
            </a:p>
          </p:txBody>
        </p:sp>
      </p:grpSp>
      <p:sp>
        <p:nvSpPr>
          <p:cNvPr id="21" name="TextBox 21"/>
          <p:cNvSpPr txBox="1"/>
          <p:nvPr/>
        </p:nvSpPr>
        <p:spPr>
          <a:xfrm>
            <a:off x="852172" y="371951"/>
            <a:ext cx="10408816" cy="4517183"/>
          </a:xfrm>
          <a:prstGeom prst="rect">
            <a:avLst/>
          </a:prstGeom>
        </p:spPr>
        <p:txBody>
          <a:bodyPr lIns="0" tIns="0" rIns="0" bIns="0" rtlCol="0" anchor="t">
            <a:spAutoFit/>
          </a:bodyPr>
          <a:lstStyle/>
          <a:p>
            <a:pPr algn="l">
              <a:lnSpc>
                <a:spcPts val="18233"/>
              </a:lnSpc>
              <a:spcBef>
                <a:spcPct val="0"/>
              </a:spcBef>
            </a:pPr>
            <a:r>
              <a:rPr lang="en-US" sz="13024">
                <a:solidFill>
                  <a:srgbClr val="494F56"/>
                </a:solidFill>
                <a:latin typeface="Noot"/>
                <a:ea typeface="Noot"/>
                <a:cs typeface="Noot"/>
                <a:sym typeface="Noot"/>
              </a:rPr>
              <a:t>怪怪走開,</a:t>
            </a:r>
          </a:p>
          <a:p>
            <a:pPr algn="l">
              <a:lnSpc>
                <a:spcPts val="18233"/>
              </a:lnSpc>
              <a:spcBef>
                <a:spcPct val="0"/>
              </a:spcBef>
            </a:pPr>
            <a:r>
              <a:rPr lang="en-US" sz="13024">
                <a:solidFill>
                  <a:srgbClr val="494F56"/>
                </a:solidFill>
                <a:latin typeface="Noot"/>
                <a:ea typeface="Noot"/>
                <a:cs typeface="Noot"/>
                <a:sym typeface="Noot"/>
              </a:rPr>
              <a:t>       護您安全</a:t>
            </a:r>
          </a:p>
        </p:txBody>
      </p:sp>
      <p:sp>
        <p:nvSpPr>
          <p:cNvPr id="22" name="TextBox 22"/>
          <p:cNvSpPr txBox="1"/>
          <p:nvPr/>
        </p:nvSpPr>
        <p:spPr>
          <a:xfrm>
            <a:off x="1185567" y="5461753"/>
            <a:ext cx="8725187" cy="4250698"/>
          </a:xfrm>
          <a:prstGeom prst="rect">
            <a:avLst/>
          </a:prstGeom>
        </p:spPr>
        <p:txBody>
          <a:bodyPr lIns="0" tIns="0" rIns="0" bIns="0" rtlCol="0" anchor="t">
            <a:spAutoFit/>
          </a:bodyPr>
          <a:lstStyle/>
          <a:p>
            <a:pPr algn="just">
              <a:lnSpc>
                <a:spcPts val="5634"/>
              </a:lnSpc>
            </a:pPr>
            <a:r>
              <a:rPr lang="en-US" sz="4024">
                <a:solidFill>
                  <a:srgbClr val="FFFFFF"/>
                </a:solidFill>
                <a:latin typeface="Quicksand"/>
                <a:ea typeface="Quicksand"/>
                <a:cs typeface="Quicksand"/>
                <a:sym typeface="Quicksand"/>
              </a:rPr>
              <a:t>組別:第114502組</a:t>
            </a:r>
          </a:p>
          <a:p>
            <a:pPr algn="just">
              <a:lnSpc>
                <a:spcPts val="5634"/>
              </a:lnSpc>
            </a:pPr>
            <a:r>
              <a:rPr lang="en-US" sz="4024">
                <a:solidFill>
                  <a:srgbClr val="FFFFFF"/>
                </a:solidFill>
                <a:latin typeface="Quicksand"/>
                <a:ea typeface="Quicksand"/>
                <a:cs typeface="Quicksand"/>
                <a:sym typeface="Quicksand"/>
              </a:rPr>
              <a:t>指導老師:林育志</a:t>
            </a:r>
          </a:p>
          <a:p>
            <a:pPr algn="just">
              <a:lnSpc>
                <a:spcPts val="5634"/>
              </a:lnSpc>
            </a:pPr>
            <a:r>
              <a:rPr lang="en-US" sz="4024">
                <a:solidFill>
                  <a:srgbClr val="FFFFFF"/>
                </a:solidFill>
                <a:latin typeface="Quicksand"/>
                <a:ea typeface="Quicksand"/>
                <a:cs typeface="Quicksand"/>
                <a:sym typeface="Quicksand"/>
              </a:rPr>
              <a:t>組長: 11056001吳想想</a:t>
            </a:r>
          </a:p>
          <a:p>
            <a:pPr algn="just">
              <a:lnSpc>
                <a:spcPts val="5634"/>
              </a:lnSpc>
            </a:pPr>
            <a:r>
              <a:rPr lang="en-US" sz="4024">
                <a:solidFill>
                  <a:srgbClr val="FFFFFF"/>
                </a:solidFill>
                <a:latin typeface="Quicksand"/>
                <a:ea typeface="Quicksand"/>
                <a:cs typeface="Quicksand"/>
                <a:sym typeface="Quicksand"/>
              </a:rPr>
              <a:t>組員: 11056035陳雨琦</a:t>
            </a:r>
          </a:p>
          <a:p>
            <a:pPr algn="just">
              <a:lnSpc>
                <a:spcPts val="5634"/>
              </a:lnSpc>
            </a:pPr>
            <a:r>
              <a:rPr lang="en-US" sz="4024">
                <a:solidFill>
                  <a:srgbClr val="FFFFFF"/>
                </a:solidFill>
                <a:latin typeface="Quicksand"/>
                <a:ea typeface="Quicksand"/>
                <a:cs typeface="Quicksand"/>
                <a:sym typeface="Quicksand"/>
              </a:rPr>
              <a:t>         11056042李品臻</a:t>
            </a:r>
          </a:p>
          <a:p>
            <a:pPr algn="just">
              <a:lnSpc>
                <a:spcPts val="5634"/>
              </a:lnSpc>
              <a:spcBef>
                <a:spcPct val="0"/>
              </a:spcBef>
            </a:pPr>
            <a:r>
              <a:rPr lang="en-US" sz="4024">
                <a:solidFill>
                  <a:srgbClr val="FFFFFF"/>
                </a:solidFill>
                <a:latin typeface="Quicksand"/>
                <a:ea typeface="Quicksand"/>
                <a:cs typeface="Quicksand"/>
                <a:sym typeface="Quicksand"/>
              </a:rPr>
              <a:t>         11056045黃思璇</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030102" y="-277765"/>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FFFCD9">
                <a:alpha val="50980"/>
              </a:srgbClr>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392879" y="-277765"/>
            <a:ext cx="20348204" cy="10564765"/>
            <a:chOff x="0" y="0"/>
            <a:chExt cx="5359198" cy="2782489"/>
          </a:xfrm>
        </p:grpSpPr>
        <p:sp>
          <p:nvSpPr>
            <p:cNvPr id="7" name="Freeform 7"/>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8" name="TextBox 8"/>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2" name="Freeform 2"/>
          <p:cNvSpPr/>
          <p:nvPr/>
        </p:nvSpPr>
        <p:spPr>
          <a:xfrm rot="15221620">
            <a:off x="12230456" y="-4165219"/>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dirty="0"/>
          </a:p>
        </p:txBody>
      </p:sp>
      <p:sp>
        <p:nvSpPr>
          <p:cNvPr id="9" name="Freeform 9"/>
          <p:cNvSpPr/>
          <p:nvPr/>
        </p:nvSpPr>
        <p:spPr>
          <a:xfrm>
            <a:off x="-2844521" y="-1025851"/>
            <a:ext cx="22545800" cy="12338701"/>
          </a:xfrm>
          <a:custGeom>
            <a:avLst/>
            <a:gdLst/>
            <a:ahLst/>
            <a:cxnLst/>
            <a:rect l="l" t="t" r="r" b="b"/>
            <a:pathLst>
              <a:path w="22545800" h="12338701">
                <a:moveTo>
                  <a:pt x="0" y="0"/>
                </a:moveTo>
                <a:lnTo>
                  <a:pt x="22545800" y="0"/>
                </a:lnTo>
                <a:lnTo>
                  <a:pt x="22545800" y="12338702"/>
                </a:lnTo>
                <a:lnTo>
                  <a:pt x="0" y="12338702"/>
                </a:lnTo>
                <a:lnTo>
                  <a:pt x="0" y="0"/>
                </a:lnTo>
                <a:close/>
              </a:path>
            </a:pathLst>
          </a:custGeom>
          <a:blipFill>
            <a:blip r:embed="rId4">
              <a:alphaModFix amt="72000"/>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10" name="Group 10"/>
          <p:cNvGrpSpPr/>
          <p:nvPr/>
        </p:nvGrpSpPr>
        <p:grpSpPr>
          <a:xfrm>
            <a:off x="2586176" y="1496580"/>
            <a:ext cx="14206380" cy="8138778"/>
            <a:chOff x="0" y="0"/>
            <a:chExt cx="3741598" cy="2143547"/>
          </a:xfrm>
        </p:grpSpPr>
        <p:sp>
          <p:nvSpPr>
            <p:cNvPr id="11" name="Freeform 11"/>
            <p:cNvSpPr/>
            <p:nvPr/>
          </p:nvSpPr>
          <p:spPr>
            <a:xfrm>
              <a:off x="0" y="0"/>
              <a:ext cx="3741598" cy="2143546"/>
            </a:xfrm>
            <a:custGeom>
              <a:avLst/>
              <a:gdLst/>
              <a:ahLst/>
              <a:cxnLst/>
              <a:rect l="l" t="t" r="r" b="b"/>
              <a:pathLst>
                <a:path w="3741598" h="2143546">
                  <a:moveTo>
                    <a:pt x="27793" y="0"/>
                  </a:moveTo>
                  <a:lnTo>
                    <a:pt x="3713805" y="0"/>
                  </a:lnTo>
                  <a:cubicBezTo>
                    <a:pt x="3729155" y="0"/>
                    <a:pt x="3741598" y="12443"/>
                    <a:pt x="3741598" y="27793"/>
                  </a:cubicBezTo>
                  <a:lnTo>
                    <a:pt x="3741598" y="2115753"/>
                  </a:lnTo>
                  <a:cubicBezTo>
                    <a:pt x="3741598" y="2123125"/>
                    <a:pt x="3738670" y="2130194"/>
                    <a:pt x="3733458" y="2135406"/>
                  </a:cubicBezTo>
                  <a:cubicBezTo>
                    <a:pt x="3728245" y="2140618"/>
                    <a:pt x="3721176" y="2143546"/>
                    <a:pt x="3713805" y="2143546"/>
                  </a:cubicBezTo>
                  <a:lnTo>
                    <a:pt x="27793" y="2143546"/>
                  </a:lnTo>
                  <a:cubicBezTo>
                    <a:pt x="12443" y="2143546"/>
                    <a:pt x="0" y="2131103"/>
                    <a:pt x="0" y="2115753"/>
                  </a:cubicBezTo>
                  <a:lnTo>
                    <a:pt x="0" y="27793"/>
                  </a:lnTo>
                  <a:cubicBezTo>
                    <a:pt x="0" y="20422"/>
                    <a:pt x="2928" y="13353"/>
                    <a:pt x="8140" y="8140"/>
                  </a:cubicBezTo>
                  <a:cubicBezTo>
                    <a:pt x="13353" y="2928"/>
                    <a:pt x="20422" y="0"/>
                    <a:pt x="27793" y="0"/>
                  </a:cubicBezTo>
                  <a:close/>
                </a:path>
              </a:pathLst>
            </a:custGeom>
            <a:solidFill>
              <a:srgbClr val="FFFFFF">
                <a:alpha val="76863"/>
              </a:srgbClr>
            </a:solidFill>
          </p:spPr>
          <p:txBody>
            <a:bodyPr/>
            <a:lstStyle/>
            <a:p>
              <a:endParaRPr lang="zh-TW" altLang="en-US"/>
            </a:p>
          </p:txBody>
        </p:sp>
        <p:sp>
          <p:nvSpPr>
            <p:cNvPr id="12" name="TextBox 12"/>
            <p:cNvSpPr txBox="1"/>
            <p:nvPr/>
          </p:nvSpPr>
          <p:spPr>
            <a:xfrm>
              <a:off x="0" y="-38100"/>
              <a:ext cx="3741598" cy="2181647"/>
            </a:xfrm>
            <a:prstGeom prst="rect">
              <a:avLst/>
            </a:prstGeom>
          </p:spPr>
          <p:txBody>
            <a:bodyPr lIns="50800" tIns="50800" rIns="50800" bIns="50800" rtlCol="0" anchor="ctr"/>
            <a:lstStyle/>
            <a:p>
              <a:pPr algn="ctr">
                <a:lnSpc>
                  <a:spcPts val="2120"/>
                </a:lnSpc>
              </a:pPr>
              <a:endParaRPr/>
            </a:p>
          </p:txBody>
        </p:sp>
      </p:grpSp>
      <p:sp>
        <p:nvSpPr>
          <p:cNvPr id="13" name="Freeform 13"/>
          <p:cNvSpPr/>
          <p:nvPr/>
        </p:nvSpPr>
        <p:spPr>
          <a:xfrm rot="20166254">
            <a:off x="-3940854" y="1362384"/>
            <a:ext cx="14620325" cy="17849231"/>
          </a:xfrm>
          <a:custGeom>
            <a:avLst/>
            <a:gdLst/>
            <a:ahLst/>
            <a:cxnLst/>
            <a:rect l="l" t="t" r="r" b="b"/>
            <a:pathLst>
              <a:path w="14620325" h="17849231">
                <a:moveTo>
                  <a:pt x="0" y="0"/>
                </a:moveTo>
                <a:lnTo>
                  <a:pt x="14620324" y="0"/>
                </a:lnTo>
                <a:lnTo>
                  <a:pt x="14620324" y="17849231"/>
                </a:lnTo>
                <a:lnTo>
                  <a:pt x="0" y="178492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4" name="TextBox 14"/>
          <p:cNvSpPr txBox="1"/>
          <p:nvPr/>
        </p:nvSpPr>
        <p:spPr>
          <a:xfrm>
            <a:off x="3369310" y="1475409"/>
            <a:ext cx="13809922" cy="9953046"/>
          </a:xfrm>
          <a:prstGeom prst="rect">
            <a:avLst/>
          </a:prstGeom>
        </p:spPr>
        <p:txBody>
          <a:bodyPr lIns="0" tIns="0" rIns="0" bIns="0" rtlCol="0" anchor="t">
            <a:spAutoFit/>
          </a:bodyPr>
          <a:lstStyle/>
          <a:p>
            <a:pPr algn="l">
              <a:lnSpc>
                <a:spcPts val="8677"/>
              </a:lnSpc>
            </a:pPr>
            <a:r>
              <a:rPr lang="en-US" sz="6198" dirty="0">
                <a:solidFill>
                  <a:srgbClr val="494F56"/>
                </a:solidFill>
                <a:latin typeface="Quicksand"/>
                <a:ea typeface="Quicksand"/>
                <a:cs typeface="Quicksand"/>
                <a:sym typeface="Quicksand"/>
              </a:rPr>
              <a:t>一. </a:t>
            </a:r>
            <a:r>
              <a:rPr lang="en-US" sz="6198" dirty="0" err="1">
                <a:solidFill>
                  <a:srgbClr val="494F56"/>
                </a:solidFill>
                <a:latin typeface="Quicksand"/>
                <a:ea typeface="Quicksand"/>
                <a:cs typeface="Quicksand"/>
                <a:sym typeface="Quicksand"/>
              </a:rPr>
              <a:t>背景與動機</a:t>
            </a:r>
            <a:endParaRPr lang="en-US" sz="6198" dirty="0">
              <a:solidFill>
                <a:srgbClr val="494F56"/>
              </a:solidFill>
              <a:latin typeface="Quicksand"/>
              <a:ea typeface="Quicksand"/>
              <a:cs typeface="Quicksand"/>
              <a:sym typeface="Quicksand"/>
            </a:endParaRPr>
          </a:p>
          <a:p>
            <a:pPr algn="l">
              <a:lnSpc>
                <a:spcPts val="8677"/>
              </a:lnSpc>
            </a:pPr>
            <a:r>
              <a:rPr lang="en-US" sz="6198" dirty="0">
                <a:solidFill>
                  <a:srgbClr val="494F56"/>
                </a:solidFill>
                <a:latin typeface="Quicksand"/>
                <a:ea typeface="Quicksand"/>
                <a:cs typeface="Quicksand"/>
                <a:sym typeface="Quicksand"/>
              </a:rPr>
              <a:t>二. </a:t>
            </a:r>
            <a:r>
              <a:rPr lang="en-US" sz="6198" dirty="0" err="1">
                <a:solidFill>
                  <a:srgbClr val="494F56"/>
                </a:solidFill>
                <a:latin typeface="Quicksand"/>
                <a:ea typeface="Quicksand"/>
                <a:cs typeface="Quicksand"/>
                <a:sym typeface="Quicksand"/>
              </a:rPr>
              <a:t>SWOT分析</a:t>
            </a:r>
            <a:endParaRPr lang="en-US" sz="6198" dirty="0">
              <a:solidFill>
                <a:srgbClr val="494F56"/>
              </a:solidFill>
              <a:latin typeface="Quicksand"/>
              <a:ea typeface="Quicksand"/>
              <a:cs typeface="Quicksand"/>
              <a:sym typeface="Quicksand"/>
            </a:endParaRPr>
          </a:p>
          <a:p>
            <a:pPr algn="l">
              <a:lnSpc>
                <a:spcPts val="8677"/>
              </a:lnSpc>
            </a:pPr>
            <a:r>
              <a:rPr lang="en-US" sz="6198" dirty="0">
                <a:solidFill>
                  <a:srgbClr val="494F56"/>
                </a:solidFill>
                <a:latin typeface="Quicksand"/>
                <a:ea typeface="Quicksand"/>
                <a:cs typeface="Quicksand"/>
                <a:sym typeface="Quicksand"/>
              </a:rPr>
              <a:t>三. </a:t>
            </a:r>
            <a:r>
              <a:rPr lang="en-US" sz="6198" dirty="0" err="1">
                <a:solidFill>
                  <a:srgbClr val="494F56"/>
                </a:solidFill>
                <a:latin typeface="Quicksand"/>
                <a:ea typeface="Quicksand"/>
                <a:cs typeface="Quicksand"/>
                <a:sym typeface="Quicksand"/>
              </a:rPr>
              <a:t>系統功能介紹</a:t>
            </a:r>
            <a:endParaRPr lang="en-US" sz="6198" dirty="0">
              <a:solidFill>
                <a:srgbClr val="494F56"/>
              </a:solidFill>
              <a:latin typeface="Quicksand"/>
              <a:ea typeface="Quicksand"/>
              <a:cs typeface="Quicksand"/>
              <a:sym typeface="Quicksand"/>
            </a:endParaRPr>
          </a:p>
          <a:p>
            <a:pPr algn="l">
              <a:lnSpc>
                <a:spcPts val="8677"/>
              </a:lnSpc>
            </a:pPr>
            <a:r>
              <a:rPr lang="en-US" sz="6198" dirty="0">
                <a:solidFill>
                  <a:srgbClr val="494F56"/>
                </a:solidFill>
                <a:latin typeface="Quicksand"/>
                <a:ea typeface="Quicksand"/>
                <a:cs typeface="Quicksand"/>
                <a:sym typeface="Quicksand"/>
              </a:rPr>
              <a:t>四. </a:t>
            </a:r>
            <a:r>
              <a:rPr lang="en-US" sz="6198" dirty="0" err="1">
                <a:solidFill>
                  <a:srgbClr val="494F56"/>
                </a:solidFill>
                <a:latin typeface="Quicksand"/>
                <a:ea typeface="Quicksand"/>
                <a:cs typeface="Quicksand"/>
                <a:sym typeface="Quicksand"/>
              </a:rPr>
              <a:t>商業模式圖</a:t>
            </a:r>
            <a:endParaRPr lang="en-US" sz="6198" dirty="0">
              <a:solidFill>
                <a:srgbClr val="494F56"/>
              </a:solidFill>
              <a:latin typeface="Quicksand"/>
              <a:ea typeface="Quicksand"/>
              <a:cs typeface="Quicksand"/>
              <a:sym typeface="Quicksand"/>
            </a:endParaRPr>
          </a:p>
          <a:p>
            <a:pPr algn="l">
              <a:lnSpc>
                <a:spcPts val="8677"/>
              </a:lnSpc>
            </a:pPr>
            <a:r>
              <a:rPr lang="en-US" sz="6198" dirty="0">
                <a:solidFill>
                  <a:srgbClr val="494F56"/>
                </a:solidFill>
                <a:latin typeface="Quicksand"/>
                <a:ea typeface="Quicksand"/>
                <a:cs typeface="Quicksand"/>
                <a:sym typeface="Quicksand"/>
              </a:rPr>
              <a:t>五. </a:t>
            </a:r>
            <a:r>
              <a:rPr lang="en-US" sz="6198" dirty="0" err="1">
                <a:solidFill>
                  <a:srgbClr val="494F56"/>
                </a:solidFill>
                <a:latin typeface="Quicksand"/>
                <a:ea typeface="Quicksand"/>
                <a:cs typeface="Quicksand"/>
                <a:sym typeface="Quicksand"/>
              </a:rPr>
              <a:t>未來展望</a:t>
            </a:r>
            <a:endParaRPr lang="en-US" sz="6198" dirty="0">
              <a:solidFill>
                <a:srgbClr val="494F56"/>
              </a:solidFill>
              <a:latin typeface="Quicksand"/>
              <a:ea typeface="Quicksand"/>
              <a:cs typeface="Quicksand"/>
              <a:sym typeface="Quicksand"/>
            </a:endParaRPr>
          </a:p>
          <a:p>
            <a:pPr>
              <a:lnSpc>
                <a:spcPts val="8677"/>
              </a:lnSpc>
            </a:pPr>
            <a:r>
              <a:rPr lang="zh-TW" altLang="en-US" sz="6198" dirty="0">
                <a:solidFill>
                  <a:srgbClr val="494F56"/>
                </a:solidFill>
                <a:latin typeface="Quicksand"/>
                <a:sym typeface="Quicksand"/>
              </a:rPr>
              <a:t>六</a:t>
            </a:r>
            <a:r>
              <a:rPr lang="en-US" altLang="zh-TW" sz="6198" dirty="0">
                <a:solidFill>
                  <a:srgbClr val="494F56"/>
                </a:solidFill>
                <a:latin typeface="Quicksand"/>
                <a:sym typeface="Quicksand"/>
              </a:rPr>
              <a:t>. </a:t>
            </a:r>
            <a:r>
              <a:rPr lang="en-US" altLang="zh-TW" sz="6198" dirty="0" err="1">
                <a:solidFill>
                  <a:srgbClr val="494F56"/>
                </a:solidFill>
                <a:latin typeface="Quicksand"/>
                <a:sym typeface="Quicksand"/>
              </a:rPr>
              <a:t>Github</a:t>
            </a:r>
            <a:r>
              <a:rPr lang="zh-TW" altLang="en-US" sz="6198" dirty="0">
                <a:solidFill>
                  <a:srgbClr val="494F56"/>
                </a:solidFill>
                <a:latin typeface="Quicksand"/>
                <a:sym typeface="Quicksand"/>
              </a:rPr>
              <a:t>活動紀錄</a:t>
            </a:r>
            <a:endParaRPr lang="en-US" altLang="zh-TW" sz="6198" dirty="0">
              <a:solidFill>
                <a:srgbClr val="494F56"/>
              </a:solidFill>
              <a:latin typeface="Quicksand"/>
              <a:sym typeface="Quicksand"/>
            </a:endParaRPr>
          </a:p>
          <a:p>
            <a:pPr>
              <a:lnSpc>
                <a:spcPts val="8677"/>
              </a:lnSpc>
            </a:pPr>
            <a:r>
              <a:rPr lang="zh-TW" altLang="en-US" sz="6198" dirty="0">
                <a:solidFill>
                  <a:srgbClr val="494F56"/>
                </a:solidFill>
                <a:latin typeface="Quicksand"/>
                <a:sym typeface="Quicksand"/>
              </a:rPr>
              <a:t>七</a:t>
            </a:r>
            <a:r>
              <a:rPr lang="en-US" altLang="zh-TW" sz="6198" dirty="0">
                <a:solidFill>
                  <a:srgbClr val="494F56"/>
                </a:solidFill>
                <a:latin typeface="Quicksand"/>
                <a:sym typeface="Quicksand"/>
              </a:rPr>
              <a:t>. </a:t>
            </a:r>
            <a:r>
              <a:rPr lang="zh-TW" altLang="en-US" sz="6198" dirty="0">
                <a:solidFill>
                  <a:srgbClr val="494F56"/>
                </a:solidFill>
                <a:latin typeface="Quicksand"/>
                <a:sym typeface="Quicksand"/>
              </a:rPr>
              <a:t>專案組織分工</a:t>
            </a:r>
            <a:endParaRPr lang="en-US" altLang="zh-TW" sz="6198" dirty="0">
              <a:solidFill>
                <a:srgbClr val="494F56"/>
              </a:solidFill>
              <a:latin typeface="Quicksand"/>
              <a:sym typeface="Quicksand"/>
            </a:endParaRPr>
          </a:p>
          <a:p>
            <a:pPr>
              <a:lnSpc>
                <a:spcPts val="8677"/>
              </a:lnSpc>
            </a:pPr>
            <a:endParaRPr lang="en-US" altLang="zh-TW" sz="6198" dirty="0">
              <a:solidFill>
                <a:srgbClr val="494F56"/>
              </a:solidFill>
              <a:latin typeface="Quicksand"/>
              <a:sym typeface="Quicksand"/>
            </a:endParaRPr>
          </a:p>
          <a:p>
            <a:pPr algn="l">
              <a:lnSpc>
                <a:spcPts val="8677"/>
              </a:lnSpc>
            </a:pPr>
            <a:endParaRPr lang="en-US" sz="6198" dirty="0">
              <a:solidFill>
                <a:srgbClr val="494F56"/>
              </a:solidFill>
              <a:latin typeface="Quicksand"/>
              <a:ea typeface="Quicksand"/>
              <a:cs typeface="Quicksand"/>
              <a:sym typeface="Quicksand"/>
            </a:endParaRPr>
          </a:p>
        </p:txBody>
      </p:sp>
      <p:sp>
        <p:nvSpPr>
          <p:cNvPr id="15" name="Freeform 15"/>
          <p:cNvSpPr/>
          <p:nvPr/>
        </p:nvSpPr>
        <p:spPr>
          <a:xfrm>
            <a:off x="11037268" y="375922"/>
            <a:ext cx="8664010" cy="1120658"/>
          </a:xfrm>
          <a:custGeom>
            <a:avLst/>
            <a:gdLst/>
            <a:ahLst/>
            <a:cxnLst/>
            <a:rect l="l" t="t" r="r" b="b"/>
            <a:pathLst>
              <a:path w="8664010" h="1120658">
                <a:moveTo>
                  <a:pt x="0" y="0"/>
                </a:moveTo>
                <a:lnTo>
                  <a:pt x="8664011" y="0"/>
                </a:lnTo>
                <a:lnTo>
                  <a:pt x="8664011" y="1120658"/>
                </a:lnTo>
                <a:lnTo>
                  <a:pt x="0" y="11206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6" name="Freeform 16"/>
          <p:cNvSpPr/>
          <p:nvPr/>
        </p:nvSpPr>
        <p:spPr>
          <a:xfrm rot="-10800000">
            <a:off x="-1413279" y="375922"/>
            <a:ext cx="8664010" cy="1120658"/>
          </a:xfrm>
          <a:custGeom>
            <a:avLst/>
            <a:gdLst/>
            <a:ahLst/>
            <a:cxnLst/>
            <a:rect l="l" t="t" r="r" b="b"/>
            <a:pathLst>
              <a:path w="8664010" h="1120658">
                <a:moveTo>
                  <a:pt x="0" y="0"/>
                </a:moveTo>
                <a:lnTo>
                  <a:pt x="8664011" y="0"/>
                </a:lnTo>
                <a:lnTo>
                  <a:pt x="8664011" y="1120658"/>
                </a:lnTo>
                <a:lnTo>
                  <a:pt x="0" y="112065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17" name="TextBox 17"/>
          <p:cNvSpPr txBox="1"/>
          <p:nvPr/>
        </p:nvSpPr>
        <p:spPr>
          <a:xfrm>
            <a:off x="7770778" y="-190500"/>
            <a:ext cx="2746445" cy="1687080"/>
          </a:xfrm>
          <a:prstGeom prst="rect">
            <a:avLst/>
          </a:prstGeom>
        </p:spPr>
        <p:txBody>
          <a:bodyPr lIns="0" tIns="0" rIns="0" bIns="0" rtlCol="0" anchor="t">
            <a:spAutoFit/>
          </a:bodyPr>
          <a:lstStyle/>
          <a:p>
            <a:pPr algn="l">
              <a:lnSpc>
                <a:spcPts val="13801"/>
              </a:lnSpc>
            </a:pPr>
            <a:r>
              <a:rPr lang="en-US" sz="9858">
                <a:solidFill>
                  <a:srgbClr val="494F56"/>
                </a:solidFill>
                <a:latin typeface="Quicksand"/>
                <a:ea typeface="Quicksand"/>
                <a:cs typeface="Quicksand"/>
                <a:sym typeface="Quicksand"/>
              </a:rPr>
              <a:t>目錄</a:t>
            </a:r>
          </a:p>
        </p:txBody>
      </p:sp>
      <p:sp>
        <p:nvSpPr>
          <p:cNvPr id="18" name="投影片編號版面配置區 17">
            <a:extLst>
              <a:ext uri="{FF2B5EF4-FFF2-40B4-BE49-F238E27FC236}">
                <a16:creationId xmlns:a16="http://schemas.microsoft.com/office/drawing/2014/main" id="{ACEA4308-37C9-025D-3DA7-BB294EE5DDE9}"/>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19" name="投影片編號版面配置區 1">
            <a:extLst>
              <a:ext uri="{FF2B5EF4-FFF2-40B4-BE49-F238E27FC236}">
                <a16:creationId xmlns:a16="http://schemas.microsoft.com/office/drawing/2014/main" id="{87296281-8939-C54F-D4AE-1705300574D5}"/>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2</a:t>
            </a:fld>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870903">
            <a:off x="9482394" y="-3401478"/>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1030102" y="-277765"/>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FFFCD9">
                <a:alpha val="50980"/>
              </a:srgbClr>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392879" y="-277765"/>
            <a:ext cx="20348204" cy="10564765"/>
            <a:chOff x="0" y="0"/>
            <a:chExt cx="5359198" cy="2782489"/>
          </a:xfrm>
        </p:grpSpPr>
        <p:sp>
          <p:nvSpPr>
            <p:cNvPr id="7" name="Freeform 7"/>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8" name="TextBox 8"/>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9" name="Freeform 9"/>
          <p:cNvSpPr/>
          <p:nvPr/>
        </p:nvSpPr>
        <p:spPr>
          <a:xfrm>
            <a:off x="-2844521" y="-1025851"/>
            <a:ext cx="22545800" cy="12338701"/>
          </a:xfrm>
          <a:custGeom>
            <a:avLst/>
            <a:gdLst/>
            <a:ahLst/>
            <a:cxnLst/>
            <a:rect l="l" t="t" r="r" b="b"/>
            <a:pathLst>
              <a:path w="22545800" h="12338701">
                <a:moveTo>
                  <a:pt x="0" y="0"/>
                </a:moveTo>
                <a:lnTo>
                  <a:pt x="22545800" y="0"/>
                </a:lnTo>
                <a:lnTo>
                  <a:pt x="22545800" y="12338702"/>
                </a:lnTo>
                <a:lnTo>
                  <a:pt x="0" y="12338702"/>
                </a:lnTo>
                <a:lnTo>
                  <a:pt x="0" y="0"/>
                </a:lnTo>
                <a:close/>
              </a:path>
            </a:pathLst>
          </a:custGeom>
          <a:blipFill>
            <a:blip r:embed="rId4">
              <a:alphaModFix amt="72000"/>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Freeform 10"/>
          <p:cNvSpPr/>
          <p:nvPr/>
        </p:nvSpPr>
        <p:spPr>
          <a:xfrm rot="-922393">
            <a:off x="-7310162" y="-343886"/>
            <a:ext cx="14620325" cy="17849231"/>
          </a:xfrm>
          <a:custGeom>
            <a:avLst/>
            <a:gdLst/>
            <a:ahLst/>
            <a:cxnLst/>
            <a:rect l="l" t="t" r="r" b="b"/>
            <a:pathLst>
              <a:path w="14620325" h="17849231">
                <a:moveTo>
                  <a:pt x="0" y="0"/>
                </a:moveTo>
                <a:lnTo>
                  <a:pt x="14620324" y="0"/>
                </a:lnTo>
                <a:lnTo>
                  <a:pt x="14620324" y="17849231"/>
                </a:lnTo>
                <a:lnTo>
                  <a:pt x="0" y="178492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TextBox 11"/>
          <p:cNvSpPr txBox="1"/>
          <p:nvPr/>
        </p:nvSpPr>
        <p:spPr>
          <a:xfrm>
            <a:off x="7770778" y="-190500"/>
            <a:ext cx="2746445" cy="1687080"/>
          </a:xfrm>
          <a:prstGeom prst="rect">
            <a:avLst/>
          </a:prstGeom>
        </p:spPr>
        <p:txBody>
          <a:bodyPr lIns="0" tIns="0" rIns="0" bIns="0" rtlCol="0" anchor="t">
            <a:spAutoFit/>
          </a:bodyPr>
          <a:lstStyle/>
          <a:p>
            <a:pPr algn="l">
              <a:lnSpc>
                <a:spcPts val="13801"/>
              </a:lnSpc>
            </a:pPr>
            <a:r>
              <a:rPr lang="en-US" sz="9858">
                <a:solidFill>
                  <a:srgbClr val="494F56"/>
                </a:solidFill>
                <a:latin typeface="Quicksand"/>
                <a:ea typeface="Quicksand"/>
                <a:cs typeface="Quicksand"/>
                <a:sym typeface="Quicksand"/>
              </a:rPr>
              <a:t>目錄</a:t>
            </a:r>
          </a:p>
        </p:txBody>
      </p:sp>
      <p:grpSp>
        <p:nvGrpSpPr>
          <p:cNvPr id="12" name="Group 12"/>
          <p:cNvGrpSpPr/>
          <p:nvPr/>
        </p:nvGrpSpPr>
        <p:grpSpPr>
          <a:xfrm rot="5400000">
            <a:off x="3474273" y="-4955840"/>
            <a:ext cx="11339454" cy="19920915"/>
            <a:chOff x="0" y="0"/>
            <a:chExt cx="2021507" cy="3551341"/>
          </a:xfrm>
        </p:grpSpPr>
        <p:sp>
          <p:nvSpPr>
            <p:cNvPr id="13" name="Freeform 13"/>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B3D1FE"/>
            </a:solidFill>
          </p:spPr>
          <p:txBody>
            <a:bodyPr/>
            <a:lstStyle/>
            <a:p>
              <a:endParaRPr lang="zh-TW" altLang="en-US"/>
            </a:p>
          </p:txBody>
        </p:sp>
        <p:sp>
          <p:nvSpPr>
            <p:cNvPr id="14" name="TextBox 14"/>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grpSp>
        <p:nvGrpSpPr>
          <p:cNvPr id="15" name="Group 15"/>
          <p:cNvGrpSpPr/>
          <p:nvPr/>
        </p:nvGrpSpPr>
        <p:grpSpPr>
          <a:xfrm>
            <a:off x="-6409755" y="7486008"/>
            <a:ext cx="28734743" cy="2800992"/>
            <a:chOff x="0" y="0"/>
            <a:chExt cx="38312990" cy="3734656"/>
          </a:xfrm>
        </p:grpSpPr>
        <p:sp>
          <p:nvSpPr>
            <p:cNvPr id="16" name="Freeform 16"/>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7" name="Freeform 17"/>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18" name="Group 18"/>
          <p:cNvGrpSpPr/>
          <p:nvPr/>
        </p:nvGrpSpPr>
        <p:grpSpPr>
          <a:xfrm rot="-10800000">
            <a:off x="-6596594" y="-277765"/>
            <a:ext cx="28734743" cy="2800992"/>
            <a:chOff x="0" y="0"/>
            <a:chExt cx="38312990" cy="3734656"/>
          </a:xfrm>
        </p:grpSpPr>
        <p:sp>
          <p:nvSpPr>
            <p:cNvPr id="19" name="Freeform 19"/>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1" name="TextBox 21"/>
          <p:cNvSpPr txBox="1"/>
          <p:nvPr/>
        </p:nvSpPr>
        <p:spPr>
          <a:xfrm>
            <a:off x="4244795" y="3952446"/>
            <a:ext cx="13014505" cy="3533562"/>
          </a:xfrm>
          <a:prstGeom prst="rect">
            <a:avLst/>
          </a:prstGeom>
        </p:spPr>
        <p:txBody>
          <a:bodyPr lIns="0" tIns="0" rIns="0" bIns="0" rtlCol="0" anchor="t">
            <a:spAutoFit/>
          </a:bodyPr>
          <a:lstStyle/>
          <a:p>
            <a:pPr algn="l">
              <a:lnSpc>
                <a:spcPts val="14287"/>
              </a:lnSpc>
              <a:spcBef>
                <a:spcPct val="0"/>
              </a:spcBef>
            </a:pPr>
            <a:r>
              <a:rPr lang="en-US" sz="10205">
                <a:solidFill>
                  <a:srgbClr val="FFFFFF"/>
                </a:solidFill>
                <a:latin typeface="Quicksand"/>
                <a:ea typeface="Quicksand"/>
                <a:cs typeface="Quicksand"/>
                <a:sym typeface="Quicksand"/>
              </a:rPr>
              <a:t>一. 背景與動機</a:t>
            </a:r>
          </a:p>
          <a:p>
            <a:pPr algn="l">
              <a:lnSpc>
                <a:spcPts val="14287"/>
              </a:lnSpc>
              <a:spcBef>
                <a:spcPct val="0"/>
              </a:spcBef>
            </a:pPr>
            <a:endParaRPr lang="en-US" sz="10205">
              <a:solidFill>
                <a:srgbClr val="FFFFFF"/>
              </a:solidFill>
              <a:latin typeface="Quicksand"/>
              <a:ea typeface="Quicksand"/>
              <a:cs typeface="Quicksand"/>
              <a:sym typeface="Quicksand"/>
            </a:endParaRPr>
          </a:p>
        </p:txBody>
      </p:sp>
      <p:sp>
        <p:nvSpPr>
          <p:cNvPr id="22" name="投影片編號版面配置區 21">
            <a:extLst>
              <a:ext uri="{FF2B5EF4-FFF2-40B4-BE49-F238E27FC236}">
                <a16:creationId xmlns:a16="http://schemas.microsoft.com/office/drawing/2014/main" id="{9BC91F4B-1D16-8AF7-A79C-4E774C55D859}"/>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23" name="投影片編號版面配置區 1">
            <a:extLst>
              <a:ext uri="{FF2B5EF4-FFF2-40B4-BE49-F238E27FC236}">
                <a16:creationId xmlns:a16="http://schemas.microsoft.com/office/drawing/2014/main" id="{51E63884-76D4-7DBD-149C-D12748E33A9E}"/>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solidFill>
                  <a:schemeClr val="bg1"/>
                </a:solidFill>
              </a:rPr>
              <a:pPr/>
              <a:t>3</a:t>
            </a:fld>
            <a:endParaRPr lang="en-US" sz="44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72788" y="-342757"/>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1378570" y="-643007"/>
            <a:ext cx="20788475" cy="10980427"/>
            <a:chOff x="0" y="0"/>
            <a:chExt cx="27717966" cy="14640569"/>
          </a:xfrm>
        </p:grpSpPr>
        <p:sp>
          <p:nvSpPr>
            <p:cNvPr id="7" name="Freeform 7"/>
            <p:cNvSpPr/>
            <p:nvPr/>
          </p:nvSpPr>
          <p:spPr>
            <a:xfrm>
              <a:off x="38959" y="153882"/>
              <a:ext cx="9169718" cy="9162070"/>
            </a:xfrm>
            <a:custGeom>
              <a:avLst/>
              <a:gdLst/>
              <a:ahLst/>
              <a:cxnLst/>
              <a:rect l="l" t="t" r="r" b="b"/>
              <a:pathLst>
                <a:path w="9169718" h="9162070">
                  <a:moveTo>
                    <a:pt x="0" y="0"/>
                  </a:moveTo>
                  <a:lnTo>
                    <a:pt x="9169718" y="0"/>
                  </a:lnTo>
                  <a:lnTo>
                    <a:pt x="9169718" y="9162071"/>
                  </a:lnTo>
                  <a:lnTo>
                    <a:pt x="0" y="9162071"/>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31526"/>
              <a:ext cx="9208677" cy="5609043"/>
            </a:xfrm>
            <a:custGeom>
              <a:avLst/>
              <a:gdLst/>
              <a:ahLst/>
              <a:cxnLst/>
              <a:rect l="l" t="t" r="r" b="b"/>
              <a:pathLst>
                <a:path w="9208677" h="5609043">
                  <a:moveTo>
                    <a:pt x="0" y="0"/>
                  </a:moveTo>
                  <a:lnTo>
                    <a:pt x="9208677" y="0"/>
                  </a:lnTo>
                  <a:lnTo>
                    <a:pt x="9208677" y="5609043"/>
                  </a:lnTo>
                  <a:lnTo>
                    <a:pt x="0" y="560904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54911" y="67040"/>
              <a:ext cx="9169718" cy="9162070"/>
            </a:xfrm>
            <a:custGeom>
              <a:avLst/>
              <a:gdLst/>
              <a:ahLst/>
              <a:cxnLst/>
              <a:rect l="l" t="t" r="r" b="b"/>
              <a:pathLst>
                <a:path w="9169718" h="9162070">
                  <a:moveTo>
                    <a:pt x="0" y="0"/>
                  </a:moveTo>
                  <a:lnTo>
                    <a:pt x="9169717" y="0"/>
                  </a:lnTo>
                  <a:lnTo>
                    <a:pt x="9169717" y="9162070"/>
                  </a:lnTo>
                  <a:lnTo>
                    <a:pt x="0" y="9162070"/>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15951" y="8944684"/>
              <a:ext cx="9208677" cy="5609043"/>
            </a:xfrm>
            <a:custGeom>
              <a:avLst/>
              <a:gdLst/>
              <a:ahLst/>
              <a:cxnLst/>
              <a:rect l="l" t="t" r="r" b="b"/>
              <a:pathLst>
                <a:path w="9208677" h="5609043">
                  <a:moveTo>
                    <a:pt x="0" y="0"/>
                  </a:moveTo>
                  <a:lnTo>
                    <a:pt x="9208677" y="0"/>
                  </a:lnTo>
                  <a:lnTo>
                    <a:pt x="9208677" y="5609042"/>
                  </a:lnTo>
                  <a:lnTo>
                    <a:pt x="0" y="5609042"/>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48248" y="0"/>
              <a:ext cx="9169718" cy="9162070"/>
            </a:xfrm>
            <a:custGeom>
              <a:avLst/>
              <a:gdLst/>
              <a:ahLst/>
              <a:cxnLst/>
              <a:rect l="l" t="t" r="r" b="b"/>
              <a:pathLst>
                <a:path w="9169718" h="9162070">
                  <a:moveTo>
                    <a:pt x="0" y="0"/>
                  </a:moveTo>
                  <a:lnTo>
                    <a:pt x="9169718" y="0"/>
                  </a:lnTo>
                  <a:lnTo>
                    <a:pt x="9169718" y="9162070"/>
                  </a:lnTo>
                  <a:lnTo>
                    <a:pt x="0" y="9162070"/>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509289" y="8877644"/>
              <a:ext cx="9208677" cy="5609043"/>
            </a:xfrm>
            <a:custGeom>
              <a:avLst/>
              <a:gdLst/>
              <a:ahLst/>
              <a:cxnLst/>
              <a:rect l="l" t="t" r="r" b="b"/>
              <a:pathLst>
                <a:path w="9208677" h="5609043">
                  <a:moveTo>
                    <a:pt x="0" y="0"/>
                  </a:moveTo>
                  <a:lnTo>
                    <a:pt x="9208677" y="0"/>
                  </a:lnTo>
                  <a:lnTo>
                    <a:pt x="9208677" y="5609043"/>
                  </a:lnTo>
                  <a:lnTo>
                    <a:pt x="0" y="560904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13" name="Freeform 13"/>
          <p:cNvSpPr/>
          <p:nvPr/>
        </p:nvSpPr>
        <p:spPr>
          <a:xfrm rot="-1946028">
            <a:off x="-482062" y="-4931994"/>
            <a:ext cx="15945596" cy="16423366"/>
          </a:xfrm>
          <a:custGeom>
            <a:avLst/>
            <a:gdLst/>
            <a:ahLst/>
            <a:cxnLst/>
            <a:rect l="l" t="t" r="r" b="b"/>
            <a:pathLst>
              <a:path w="15945596" h="16423366">
                <a:moveTo>
                  <a:pt x="0" y="0"/>
                </a:moveTo>
                <a:lnTo>
                  <a:pt x="15945595" y="0"/>
                </a:lnTo>
                <a:lnTo>
                  <a:pt x="15945595" y="16423367"/>
                </a:lnTo>
                <a:lnTo>
                  <a:pt x="0" y="16423367"/>
                </a:lnTo>
                <a:lnTo>
                  <a:pt x="0" y="0"/>
                </a:lnTo>
                <a:close/>
              </a:path>
            </a:pathLst>
          </a:custGeom>
          <a:blipFill>
            <a:blip r:embed="rId4">
              <a:alphaModFix amt="10999"/>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14" name="Group 14"/>
          <p:cNvGrpSpPr/>
          <p:nvPr/>
        </p:nvGrpSpPr>
        <p:grpSpPr>
          <a:xfrm>
            <a:off x="-30089" y="886733"/>
            <a:ext cx="19126201" cy="9174907"/>
            <a:chOff x="0" y="0"/>
            <a:chExt cx="4274726" cy="2331497"/>
          </a:xfrm>
        </p:grpSpPr>
        <p:sp>
          <p:nvSpPr>
            <p:cNvPr id="15" name="Freeform 15"/>
            <p:cNvSpPr/>
            <p:nvPr/>
          </p:nvSpPr>
          <p:spPr>
            <a:xfrm>
              <a:off x="0" y="0"/>
              <a:ext cx="4274726" cy="2331496"/>
            </a:xfrm>
            <a:custGeom>
              <a:avLst/>
              <a:gdLst/>
              <a:ahLst/>
              <a:cxnLst/>
              <a:rect l="l" t="t" r="r" b="b"/>
              <a:pathLst>
                <a:path w="4274726" h="2331496">
                  <a:moveTo>
                    <a:pt x="24327" y="0"/>
                  </a:moveTo>
                  <a:lnTo>
                    <a:pt x="4250399" y="0"/>
                  </a:lnTo>
                  <a:cubicBezTo>
                    <a:pt x="4263834" y="0"/>
                    <a:pt x="4274726" y="10891"/>
                    <a:pt x="4274726" y="24327"/>
                  </a:cubicBezTo>
                  <a:lnTo>
                    <a:pt x="4274726" y="2307170"/>
                  </a:lnTo>
                  <a:cubicBezTo>
                    <a:pt x="4274726" y="2320605"/>
                    <a:pt x="4263834" y="2331496"/>
                    <a:pt x="4250399" y="2331496"/>
                  </a:cubicBezTo>
                  <a:lnTo>
                    <a:pt x="24327" y="2331496"/>
                  </a:lnTo>
                  <a:cubicBezTo>
                    <a:pt x="10891" y="2331496"/>
                    <a:pt x="0" y="2320605"/>
                    <a:pt x="0" y="2307170"/>
                  </a:cubicBezTo>
                  <a:lnTo>
                    <a:pt x="0" y="24327"/>
                  </a:lnTo>
                  <a:cubicBezTo>
                    <a:pt x="0" y="10891"/>
                    <a:pt x="10891" y="0"/>
                    <a:pt x="24327" y="0"/>
                  </a:cubicBezTo>
                  <a:close/>
                </a:path>
              </a:pathLst>
            </a:custGeom>
            <a:solidFill>
              <a:srgbClr val="FFFFFF">
                <a:alpha val="85882"/>
              </a:srgbClr>
            </a:solidFill>
          </p:spPr>
          <p:txBody>
            <a:bodyPr/>
            <a:lstStyle/>
            <a:p>
              <a:endParaRPr lang="zh-TW" altLang="en-US"/>
            </a:p>
          </p:txBody>
        </p:sp>
        <p:sp>
          <p:nvSpPr>
            <p:cNvPr id="16" name="TextBox 16"/>
            <p:cNvSpPr txBox="1"/>
            <p:nvPr/>
          </p:nvSpPr>
          <p:spPr>
            <a:xfrm>
              <a:off x="0" y="-38100"/>
              <a:ext cx="4274726" cy="2369597"/>
            </a:xfrm>
            <a:prstGeom prst="rect">
              <a:avLst/>
            </a:prstGeom>
          </p:spPr>
          <p:txBody>
            <a:bodyPr lIns="50800" tIns="50800" rIns="50800" bIns="50800" rtlCol="0" anchor="ctr"/>
            <a:lstStyle/>
            <a:p>
              <a:pPr algn="ctr">
                <a:lnSpc>
                  <a:spcPts val="2120"/>
                </a:lnSpc>
              </a:pPr>
              <a:endParaRPr/>
            </a:p>
          </p:txBody>
        </p:sp>
      </p:grpSp>
      <p:sp>
        <p:nvSpPr>
          <p:cNvPr id="17" name="Freeform 17"/>
          <p:cNvSpPr/>
          <p:nvPr/>
        </p:nvSpPr>
        <p:spPr>
          <a:xfrm rot="-922393">
            <a:off x="11790760" y="-4171829"/>
            <a:ext cx="8238407" cy="10057863"/>
          </a:xfrm>
          <a:custGeom>
            <a:avLst/>
            <a:gdLst/>
            <a:ahLst/>
            <a:cxnLst/>
            <a:rect l="l" t="t" r="r" b="b"/>
            <a:pathLst>
              <a:path w="8238407" h="10057863">
                <a:moveTo>
                  <a:pt x="0" y="0"/>
                </a:moveTo>
                <a:lnTo>
                  <a:pt x="8238408" y="0"/>
                </a:lnTo>
                <a:lnTo>
                  <a:pt x="8238408" y="10057863"/>
                </a:lnTo>
                <a:lnTo>
                  <a:pt x="0" y="100578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8" name="Freeform 18"/>
          <p:cNvSpPr/>
          <p:nvPr/>
        </p:nvSpPr>
        <p:spPr>
          <a:xfrm rot="-922393">
            <a:off x="-9181105" y="285136"/>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9" name="Freeform 19"/>
          <p:cNvSpPr/>
          <p:nvPr/>
        </p:nvSpPr>
        <p:spPr>
          <a:xfrm>
            <a:off x="1851539" y="5356768"/>
            <a:ext cx="7376981" cy="4219307"/>
          </a:xfrm>
          <a:custGeom>
            <a:avLst/>
            <a:gdLst/>
            <a:ahLst/>
            <a:cxnLst/>
            <a:rect l="l" t="t" r="r" b="b"/>
            <a:pathLst>
              <a:path w="8464398" h="4729483">
                <a:moveTo>
                  <a:pt x="0" y="0"/>
                </a:moveTo>
                <a:lnTo>
                  <a:pt x="8464399" y="0"/>
                </a:lnTo>
                <a:lnTo>
                  <a:pt x="8464399" y="4729482"/>
                </a:lnTo>
                <a:lnTo>
                  <a:pt x="0" y="4729482"/>
                </a:lnTo>
                <a:lnTo>
                  <a:pt x="0" y="0"/>
                </a:lnTo>
                <a:close/>
              </a:path>
            </a:pathLst>
          </a:custGeom>
          <a:blipFill>
            <a:blip r:embed="rId8"/>
            <a:stretch>
              <a:fillRect/>
            </a:stretch>
          </a:blipFill>
        </p:spPr>
        <p:txBody>
          <a:bodyPr/>
          <a:lstStyle/>
          <a:p>
            <a:endParaRPr lang="zh-TW" altLang="en-US"/>
          </a:p>
        </p:txBody>
      </p:sp>
      <p:sp>
        <p:nvSpPr>
          <p:cNvPr id="20" name="Freeform 20"/>
          <p:cNvSpPr/>
          <p:nvPr/>
        </p:nvSpPr>
        <p:spPr>
          <a:xfrm>
            <a:off x="1836678" y="1213018"/>
            <a:ext cx="7376981" cy="3930482"/>
          </a:xfrm>
          <a:custGeom>
            <a:avLst/>
            <a:gdLst/>
            <a:ahLst/>
            <a:cxnLst/>
            <a:rect l="l" t="t" r="r" b="b"/>
            <a:pathLst>
              <a:path w="7072371" h="3951687">
                <a:moveTo>
                  <a:pt x="0" y="0"/>
                </a:moveTo>
                <a:lnTo>
                  <a:pt x="7072370" y="0"/>
                </a:lnTo>
                <a:lnTo>
                  <a:pt x="7072370" y="3951687"/>
                </a:lnTo>
                <a:lnTo>
                  <a:pt x="0" y="3951687"/>
                </a:lnTo>
                <a:lnTo>
                  <a:pt x="0" y="0"/>
                </a:lnTo>
                <a:close/>
              </a:path>
            </a:pathLst>
          </a:custGeom>
          <a:blipFill>
            <a:blip r:embed="rId9"/>
            <a:stretch>
              <a:fillRect/>
            </a:stretch>
          </a:blipFill>
        </p:spPr>
        <p:txBody>
          <a:bodyPr/>
          <a:lstStyle/>
          <a:p>
            <a:endParaRPr lang="zh-TW" altLang="en-US"/>
          </a:p>
        </p:txBody>
      </p:sp>
      <p:sp>
        <p:nvSpPr>
          <p:cNvPr id="21" name="Freeform 21"/>
          <p:cNvSpPr/>
          <p:nvPr/>
        </p:nvSpPr>
        <p:spPr>
          <a:xfrm>
            <a:off x="10031352" y="1152991"/>
            <a:ext cx="7150540" cy="5873088"/>
          </a:xfrm>
          <a:custGeom>
            <a:avLst/>
            <a:gdLst/>
            <a:ahLst/>
            <a:cxnLst/>
            <a:rect l="l" t="t" r="r" b="b"/>
            <a:pathLst>
              <a:path w="6084397" h="5873088">
                <a:moveTo>
                  <a:pt x="0" y="0"/>
                </a:moveTo>
                <a:lnTo>
                  <a:pt x="6084397" y="0"/>
                </a:lnTo>
                <a:lnTo>
                  <a:pt x="6084397" y="5873087"/>
                </a:lnTo>
                <a:lnTo>
                  <a:pt x="0" y="5873087"/>
                </a:lnTo>
                <a:lnTo>
                  <a:pt x="0" y="0"/>
                </a:lnTo>
                <a:close/>
              </a:path>
            </a:pathLst>
          </a:custGeom>
          <a:blipFill>
            <a:blip r:embed="rId10"/>
            <a:stretch>
              <a:fillRect l="-1925" r="-26349"/>
            </a:stretch>
          </a:blipFill>
        </p:spPr>
        <p:txBody>
          <a:bodyPr/>
          <a:lstStyle/>
          <a:p>
            <a:endParaRPr lang="zh-TW" altLang="en-US"/>
          </a:p>
        </p:txBody>
      </p:sp>
      <p:sp>
        <p:nvSpPr>
          <p:cNvPr id="22" name="Freeform 22"/>
          <p:cNvSpPr/>
          <p:nvPr/>
        </p:nvSpPr>
        <p:spPr>
          <a:xfrm>
            <a:off x="10134600" y="5295276"/>
            <a:ext cx="7047292" cy="4219307"/>
          </a:xfrm>
          <a:custGeom>
            <a:avLst/>
            <a:gdLst/>
            <a:ahLst/>
            <a:cxnLst/>
            <a:rect l="l" t="t" r="r" b="b"/>
            <a:pathLst>
              <a:path w="7621760" h="4411094">
                <a:moveTo>
                  <a:pt x="0" y="0"/>
                </a:moveTo>
                <a:lnTo>
                  <a:pt x="7621760" y="0"/>
                </a:lnTo>
                <a:lnTo>
                  <a:pt x="7621760" y="4411094"/>
                </a:lnTo>
                <a:lnTo>
                  <a:pt x="0" y="4411094"/>
                </a:lnTo>
                <a:lnTo>
                  <a:pt x="0" y="0"/>
                </a:lnTo>
                <a:close/>
              </a:path>
            </a:pathLst>
          </a:custGeom>
          <a:blipFill>
            <a:blip r:embed="rId11"/>
            <a:stretch>
              <a:fillRect/>
            </a:stretch>
          </a:blipFill>
        </p:spPr>
        <p:txBody>
          <a:bodyPr/>
          <a:lstStyle/>
          <a:p>
            <a:endParaRPr lang="zh-TW" altLang="en-US"/>
          </a:p>
        </p:txBody>
      </p:sp>
      <p:sp>
        <p:nvSpPr>
          <p:cNvPr id="23" name="TextBox 23"/>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4" name="TextBox 24"/>
          <p:cNvSpPr txBox="1"/>
          <p:nvPr/>
        </p:nvSpPr>
        <p:spPr>
          <a:xfrm>
            <a:off x="6507163" y="-145252"/>
            <a:ext cx="5412991" cy="2143279"/>
          </a:xfrm>
          <a:prstGeom prst="rect">
            <a:avLst/>
          </a:prstGeom>
        </p:spPr>
        <p:txBody>
          <a:bodyPr wrap="square" lIns="0" tIns="0" rIns="0" bIns="0" rtlCol="0" anchor="t">
            <a:spAutoFit/>
          </a:bodyPr>
          <a:lstStyle/>
          <a:p>
            <a:pPr algn="l">
              <a:lnSpc>
                <a:spcPts val="8680"/>
              </a:lnSpc>
              <a:spcBef>
                <a:spcPct val="0"/>
              </a:spcBef>
            </a:pPr>
            <a:r>
              <a:rPr lang="en-US" sz="6200" dirty="0">
                <a:solidFill>
                  <a:srgbClr val="000000"/>
                </a:solidFill>
                <a:latin typeface="Quicksand"/>
                <a:ea typeface="Quicksand"/>
                <a:cs typeface="Quicksand"/>
                <a:sym typeface="Quicksand"/>
              </a:rPr>
              <a:t>一. </a:t>
            </a:r>
            <a:r>
              <a:rPr lang="en-US" sz="6200" dirty="0" err="1">
                <a:solidFill>
                  <a:srgbClr val="000000"/>
                </a:solidFill>
                <a:latin typeface="Quicksand"/>
                <a:ea typeface="Quicksand"/>
                <a:cs typeface="Quicksand"/>
                <a:sym typeface="Quicksand"/>
              </a:rPr>
              <a:t>背景與動機</a:t>
            </a:r>
            <a:endParaRPr lang="en-US" sz="6200" dirty="0">
              <a:solidFill>
                <a:srgbClr val="000000"/>
              </a:solidFill>
              <a:latin typeface="Quicksand"/>
              <a:ea typeface="Quicksand"/>
              <a:cs typeface="Quicksand"/>
              <a:sym typeface="Quicksand"/>
            </a:endParaRPr>
          </a:p>
          <a:p>
            <a:pPr algn="l">
              <a:lnSpc>
                <a:spcPts val="8680"/>
              </a:lnSpc>
              <a:spcBef>
                <a:spcPct val="0"/>
              </a:spcBef>
            </a:pPr>
            <a:endParaRPr lang="en-US" sz="6200" dirty="0">
              <a:solidFill>
                <a:srgbClr val="000000"/>
              </a:solidFill>
              <a:latin typeface="Quicksand"/>
              <a:ea typeface="Quicksand"/>
              <a:cs typeface="Quicksand"/>
              <a:sym typeface="Quicksand"/>
            </a:endParaRPr>
          </a:p>
        </p:txBody>
      </p:sp>
      <p:sp>
        <p:nvSpPr>
          <p:cNvPr id="2" name="投影片編號版面配置區 1">
            <a:extLst>
              <a:ext uri="{FF2B5EF4-FFF2-40B4-BE49-F238E27FC236}">
                <a16:creationId xmlns:a16="http://schemas.microsoft.com/office/drawing/2014/main" id="{8C552302-C57C-96A7-257F-2057418728F1}"/>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25" name="投影片編號版面配置區 1">
            <a:extLst>
              <a:ext uri="{FF2B5EF4-FFF2-40B4-BE49-F238E27FC236}">
                <a16:creationId xmlns:a16="http://schemas.microsoft.com/office/drawing/2014/main" id="{5C4384F5-CABD-2873-C285-0FD6D1ABB7C3}"/>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a:t>
            </a:fld>
            <a:endParaRPr lang="en-US" sz="4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1378570" y="-643007"/>
            <a:ext cx="20788475" cy="10980427"/>
            <a:chOff x="0" y="0"/>
            <a:chExt cx="27717966" cy="14640569"/>
          </a:xfrm>
        </p:grpSpPr>
        <p:sp>
          <p:nvSpPr>
            <p:cNvPr id="7" name="Freeform 7"/>
            <p:cNvSpPr/>
            <p:nvPr/>
          </p:nvSpPr>
          <p:spPr>
            <a:xfrm>
              <a:off x="38959" y="153882"/>
              <a:ext cx="9169718" cy="9162070"/>
            </a:xfrm>
            <a:custGeom>
              <a:avLst/>
              <a:gdLst/>
              <a:ahLst/>
              <a:cxnLst/>
              <a:rect l="l" t="t" r="r" b="b"/>
              <a:pathLst>
                <a:path w="9169718" h="9162070">
                  <a:moveTo>
                    <a:pt x="0" y="0"/>
                  </a:moveTo>
                  <a:lnTo>
                    <a:pt x="9169718" y="0"/>
                  </a:lnTo>
                  <a:lnTo>
                    <a:pt x="9169718" y="9162071"/>
                  </a:lnTo>
                  <a:lnTo>
                    <a:pt x="0" y="9162071"/>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31526"/>
              <a:ext cx="9208677" cy="5609043"/>
            </a:xfrm>
            <a:custGeom>
              <a:avLst/>
              <a:gdLst/>
              <a:ahLst/>
              <a:cxnLst/>
              <a:rect l="l" t="t" r="r" b="b"/>
              <a:pathLst>
                <a:path w="9208677" h="5609043">
                  <a:moveTo>
                    <a:pt x="0" y="0"/>
                  </a:moveTo>
                  <a:lnTo>
                    <a:pt x="9208677" y="0"/>
                  </a:lnTo>
                  <a:lnTo>
                    <a:pt x="9208677" y="5609043"/>
                  </a:lnTo>
                  <a:lnTo>
                    <a:pt x="0" y="560904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54911" y="67040"/>
              <a:ext cx="9169718" cy="9162070"/>
            </a:xfrm>
            <a:custGeom>
              <a:avLst/>
              <a:gdLst/>
              <a:ahLst/>
              <a:cxnLst/>
              <a:rect l="l" t="t" r="r" b="b"/>
              <a:pathLst>
                <a:path w="9169718" h="9162070">
                  <a:moveTo>
                    <a:pt x="0" y="0"/>
                  </a:moveTo>
                  <a:lnTo>
                    <a:pt x="9169717" y="0"/>
                  </a:lnTo>
                  <a:lnTo>
                    <a:pt x="9169717" y="9162070"/>
                  </a:lnTo>
                  <a:lnTo>
                    <a:pt x="0" y="9162070"/>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15951" y="8944684"/>
              <a:ext cx="9208677" cy="5609043"/>
            </a:xfrm>
            <a:custGeom>
              <a:avLst/>
              <a:gdLst/>
              <a:ahLst/>
              <a:cxnLst/>
              <a:rect l="l" t="t" r="r" b="b"/>
              <a:pathLst>
                <a:path w="9208677" h="5609043">
                  <a:moveTo>
                    <a:pt x="0" y="0"/>
                  </a:moveTo>
                  <a:lnTo>
                    <a:pt x="9208677" y="0"/>
                  </a:lnTo>
                  <a:lnTo>
                    <a:pt x="9208677" y="5609042"/>
                  </a:lnTo>
                  <a:lnTo>
                    <a:pt x="0" y="5609042"/>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48248" y="0"/>
              <a:ext cx="9169718" cy="9162070"/>
            </a:xfrm>
            <a:custGeom>
              <a:avLst/>
              <a:gdLst/>
              <a:ahLst/>
              <a:cxnLst/>
              <a:rect l="l" t="t" r="r" b="b"/>
              <a:pathLst>
                <a:path w="9169718" h="9162070">
                  <a:moveTo>
                    <a:pt x="0" y="0"/>
                  </a:moveTo>
                  <a:lnTo>
                    <a:pt x="9169718" y="0"/>
                  </a:lnTo>
                  <a:lnTo>
                    <a:pt x="9169718" y="9162070"/>
                  </a:lnTo>
                  <a:lnTo>
                    <a:pt x="0" y="9162070"/>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509289" y="8877644"/>
              <a:ext cx="9208677" cy="5609043"/>
            </a:xfrm>
            <a:custGeom>
              <a:avLst/>
              <a:gdLst/>
              <a:ahLst/>
              <a:cxnLst/>
              <a:rect l="l" t="t" r="r" b="b"/>
              <a:pathLst>
                <a:path w="9208677" h="5609043">
                  <a:moveTo>
                    <a:pt x="0" y="0"/>
                  </a:moveTo>
                  <a:lnTo>
                    <a:pt x="9208677" y="0"/>
                  </a:lnTo>
                  <a:lnTo>
                    <a:pt x="9208677" y="5609043"/>
                  </a:lnTo>
                  <a:lnTo>
                    <a:pt x="0" y="560904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sp>
        <p:nvSpPr>
          <p:cNvPr id="13" name="Freeform 13"/>
          <p:cNvSpPr/>
          <p:nvPr/>
        </p:nvSpPr>
        <p:spPr>
          <a:xfrm rot="-1946028">
            <a:off x="-482062" y="-4931994"/>
            <a:ext cx="15945596" cy="16423366"/>
          </a:xfrm>
          <a:custGeom>
            <a:avLst/>
            <a:gdLst/>
            <a:ahLst/>
            <a:cxnLst/>
            <a:rect l="l" t="t" r="r" b="b"/>
            <a:pathLst>
              <a:path w="15945596" h="16423366">
                <a:moveTo>
                  <a:pt x="0" y="0"/>
                </a:moveTo>
                <a:lnTo>
                  <a:pt x="15945595" y="0"/>
                </a:lnTo>
                <a:lnTo>
                  <a:pt x="15945595" y="16423367"/>
                </a:lnTo>
                <a:lnTo>
                  <a:pt x="0" y="16423367"/>
                </a:lnTo>
                <a:lnTo>
                  <a:pt x="0" y="0"/>
                </a:lnTo>
                <a:close/>
              </a:path>
            </a:pathLst>
          </a:custGeom>
          <a:blipFill>
            <a:blip r:embed="rId6">
              <a:alphaModFix amt="10999"/>
              <a:extLst>
                <a:ext uri="{96DAC541-7B7A-43D3-8B79-37D633B846F1}">
                  <asvg:svgBlip xmlns:asvg="http://schemas.microsoft.com/office/drawing/2016/SVG/main" r:embed="rId7"/>
                </a:ext>
              </a:extLst>
            </a:blip>
            <a:stretch>
              <a:fillRect/>
            </a:stretch>
          </a:blipFill>
        </p:spPr>
        <p:txBody>
          <a:bodyPr/>
          <a:lstStyle/>
          <a:p>
            <a:endParaRPr lang="zh-TW" altLang="en-US"/>
          </a:p>
        </p:txBody>
      </p:sp>
      <p:grpSp>
        <p:nvGrpSpPr>
          <p:cNvPr id="14" name="Group 14"/>
          <p:cNvGrpSpPr/>
          <p:nvPr/>
        </p:nvGrpSpPr>
        <p:grpSpPr>
          <a:xfrm>
            <a:off x="1028700" y="1028700"/>
            <a:ext cx="16230600" cy="8852401"/>
            <a:chOff x="0" y="0"/>
            <a:chExt cx="4274726" cy="2331497"/>
          </a:xfrm>
        </p:grpSpPr>
        <p:sp>
          <p:nvSpPr>
            <p:cNvPr id="15" name="Freeform 15"/>
            <p:cNvSpPr/>
            <p:nvPr/>
          </p:nvSpPr>
          <p:spPr>
            <a:xfrm>
              <a:off x="0" y="0"/>
              <a:ext cx="4274726" cy="2331496"/>
            </a:xfrm>
            <a:custGeom>
              <a:avLst/>
              <a:gdLst/>
              <a:ahLst/>
              <a:cxnLst/>
              <a:rect l="l" t="t" r="r" b="b"/>
              <a:pathLst>
                <a:path w="4274726" h="2331496">
                  <a:moveTo>
                    <a:pt x="24327" y="0"/>
                  </a:moveTo>
                  <a:lnTo>
                    <a:pt x="4250399" y="0"/>
                  </a:lnTo>
                  <a:cubicBezTo>
                    <a:pt x="4263834" y="0"/>
                    <a:pt x="4274726" y="10891"/>
                    <a:pt x="4274726" y="24327"/>
                  </a:cubicBezTo>
                  <a:lnTo>
                    <a:pt x="4274726" y="2307170"/>
                  </a:lnTo>
                  <a:cubicBezTo>
                    <a:pt x="4274726" y="2320605"/>
                    <a:pt x="4263834" y="2331496"/>
                    <a:pt x="4250399" y="2331496"/>
                  </a:cubicBezTo>
                  <a:lnTo>
                    <a:pt x="24327" y="2331496"/>
                  </a:lnTo>
                  <a:cubicBezTo>
                    <a:pt x="10891" y="2331496"/>
                    <a:pt x="0" y="2320605"/>
                    <a:pt x="0" y="2307170"/>
                  </a:cubicBezTo>
                  <a:lnTo>
                    <a:pt x="0" y="24327"/>
                  </a:lnTo>
                  <a:cubicBezTo>
                    <a:pt x="0" y="10891"/>
                    <a:pt x="10891" y="0"/>
                    <a:pt x="24327" y="0"/>
                  </a:cubicBezTo>
                  <a:close/>
                </a:path>
              </a:pathLst>
            </a:custGeom>
            <a:solidFill>
              <a:srgbClr val="FFFFFF">
                <a:alpha val="85882"/>
              </a:srgbClr>
            </a:solidFill>
          </p:spPr>
          <p:txBody>
            <a:bodyPr/>
            <a:lstStyle/>
            <a:p>
              <a:endParaRPr lang="zh-TW" altLang="en-US"/>
            </a:p>
          </p:txBody>
        </p:sp>
        <p:sp>
          <p:nvSpPr>
            <p:cNvPr id="16" name="TextBox 16"/>
            <p:cNvSpPr txBox="1"/>
            <p:nvPr/>
          </p:nvSpPr>
          <p:spPr>
            <a:xfrm>
              <a:off x="0" y="-38100"/>
              <a:ext cx="4274726" cy="2369597"/>
            </a:xfrm>
            <a:prstGeom prst="rect">
              <a:avLst/>
            </a:prstGeom>
          </p:spPr>
          <p:txBody>
            <a:bodyPr lIns="50800" tIns="50800" rIns="50800" bIns="50800" rtlCol="0" anchor="ctr"/>
            <a:lstStyle/>
            <a:p>
              <a:pPr algn="ctr">
                <a:lnSpc>
                  <a:spcPts val="2120"/>
                </a:lnSpc>
              </a:pPr>
              <a:endParaRPr/>
            </a:p>
          </p:txBody>
        </p:sp>
      </p:grpSp>
      <p:sp>
        <p:nvSpPr>
          <p:cNvPr id="17" name="Freeform 17"/>
          <p:cNvSpPr/>
          <p:nvPr/>
        </p:nvSpPr>
        <p:spPr>
          <a:xfrm rot="-922393">
            <a:off x="11790760" y="-4171829"/>
            <a:ext cx="8238407" cy="10057863"/>
          </a:xfrm>
          <a:custGeom>
            <a:avLst/>
            <a:gdLst/>
            <a:ahLst/>
            <a:cxnLst/>
            <a:rect l="l" t="t" r="r" b="b"/>
            <a:pathLst>
              <a:path w="8238407" h="10057863">
                <a:moveTo>
                  <a:pt x="0" y="0"/>
                </a:moveTo>
                <a:lnTo>
                  <a:pt x="8238408" y="0"/>
                </a:lnTo>
                <a:lnTo>
                  <a:pt x="8238408" y="10057863"/>
                </a:lnTo>
                <a:lnTo>
                  <a:pt x="0" y="1005786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8" name="Freeform 18"/>
          <p:cNvSpPr/>
          <p:nvPr/>
        </p:nvSpPr>
        <p:spPr>
          <a:xfrm rot="-922393">
            <a:off x="-9597333" y="333685"/>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9" name="TextBox 19"/>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0" name="TextBox 20"/>
          <p:cNvSpPr txBox="1"/>
          <p:nvPr/>
        </p:nvSpPr>
        <p:spPr>
          <a:xfrm>
            <a:off x="6341342" y="314742"/>
            <a:ext cx="7907080" cy="2145408"/>
          </a:xfrm>
          <a:prstGeom prst="rect">
            <a:avLst/>
          </a:prstGeom>
        </p:spPr>
        <p:txBody>
          <a:bodyPr lIns="0" tIns="0" rIns="0" bIns="0" rtlCol="0" anchor="t">
            <a:spAutoFit/>
          </a:bodyPr>
          <a:lstStyle/>
          <a:p>
            <a:pPr algn="l">
              <a:lnSpc>
                <a:spcPts val="8680"/>
              </a:lnSpc>
              <a:spcBef>
                <a:spcPct val="0"/>
              </a:spcBef>
            </a:pPr>
            <a:r>
              <a:rPr lang="en-US" sz="6200">
                <a:solidFill>
                  <a:srgbClr val="000000"/>
                </a:solidFill>
                <a:latin typeface="Quicksand"/>
                <a:ea typeface="Quicksand"/>
                <a:cs typeface="Quicksand"/>
                <a:sym typeface="Quicksand"/>
              </a:rPr>
              <a:t>一. 背景與動機</a:t>
            </a:r>
          </a:p>
          <a:p>
            <a:pPr algn="l">
              <a:lnSpc>
                <a:spcPts val="8680"/>
              </a:lnSpc>
              <a:spcBef>
                <a:spcPct val="0"/>
              </a:spcBef>
            </a:pPr>
            <a:endParaRPr lang="en-US" sz="6200">
              <a:solidFill>
                <a:srgbClr val="000000"/>
              </a:solidFill>
              <a:latin typeface="Quicksand"/>
              <a:ea typeface="Quicksand"/>
              <a:cs typeface="Quicksand"/>
              <a:sym typeface="Quicksand"/>
            </a:endParaRPr>
          </a:p>
        </p:txBody>
      </p:sp>
      <p:sp>
        <p:nvSpPr>
          <p:cNvPr id="21" name="Freeform 21"/>
          <p:cNvSpPr/>
          <p:nvPr/>
        </p:nvSpPr>
        <p:spPr>
          <a:xfrm>
            <a:off x="2317873" y="1444596"/>
            <a:ext cx="13395588" cy="8020608"/>
          </a:xfrm>
          <a:custGeom>
            <a:avLst/>
            <a:gdLst/>
            <a:ahLst/>
            <a:cxnLst/>
            <a:rect l="l" t="t" r="r" b="b"/>
            <a:pathLst>
              <a:path w="13395588" h="8020608">
                <a:moveTo>
                  <a:pt x="0" y="0"/>
                </a:moveTo>
                <a:lnTo>
                  <a:pt x="13395588" y="0"/>
                </a:lnTo>
                <a:lnTo>
                  <a:pt x="13395588" y="8020608"/>
                </a:lnTo>
                <a:lnTo>
                  <a:pt x="0" y="8020608"/>
                </a:lnTo>
                <a:lnTo>
                  <a:pt x="0" y="0"/>
                </a:lnTo>
                <a:close/>
              </a:path>
            </a:pathLst>
          </a:custGeom>
          <a:blipFill>
            <a:blip r:embed="rId10"/>
            <a:stretch>
              <a:fillRect/>
            </a:stretch>
          </a:blipFill>
        </p:spPr>
        <p:txBody>
          <a:bodyPr/>
          <a:lstStyle/>
          <a:p>
            <a:endParaRPr lang="zh-TW" altLang="en-US"/>
          </a:p>
        </p:txBody>
      </p:sp>
      <p:sp>
        <p:nvSpPr>
          <p:cNvPr id="22" name="投影片編號版面配置區 21">
            <a:extLst>
              <a:ext uri="{FF2B5EF4-FFF2-40B4-BE49-F238E27FC236}">
                <a16:creationId xmlns:a16="http://schemas.microsoft.com/office/drawing/2014/main" id="{27F62604-42BB-21F5-1B83-D18F84D16290}"/>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23" name="投影片編號版面配置區 1">
            <a:extLst>
              <a:ext uri="{FF2B5EF4-FFF2-40B4-BE49-F238E27FC236}">
                <a16:creationId xmlns:a16="http://schemas.microsoft.com/office/drawing/2014/main" id="{9C284847-F150-0FE5-2A71-C950226FB8B0}"/>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5</a:t>
            </a:fld>
            <a:endParaRPr lang="en-US" sz="4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870903">
            <a:off x="9482394" y="-3401478"/>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1030102" y="-277765"/>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FFFCD9">
                <a:alpha val="50980"/>
              </a:srgbClr>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392879" y="-277765"/>
            <a:ext cx="20348204" cy="10564765"/>
            <a:chOff x="0" y="0"/>
            <a:chExt cx="5359198" cy="2782489"/>
          </a:xfrm>
        </p:grpSpPr>
        <p:sp>
          <p:nvSpPr>
            <p:cNvPr id="7" name="Freeform 7"/>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8" name="TextBox 8"/>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9" name="Freeform 9"/>
          <p:cNvSpPr/>
          <p:nvPr/>
        </p:nvSpPr>
        <p:spPr>
          <a:xfrm>
            <a:off x="-2844521" y="-1025851"/>
            <a:ext cx="22545800" cy="12338701"/>
          </a:xfrm>
          <a:custGeom>
            <a:avLst/>
            <a:gdLst/>
            <a:ahLst/>
            <a:cxnLst/>
            <a:rect l="l" t="t" r="r" b="b"/>
            <a:pathLst>
              <a:path w="22545800" h="12338701">
                <a:moveTo>
                  <a:pt x="0" y="0"/>
                </a:moveTo>
                <a:lnTo>
                  <a:pt x="22545800" y="0"/>
                </a:lnTo>
                <a:lnTo>
                  <a:pt x="22545800" y="12338702"/>
                </a:lnTo>
                <a:lnTo>
                  <a:pt x="0" y="12338702"/>
                </a:lnTo>
                <a:lnTo>
                  <a:pt x="0" y="0"/>
                </a:lnTo>
                <a:close/>
              </a:path>
            </a:pathLst>
          </a:custGeom>
          <a:blipFill>
            <a:blip r:embed="rId4">
              <a:alphaModFix amt="72000"/>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Freeform 10"/>
          <p:cNvSpPr/>
          <p:nvPr/>
        </p:nvSpPr>
        <p:spPr>
          <a:xfrm rot="-922393">
            <a:off x="-7310162" y="-343886"/>
            <a:ext cx="14620325" cy="17849231"/>
          </a:xfrm>
          <a:custGeom>
            <a:avLst/>
            <a:gdLst/>
            <a:ahLst/>
            <a:cxnLst/>
            <a:rect l="l" t="t" r="r" b="b"/>
            <a:pathLst>
              <a:path w="14620325" h="17849231">
                <a:moveTo>
                  <a:pt x="0" y="0"/>
                </a:moveTo>
                <a:lnTo>
                  <a:pt x="14620324" y="0"/>
                </a:lnTo>
                <a:lnTo>
                  <a:pt x="14620324" y="17849231"/>
                </a:lnTo>
                <a:lnTo>
                  <a:pt x="0" y="178492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TextBox 11"/>
          <p:cNvSpPr txBox="1"/>
          <p:nvPr/>
        </p:nvSpPr>
        <p:spPr>
          <a:xfrm>
            <a:off x="7770778" y="-190500"/>
            <a:ext cx="2746445" cy="1687080"/>
          </a:xfrm>
          <a:prstGeom prst="rect">
            <a:avLst/>
          </a:prstGeom>
        </p:spPr>
        <p:txBody>
          <a:bodyPr lIns="0" tIns="0" rIns="0" bIns="0" rtlCol="0" anchor="t">
            <a:spAutoFit/>
          </a:bodyPr>
          <a:lstStyle/>
          <a:p>
            <a:pPr algn="l">
              <a:lnSpc>
                <a:spcPts val="13801"/>
              </a:lnSpc>
            </a:pPr>
            <a:r>
              <a:rPr lang="en-US" sz="9858">
                <a:solidFill>
                  <a:srgbClr val="494F56"/>
                </a:solidFill>
                <a:latin typeface="Quicksand"/>
                <a:ea typeface="Quicksand"/>
                <a:cs typeface="Quicksand"/>
                <a:sym typeface="Quicksand"/>
              </a:rPr>
              <a:t>目錄</a:t>
            </a:r>
          </a:p>
        </p:txBody>
      </p:sp>
      <p:grpSp>
        <p:nvGrpSpPr>
          <p:cNvPr id="12" name="Group 12"/>
          <p:cNvGrpSpPr/>
          <p:nvPr/>
        </p:nvGrpSpPr>
        <p:grpSpPr>
          <a:xfrm rot="5400000">
            <a:off x="3474273" y="-4955840"/>
            <a:ext cx="11339454" cy="19920915"/>
            <a:chOff x="0" y="0"/>
            <a:chExt cx="2021507" cy="3551341"/>
          </a:xfrm>
        </p:grpSpPr>
        <p:sp>
          <p:nvSpPr>
            <p:cNvPr id="13" name="Freeform 13"/>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B3D1FE"/>
            </a:solidFill>
          </p:spPr>
          <p:txBody>
            <a:bodyPr/>
            <a:lstStyle/>
            <a:p>
              <a:endParaRPr lang="zh-TW" altLang="en-US"/>
            </a:p>
          </p:txBody>
        </p:sp>
        <p:sp>
          <p:nvSpPr>
            <p:cNvPr id="14" name="TextBox 14"/>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grpSp>
        <p:nvGrpSpPr>
          <p:cNvPr id="15" name="Group 15"/>
          <p:cNvGrpSpPr/>
          <p:nvPr/>
        </p:nvGrpSpPr>
        <p:grpSpPr>
          <a:xfrm>
            <a:off x="-6409755" y="7486008"/>
            <a:ext cx="28734743" cy="2800992"/>
            <a:chOff x="0" y="0"/>
            <a:chExt cx="38312990" cy="3734656"/>
          </a:xfrm>
        </p:grpSpPr>
        <p:sp>
          <p:nvSpPr>
            <p:cNvPr id="16" name="Freeform 16"/>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7" name="Freeform 17"/>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18" name="Group 18"/>
          <p:cNvGrpSpPr/>
          <p:nvPr/>
        </p:nvGrpSpPr>
        <p:grpSpPr>
          <a:xfrm rot="-10800000">
            <a:off x="-6596594" y="-277765"/>
            <a:ext cx="28734743" cy="2800992"/>
            <a:chOff x="0" y="0"/>
            <a:chExt cx="38312990" cy="3734656"/>
          </a:xfrm>
        </p:grpSpPr>
        <p:sp>
          <p:nvSpPr>
            <p:cNvPr id="19" name="Freeform 19"/>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1" name="TextBox 21"/>
          <p:cNvSpPr txBox="1"/>
          <p:nvPr/>
        </p:nvSpPr>
        <p:spPr>
          <a:xfrm>
            <a:off x="4244795" y="3952446"/>
            <a:ext cx="13014505" cy="5334699"/>
          </a:xfrm>
          <a:prstGeom prst="rect">
            <a:avLst/>
          </a:prstGeom>
        </p:spPr>
        <p:txBody>
          <a:bodyPr lIns="0" tIns="0" rIns="0" bIns="0" rtlCol="0" anchor="t">
            <a:spAutoFit/>
          </a:bodyPr>
          <a:lstStyle/>
          <a:p>
            <a:pPr algn="l">
              <a:lnSpc>
                <a:spcPts val="14287"/>
              </a:lnSpc>
            </a:pPr>
            <a:r>
              <a:rPr lang="en-US" sz="10205">
                <a:solidFill>
                  <a:srgbClr val="FFFFFF"/>
                </a:solidFill>
                <a:latin typeface="Quicksand"/>
                <a:ea typeface="Quicksand"/>
                <a:cs typeface="Quicksand"/>
                <a:sym typeface="Quicksand"/>
              </a:rPr>
              <a:t>二. SWOT分析</a:t>
            </a:r>
          </a:p>
          <a:p>
            <a:pPr algn="l">
              <a:lnSpc>
                <a:spcPts val="14287"/>
              </a:lnSpc>
              <a:spcBef>
                <a:spcPct val="0"/>
              </a:spcBef>
            </a:pPr>
            <a:endParaRPr lang="en-US" sz="10205">
              <a:solidFill>
                <a:srgbClr val="FFFFFF"/>
              </a:solidFill>
              <a:latin typeface="Quicksand"/>
              <a:ea typeface="Quicksand"/>
              <a:cs typeface="Quicksand"/>
              <a:sym typeface="Quicksand"/>
            </a:endParaRPr>
          </a:p>
          <a:p>
            <a:pPr algn="l">
              <a:lnSpc>
                <a:spcPts val="14287"/>
              </a:lnSpc>
              <a:spcBef>
                <a:spcPct val="0"/>
              </a:spcBef>
            </a:pPr>
            <a:endParaRPr lang="en-US" sz="10205">
              <a:solidFill>
                <a:srgbClr val="FFFFFF"/>
              </a:solidFill>
              <a:latin typeface="Quicksand"/>
              <a:ea typeface="Quicksand"/>
              <a:cs typeface="Quicksand"/>
              <a:sym typeface="Quicksand"/>
            </a:endParaRPr>
          </a:p>
        </p:txBody>
      </p:sp>
      <p:sp>
        <p:nvSpPr>
          <p:cNvPr id="22" name="投影片編號版面配置區 21">
            <a:extLst>
              <a:ext uri="{FF2B5EF4-FFF2-40B4-BE49-F238E27FC236}">
                <a16:creationId xmlns:a16="http://schemas.microsoft.com/office/drawing/2014/main" id="{85840193-C8BD-5907-9AF2-EF320A8AA461}"/>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23" name="投影片編號版面配置區 1">
            <a:extLst>
              <a:ext uri="{FF2B5EF4-FFF2-40B4-BE49-F238E27FC236}">
                <a16:creationId xmlns:a16="http://schemas.microsoft.com/office/drawing/2014/main" id="{7C89B478-D081-D67C-03A9-09C8FB099D8C}"/>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solidFill>
                  <a:schemeClr val="bg1"/>
                </a:solidFill>
              </a:rPr>
              <a:pPr/>
              <a:t>6</a:t>
            </a:fld>
            <a:endParaRPr lang="en-US" sz="44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grpSp>
        <p:nvGrpSpPr>
          <p:cNvPr id="9" name="Group 9"/>
          <p:cNvGrpSpPr/>
          <p:nvPr/>
        </p:nvGrpSpPr>
        <p:grpSpPr>
          <a:xfrm>
            <a:off x="226987" y="355963"/>
            <a:ext cx="17491126" cy="9378420"/>
            <a:chOff x="0" y="0"/>
            <a:chExt cx="4057722" cy="2175676"/>
          </a:xfrm>
        </p:grpSpPr>
        <p:sp>
          <p:nvSpPr>
            <p:cNvPr id="10" name="Freeform 10"/>
            <p:cNvSpPr/>
            <p:nvPr/>
          </p:nvSpPr>
          <p:spPr>
            <a:xfrm>
              <a:off x="0" y="0"/>
              <a:ext cx="4057722" cy="2175676"/>
            </a:xfrm>
            <a:custGeom>
              <a:avLst/>
              <a:gdLst/>
              <a:ahLst/>
              <a:cxnLst/>
              <a:rect l="l" t="t" r="r" b="b"/>
              <a:pathLst>
                <a:path w="4057722" h="2175676">
                  <a:moveTo>
                    <a:pt x="22574" y="0"/>
                  </a:moveTo>
                  <a:lnTo>
                    <a:pt x="4035149" y="0"/>
                  </a:lnTo>
                  <a:cubicBezTo>
                    <a:pt x="4041136" y="0"/>
                    <a:pt x="4046877" y="2378"/>
                    <a:pt x="4051111" y="6612"/>
                  </a:cubicBezTo>
                  <a:cubicBezTo>
                    <a:pt x="4055344" y="10845"/>
                    <a:pt x="4057722" y="16587"/>
                    <a:pt x="4057722" y="22574"/>
                  </a:cubicBezTo>
                  <a:lnTo>
                    <a:pt x="4057722" y="2153102"/>
                  </a:lnTo>
                  <a:cubicBezTo>
                    <a:pt x="4057722" y="2159089"/>
                    <a:pt x="4055344" y="2164831"/>
                    <a:pt x="4051111" y="2169065"/>
                  </a:cubicBezTo>
                  <a:cubicBezTo>
                    <a:pt x="4046877" y="2173298"/>
                    <a:pt x="4041136" y="2175676"/>
                    <a:pt x="4035149" y="2175676"/>
                  </a:cubicBezTo>
                  <a:lnTo>
                    <a:pt x="22574" y="2175676"/>
                  </a:lnTo>
                  <a:cubicBezTo>
                    <a:pt x="16587" y="2175676"/>
                    <a:pt x="10845" y="2173298"/>
                    <a:pt x="6612" y="2169065"/>
                  </a:cubicBezTo>
                  <a:cubicBezTo>
                    <a:pt x="2378" y="2164831"/>
                    <a:pt x="0" y="2159089"/>
                    <a:pt x="0" y="2153102"/>
                  </a:cubicBezTo>
                  <a:lnTo>
                    <a:pt x="0" y="22574"/>
                  </a:lnTo>
                  <a:cubicBezTo>
                    <a:pt x="0" y="16587"/>
                    <a:pt x="2378" y="10845"/>
                    <a:pt x="6612" y="6612"/>
                  </a:cubicBezTo>
                  <a:cubicBezTo>
                    <a:pt x="10845" y="2378"/>
                    <a:pt x="16587" y="0"/>
                    <a:pt x="22574" y="0"/>
                  </a:cubicBezTo>
                  <a:close/>
                </a:path>
              </a:pathLst>
            </a:custGeom>
            <a:solidFill>
              <a:srgbClr val="FFFFFF">
                <a:alpha val="85882"/>
              </a:srgbClr>
            </a:solidFill>
          </p:spPr>
          <p:txBody>
            <a:bodyPr/>
            <a:lstStyle/>
            <a:p>
              <a:endParaRPr lang="zh-TW" altLang="en-US"/>
            </a:p>
          </p:txBody>
        </p:sp>
        <p:sp>
          <p:nvSpPr>
            <p:cNvPr id="11" name="TextBox 11"/>
            <p:cNvSpPr txBox="1"/>
            <p:nvPr/>
          </p:nvSpPr>
          <p:spPr>
            <a:xfrm>
              <a:off x="0" y="-38100"/>
              <a:ext cx="4057722" cy="2213776"/>
            </a:xfrm>
            <a:prstGeom prst="rect">
              <a:avLst/>
            </a:prstGeom>
          </p:spPr>
          <p:txBody>
            <a:bodyPr lIns="50800" tIns="50800" rIns="50800" bIns="50800" rtlCol="0" anchor="ctr"/>
            <a:lstStyle/>
            <a:p>
              <a:pPr algn="ctr">
                <a:lnSpc>
                  <a:spcPts val="2120"/>
                </a:lnSpc>
              </a:pPr>
              <a:endParaRPr/>
            </a:p>
          </p:txBody>
        </p:sp>
      </p:grpSp>
      <p:grpSp>
        <p:nvGrpSpPr>
          <p:cNvPr id="12" name="Group 12"/>
          <p:cNvGrpSpPr/>
          <p:nvPr/>
        </p:nvGrpSpPr>
        <p:grpSpPr>
          <a:xfrm>
            <a:off x="6820514" y="355963"/>
            <a:ext cx="7555907" cy="3021098"/>
            <a:chOff x="0" y="0"/>
            <a:chExt cx="1990033" cy="795680"/>
          </a:xfrm>
        </p:grpSpPr>
        <p:sp>
          <p:nvSpPr>
            <p:cNvPr id="13" name="Freeform 13"/>
            <p:cNvSpPr/>
            <p:nvPr/>
          </p:nvSpPr>
          <p:spPr>
            <a:xfrm>
              <a:off x="0" y="0"/>
              <a:ext cx="1990033" cy="795680"/>
            </a:xfrm>
            <a:custGeom>
              <a:avLst/>
              <a:gdLst/>
              <a:ahLst/>
              <a:cxnLst/>
              <a:rect l="l" t="t" r="r" b="b"/>
              <a:pathLst>
                <a:path w="1990033" h="795680">
                  <a:moveTo>
                    <a:pt x="52256" y="0"/>
                  </a:moveTo>
                  <a:lnTo>
                    <a:pt x="1937777" y="0"/>
                  </a:lnTo>
                  <a:cubicBezTo>
                    <a:pt x="1966637" y="0"/>
                    <a:pt x="1990033" y="23396"/>
                    <a:pt x="1990033" y="52256"/>
                  </a:cubicBezTo>
                  <a:lnTo>
                    <a:pt x="1990033" y="743425"/>
                  </a:lnTo>
                  <a:cubicBezTo>
                    <a:pt x="1990033" y="772284"/>
                    <a:pt x="1966637" y="795680"/>
                    <a:pt x="1937777" y="795680"/>
                  </a:cubicBezTo>
                  <a:lnTo>
                    <a:pt x="52256" y="795680"/>
                  </a:lnTo>
                  <a:cubicBezTo>
                    <a:pt x="23396" y="795680"/>
                    <a:pt x="0" y="772284"/>
                    <a:pt x="0" y="743425"/>
                  </a:cubicBezTo>
                  <a:lnTo>
                    <a:pt x="0" y="52256"/>
                  </a:lnTo>
                  <a:cubicBezTo>
                    <a:pt x="0" y="23396"/>
                    <a:pt x="23396" y="0"/>
                    <a:pt x="52256" y="0"/>
                  </a:cubicBezTo>
                  <a:close/>
                </a:path>
              </a:pathLst>
            </a:custGeom>
            <a:solidFill>
              <a:srgbClr val="0093B9"/>
            </a:solidFill>
          </p:spPr>
          <p:txBody>
            <a:bodyPr/>
            <a:lstStyle/>
            <a:p>
              <a:endParaRPr lang="zh-TW" altLang="en-US"/>
            </a:p>
          </p:txBody>
        </p:sp>
        <p:sp>
          <p:nvSpPr>
            <p:cNvPr id="14" name="TextBox 14"/>
            <p:cNvSpPr txBox="1"/>
            <p:nvPr/>
          </p:nvSpPr>
          <p:spPr>
            <a:xfrm>
              <a:off x="0" y="-38100"/>
              <a:ext cx="1990033" cy="833780"/>
            </a:xfrm>
            <a:prstGeom prst="rect">
              <a:avLst/>
            </a:prstGeom>
          </p:spPr>
          <p:txBody>
            <a:bodyPr lIns="50800" tIns="50800" rIns="50800" bIns="50800" rtlCol="0" anchor="ctr"/>
            <a:lstStyle/>
            <a:p>
              <a:pPr algn="ctr">
                <a:lnSpc>
                  <a:spcPts val="2120"/>
                </a:lnSpc>
              </a:pPr>
              <a:endParaRPr/>
            </a:p>
          </p:txBody>
        </p:sp>
      </p:grpSp>
      <p:sp>
        <p:nvSpPr>
          <p:cNvPr id="15" name="Freeform 15"/>
          <p:cNvSpPr/>
          <p:nvPr/>
        </p:nvSpPr>
        <p:spPr>
          <a:xfrm>
            <a:off x="-1335089" y="-2910718"/>
            <a:ext cx="9515631" cy="9440025"/>
          </a:xfrm>
          <a:custGeom>
            <a:avLst/>
            <a:gdLst/>
            <a:ahLst/>
            <a:cxnLst/>
            <a:rect l="l" t="t" r="r" b="b"/>
            <a:pathLst>
              <a:path w="9515631" h="9440025">
                <a:moveTo>
                  <a:pt x="0" y="0"/>
                </a:moveTo>
                <a:lnTo>
                  <a:pt x="9515631" y="0"/>
                </a:lnTo>
                <a:lnTo>
                  <a:pt x="9515631" y="9440025"/>
                </a:lnTo>
                <a:lnTo>
                  <a:pt x="0" y="94400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6" name="TextBox 16"/>
          <p:cNvSpPr txBox="1"/>
          <p:nvPr/>
        </p:nvSpPr>
        <p:spPr>
          <a:xfrm>
            <a:off x="2598589" y="3310385"/>
            <a:ext cx="4788053" cy="644990"/>
          </a:xfrm>
          <a:prstGeom prst="rect">
            <a:avLst/>
          </a:prstGeom>
        </p:spPr>
        <p:txBody>
          <a:bodyPr lIns="0" tIns="0" rIns="0" bIns="0" rtlCol="0" anchor="t">
            <a:spAutoFit/>
          </a:bodyPr>
          <a:lstStyle/>
          <a:p>
            <a:pPr algn="ctr">
              <a:lnSpc>
                <a:spcPts val="5323"/>
              </a:lnSpc>
              <a:spcBef>
                <a:spcPct val="0"/>
              </a:spcBef>
            </a:pPr>
            <a:r>
              <a:rPr lang="en-US" sz="3802">
                <a:solidFill>
                  <a:srgbClr val="000000"/>
                </a:solidFill>
                <a:latin typeface="Quicksand"/>
                <a:ea typeface="Quicksand"/>
                <a:cs typeface="Quicksand"/>
                <a:sym typeface="Quicksand"/>
              </a:rPr>
              <a:t>優勢 (STRENGTHS)</a:t>
            </a:r>
          </a:p>
        </p:txBody>
      </p:sp>
      <p:sp>
        <p:nvSpPr>
          <p:cNvPr id="17" name="TextBox 17"/>
          <p:cNvSpPr txBox="1"/>
          <p:nvPr/>
        </p:nvSpPr>
        <p:spPr>
          <a:xfrm>
            <a:off x="596231" y="1270695"/>
            <a:ext cx="6224283" cy="1422635"/>
          </a:xfrm>
          <a:prstGeom prst="rect">
            <a:avLst/>
          </a:prstGeom>
        </p:spPr>
        <p:txBody>
          <a:bodyPr lIns="0" tIns="0" rIns="0" bIns="0" rtlCol="0" anchor="t">
            <a:spAutoFit/>
          </a:bodyPr>
          <a:lstStyle/>
          <a:p>
            <a:pPr algn="l">
              <a:lnSpc>
                <a:spcPts val="11769"/>
              </a:lnSpc>
              <a:spcBef>
                <a:spcPct val="0"/>
              </a:spcBef>
            </a:pPr>
            <a:r>
              <a:rPr lang="en-US" sz="8406">
                <a:solidFill>
                  <a:srgbClr val="FFFFFF"/>
                </a:solidFill>
                <a:latin typeface="Quicksand"/>
                <a:ea typeface="Quicksand"/>
                <a:cs typeface="Quicksand"/>
                <a:sym typeface="Quicksand"/>
              </a:rPr>
              <a:t> SWOT分析</a:t>
            </a:r>
          </a:p>
        </p:txBody>
      </p:sp>
      <p:sp>
        <p:nvSpPr>
          <p:cNvPr id="18" name="TextBox 18"/>
          <p:cNvSpPr txBox="1"/>
          <p:nvPr/>
        </p:nvSpPr>
        <p:spPr>
          <a:xfrm>
            <a:off x="7196252" y="624669"/>
            <a:ext cx="3471747" cy="779188"/>
          </a:xfrm>
          <a:prstGeom prst="rect">
            <a:avLst/>
          </a:prstGeom>
        </p:spPr>
        <p:txBody>
          <a:bodyPr wrap="square" lIns="0" tIns="0" rIns="0" bIns="0" rtlCol="0" anchor="t">
            <a:spAutoFit/>
          </a:bodyPr>
          <a:lstStyle/>
          <a:p>
            <a:pPr>
              <a:lnSpc>
                <a:spcPts val="6303"/>
              </a:lnSpc>
              <a:spcBef>
                <a:spcPct val="0"/>
              </a:spcBef>
            </a:pPr>
            <a:r>
              <a:rPr lang="en-US" sz="4502" b="1" dirty="0">
                <a:solidFill>
                  <a:srgbClr val="FFFFFF"/>
                </a:solidFill>
                <a:latin typeface="Atma Medium"/>
                <a:ea typeface="Atma Medium"/>
                <a:cs typeface="Atma Medium"/>
                <a:sym typeface="Atma Medium"/>
              </a:rPr>
              <a:t> </a:t>
            </a:r>
            <a:r>
              <a:rPr lang="en-US" sz="4502" b="1" dirty="0" err="1">
                <a:solidFill>
                  <a:srgbClr val="FFFFFF"/>
                </a:solidFill>
                <a:latin typeface="Atma Medium"/>
                <a:ea typeface="Atma Medium"/>
                <a:cs typeface="Atma Medium"/>
                <a:sym typeface="Atma Medium"/>
              </a:rPr>
              <a:t>市場機會</a:t>
            </a:r>
            <a:endParaRPr lang="en-US" sz="4502" b="1" dirty="0">
              <a:solidFill>
                <a:srgbClr val="FFFFFF"/>
              </a:solidFill>
              <a:latin typeface="Atma Medium"/>
              <a:ea typeface="Atma Medium"/>
              <a:cs typeface="Atma Medium"/>
              <a:sym typeface="Atma Medium"/>
            </a:endParaRPr>
          </a:p>
        </p:txBody>
      </p:sp>
      <p:sp>
        <p:nvSpPr>
          <p:cNvPr id="19" name="TextBox 19"/>
          <p:cNvSpPr txBox="1"/>
          <p:nvPr/>
        </p:nvSpPr>
        <p:spPr>
          <a:xfrm>
            <a:off x="8010086" y="1697425"/>
            <a:ext cx="6366335" cy="1206793"/>
          </a:xfrm>
          <a:prstGeom prst="rect">
            <a:avLst/>
          </a:prstGeom>
        </p:spPr>
        <p:txBody>
          <a:bodyPr lIns="0" tIns="0" rIns="0" bIns="0" rtlCol="0" anchor="t">
            <a:spAutoFit/>
          </a:bodyPr>
          <a:lstStyle/>
          <a:p>
            <a:pPr algn="l">
              <a:lnSpc>
                <a:spcPts val="4883"/>
              </a:lnSpc>
              <a:spcBef>
                <a:spcPct val="0"/>
              </a:spcBef>
            </a:pPr>
            <a:r>
              <a:rPr lang="en-US" sz="3488" b="1">
                <a:solidFill>
                  <a:srgbClr val="FFFFFF"/>
                </a:solidFill>
                <a:latin typeface="Atma Medium"/>
                <a:ea typeface="Atma Medium"/>
                <a:cs typeface="Atma Medium"/>
                <a:sym typeface="Atma Medium"/>
              </a:rPr>
              <a:t>缺乏整合型防護平台，</a:t>
            </a:r>
          </a:p>
          <a:p>
            <a:pPr algn="l">
              <a:lnSpc>
                <a:spcPts val="4883"/>
              </a:lnSpc>
              <a:spcBef>
                <a:spcPct val="0"/>
              </a:spcBef>
            </a:pPr>
            <a:r>
              <a:rPr lang="en-US" sz="3488" b="1">
                <a:solidFill>
                  <a:srgbClr val="FFFFFF"/>
                </a:solidFill>
                <a:latin typeface="Atma Medium"/>
                <a:ea typeface="Atma Medium"/>
                <a:cs typeface="Atma Medium"/>
                <a:sym typeface="Atma Medium"/>
              </a:rPr>
              <a:t>具有先發優勢，市場競爭者尚少</a:t>
            </a:r>
          </a:p>
        </p:txBody>
      </p:sp>
      <p:grpSp>
        <p:nvGrpSpPr>
          <p:cNvPr id="20" name="Group 20"/>
          <p:cNvGrpSpPr/>
          <p:nvPr/>
        </p:nvGrpSpPr>
        <p:grpSpPr>
          <a:xfrm>
            <a:off x="10064985" y="3666218"/>
            <a:ext cx="7555907" cy="3021098"/>
            <a:chOff x="0" y="0"/>
            <a:chExt cx="1990033" cy="795680"/>
          </a:xfrm>
        </p:grpSpPr>
        <p:sp>
          <p:nvSpPr>
            <p:cNvPr id="21" name="Freeform 21"/>
            <p:cNvSpPr/>
            <p:nvPr/>
          </p:nvSpPr>
          <p:spPr>
            <a:xfrm>
              <a:off x="0" y="0"/>
              <a:ext cx="1990033" cy="795680"/>
            </a:xfrm>
            <a:custGeom>
              <a:avLst/>
              <a:gdLst/>
              <a:ahLst/>
              <a:cxnLst/>
              <a:rect l="l" t="t" r="r" b="b"/>
              <a:pathLst>
                <a:path w="1990033" h="795680">
                  <a:moveTo>
                    <a:pt x="52256" y="0"/>
                  </a:moveTo>
                  <a:lnTo>
                    <a:pt x="1937777" y="0"/>
                  </a:lnTo>
                  <a:cubicBezTo>
                    <a:pt x="1966637" y="0"/>
                    <a:pt x="1990033" y="23396"/>
                    <a:pt x="1990033" y="52256"/>
                  </a:cubicBezTo>
                  <a:lnTo>
                    <a:pt x="1990033" y="743425"/>
                  </a:lnTo>
                  <a:cubicBezTo>
                    <a:pt x="1990033" y="772284"/>
                    <a:pt x="1966637" y="795680"/>
                    <a:pt x="1937777" y="795680"/>
                  </a:cubicBezTo>
                  <a:lnTo>
                    <a:pt x="52256" y="795680"/>
                  </a:lnTo>
                  <a:cubicBezTo>
                    <a:pt x="23396" y="795680"/>
                    <a:pt x="0" y="772284"/>
                    <a:pt x="0" y="743425"/>
                  </a:cubicBezTo>
                  <a:lnTo>
                    <a:pt x="0" y="52256"/>
                  </a:lnTo>
                  <a:cubicBezTo>
                    <a:pt x="0" y="23396"/>
                    <a:pt x="23396" y="0"/>
                    <a:pt x="52256" y="0"/>
                  </a:cubicBezTo>
                  <a:close/>
                </a:path>
              </a:pathLst>
            </a:custGeom>
            <a:solidFill>
              <a:srgbClr val="137064"/>
            </a:solidFill>
          </p:spPr>
          <p:txBody>
            <a:bodyPr/>
            <a:lstStyle/>
            <a:p>
              <a:endParaRPr lang="zh-TW" altLang="en-US"/>
            </a:p>
          </p:txBody>
        </p:sp>
        <p:sp>
          <p:nvSpPr>
            <p:cNvPr id="22" name="TextBox 22"/>
            <p:cNvSpPr txBox="1"/>
            <p:nvPr/>
          </p:nvSpPr>
          <p:spPr>
            <a:xfrm>
              <a:off x="0" y="-38100"/>
              <a:ext cx="1990033" cy="833780"/>
            </a:xfrm>
            <a:prstGeom prst="rect">
              <a:avLst/>
            </a:prstGeom>
          </p:spPr>
          <p:txBody>
            <a:bodyPr lIns="50800" tIns="50800" rIns="50800" bIns="50800" rtlCol="0" anchor="ctr"/>
            <a:lstStyle/>
            <a:p>
              <a:pPr algn="ctr">
                <a:lnSpc>
                  <a:spcPts val="2120"/>
                </a:lnSpc>
              </a:pPr>
              <a:endParaRPr/>
            </a:p>
          </p:txBody>
        </p:sp>
      </p:grpSp>
      <p:sp>
        <p:nvSpPr>
          <p:cNvPr id="23" name="TextBox 23"/>
          <p:cNvSpPr txBox="1"/>
          <p:nvPr/>
        </p:nvSpPr>
        <p:spPr>
          <a:xfrm>
            <a:off x="10098045" y="3869650"/>
            <a:ext cx="5843061" cy="779188"/>
          </a:xfrm>
          <a:prstGeom prst="rect">
            <a:avLst/>
          </a:prstGeom>
        </p:spPr>
        <p:txBody>
          <a:bodyPr wrap="square" lIns="0" tIns="0" rIns="0" bIns="0" rtlCol="0" anchor="t">
            <a:spAutoFit/>
          </a:bodyPr>
          <a:lstStyle/>
          <a:p>
            <a:pPr>
              <a:lnSpc>
                <a:spcPts val="6303"/>
              </a:lnSpc>
              <a:spcBef>
                <a:spcPct val="0"/>
              </a:spcBef>
            </a:pPr>
            <a:r>
              <a:rPr lang="en-US" sz="4502" b="1" dirty="0" err="1">
                <a:solidFill>
                  <a:srgbClr val="FFFFFF"/>
                </a:solidFill>
                <a:latin typeface="Atma Medium"/>
                <a:ea typeface="Atma Medium"/>
                <a:cs typeface="Atma Medium"/>
                <a:sym typeface="Atma Medium"/>
              </a:rPr>
              <a:t>功能整合</a:t>
            </a:r>
            <a:r>
              <a:rPr lang="en-US" sz="4502" b="1" dirty="0">
                <a:solidFill>
                  <a:srgbClr val="FFFFFF"/>
                </a:solidFill>
                <a:latin typeface="Atma Medium"/>
                <a:ea typeface="Atma Medium"/>
                <a:cs typeface="Atma Medium"/>
                <a:sym typeface="Atma Medium"/>
              </a:rPr>
              <a:t> + </a:t>
            </a:r>
            <a:r>
              <a:rPr lang="en-US" sz="4502" b="1" dirty="0" err="1">
                <a:solidFill>
                  <a:srgbClr val="FFFFFF"/>
                </a:solidFill>
                <a:latin typeface="Atma Medium"/>
                <a:ea typeface="Atma Medium"/>
                <a:cs typeface="Atma Medium"/>
                <a:sym typeface="Atma Medium"/>
              </a:rPr>
              <a:t>合作擴展</a:t>
            </a:r>
            <a:endParaRPr lang="en-US" sz="4502" b="1" dirty="0">
              <a:solidFill>
                <a:srgbClr val="FFFFFF"/>
              </a:solidFill>
              <a:latin typeface="Atma Medium"/>
              <a:ea typeface="Atma Medium"/>
              <a:cs typeface="Atma Medium"/>
              <a:sym typeface="Atma Medium"/>
            </a:endParaRPr>
          </a:p>
        </p:txBody>
      </p:sp>
      <p:sp>
        <p:nvSpPr>
          <p:cNvPr id="24" name="TextBox 24"/>
          <p:cNvSpPr txBox="1"/>
          <p:nvPr/>
        </p:nvSpPr>
        <p:spPr>
          <a:xfrm>
            <a:off x="11193253" y="4287170"/>
            <a:ext cx="6366335" cy="2878748"/>
          </a:xfrm>
          <a:prstGeom prst="rect">
            <a:avLst/>
          </a:prstGeom>
        </p:spPr>
        <p:txBody>
          <a:bodyPr lIns="0" tIns="0" rIns="0" bIns="0" rtlCol="0" anchor="t">
            <a:spAutoFit/>
          </a:bodyPr>
          <a:lstStyle/>
          <a:p>
            <a:pPr algn="l">
              <a:lnSpc>
                <a:spcPts val="4603"/>
              </a:lnSpc>
            </a:pPr>
            <a:endParaRPr dirty="0"/>
          </a:p>
          <a:p>
            <a:pPr algn="l">
              <a:lnSpc>
                <a:spcPts val="4603"/>
              </a:lnSpc>
              <a:spcBef>
                <a:spcPct val="0"/>
              </a:spcBef>
            </a:pPr>
            <a:r>
              <a:rPr lang="en-US" sz="3288" b="1" dirty="0" err="1">
                <a:solidFill>
                  <a:srgbClr val="FFFFFF"/>
                </a:solidFill>
                <a:latin typeface="Atma Medium"/>
                <a:ea typeface="Atma Medium"/>
                <a:cs typeface="Atma Medium"/>
                <a:sym typeface="Atma Medium"/>
              </a:rPr>
              <a:t>求助、回報、匿名社群功能完整</a:t>
            </a:r>
            <a:endParaRPr lang="en-US" sz="3288" b="1" dirty="0">
              <a:solidFill>
                <a:srgbClr val="FFFFFF"/>
              </a:solidFill>
              <a:latin typeface="Atma Medium"/>
              <a:ea typeface="Atma Medium"/>
              <a:cs typeface="Atma Medium"/>
              <a:sym typeface="Atma Medium"/>
            </a:endParaRPr>
          </a:p>
          <a:p>
            <a:pPr algn="l">
              <a:lnSpc>
                <a:spcPts val="4603"/>
              </a:lnSpc>
              <a:spcBef>
                <a:spcPct val="0"/>
              </a:spcBef>
            </a:pPr>
            <a:r>
              <a:rPr lang="en-US" sz="3288" b="1" dirty="0" err="1">
                <a:solidFill>
                  <a:srgbClr val="FFFFFF"/>
                </a:solidFill>
                <a:latin typeface="Atma Medium"/>
                <a:ea typeface="Atma Medium"/>
                <a:cs typeface="Atma Medium"/>
                <a:sym typeface="Atma Medium"/>
              </a:rPr>
              <a:t>匿名聊天室交流，減少焦慮與壓力</a:t>
            </a:r>
            <a:endParaRPr lang="en-US" sz="3288" b="1" dirty="0">
              <a:solidFill>
                <a:srgbClr val="FFFFFF"/>
              </a:solidFill>
              <a:latin typeface="Atma Medium"/>
              <a:ea typeface="Atma Medium"/>
              <a:cs typeface="Atma Medium"/>
              <a:sym typeface="Atma Medium"/>
            </a:endParaRPr>
          </a:p>
          <a:p>
            <a:pPr algn="l">
              <a:lnSpc>
                <a:spcPts val="4603"/>
              </a:lnSpc>
              <a:spcBef>
                <a:spcPct val="0"/>
              </a:spcBef>
            </a:pPr>
            <a:r>
              <a:rPr lang="en-US" sz="3288" b="1" dirty="0" err="1">
                <a:solidFill>
                  <a:srgbClr val="FFFFFF"/>
                </a:solidFill>
                <a:latin typeface="Atma Medium"/>
                <a:ea typeface="Atma Medium"/>
                <a:cs typeface="Atma Medium"/>
                <a:sym typeface="Atma Medium"/>
              </a:rPr>
              <a:t>免費商家認證，創造雙贏</a:t>
            </a:r>
            <a:endParaRPr lang="en-US" sz="3288" b="1" dirty="0">
              <a:solidFill>
                <a:srgbClr val="FFFFFF"/>
              </a:solidFill>
              <a:latin typeface="Atma Medium"/>
              <a:ea typeface="Atma Medium"/>
              <a:cs typeface="Atma Medium"/>
              <a:sym typeface="Atma Medium"/>
            </a:endParaRPr>
          </a:p>
          <a:p>
            <a:pPr algn="l">
              <a:lnSpc>
                <a:spcPts val="4603"/>
              </a:lnSpc>
              <a:spcBef>
                <a:spcPct val="0"/>
              </a:spcBef>
            </a:pPr>
            <a:endParaRPr lang="en-US" sz="3288" b="1" dirty="0">
              <a:solidFill>
                <a:srgbClr val="FFFFFF"/>
              </a:solidFill>
              <a:latin typeface="Atma Medium"/>
              <a:ea typeface="Atma Medium"/>
              <a:cs typeface="Atma Medium"/>
              <a:sym typeface="Atma Medium"/>
            </a:endParaRPr>
          </a:p>
        </p:txBody>
      </p:sp>
      <p:grpSp>
        <p:nvGrpSpPr>
          <p:cNvPr id="25" name="Group 25"/>
          <p:cNvGrpSpPr/>
          <p:nvPr/>
        </p:nvGrpSpPr>
        <p:grpSpPr>
          <a:xfrm>
            <a:off x="1677271" y="6391695"/>
            <a:ext cx="8278964" cy="3021098"/>
            <a:chOff x="0" y="0"/>
            <a:chExt cx="2180468" cy="795680"/>
          </a:xfrm>
        </p:grpSpPr>
        <p:sp>
          <p:nvSpPr>
            <p:cNvPr id="26" name="Freeform 26"/>
            <p:cNvSpPr/>
            <p:nvPr/>
          </p:nvSpPr>
          <p:spPr>
            <a:xfrm>
              <a:off x="0" y="0"/>
              <a:ext cx="2180468" cy="795680"/>
            </a:xfrm>
            <a:custGeom>
              <a:avLst/>
              <a:gdLst/>
              <a:ahLst/>
              <a:cxnLst/>
              <a:rect l="l" t="t" r="r" b="b"/>
              <a:pathLst>
                <a:path w="2180468" h="795680">
                  <a:moveTo>
                    <a:pt x="47692" y="0"/>
                  </a:moveTo>
                  <a:lnTo>
                    <a:pt x="2132776" y="0"/>
                  </a:lnTo>
                  <a:cubicBezTo>
                    <a:pt x="2145425" y="0"/>
                    <a:pt x="2157555" y="5025"/>
                    <a:pt x="2166499" y="13969"/>
                  </a:cubicBezTo>
                  <a:cubicBezTo>
                    <a:pt x="2175443" y="22913"/>
                    <a:pt x="2180468" y="35043"/>
                    <a:pt x="2180468" y="47692"/>
                  </a:cubicBezTo>
                  <a:lnTo>
                    <a:pt x="2180468" y="747988"/>
                  </a:lnTo>
                  <a:cubicBezTo>
                    <a:pt x="2180468" y="760637"/>
                    <a:pt x="2175443" y="772768"/>
                    <a:pt x="2166499" y="781711"/>
                  </a:cubicBezTo>
                  <a:cubicBezTo>
                    <a:pt x="2157555" y="790655"/>
                    <a:pt x="2145425" y="795680"/>
                    <a:pt x="2132776" y="795680"/>
                  </a:cubicBezTo>
                  <a:lnTo>
                    <a:pt x="47692" y="795680"/>
                  </a:lnTo>
                  <a:cubicBezTo>
                    <a:pt x="35043" y="795680"/>
                    <a:pt x="22913" y="790655"/>
                    <a:pt x="13969" y="781711"/>
                  </a:cubicBezTo>
                  <a:cubicBezTo>
                    <a:pt x="5025" y="772768"/>
                    <a:pt x="0" y="760637"/>
                    <a:pt x="0" y="747988"/>
                  </a:cubicBezTo>
                  <a:lnTo>
                    <a:pt x="0" y="47692"/>
                  </a:lnTo>
                  <a:cubicBezTo>
                    <a:pt x="0" y="35043"/>
                    <a:pt x="5025" y="22913"/>
                    <a:pt x="13969" y="13969"/>
                  </a:cubicBezTo>
                  <a:cubicBezTo>
                    <a:pt x="22913" y="5025"/>
                    <a:pt x="35043" y="0"/>
                    <a:pt x="47692" y="0"/>
                  </a:cubicBezTo>
                  <a:close/>
                </a:path>
              </a:pathLst>
            </a:custGeom>
            <a:solidFill>
              <a:srgbClr val="0093B9"/>
            </a:solidFill>
          </p:spPr>
          <p:txBody>
            <a:bodyPr/>
            <a:lstStyle/>
            <a:p>
              <a:endParaRPr lang="zh-TW" altLang="en-US"/>
            </a:p>
          </p:txBody>
        </p:sp>
        <p:sp>
          <p:nvSpPr>
            <p:cNvPr id="27" name="TextBox 27"/>
            <p:cNvSpPr txBox="1"/>
            <p:nvPr/>
          </p:nvSpPr>
          <p:spPr>
            <a:xfrm>
              <a:off x="0" y="-38100"/>
              <a:ext cx="2180468" cy="833780"/>
            </a:xfrm>
            <a:prstGeom prst="rect">
              <a:avLst/>
            </a:prstGeom>
          </p:spPr>
          <p:txBody>
            <a:bodyPr lIns="50800" tIns="50800" rIns="50800" bIns="50800" rtlCol="0" anchor="ctr"/>
            <a:lstStyle/>
            <a:p>
              <a:pPr algn="ctr">
                <a:lnSpc>
                  <a:spcPts val="2120"/>
                </a:lnSpc>
              </a:pPr>
              <a:endParaRPr/>
            </a:p>
          </p:txBody>
        </p:sp>
      </p:grpSp>
      <p:sp>
        <p:nvSpPr>
          <p:cNvPr id="28" name="TextBox 28"/>
          <p:cNvSpPr txBox="1"/>
          <p:nvPr/>
        </p:nvSpPr>
        <p:spPr>
          <a:xfrm>
            <a:off x="2167613" y="6443582"/>
            <a:ext cx="5673498" cy="779188"/>
          </a:xfrm>
          <a:prstGeom prst="rect">
            <a:avLst/>
          </a:prstGeom>
        </p:spPr>
        <p:txBody>
          <a:bodyPr wrap="square" lIns="0" tIns="0" rIns="0" bIns="0" rtlCol="0" anchor="t">
            <a:spAutoFit/>
          </a:bodyPr>
          <a:lstStyle/>
          <a:p>
            <a:pPr>
              <a:lnSpc>
                <a:spcPts val="6303"/>
              </a:lnSpc>
              <a:spcBef>
                <a:spcPct val="0"/>
              </a:spcBef>
            </a:pPr>
            <a:r>
              <a:rPr lang="en-US" sz="4502" b="1" dirty="0" err="1">
                <a:solidFill>
                  <a:srgbClr val="FFFFFF"/>
                </a:solidFill>
                <a:latin typeface="Atma Medium"/>
                <a:ea typeface="Atma Medium"/>
                <a:cs typeface="Atma Medium"/>
                <a:sym typeface="Atma Medium"/>
              </a:rPr>
              <a:t>技術選型策略明確</a:t>
            </a:r>
            <a:endParaRPr lang="en-US" sz="4502" b="1" dirty="0">
              <a:solidFill>
                <a:srgbClr val="FFFFFF"/>
              </a:solidFill>
              <a:latin typeface="Atma Medium"/>
              <a:ea typeface="Atma Medium"/>
              <a:cs typeface="Atma Medium"/>
              <a:sym typeface="Atma Medium"/>
            </a:endParaRPr>
          </a:p>
        </p:txBody>
      </p:sp>
      <p:sp>
        <p:nvSpPr>
          <p:cNvPr id="29" name="TextBox 29"/>
          <p:cNvSpPr txBox="1"/>
          <p:nvPr/>
        </p:nvSpPr>
        <p:spPr>
          <a:xfrm>
            <a:off x="2515975" y="7353756"/>
            <a:ext cx="11329135" cy="2224063"/>
          </a:xfrm>
          <a:prstGeom prst="rect">
            <a:avLst/>
          </a:prstGeom>
        </p:spPr>
        <p:txBody>
          <a:bodyPr lIns="0" tIns="0" rIns="0" bIns="0" rtlCol="0" anchor="t">
            <a:spAutoFit/>
          </a:bodyPr>
          <a:lstStyle/>
          <a:p>
            <a:pPr algn="l">
              <a:lnSpc>
                <a:spcPts val="4463"/>
              </a:lnSpc>
              <a:spcBef>
                <a:spcPct val="0"/>
              </a:spcBef>
            </a:pPr>
            <a:r>
              <a:rPr lang="en-US" sz="3188" b="1">
                <a:solidFill>
                  <a:srgbClr val="FFFFFF"/>
                </a:solidFill>
                <a:latin typeface="Atma Medium"/>
                <a:ea typeface="Atma Medium"/>
                <a:cs typeface="Atma Medium"/>
                <a:sym typeface="Atma Medium"/>
              </a:rPr>
              <a:t>低成本運營(PWA架構降低成)</a:t>
            </a:r>
          </a:p>
          <a:p>
            <a:pPr algn="l">
              <a:lnSpc>
                <a:spcPts val="4463"/>
              </a:lnSpc>
              <a:spcBef>
                <a:spcPct val="0"/>
              </a:spcBef>
            </a:pPr>
            <a:r>
              <a:rPr lang="en-US" sz="3188" b="1">
                <a:solidFill>
                  <a:srgbClr val="FFFFFF"/>
                </a:solidFill>
                <a:latin typeface="Atma Medium"/>
                <a:ea typeface="Atma Medium"/>
                <a:cs typeface="Atma Medium"/>
                <a:sym typeface="Atma Medium"/>
              </a:rPr>
              <a:t>擴展彈性大，未來可依需求擴充功能</a:t>
            </a:r>
          </a:p>
          <a:p>
            <a:pPr algn="l">
              <a:lnSpc>
                <a:spcPts val="4463"/>
              </a:lnSpc>
              <a:spcBef>
                <a:spcPct val="0"/>
              </a:spcBef>
            </a:pPr>
            <a:r>
              <a:rPr lang="en-US" sz="3188" b="1">
                <a:solidFill>
                  <a:srgbClr val="FFFFFF"/>
                </a:solidFill>
                <a:latin typeface="Atma Medium"/>
                <a:ea typeface="Atma Medium"/>
                <a:cs typeface="Atma Medium"/>
                <a:sym typeface="Atma Medium"/>
              </a:rPr>
              <a:t>收集回報數據，分析異常事件，準確預警</a:t>
            </a:r>
          </a:p>
          <a:p>
            <a:pPr algn="l">
              <a:lnSpc>
                <a:spcPts val="4463"/>
              </a:lnSpc>
              <a:spcBef>
                <a:spcPct val="0"/>
              </a:spcBef>
            </a:pPr>
            <a:endParaRPr lang="en-US" sz="3188" b="1">
              <a:solidFill>
                <a:srgbClr val="FFFFFF"/>
              </a:solidFill>
              <a:latin typeface="Atma Medium"/>
              <a:ea typeface="Atma Medium"/>
              <a:cs typeface="Atma Medium"/>
              <a:sym typeface="Atma Medium"/>
            </a:endParaRPr>
          </a:p>
        </p:txBody>
      </p:sp>
      <p:sp>
        <p:nvSpPr>
          <p:cNvPr id="30" name="TextBox 30"/>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31" name="投影片編號版面配置區 30">
            <a:extLst>
              <a:ext uri="{FF2B5EF4-FFF2-40B4-BE49-F238E27FC236}">
                <a16:creationId xmlns:a16="http://schemas.microsoft.com/office/drawing/2014/main" id="{99B68D32-13CF-2683-75C9-4CA3C7DCACEC}"/>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32" name="投影片編號版面配置區 1">
            <a:extLst>
              <a:ext uri="{FF2B5EF4-FFF2-40B4-BE49-F238E27FC236}">
                <a16:creationId xmlns:a16="http://schemas.microsoft.com/office/drawing/2014/main" id="{F62EE93D-17A4-DA87-897A-AD3CF677BFC1}"/>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7</a:t>
            </a:fld>
            <a:endParaRPr lang="en-US" sz="4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grpSp>
        <p:nvGrpSpPr>
          <p:cNvPr id="9" name="Group 9"/>
          <p:cNvGrpSpPr/>
          <p:nvPr/>
        </p:nvGrpSpPr>
        <p:grpSpPr>
          <a:xfrm>
            <a:off x="226987" y="343068"/>
            <a:ext cx="17491126" cy="9391315"/>
            <a:chOff x="0" y="0"/>
            <a:chExt cx="4057722" cy="2178668"/>
          </a:xfrm>
        </p:grpSpPr>
        <p:sp>
          <p:nvSpPr>
            <p:cNvPr id="10" name="Freeform 10"/>
            <p:cNvSpPr/>
            <p:nvPr/>
          </p:nvSpPr>
          <p:spPr>
            <a:xfrm>
              <a:off x="0" y="0"/>
              <a:ext cx="4057722" cy="2178668"/>
            </a:xfrm>
            <a:custGeom>
              <a:avLst/>
              <a:gdLst/>
              <a:ahLst/>
              <a:cxnLst/>
              <a:rect l="l" t="t" r="r" b="b"/>
              <a:pathLst>
                <a:path w="4057722" h="2178668">
                  <a:moveTo>
                    <a:pt x="22574" y="0"/>
                  </a:moveTo>
                  <a:lnTo>
                    <a:pt x="4035149" y="0"/>
                  </a:lnTo>
                  <a:cubicBezTo>
                    <a:pt x="4041136" y="0"/>
                    <a:pt x="4046877" y="2378"/>
                    <a:pt x="4051111" y="6612"/>
                  </a:cubicBezTo>
                  <a:cubicBezTo>
                    <a:pt x="4055344" y="10845"/>
                    <a:pt x="4057722" y="16587"/>
                    <a:pt x="4057722" y="22574"/>
                  </a:cubicBezTo>
                  <a:lnTo>
                    <a:pt x="4057722" y="2156094"/>
                  </a:lnTo>
                  <a:cubicBezTo>
                    <a:pt x="4057722" y="2162081"/>
                    <a:pt x="4055344" y="2167823"/>
                    <a:pt x="4051111" y="2172056"/>
                  </a:cubicBezTo>
                  <a:cubicBezTo>
                    <a:pt x="4046877" y="2176289"/>
                    <a:pt x="4041136" y="2178668"/>
                    <a:pt x="4035149" y="2178668"/>
                  </a:cubicBezTo>
                  <a:lnTo>
                    <a:pt x="22574" y="2178668"/>
                  </a:lnTo>
                  <a:cubicBezTo>
                    <a:pt x="16587" y="2178668"/>
                    <a:pt x="10845" y="2176289"/>
                    <a:pt x="6612" y="2172056"/>
                  </a:cubicBezTo>
                  <a:cubicBezTo>
                    <a:pt x="2378" y="2167823"/>
                    <a:pt x="0" y="2162081"/>
                    <a:pt x="0" y="2156094"/>
                  </a:cubicBezTo>
                  <a:lnTo>
                    <a:pt x="0" y="22574"/>
                  </a:lnTo>
                  <a:cubicBezTo>
                    <a:pt x="0" y="16587"/>
                    <a:pt x="2378" y="10845"/>
                    <a:pt x="6612" y="6612"/>
                  </a:cubicBezTo>
                  <a:cubicBezTo>
                    <a:pt x="10845" y="2378"/>
                    <a:pt x="16587" y="0"/>
                    <a:pt x="22574" y="0"/>
                  </a:cubicBezTo>
                  <a:close/>
                </a:path>
              </a:pathLst>
            </a:custGeom>
            <a:solidFill>
              <a:srgbClr val="FFFFFF">
                <a:alpha val="85882"/>
              </a:srgbClr>
            </a:solidFill>
          </p:spPr>
          <p:txBody>
            <a:bodyPr/>
            <a:lstStyle/>
            <a:p>
              <a:endParaRPr lang="zh-TW" altLang="en-US"/>
            </a:p>
          </p:txBody>
        </p:sp>
        <p:sp>
          <p:nvSpPr>
            <p:cNvPr id="11" name="TextBox 11"/>
            <p:cNvSpPr txBox="1"/>
            <p:nvPr/>
          </p:nvSpPr>
          <p:spPr>
            <a:xfrm>
              <a:off x="0" y="-38100"/>
              <a:ext cx="4057722" cy="2216768"/>
            </a:xfrm>
            <a:prstGeom prst="rect">
              <a:avLst/>
            </a:prstGeom>
          </p:spPr>
          <p:txBody>
            <a:bodyPr lIns="50800" tIns="50800" rIns="50800" bIns="50800" rtlCol="0" anchor="ctr"/>
            <a:lstStyle/>
            <a:p>
              <a:pPr algn="ctr">
                <a:lnSpc>
                  <a:spcPts val="2120"/>
                </a:lnSpc>
              </a:pPr>
              <a:endParaRPr/>
            </a:p>
          </p:txBody>
        </p:sp>
      </p:grpSp>
      <p:grpSp>
        <p:nvGrpSpPr>
          <p:cNvPr id="12" name="Group 12"/>
          <p:cNvGrpSpPr/>
          <p:nvPr/>
        </p:nvGrpSpPr>
        <p:grpSpPr>
          <a:xfrm>
            <a:off x="6334115" y="343068"/>
            <a:ext cx="10263711" cy="1715144"/>
            <a:chOff x="0" y="0"/>
            <a:chExt cx="2703200" cy="451725"/>
          </a:xfrm>
        </p:grpSpPr>
        <p:sp>
          <p:nvSpPr>
            <p:cNvPr id="13" name="Freeform 13"/>
            <p:cNvSpPr/>
            <p:nvPr/>
          </p:nvSpPr>
          <p:spPr>
            <a:xfrm>
              <a:off x="0" y="0"/>
              <a:ext cx="2703200" cy="451725"/>
            </a:xfrm>
            <a:custGeom>
              <a:avLst/>
              <a:gdLst/>
              <a:ahLst/>
              <a:cxnLst/>
              <a:rect l="l" t="t" r="r" b="b"/>
              <a:pathLst>
                <a:path w="2703200" h="451725">
                  <a:moveTo>
                    <a:pt x="38469" y="0"/>
                  </a:moveTo>
                  <a:lnTo>
                    <a:pt x="2664730" y="0"/>
                  </a:lnTo>
                  <a:cubicBezTo>
                    <a:pt x="2685976" y="0"/>
                    <a:pt x="2703200" y="17223"/>
                    <a:pt x="2703200" y="38469"/>
                  </a:cubicBezTo>
                  <a:lnTo>
                    <a:pt x="2703200" y="413256"/>
                  </a:lnTo>
                  <a:cubicBezTo>
                    <a:pt x="2703200" y="423459"/>
                    <a:pt x="2699147" y="433243"/>
                    <a:pt x="2691932" y="440458"/>
                  </a:cubicBezTo>
                  <a:cubicBezTo>
                    <a:pt x="2684718" y="447672"/>
                    <a:pt x="2674933" y="451725"/>
                    <a:pt x="2664730" y="451725"/>
                  </a:cubicBezTo>
                  <a:lnTo>
                    <a:pt x="38469" y="451725"/>
                  </a:lnTo>
                  <a:cubicBezTo>
                    <a:pt x="28267" y="451725"/>
                    <a:pt x="18482" y="447672"/>
                    <a:pt x="11267" y="440458"/>
                  </a:cubicBezTo>
                  <a:cubicBezTo>
                    <a:pt x="4053" y="433243"/>
                    <a:pt x="0" y="423459"/>
                    <a:pt x="0" y="413256"/>
                  </a:cubicBezTo>
                  <a:lnTo>
                    <a:pt x="0" y="38469"/>
                  </a:lnTo>
                  <a:cubicBezTo>
                    <a:pt x="0" y="28267"/>
                    <a:pt x="4053" y="18482"/>
                    <a:pt x="11267" y="11267"/>
                  </a:cubicBezTo>
                  <a:cubicBezTo>
                    <a:pt x="18482" y="4053"/>
                    <a:pt x="28267" y="0"/>
                    <a:pt x="38469" y="0"/>
                  </a:cubicBezTo>
                  <a:close/>
                </a:path>
              </a:pathLst>
            </a:custGeom>
            <a:solidFill>
              <a:srgbClr val="0093B9"/>
            </a:solidFill>
          </p:spPr>
          <p:txBody>
            <a:bodyPr/>
            <a:lstStyle/>
            <a:p>
              <a:endParaRPr lang="zh-TW" altLang="en-US"/>
            </a:p>
          </p:txBody>
        </p:sp>
        <p:sp>
          <p:nvSpPr>
            <p:cNvPr id="14" name="TextBox 14"/>
            <p:cNvSpPr txBox="1"/>
            <p:nvPr/>
          </p:nvSpPr>
          <p:spPr>
            <a:xfrm>
              <a:off x="0" y="-38100"/>
              <a:ext cx="2703200" cy="489825"/>
            </a:xfrm>
            <a:prstGeom prst="rect">
              <a:avLst/>
            </a:prstGeom>
          </p:spPr>
          <p:txBody>
            <a:bodyPr lIns="50800" tIns="50800" rIns="50800" bIns="50800" rtlCol="0" anchor="ctr"/>
            <a:lstStyle/>
            <a:p>
              <a:pPr algn="ctr">
                <a:lnSpc>
                  <a:spcPts val="2120"/>
                </a:lnSpc>
              </a:pPr>
              <a:endParaRPr/>
            </a:p>
          </p:txBody>
        </p:sp>
      </p:grpSp>
      <p:grpSp>
        <p:nvGrpSpPr>
          <p:cNvPr id="15" name="Group 15"/>
          <p:cNvGrpSpPr/>
          <p:nvPr/>
        </p:nvGrpSpPr>
        <p:grpSpPr>
          <a:xfrm>
            <a:off x="7772400" y="4509486"/>
            <a:ext cx="10085047" cy="2064508"/>
            <a:chOff x="0" y="0"/>
            <a:chExt cx="2656144" cy="543739"/>
          </a:xfrm>
        </p:grpSpPr>
        <p:sp>
          <p:nvSpPr>
            <p:cNvPr id="16" name="Freeform 16"/>
            <p:cNvSpPr/>
            <p:nvPr/>
          </p:nvSpPr>
          <p:spPr>
            <a:xfrm>
              <a:off x="0" y="0"/>
              <a:ext cx="2656144" cy="543739"/>
            </a:xfrm>
            <a:custGeom>
              <a:avLst/>
              <a:gdLst/>
              <a:ahLst/>
              <a:cxnLst/>
              <a:rect l="l" t="t" r="r" b="b"/>
              <a:pathLst>
                <a:path w="2656144" h="543739">
                  <a:moveTo>
                    <a:pt x="39151" y="0"/>
                  </a:moveTo>
                  <a:lnTo>
                    <a:pt x="2616993" y="0"/>
                  </a:lnTo>
                  <a:cubicBezTo>
                    <a:pt x="2627377" y="0"/>
                    <a:pt x="2637335" y="4125"/>
                    <a:pt x="2644677" y="11467"/>
                  </a:cubicBezTo>
                  <a:cubicBezTo>
                    <a:pt x="2652019" y="18809"/>
                    <a:pt x="2656144" y="28767"/>
                    <a:pt x="2656144" y="39151"/>
                  </a:cubicBezTo>
                  <a:lnTo>
                    <a:pt x="2656144" y="504588"/>
                  </a:lnTo>
                  <a:cubicBezTo>
                    <a:pt x="2656144" y="514971"/>
                    <a:pt x="2652019" y="524929"/>
                    <a:pt x="2644677" y="532272"/>
                  </a:cubicBezTo>
                  <a:cubicBezTo>
                    <a:pt x="2637335" y="539614"/>
                    <a:pt x="2627377" y="543739"/>
                    <a:pt x="2616993" y="543739"/>
                  </a:cubicBezTo>
                  <a:lnTo>
                    <a:pt x="39151" y="543739"/>
                  </a:lnTo>
                  <a:cubicBezTo>
                    <a:pt x="17528" y="543739"/>
                    <a:pt x="0" y="526210"/>
                    <a:pt x="0" y="504588"/>
                  </a:cubicBezTo>
                  <a:lnTo>
                    <a:pt x="0" y="39151"/>
                  </a:lnTo>
                  <a:cubicBezTo>
                    <a:pt x="0" y="28767"/>
                    <a:pt x="4125" y="18809"/>
                    <a:pt x="11467" y="11467"/>
                  </a:cubicBezTo>
                  <a:cubicBezTo>
                    <a:pt x="18809" y="4125"/>
                    <a:pt x="28767" y="0"/>
                    <a:pt x="39151" y="0"/>
                  </a:cubicBezTo>
                  <a:close/>
                </a:path>
              </a:pathLst>
            </a:custGeom>
            <a:solidFill>
              <a:srgbClr val="0093B9"/>
            </a:solidFill>
          </p:spPr>
          <p:txBody>
            <a:bodyPr/>
            <a:lstStyle/>
            <a:p>
              <a:endParaRPr lang="zh-TW" altLang="en-US"/>
            </a:p>
          </p:txBody>
        </p:sp>
        <p:sp>
          <p:nvSpPr>
            <p:cNvPr id="17" name="TextBox 17"/>
            <p:cNvSpPr txBox="1"/>
            <p:nvPr/>
          </p:nvSpPr>
          <p:spPr>
            <a:xfrm>
              <a:off x="0" y="-38100"/>
              <a:ext cx="2656144" cy="581839"/>
            </a:xfrm>
            <a:prstGeom prst="rect">
              <a:avLst/>
            </a:prstGeom>
          </p:spPr>
          <p:txBody>
            <a:bodyPr lIns="50800" tIns="50800" rIns="50800" bIns="50800" rtlCol="0" anchor="ctr"/>
            <a:lstStyle/>
            <a:p>
              <a:pPr algn="ctr">
                <a:lnSpc>
                  <a:spcPts val="2120"/>
                </a:lnSpc>
              </a:pPr>
              <a:endParaRPr/>
            </a:p>
          </p:txBody>
        </p:sp>
      </p:grpSp>
      <p:sp>
        <p:nvSpPr>
          <p:cNvPr id="18" name="Freeform 18"/>
          <p:cNvSpPr/>
          <p:nvPr/>
        </p:nvSpPr>
        <p:spPr>
          <a:xfrm>
            <a:off x="-1335089" y="-2910718"/>
            <a:ext cx="9515631" cy="9440025"/>
          </a:xfrm>
          <a:custGeom>
            <a:avLst/>
            <a:gdLst/>
            <a:ahLst/>
            <a:cxnLst/>
            <a:rect l="l" t="t" r="r" b="b"/>
            <a:pathLst>
              <a:path w="9515631" h="9440025">
                <a:moveTo>
                  <a:pt x="0" y="0"/>
                </a:moveTo>
                <a:lnTo>
                  <a:pt x="9515631" y="0"/>
                </a:lnTo>
                <a:lnTo>
                  <a:pt x="9515631" y="9440025"/>
                </a:lnTo>
                <a:lnTo>
                  <a:pt x="0" y="94400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9" name="TextBox 19"/>
          <p:cNvSpPr txBox="1"/>
          <p:nvPr/>
        </p:nvSpPr>
        <p:spPr>
          <a:xfrm>
            <a:off x="2236064" y="3231830"/>
            <a:ext cx="5791814" cy="644990"/>
          </a:xfrm>
          <a:prstGeom prst="rect">
            <a:avLst/>
          </a:prstGeom>
        </p:spPr>
        <p:txBody>
          <a:bodyPr lIns="0" tIns="0" rIns="0" bIns="0" rtlCol="0" anchor="t">
            <a:spAutoFit/>
          </a:bodyPr>
          <a:lstStyle/>
          <a:p>
            <a:pPr algn="ctr">
              <a:lnSpc>
                <a:spcPts val="5323"/>
              </a:lnSpc>
              <a:spcBef>
                <a:spcPct val="0"/>
              </a:spcBef>
            </a:pPr>
            <a:r>
              <a:rPr lang="en-US" sz="3802">
                <a:solidFill>
                  <a:srgbClr val="000000"/>
                </a:solidFill>
                <a:latin typeface="Quicksand"/>
                <a:ea typeface="Quicksand"/>
                <a:cs typeface="Quicksand"/>
                <a:sym typeface="Quicksand"/>
              </a:rPr>
              <a:t>機會(OPPORTUNITIES)</a:t>
            </a:r>
          </a:p>
        </p:txBody>
      </p:sp>
      <p:sp>
        <p:nvSpPr>
          <p:cNvPr id="20" name="TextBox 20"/>
          <p:cNvSpPr txBox="1"/>
          <p:nvPr/>
        </p:nvSpPr>
        <p:spPr>
          <a:xfrm>
            <a:off x="439521" y="1423368"/>
            <a:ext cx="6224283" cy="1422635"/>
          </a:xfrm>
          <a:prstGeom prst="rect">
            <a:avLst/>
          </a:prstGeom>
        </p:spPr>
        <p:txBody>
          <a:bodyPr lIns="0" tIns="0" rIns="0" bIns="0" rtlCol="0" anchor="t">
            <a:spAutoFit/>
          </a:bodyPr>
          <a:lstStyle/>
          <a:p>
            <a:pPr algn="l">
              <a:lnSpc>
                <a:spcPts val="11769"/>
              </a:lnSpc>
              <a:spcBef>
                <a:spcPct val="0"/>
              </a:spcBef>
            </a:pPr>
            <a:r>
              <a:rPr lang="en-US" sz="8406">
                <a:solidFill>
                  <a:srgbClr val="FFFFFF"/>
                </a:solidFill>
                <a:latin typeface="Quicksand"/>
                <a:ea typeface="Quicksand"/>
                <a:cs typeface="Quicksand"/>
                <a:sym typeface="Quicksand"/>
              </a:rPr>
              <a:t> SWOT分析</a:t>
            </a:r>
          </a:p>
        </p:txBody>
      </p:sp>
      <p:sp>
        <p:nvSpPr>
          <p:cNvPr id="21" name="TextBox 21"/>
          <p:cNvSpPr txBox="1"/>
          <p:nvPr/>
        </p:nvSpPr>
        <p:spPr>
          <a:xfrm>
            <a:off x="6663804" y="393020"/>
            <a:ext cx="7432874" cy="771468"/>
          </a:xfrm>
          <a:prstGeom prst="rect">
            <a:avLst/>
          </a:prstGeom>
        </p:spPr>
        <p:txBody>
          <a:bodyPr lIns="0" tIns="0" rIns="0" bIns="0" rtlCol="0" anchor="t">
            <a:spAutoFit/>
          </a:bodyPr>
          <a:lstStyle/>
          <a:p>
            <a:pPr algn="ctr">
              <a:lnSpc>
                <a:spcPts val="6303"/>
              </a:lnSpc>
              <a:spcBef>
                <a:spcPct val="0"/>
              </a:spcBef>
            </a:pPr>
            <a:r>
              <a:rPr lang="en-US" sz="4502">
                <a:solidFill>
                  <a:srgbClr val="FFFFFF"/>
                </a:solidFill>
                <a:latin typeface="Atma"/>
                <a:ea typeface="Atma"/>
                <a:cs typeface="Atma"/>
                <a:sym typeface="Atma"/>
              </a:rPr>
              <a:t>外部環境助力，擴大發展潛能</a:t>
            </a:r>
          </a:p>
        </p:txBody>
      </p:sp>
      <p:sp>
        <p:nvSpPr>
          <p:cNvPr id="22" name="TextBox 22"/>
          <p:cNvSpPr txBox="1"/>
          <p:nvPr/>
        </p:nvSpPr>
        <p:spPr>
          <a:xfrm>
            <a:off x="8417226" y="1297838"/>
            <a:ext cx="7824925" cy="613703"/>
          </a:xfrm>
          <a:prstGeom prst="rect">
            <a:avLst/>
          </a:prstGeom>
        </p:spPr>
        <p:txBody>
          <a:bodyPr lIns="0" tIns="0" rIns="0" bIns="0" rtlCol="0" anchor="t">
            <a:spAutoFit/>
          </a:bodyPr>
          <a:lstStyle/>
          <a:p>
            <a:pPr algn="l">
              <a:lnSpc>
                <a:spcPts val="5023"/>
              </a:lnSpc>
              <a:spcBef>
                <a:spcPct val="0"/>
              </a:spcBef>
            </a:pPr>
            <a:r>
              <a:rPr lang="en-US" sz="3588" b="1">
                <a:solidFill>
                  <a:srgbClr val="FFFFFF"/>
                </a:solidFill>
                <a:latin typeface="Atma Medium"/>
                <a:ea typeface="Atma Medium"/>
                <a:cs typeface="Atma Medium"/>
                <a:sym typeface="Atma Medium"/>
              </a:rPr>
              <a:t>安全意識提升，個人防護工具需求成長</a:t>
            </a:r>
          </a:p>
        </p:txBody>
      </p:sp>
      <p:grpSp>
        <p:nvGrpSpPr>
          <p:cNvPr id="23" name="Group 23"/>
          <p:cNvGrpSpPr/>
          <p:nvPr/>
        </p:nvGrpSpPr>
        <p:grpSpPr>
          <a:xfrm>
            <a:off x="8773157" y="2343962"/>
            <a:ext cx="8944956" cy="1909086"/>
            <a:chOff x="0" y="0"/>
            <a:chExt cx="2355873" cy="502804"/>
          </a:xfrm>
        </p:grpSpPr>
        <p:sp>
          <p:nvSpPr>
            <p:cNvPr id="24" name="Freeform 24"/>
            <p:cNvSpPr/>
            <p:nvPr/>
          </p:nvSpPr>
          <p:spPr>
            <a:xfrm>
              <a:off x="0" y="0"/>
              <a:ext cx="2355873" cy="502804"/>
            </a:xfrm>
            <a:custGeom>
              <a:avLst/>
              <a:gdLst/>
              <a:ahLst/>
              <a:cxnLst/>
              <a:rect l="l" t="t" r="r" b="b"/>
              <a:pathLst>
                <a:path w="2355873" h="502804">
                  <a:moveTo>
                    <a:pt x="44141" y="0"/>
                  </a:moveTo>
                  <a:lnTo>
                    <a:pt x="2311732" y="0"/>
                  </a:lnTo>
                  <a:cubicBezTo>
                    <a:pt x="2336111" y="0"/>
                    <a:pt x="2355873" y="19763"/>
                    <a:pt x="2355873" y="44141"/>
                  </a:cubicBezTo>
                  <a:lnTo>
                    <a:pt x="2355873" y="458664"/>
                  </a:lnTo>
                  <a:cubicBezTo>
                    <a:pt x="2355873" y="470371"/>
                    <a:pt x="2351223" y="481598"/>
                    <a:pt x="2342945" y="489876"/>
                  </a:cubicBezTo>
                  <a:cubicBezTo>
                    <a:pt x="2334667" y="498154"/>
                    <a:pt x="2323439" y="502804"/>
                    <a:pt x="2311732" y="502804"/>
                  </a:cubicBezTo>
                  <a:lnTo>
                    <a:pt x="44141" y="502804"/>
                  </a:lnTo>
                  <a:cubicBezTo>
                    <a:pt x="32434" y="502804"/>
                    <a:pt x="21207" y="498154"/>
                    <a:pt x="12929" y="489876"/>
                  </a:cubicBezTo>
                  <a:cubicBezTo>
                    <a:pt x="4651" y="481598"/>
                    <a:pt x="0" y="470371"/>
                    <a:pt x="0" y="458664"/>
                  </a:cubicBezTo>
                  <a:lnTo>
                    <a:pt x="0" y="44141"/>
                  </a:lnTo>
                  <a:cubicBezTo>
                    <a:pt x="0" y="32434"/>
                    <a:pt x="4651" y="21207"/>
                    <a:pt x="12929" y="12929"/>
                  </a:cubicBezTo>
                  <a:cubicBezTo>
                    <a:pt x="21207" y="4651"/>
                    <a:pt x="32434" y="0"/>
                    <a:pt x="44141" y="0"/>
                  </a:cubicBezTo>
                  <a:close/>
                </a:path>
              </a:pathLst>
            </a:custGeom>
            <a:solidFill>
              <a:srgbClr val="137064"/>
            </a:solidFill>
          </p:spPr>
          <p:txBody>
            <a:bodyPr/>
            <a:lstStyle/>
            <a:p>
              <a:endParaRPr lang="zh-TW" altLang="en-US"/>
            </a:p>
          </p:txBody>
        </p:sp>
        <p:sp>
          <p:nvSpPr>
            <p:cNvPr id="25" name="TextBox 25"/>
            <p:cNvSpPr txBox="1"/>
            <p:nvPr/>
          </p:nvSpPr>
          <p:spPr>
            <a:xfrm>
              <a:off x="0" y="-38100"/>
              <a:ext cx="2355873" cy="540904"/>
            </a:xfrm>
            <a:prstGeom prst="rect">
              <a:avLst/>
            </a:prstGeom>
          </p:spPr>
          <p:txBody>
            <a:bodyPr lIns="50800" tIns="50800" rIns="50800" bIns="50800" rtlCol="0" anchor="ctr"/>
            <a:lstStyle/>
            <a:p>
              <a:pPr algn="ctr">
                <a:lnSpc>
                  <a:spcPts val="2120"/>
                </a:lnSpc>
              </a:pPr>
              <a:endParaRPr/>
            </a:p>
          </p:txBody>
        </p:sp>
      </p:grpSp>
      <p:sp>
        <p:nvSpPr>
          <p:cNvPr id="26" name="TextBox 26"/>
          <p:cNvSpPr txBox="1"/>
          <p:nvPr/>
        </p:nvSpPr>
        <p:spPr>
          <a:xfrm>
            <a:off x="8775448" y="2444877"/>
            <a:ext cx="4977111" cy="779188"/>
          </a:xfrm>
          <a:prstGeom prst="rect">
            <a:avLst/>
          </a:prstGeom>
        </p:spPr>
        <p:txBody>
          <a:bodyPr wrap="square" lIns="0" tIns="0" rIns="0" bIns="0" rtlCol="0" anchor="t">
            <a:spAutoFit/>
          </a:bodyPr>
          <a:lstStyle/>
          <a:p>
            <a:pPr algn="ctr">
              <a:lnSpc>
                <a:spcPts val="6303"/>
              </a:lnSpc>
              <a:spcBef>
                <a:spcPct val="0"/>
              </a:spcBef>
            </a:pPr>
            <a:r>
              <a:rPr lang="en-US" sz="4502" b="1" dirty="0" err="1">
                <a:solidFill>
                  <a:srgbClr val="FFFFFF"/>
                </a:solidFill>
                <a:latin typeface="Atma Medium"/>
                <a:ea typeface="Atma Medium"/>
                <a:cs typeface="Atma Medium"/>
                <a:sym typeface="Atma Medium"/>
              </a:rPr>
              <a:t>社群媒體擴散力強</a:t>
            </a:r>
            <a:endParaRPr lang="en-US" sz="4502" b="1" dirty="0">
              <a:solidFill>
                <a:srgbClr val="FFFFFF"/>
              </a:solidFill>
              <a:latin typeface="Atma Medium"/>
              <a:ea typeface="Atma Medium"/>
              <a:cs typeface="Atma Medium"/>
              <a:sym typeface="Atma Medium"/>
            </a:endParaRPr>
          </a:p>
        </p:txBody>
      </p:sp>
      <p:sp>
        <p:nvSpPr>
          <p:cNvPr id="27" name="TextBox 27"/>
          <p:cNvSpPr txBox="1"/>
          <p:nvPr/>
        </p:nvSpPr>
        <p:spPr>
          <a:xfrm>
            <a:off x="11107295" y="3388928"/>
            <a:ext cx="6513597" cy="613703"/>
          </a:xfrm>
          <a:prstGeom prst="rect">
            <a:avLst/>
          </a:prstGeom>
        </p:spPr>
        <p:txBody>
          <a:bodyPr lIns="0" tIns="0" rIns="0" bIns="0" rtlCol="0" anchor="t">
            <a:spAutoFit/>
          </a:bodyPr>
          <a:lstStyle/>
          <a:p>
            <a:pPr algn="l">
              <a:lnSpc>
                <a:spcPts val="5023"/>
              </a:lnSpc>
              <a:spcBef>
                <a:spcPct val="0"/>
              </a:spcBef>
            </a:pPr>
            <a:r>
              <a:rPr lang="en-US" sz="3588" b="1" dirty="0" err="1">
                <a:solidFill>
                  <a:srgbClr val="FFFFFF"/>
                </a:solidFill>
                <a:latin typeface="Atma Medium"/>
                <a:ea typeface="Atma Medium"/>
                <a:cs typeface="Atma Medium"/>
                <a:sym typeface="Atma Medium"/>
              </a:rPr>
              <a:t>社群媒體擴散力強，推廣效益高</a:t>
            </a:r>
            <a:endParaRPr lang="en-US" sz="3588" b="1" dirty="0">
              <a:solidFill>
                <a:srgbClr val="FFFFFF"/>
              </a:solidFill>
              <a:latin typeface="Atma Medium"/>
              <a:ea typeface="Atma Medium"/>
              <a:cs typeface="Atma Medium"/>
              <a:sym typeface="Atma Medium"/>
            </a:endParaRPr>
          </a:p>
        </p:txBody>
      </p:sp>
      <p:sp>
        <p:nvSpPr>
          <p:cNvPr id="28" name="TextBox 28"/>
          <p:cNvSpPr txBox="1"/>
          <p:nvPr/>
        </p:nvSpPr>
        <p:spPr>
          <a:xfrm>
            <a:off x="7918074" y="4457700"/>
            <a:ext cx="3299024" cy="771468"/>
          </a:xfrm>
          <a:prstGeom prst="rect">
            <a:avLst/>
          </a:prstGeom>
        </p:spPr>
        <p:txBody>
          <a:bodyPr lIns="0" tIns="0" rIns="0" bIns="0" rtlCol="0" anchor="t">
            <a:spAutoFit/>
          </a:bodyPr>
          <a:lstStyle/>
          <a:p>
            <a:pPr algn="ctr">
              <a:lnSpc>
                <a:spcPts val="6303"/>
              </a:lnSpc>
              <a:spcBef>
                <a:spcPct val="0"/>
              </a:spcBef>
            </a:pPr>
            <a:r>
              <a:rPr lang="en-US" sz="4502" dirty="0">
                <a:solidFill>
                  <a:srgbClr val="FFFFFF"/>
                </a:solidFill>
                <a:latin typeface="Atma"/>
                <a:ea typeface="Atma"/>
                <a:cs typeface="Atma"/>
                <a:sym typeface="Atma"/>
              </a:rPr>
              <a:t>CSR </a:t>
            </a:r>
            <a:r>
              <a:rPr lang="en-US" sz="4502" dirty="0" err="1">
                <a:solidFill>
                  <a:srgbClr val="FFFFFF"/>
                </a:solidFill>
                <a:latin typeface="Atma"/>
                <a:ea typeface="Atma"/>
                <a:cs typeface="Atma"/>
                <a:sym typeface="Atma"/>
              </a:rPr>
              <a:t>合作機會</a:t>
            </a:r>
            <a:endParaRPr lang="en-US" sz="4502" dirty="0">
              <a:solidFill>
                <a:srgbClr val="FFFFFF"/>
              </a:solidFill>
              <a:latin typeface="Atma"/>
              <a:ea typeface="Atma"/>
              <a:cs typeface="Atma"/>
              <a:sym typeface="Atma"/>
            </a:endParaRPr>
          </a:p>
        </p:txBody>
      </p:sp>
      <p:sp>
        <p:nvSpPr>
          <p:cNvPr id="29" name="TextBox 29"/>
          <p:cNvSpPr txBox="1"/>
          <p:nvPr/>
        </p:nvSpPr>
        <p:spPr>
          <a:xfrm>
            <a:off x="10439400" y="5291398"/>
            <a:ext cx="7597813" cy="1180758"/>
          </a:xfrm>
          <a:prstGeom prst="rect">
            <a:avLst/>
          </a:prstGeom>
        </p:spPr>
        <p:txBody>
          <a:bodyPr lIns="0" tIns="0" rIns="0" bIns="0" rtlCol="0" anchor="t">
            <a:spAutoFit/>
          </a:bodyPr>
          <a:lstStyle/>
          <a:p>
            <a:pPr algn="l">
              <a:lnSpc>
                <a:spcPts val="4743"/>
              </a:lnSpc>
              <a:spcBef>
                <a:spcPct val="0"/>
              </a:spcBef>
            </a:pPr>
            <a:r>
              <a:rPr lang="en-US" sz="3388" b="1" dirty="0" err="1">
                <a:solidFill>
                  <a:srgbClr val="FFFFFF"/>
                </a:solidFill>
                <a:latin typeface="Atma Medium"/>
                <a:ea typeface="Atma Medium"/>
                <a:cs typeface="Atma Medium"/>
                <a:sym typeface="Atma Medium"/>
              </a:rPr>
              <a:t>企業有意願透過贊助強化社會責任形象，可創造資金與品牌合作雙贏</a:t>
            </a:r>
            <a:r>
              <a:rPr lang="en-US" sz="3388" b="1" dirty="0">
                <a:solidFill>
                  <a:srgbClr val="FFFFFF"/>
                </a:solidFill>
                <a:latin typeface="Atma Medium"/>
                <a:ea typeface="Atma Medium"/>
                <a:cs typeface="Atma Medium"/>
                <a:sym typeface="Atma Medium"/>
              </a:rPr>
              <a:t>。</a:t>
            </a:r>
          </a:p>
        </p:txBody>
      </p:sp>
      <p:grpSp>
        <p:nvGrpSpPr>
          <p:cNvPr id="30" name="Group 30"/>
          <p:cNvGrpSpPr/>
          <p:nvPr/>
        </p:nvGrpSpPr>
        <p:grpSpPr>
          <a:xfrm>
            <a:off x="1861637" y="6738857"/>
            <a:ext cx="9604334" cy="2574831"/>
            <a:chOff x="0" y="0"/>
            <a:chExt cx="2529536" cy="678145"/>
          </a:xfrm>
        </p:grpSpPr>
        <p:sp>
          <p:nvSpPr>
            <p:cNvPr id="31" name="Freeform 31"/>
            <p:cNvSpPr/>
            <p:nvPr/>
          </p:nvSpPr>
          <p:spPr>
            <a:xfrm>
              <a:off x="0" y="0"/>
              <a:ext cx="2529536" cy="678145"/>
            </a:xfrm>
            <a:custGeom>
              <a:avLst/>
              <a:gdLst/>
              <a:ahLst/>
              <a:cxnLst/>
              <a:rect l="l" t="t" r="r" b="b"/>
              <a:pathLst>
                <a:path w="2529536" h="678145">
                  <a:moveTo>
                    <a:pt x="41110" y="0"/>
                  </a:moveTo>
                  <a:lnTo>
                    <a:pt x="2488426" y="0"/>
                  </a:lnTo>
                  <a:cubicBezTo>
                    <a:pt x="2511131" y="0"/>
                    <a:pt x="2529536" y="18406"/>
                    <a:pt x="2529536" y="41110"/>
                  </a:cubicBezTo>
                  <a:lnTo>
                    <a:pt x="2529536" y="637034"/>
                  </a:lnTo>
                  <a:cubicBezTo>
                    <a:pt x="2529536" y="659739"/>
                    <a:pt x="2511131" y="678145"/>
                    <a:pt x="2488426" y="678145"/>
                  </a:cubicBezTo>
                  <a:lnTo>
                    <a:pt x="41110" y="678145"/>
                  </a:lnTo>
                  <a:cubicBezTo>
                    <a:pt x="18406" y="678145"/>
                    <a:pt x="0" y="659739"/>
                    <a:pt x="0" y="637034"/>
                  </a:cubicBezTo>
                  <a:lnTo>
                    <a:pt x="0" y="41110"/>
                  </a:lnTo>
                  <a:cubicBezTo>
                    <a:pt x="0" y="18406"/>
                    <a:pt x="18406" y="0"/>
                    <a:pt x="41110" y="0"/>
                  </a:cubicBezTo>
                  <a:close/>
                </a:path>
              </a:pathLst>
            </a:custGeom>
            <a:solidFill>
              <a:srgbClr val="137064"/>
            </a:solidFill>
          </p:spPr>
          <p:txBody>
            <a:bodyPr/>
            <a:lstStyle/>
            <a:p>
              <a:endParaRPr lang="zh-TW" altLang="en-US"/>
            </a:p>
          </p:txBody>
        </p:sp>
        <p:sp>
          <p:nvSpPr>
            <p:cNvPr id="32" name="TextBox 32"/>
            <p:cNvSpPr txBox="1"/>
            <p:nvPr/>
          </p:nvSpPr>
          <p:spPr>
            <a:xfrm>
              <a:off x="0" y="-38100"/>
              <a:ext cx="2529536" cy="716245"/>
            </a:xfrm>
            <a:prstGeom prst="rect">
              <a:avLst/>
            </a:prstGeom>
          </p:spPr>
          <p:txBody>
            <a:bodyPr lIns="50800" tIns="50800" rIns="50800" bIns="50800" rtlCol="0" anchor="ctr"/>
            <a:lstStyle/>
            <a:p>
              <a:pPr algn="ctr">
                <a:lnSpc>
                  <a:spcPts val="2120"/>
                </a:lnSpc>
              </a:pPr>
              <a:endParaRPr/>
            </a:p>
          </p:txBody>
        </p:sp>
      </p:grpSp>
      <p:sp>
        <p:nvSpPr>
          <p:cNvPr id="33" name="TextBox 33"/>
          <p:cNvSpPr txBox="1"/>
          <p:nvPr/>
        </p:nvSpPr>
        <p:spPr>
          <a:xfrm>
            <a:off x="1993079" y="6929357"/>
            <a:ext cx="3430588" cy="771468"/>
          </a:xfrm>
          <a:prstGeom prst="rect">
            <a:avLst/>
          </a:prstGeom>
        </p:spPr>
        <p:txBody>
          <a:bodyPr lIns="0" tIns="0" rIns="0" bIns="0" rtlCol="0" anchor="t">
            <a:spAutoFit/>
          </a:bodyPr>
          <a:lstStyle/>
          <a:p>
            <a:pPr algn="ctr">
              <a:lnSpc>
                <a:spcPts val="6303"/>
              </a:lnSpc>
              <a:spcBef>
                <a:spcPct val="0"/>
              </a:spcBef>
            </a:pPr>
            <a:r>
              <a:rPr lang="en-US" sz="4502">
                <a:solidFill>
                  <a:srgbClr val="FFFFFF"/>
                </a:solidFill>
                <a:latin typeface="Atma"/>
                <a:ea typeface="Atma"/>
                <a:cs typeface="Atma"/>
                <a:sym typeface="Atma"/>
              </a:rPr>
              <a:t>政府政策支持</a:t>
            </a:r>
          </a:p>
        </p:txBody>
      </p:sp>
      <p:sp>
        <p:nvSpPr>
          <p:cNvPr id="34" name="TextBox 34"/>
          <p:cNvSpPr txBox="1"/>
          <p:nvPr/>
        </p:nvSpPr>
        <p:spPr>
          <a:xfrm>
            <a:off x="3708372" y="7969122"/>
            <a:ext cx="7555632" cy="1135673"/>
          </a:xfrm>
          <a:prstGeom prst="rect">
            <a:avLst/>
          </a:prstGeom>
        </p:spPr>
        <p:txBody>
          <a:bodyPr lIns="0" tIns="0" rIns="0" bIns="0" rtlCol="0" anchor="t">
            <a:spAutoFit/>
          </a:bodyPr>
          <a:lstStyle/>
          <a:p>
            <a:pPr algn="l">
              <a:lnSpc>
                <a:spcPts val="4603"/>
              </a:lnSpc>
              <a:spcBef>
                <a:spcPct val="0"/>
              </a:spcBef>
            </a:pPr>
            <a:r>
              <a:rPr lang="en-US" sz="3288" b="1">
                <a:solidFill>
                  <a:srgbClr val="FFFFFF"/>
                </a:solidFill>
                <a:latin typeface="Atma Medium"/>
                <a:ea typeface="Atma Medium"/>
                <a:cs typeface="Atma Medium"/>
                <a:sym typeface="Atma Medium"/>
              </a:rPr>
              <a:t>與治安、婦幼保護、智慧城市發展等目標一致，有機會爭取補助或納入計畫。</a:t>
            </a:r>
          </a:p>
        </p:txBody>
      </p:sp>
      <p:sp>
        <p:nvSpPr>
          <p:cNvPr id="35" name="TextBox 35"/>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36" name="投影片編號版面配置區 35">
            <a:extLst>
              <a:ext uri="{FF2B5EF4-FFF2-40B4-BE49-F238E27FC236}">
                <a16:creationId xmlns:a16="http://schemas.microsoft.com/office/drawing/2014/main" id="{CF213DAA-5410-6A2F-D176-CBF5C17FB92F}"/>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37" name="投影片編號版面配置區 1">
            <a:extLst>
              <a:ext uri="{FF2B5EF4-FFF2-40B4-BE49-F238E27FC236}">
                <a16:creationId xmlns:a16="http://schemas.microsoft.com/office/drawing/2014/main" id="{0B16177F-8B47-CEC3-A292-3E1F78056CD0}"/>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8</a:t>
            </a:fld>
            <a:endParaRPr lang="en-US" sz="4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grpSp>
        <p:nvGrpSpPr>
          <p:cNvPr id="9" name="Group 9"/>
          <p:cNvGrpSpPr/>
          <p:nvPr/>
        </p:nvGrpSpPr>
        <p:grpSpPr>
          <a:xfrm>
            <a:off x="226987" y="343068"/>
            <a:ext cx="17491126" cy="9391315"/>
            <a:chOff x="0" y="0"/>
            <a:chExt cx="4057722" cy="2178668"/>
          </a:xfrm>
        </p:grpSpPr>
        <p:sp>
          <p:nvSpPr>
            <p:cNvPr id="10" name="Freeform 10"/>
            <p:cNvSpPr/>
            <p:nvPr/>
          </p:nvSpPr>
          <p:spPr>
            <a:xfrm>
              <a:off x="0" y="0"/>
              <a:ext cx="4057722" cy="2178668"/>
            </a:xfrm>
            <a:custGeom>
              <a:avLst/>
              <a:gdLst/>
              <a:ahLst/>
              <a:cxnLst/>
              <a:rect l="l" t="t" r="r" b="b"/>
              <a:pathLst>
                <a:path w="4057722" h="2178668">
                  <a:moveTo>
                    <a:pt x="22574" y="0"/>
                  </a:moveTo>
                  <a:lnTo>
                    <a:pt x="4035149" y="0"/>
                  </a:lnTo>
                  <a:cubicBezTo>
                    <a:pt x="4041136" y="0"/>
                    <a:pt x="4046877" y="2378"/>
                    <a:pt x="4051111" y="6612"/>
                  </a:cubicBezTo>
                  <a:cubicBezTo>
                    <a:pt x="4055344" y="10845"/>
                    <a:pt x="4057722" y="16587"/>
                    <a:pt x="4057722" y="22574"/>
                  </a:cubicBezTo>
                  <a:lnTo>
                    <a:pt x="4057722" y="2156094"/>
                  </a:lnTo>
                  <a:cubicBezTo>
                    <a:pt x="4057722" y="2162081"/>
                    <a:pt x="4055344" y="2167823"/>
                    <a:pt x="4051111" y="2172056"/>
                  </a:cubicBezTo>
                  <a:cubicBezTo>
                    <a:pt x="4046877" y="2176289"/>
                    <a:pt x="4041136" y="2178668"/>
                    <a:pt x="4035149" y="2178668"/>
                  </a:cubicBezTo>
                  <a:lnTo>
                    <a:pt x="22574" y="2178668"/>
                  </a:lnTo>
                  <a:cubicBezTo>
                    <a:pt x="16587" y="2178668"/>
                    <a:pt x="10845" y="2176289"/>
                    <a:pt x="6612" y="2172056"/>
                  </a:cubicBezTo>
                  <a:cubicBezTo>
                    <a:pt x="2378" y="2167823"/>
                    <a:pt x="0" y="2162081"/>
                    <a:pt x="0" y="2156094"/>
                  </a:cubicBezTo>
                  <a:lnTo>
                    <a:pt x="0" y="22574"/>
                  </a:lnTo>
                  <a:cubicBezTo>
                    <a:pt x="0" y="16587"/>
                    <a:pt x="2378" y="10845"/>
                    <a:pt x="6612" y="6612"/>
                  </a:cubicBezTo>
                  <a:cubicBezTo>
                    <a:pt x="10845" y="2378"/>
                    <a:pt x="16587" y="0"/>
                    <a:pt x="22574" y="0"/>
                  </a:cubicBezTo>
                  <a:close/>
                </a:path>
              </a:pathLst>
            </a:custGeom>
            <a:solidFill>
              <a:srgbClr val="FFFFFF">
                <a:alpha val="85882"/>
              </a:srgbClr>
            </a:solidFill>
          </p:spPr>
          <p:txBody>
            <a:bodyPr/>
            <a:lstStyle/>
            <a:p>
              <a:endParaRPr lang="zh-TW" altLang="en-US"/>
            </a:p>
          </p:txBody>
        </p:sp>
        <p:sp>
          <p:nvSpPr>
            <p:cNvPr id="11" name="TextBox 11"/>
            <p:cNvSpPr txBox="1"/>
            <p:nvPr/>
          </p:nvSpPr>
          <p:spPr>
            <a:xfrm>
              <a:off x="0" y="-38100"/>
              <a:ext cx="4057722" cy="2216768"/>
            </a:xfrm>
            <a:prstGeom prst="rect">
              <a:avLst/>
            </a:prstGeom>
          </p:spPr>
          <p:txBody>
            <a:bodyPr lIns="50800" tIns="50800" rIns="50800" bIns="50800" rtlCol="0" anchor="ctr"/>
            <a:lstStyle/>
            <a:p>
              <a:pPr algn="ctr">
                <a:lnSpc>
                  <a:spcPts val="2120"/>
                </a:lnSpc>
              </a:pPr>
              <a:endParaRPr/>
            </a:p>
          </p:txBody>
        </p:sp>
      </p:grpSp>
      <p:grpSp>
        <p:nvGrpSpPr>
          <p:cNvPr id="12" name="Group 12"/>
          <p:cNvGrpSpPr/>
          <p:nvPr/>
        </p:nvGrpSpPr>
        <p:grpSpPr>
          <a:xfrm>
            <a:off x="6334115" y="343068"/>
            <a:ext cx="10263711" cy="1715144"/>
            <a:chOff x="0" y="0"/>
            <a:chExt cx="2703200" cy="451725"/>
          </a:xfrm>
        </p:grpSpPr>
        <p:sp>
          <p:nvSpPr>
            <p:cNvPr id="13" name="Freeform 13"/>
            <p:cNvSpPr/>
            <p:nvPr/>
          </p:nvSpPr>
          <p:spPr>
            <a:xfrm>
              <a:off x="0" y="0"/>
              <a:ext cx="2703200" cy="451725"/>
            </a:xfrm>
            <a:custGeom>
              <a:avLst/>
              <a:gdLst/>
              <a:ahLst/>
              <a:cxnLst/>
              <a:rect l="l" t="t" r="r" b="b"/>
              <a:pathLst>
                <a:path w="2703200" h="451725">
                  <a:moveTo>
                    <a:pt x="38469" y="0"/>
                  </a:moveTo>
                  <a:lnTo>
                    <a:pt x="2664730" y="0"/>
                  </a:lnTo>
                  <a:cubicBezTo>
                    <a:pt x="2685976" y="0"/>
                    <a:pt x="2703200" y="17223"/>
                    <a:pt x="2703200" y="38469"/>
                  </a:cubicBezTo>
                  <a:lnTo>
                    <a:pt x="2703200" y="413256"/>
                  </a:lnTo>
                  <a:cubicBezTo>
                    <a:pt x="2703200" y="423459"/>
                    <a:pt x="2699147" y="433243"/>
                    <a:pt x="2691932" y="440458"/>
                  </a:cubicBezTo>
                  <a:cubicBezTo>
                    <a:pt x="2684718" y="447672"/>
                    <a:pt x="2674933" y="451725"/>
                    <a:pt x="2664730" y="451725"/>
                  </a:cubicBezTo>
                  <a:lnTo>
                    <a:pt x="38469" y="451725"/>
                  </a:lnTo>
                  <a:cubicBezTo>
                    <a:pt x="28267" y="451725"/>
                    <a:pt x="18482" y="447672"/>
                    <a:pt x="11267" y="440458"/>
                  </a:cubicBezTo>
                  <a:cubicBezTo>
                    <a:pt x="4053" y="433243"/>
                    <a:pt x="0" y="423459"/>
                    <a:pt x="0" y="413256"/>
                  </a:cubicBezTo>
                  <a:lnTo>
                    <a:pt x="0" y="38469"/>
                  </a:lnTo>
                  <a:cubicBezTo>
                    <a:pt x="0" y="28267"/>
                    <a:pt x="4053" y="18482"/>
                    <a:pt x="11267" y="11267"/>
                  </a:cubicBezTo>
                  <a:cubicBezTo>
                    <a:pt x="18482" y="4053"/>
                    <a:pt x="28267" y="0"/>
                    <a:pt x="38469" y="0"/>
                  </a:cubicBezTo>
                  <a:close/>
                </a:path>
              </a:pathLst>
            </a:custGeom>
            <a:solidFill>
              <a:srgbClr val="0093B9"/>
            </a:solidFill>
          </p:spPr>
          <p:txBody>
            <a:bodyPr/>
            <a:lstStyle/>
            <a:p>
              <a:endParaRPr lang="zh-TW" altLang="en-US"/>
            </a:p>
          </p:txBody>
        </p:sp>
        <p:sp>
          <p:nvSpPr>
            <p:cNvPr id="14" name="TextBox 14"/>
            <p:cNvSpPr txBox="1"/>
            <p:nvPr/>
          </p:nvSpPr>
          <p:spPr>
            <a:xfrm>
              <a:off x="0" y="-38100"/>
              <a:ext cx="2703200" cy="489825"/>
            </a:xfrm>
            <a:prstGeom prst="rect">
              <a:avLst/>
            </a:prstGeom>
          </p:spPr>
          <p:txBody>
            <a:bodyPr lIns="50800" tIns="50800" rIns="50800" bIns="50800" rtlCol="0" anchor="ctr"/>
            <a:lstStyle/>
            <a:p>
              <a:pPr algn="ctr">
                <a:lnSpc>
                  <a:spcPts val="2120"/>
                </a:lnSpc>
              </a:pPr>
              <a:endParaRPr/>
            </a:p>
          </p:txBody>
        </p:sp>
      </p:grpSp>
      <p:grpSp>
        <p:nvGrpSpPr>
          <p:cNvPr id="15" name="Group 15"/>
          <p:cNvGrpSpPr/>
          <p:nvPr/>
        </p:nvGrpSpPr>
        <p:grpSpPr>
          <a:xfrm>
            <a:off x="5933634" y="5604502"/>
            <a:ext cx="10664193" cy="3653798"/>
            <a:chOff x="0" y="0"/>
            <a:chExt cx="2808676" cy="962317"/>
          </a:xfrm>
        </p:grpSpPr>
        <p:sp>
          <p:nvSpPr>
            <p:cNvPr id="16" name="Freeform 16"/>
            <p:cNvSpPr/>
            <p:nvPr/>
          </p:nvSpPr>
          <p:spPr>
            <a:xfrm>
              <a:off x="0" y="0"/>
              <a:ext cx="2808676" cy="962317"/>
            </a:xfrm>
            <a:custGeom>
              <a:avLst/>
              <a:gdLst/>
              <a:ahLst/>
              <a:cxnLst/>
              <a:rect l="l" t="t" r="r" b="b"/>
              <a:pathLst>
                <a:path w="2808676" h="962317">
                  <a:moveTo>
                    <a:pt x="37025" y="0"/>
                  </a:moveTo>
                  <a:lnTo>
                    <a:pt x="2771652" y="0"/>
                  </a:lnTo>
                  <a:cubicBezTo>
                    <a:pt x="2792100" y="0"/>
                    <a:pt x="2808676" y="16576"/>
                    <a:pt x="2808676" y="37025"/>
                  </a:cubicBezTo>
                  <a:lnTo>
                    <a:pt x="2808676" y="925293"/>
                  </a:lnTo>
                  <a:cubicBezTo>
                    <a:pt x="2808676" y="945741"/>
                    <a:pt x="2792100" y="962317"/>
                    <a:pt x="2771652" y="962317"/>
                  </a:cubicBezTo>
                  <a:lnTo>
                    <a:pt x="37025" y="962317"/>
                  </a:lnTo>
                  <a:cubicBezTo>
                    <a:pt x="16576" y="962317"/>
                    <a:pt x="0" y="945741"/>
                    <a:pt x="0" y="925293"/>
                  </a:cubicBezTo>
                  <a:lnTo>
                    <a:pt x="0" y="37025"/>
                  </a:lnTo>
                  <a:cubicBezTo>
                    <a:pt x="0" y="16576"/>
                    <a:pt x="16576" y="0"/>
                    <a:pt x="37025" y="0"/>
                  </a:cubicBezTo>
                  <a:close/>
                </a:path>
              </a:pathLst>
            </a:custGeom>
            <a:solidFill>
              <a:srgbClr val="0093B9"/>
            </a:solidFill>
          </p:spPr>
          <p:txBody>
            <a:bodyPr/>
            <a:lstStyle/>
            <a:p>
              <a:endParaRPr lang="zh-TW" altLang="en-US"/>
            </a:p>
          </p:txBody>
        </p:sp>
        <p:sp>
          <p:nvSpPr>
            <p:cNvPr id="17" name="TextBox 17"/>
            <p:cNvSpPr txBox="1"/>
            <p:nvPr/>
          </p:nvSpPr>
          <p:spPr>
            <a:xfrm>
              <a:off x="0" y="-38100"/>
              <a:ext cx="2808676" cy="1000417"/>
            </a:xfrm>
            <a:prstGeom prst="rect">
              <a:avLst/>
            </a:prstGeom>
          </p:spPr>
          <p:txBody>
            <a:bodyPr lIns="50800" tIns="50800" rIns="50800" bIns="50800" rtlCol="0" anchor="ctr"/>
            <a:lstStyle/>
            <a:p>
              <a:pPr algn="ctr">
                <a:lnSpc>
                  <a:spcPts val="2120"/>
                </a:lnSpc>
              </a:pPr>
              <a:endParaRPr/>
            </a:p>
          </p:txBody>
        </p:sp>
      </p:grpSp>
      <p:sp>
        <p:nvSpPr>
          <p:cNvPr id="18" name="Freeform 18"/>
          <p:cNvSpPr/>
          <p:nvPr/>
        </p:nvSpPr>
        <p:spPr>
          <a:xfrm>
            <a:off x="-1335089" y="-2910718"/>
            <a:ext cx="9515631" cy="9440025"/>
          </a:xfrm>
          <a:custGeom>
            <a:avLst/>
            <a:gdLst/>
            <a:ahLst/>
            <a:cxnLst/>
            <a:rect l="l" t="t" r="r" b="b"/>
            <a:pathLst>
              <a:path w="9515631" h="9440025">
                <a:moveTo>
                  <a:pt x="0" y="0"/>
                </a:moveTo>
                <a:lnTo>
                  <a:pt x="9515631" y="0"/>
                </a:lnTo>
                <a:lnTo>
                  <a:pt x="9515631" y="9440025"/>
                </a:lnTo>
                <a:lnTo>
                  <a:pt x="0" y="94400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9" name="TextBox 19"/>
          <p:cNvSpPr txBox="1"/>
          <p:nvPr/>
        </p:nvSpPr>
        <p:spPr>
          <a:xfrm>
            <a:off x="2029930" y="3112703"/>
            <a:ext cx="5791814" cy="644990"/>
          </a:xfrm>
          <a:prstGeom prst="rect">
            <a:avLst/>
          </a:prstGeom>
        </p:spPr>
        <p:txBody>
          <a:bodyPr lIns="0" tIns="0" rIns="0" bIns="0" rtlCol="0" anchor="t">
            <a:spAutoFit/>
          </a:bodyPr>
          <a:lstStyle/>
          <a:p>
            <a:pPr algn="ctr">
              <a:lnSpc>
                <a:spcPts val="5323"/>
              </a:lnSpc>
              <a:spcBef>
                <a:spcPct val="0"/>
              </a:spcBef>
            </a:pPr>
            <a:r>
              <a:rPr lang="en-US" sz="3802">
                <a:solidFill>
                  <a:srgbClr val="000000"/>
                </a:solidFill>
                <a:latin typeface="Quicksand"/>
                <a:ea typeface="Quicksand"/>
                <a:cs typeface="Quicksand"/>
                <a:sym typeface="Quicksand"/>
              </a:rPr>
              <a:t>劣勢(WEAKNESSES)</a:t>
            </a:r>
          </a:p>
        </p:txBody>
      </p:sp>
      <p:sp>
        <p:nvSpPr>
          <p:cNvPr id="20" name="TextBox 20"/>
          <p:cNvSpPr txBox="1"/>
          <p:nvPr/>
        </p:nvSpPr>
        <p:spPr>
          <a:xfrm>
            <a:off x="439521" y="1423368"/>
            <a:ext cx="6224283" cy="1422635"/>
          </a:xfrm>
          <a:prstGeom prst="rect">
            <a:avLst/>
          </a:prstGeom>
        </p:spPr>
        <p:txBody>
          <a:bodyPr lIns="0" tIns="0" rIns="0" bIns="0" rtlCol="0" anchor="t">
            <a:spAutoFit/>
          </a:bodyPr>
          <a:lstStyle/>
          <a:p>
            <a:pPr algn="l">
              <a:lnSpc>
                <a:spcPts val="11769"/>
              </a:lnSpc>
              <a:spcBef>
                <a:spcPct val="0"/>
              </a:spcBef>
            </a:pPr>
            <a:r>
              <a:rPr lang="en-US" sz="8406">
                <a:solidFill>
                  <a:srgbClr val="FFFFFF"/>
                </a:solidFill>
                <a:latin typeface="Quicksand"/>
                <a:ea typeface="Quicksand"/>
                <a:cs typeface="Quicksand"/>
                <a:sym typeface="Quicksand"/>
              </a:rPr>
              <a:t> SWOT分析</a:t>
            </a:r>
          </a:p>
        </p:txBody>
      </p:sp>
      <p:sp>
        <p:nvSpPr>
          <p:cNvPr id="21" name="TextBox 21"/>
          <p:cNvSpPr txBox="1"/>
          <p:nvPr/>
        </p:nvSpPr>
        <p:spPr>
          <a:xfrm>
            <a:off x="6920690" y="802476"/>
            <a:ext cx="8110935" cy="771468"/>
          </a:xfrm>
          <a:prstGeom prst="rect">
            <a:avLst/>
          </a:prstGeom>
        </p:spPr>
        <p:txBody>
          <a:bodyPr lIns="0" tIns="0" rIns="0" bIns="0" rtlCol="0" anchor="t">
            <a:spAutoFit/>
          </a:bodyPr>
          <a:lstStyle/>
          <a:p>
            <a:pPr algn="ctr">
              <a:lnSpc>
                <a:spcPts val="6303"/>
              </a:lnSpc>
              <a:spcBef>
                <a:spcPct val="0"/>
              </a:spcBef>
            </a:pPr>
            <a:r>
              <a:rPr lang="en-US" sz="4502">
                <a:solidFill>
                  <a:srgbClr val="FFFFFF"/>
                </a:solidFill>
                <a:latin typeface="Atma"/>
                <a:ea typeface="Atma"/>
                <a:cs typeface="Atma"/>
                <a:sym typeface="Atma"/>
              </a:rPr>
              <a:t> 初期數據量少，信任建立需時間</a:t>
            </a:r>
          </a:p>
        </p:txBody>
      </p:sp>
      <p:grpSp>
        <p:nvGrpSpPr>
          <p:cNvPr id="22" name="Group 22"/>
          <p:cNvGrpSpPr/>
          <p:nvPr/>
        </p:nvGrpSpPr>
        <p:grpSpPr>
          <a:xfrm>
            <a:off x="8769561" y="2506395"/>
            <a:ext cx="8944956" cy="2502598"/>
            <a:chOff x="0" y="0"/>
            <a:chExt cx="2355873" cy="659120"/>
          </a:xfrm>
        </p:grpSpPr>
        <p:sp>
          <p:nvSpPr>
            <p:cNvPr id="23" name="Freeform 23"/>
            <p:cNvSpPr/>
            <p:nvPr/>
          </p:nvSpPr>
          <p:spPr>
            <a:xfrm>
              <a:off x="0" y="0"/>
              <a:ext cx="2355873" cy="659120"/>
            </a:xfrm>
            <a:custGeom>
              <a:avLst/>
              <a:gdLst/>
              <a:ahLst/>
              <a:cxnLst/>
              <a:rect l="l" t="t" r="r" b="b"/>
              <a:pathLst>
                <a:path w="2355873" h="659120">
                  <a:moveTo>
                    <a:pt x="44141" y="0"/>
                  </a:moveTo>
                  <a:lnTo>
                    <a:pt x="2311732" y="0"/>
                  </a:lnTo>
                  <a:cubicBezTo>
                    <a:pt x="2336111" y="0"/>
                    <a:pt x="2355873" y="19763"/>
                    <a:pt x="2355873" y="44141"/>
                  </a:cubicBezTo>
                  <a:lnTo>
                    <a:pt x="2355873" y="614980"/>
                  </a:lnTo>
                  <a:cubicBezTo>
                    <a:pt x="2355873" y="626686"/>
                    <a:pt x="2351223" y="637914"/>
                    <a:pt x="2342945" y="646192"/>
                  </a:cubicBezTo>
                  <a:cubicBezTo>
                    <a:pt x="2334667" y="654470"/>
                    <a:pt x="2323439" y="659120"/>
                    <a:pt x="2311732" y="659120"/>
                  </a:cubicBezTo>
                  <a:lnTo>
                    <a:pt x="44141" y="659120"/>
                  </a:lnTo>
                  <a:cubicBezTo>
                    <a:pt x="32434" y="659120"/>
                    <a:pt x="21207" y="654470"/>
                    <a:pt x="12929" y="646192"/>
                  </a:cubicBezTo>
                  <a:cubicBezTo>
                    <a:pt x="4651" y="637914"/>
                    <a:pt x="0" y="626686"/>
                    <a:pt x="0" y="614980"/>
                  </a:cubicBezTo>
                  <a:lnTo>
                    <a:pt x="0" y="44141"/>
                  </a:lnTo>
                  <a:cubicBezTo>
                    <a:pt x="0" y="32434"/>
                    <a:pt x="4651" y="21207"/>
                    <a:pt x="12929" y="12929"/>
                  </a:cubicBezTo>
                  <a:cubicBezTo>
                    <a:pt x="21207" y="4651"/>
                    <a:pt x="32434" y="0"/>
                    <a:pt x="44141" y="0"/>
                  </a:cubicBezTo>
                  <a:close/>
                </a:path>
              </a:pathLst>
            </a:custGeom>
            <a:solidFill>
              <a:srgbClr val="137064"/>
            </a:solidFill>
          </p:spPr>
          <p:txBody>
            <a:bodyPr/>
            <a:lstStyle/>
            <a:p>
              <a:endParaRPr lang="zh-TW" altLang="en-US"/>
            </a:p>
          </p:txBody>
        </p:sp>
        <p:sp>
          <p:nvSpPr>
            <p:cNvPr id="24" name="TextBox 24"/>
            <p:cNvSpPr txBox="1"/>
            <p:nvPr/>
          </p:nvSpPr>
          <p:spPr>
            <a:xfrm>
              <a:off x="0" y="-38100"/>
              <a:ext cx="2355873" cy="697220"/>
            </a:xfrm>
            <a:prstGeom prst="rect">
              <a:avLst/>
            </a:prstGeom>
          </p:spPr>
          <p:txBody>
            <a:bodyPr lIns="50800" tIns="50800" rIns="50800" bIns="50800" rtlCol="0" anchor="ctr"/>
            <a:lstStyle/>
            <a:p>
              <a:pPr algn="ctr">
                <a:lnSpc>
                  <a:spcPts val="2120"/>
                </a:lnSpc>
              </a:pPr>
              <a:endParaRPr/>
            </a:p>
          </p:txBody>
        </p:sp>
      </p:grpSp>
      <p:sp>
        <p:nvSpPr>
          <p:cNvPr id="25" name="TextBox 25"/>
          <p:cNvSpPr txBox="1"/>
          <p:nvPr/>
        </p:nvSpPr>
        <p:spPr>
          <a:xfrm>
            <a:off x="8991702" y="2746200"/>
            <a:ext cx="5562497" cy="779188"/>
          </a:xfrm>
          <a:prstGeom prst="rect">
            <a:avLst/>
          </a:prstGeom>
        </p:spPr>
        <p:txBody>
          <a:bodyPr wrap="square" lIns="0" tIns="0" rIns="0" bIns="0" rtlCol="0" anchor="t">
            <a:spAutoFit/>
          </a:bodyPr>
          <a:lstStyle/>
          <a:p>
            <a:pPr algn="ctr">
              <a:lnSpc>
                <a:spcPts val="6303"/>
              </a:lnSpc>
              <a:spcBef>
                <a:spcPct val="0"/>
              </a:spcBef>
            </a:pPr>
            <a:r>
              <a:rPr lang="en-US" sz="4502" b="1" dirty="0" err="1">
                <a:solidFill>
                  <a:srgbClr val="FFFFFF"/>
                </a:solidFill>
                <a:latin typeface="Atma Medium"/>
                <a:ea typeface="Atma Medium"/>
                <a:cs typeface="Atma Medium"/>
                <a:sym typeface="Atma Medium"/>
              </a:rPr>
              <a:t>缺乏即時執法權限</a:t>
            </a:r>
            <a:endParaRPr lang="en-US" sz="4502" b="1" dirty="0">
              <a:solidFill>
                <a:srgbClr val="FFFFFF"/>
              </a:solidFill>
              <a:latin typeface="Atma Medium"/>
              <a:ea typeface="Atma Medium"/>
              <a:cs typeface="Atma Medium"/>
              <a:sym typeface="Atma Medium"/>
            </a:endParaRPr>
          </a:p>
        </p:txBody>
      </p:sp>
      <p:sp>
        <p:nvSpPr>
          <p:cNvPr id="26" name="TextBox 26"/>
          <p:cNvSpPr txBox="1"/>
          <p:nvPr/>
        </p:nvSpPr>
        <p:spPr>
          <a:xfrm>
            <a:off x="9152645" y="3746182"/>
            <a:ext cx="9135355" cy="1029645"/>
          </a:xfrm>
          <a:prstGeom prst="rect">
            <a:avLst/>
          </a:prstGeom>
        </p:spPr>
        <p:txBody>
          <a:bodyPr lIns="0" tIns="0" rIns="0" bIns="0" rtlCol="0" anchor="t">
            <a:spAutoFit/>
          </a:bodyPr>
          <a:lstStyle/>
          <a:p>
            <a:pPr algn="l">
              <a:lnSpc>
                <a:spcPts val="4147"/>
              </a:lnSpc>
            </a:pPr>
            <a:r>
              <a:rPr lang="en-US" sz="2962" b="1">
                <a:solidFill>
                  <a:srgbClr val="FFFFFF"/>
                </a:solidFill>
                <a:latin typeface="Atma Medium"/>
                <a:ea typeface="Atma Medium"/>
                <a:cs typeface="Atma Medium"/>
                <a:sym typeface="Atma Medium"/>
              </a:rPr>
              <a:t>系統能發送警示與求救，但無法直接處理危險事件，</a:t>
            </a:r>
          </a:p>
          <a:p>
            <a:pPr algn="l">
              <a:lnSpc>
                <a:spcPts val="4147"/>
              </a:lnSpc>
              <a:spcBef>
                <a:spcPct val="0"/>
              </a:spcBef>
            </a:pPr>
            <a:r>
              <a:rPr lang="en-US" sz="2962" b="1">
                <a:solidFill>
                  <a:srgbClr val="FFFFFF"/>
                </a:solidFill>
                <a:latin typeface="Atma Medium"/>
                <a:ea typeface="Atma Medium"/>
                <a:cs typeface="Atma Medium"/>
                <a:sym typeface="Atma Medium"/>
              </a:rPr>
              <a:t> 仍需仰賴警方與第三方單位介入。</a:t>
            </a:r>
          </a:p>
        </p:txBody>
      </p:sp>
      <p:sp>
        <p:nvSpPr>
          <p:cNvPr id="27" name="TextBox 27"/>
          <p:cNvSpPr txBox="1"/>
          <p:nvPr/>
        </p:nvSpPr>
        <p:spPr>
          <a:xfrm>
            <a:off x="6454389" y="5909302"/>
            <a:ext cx="6289378" cy="771468"/>
          </a:xfrm>
          <a:prstGeom prst="rect">
            <a:avLst/>
          </a:prstGeom>
        </p:spPr>
        <p:txBody>
          <a:bodyPr lIns="0" tIns="0" rIns="0" bIns="0" rtlCol="0" anchor="t">
            <a:spAutoFit/>
          </a:bodyPr>
          <a:lstStyle/>
          <a:p>
            <a:pPr algn="ctr">
              <a:lnSpc>
                <a:spcPts val="6303"/>
              </a:lnSpc>
              <a:spcBef>
                <a:spcPct val="0"/>
              </a:spcBef>
            </a:pPr>
            <a:r>
              <a:rPr lang="en-US" sz="4502">
                <a:solidFill>
                  <a:srgbClr val="FFFFFF"/>
                </a:solidFill>
                <a:latin typeface="Atma"/>
                <a:ea typeface="Atma"/>
                <a:cs typeface="Atma"/>
                <a:sym typeface="Atma"/>
              </a:rPr>
              <a:t>資源有限，擴展速度有限</a:t>
            </a:r>
          </a:p>
        </p:txBody>
      </p:sp>
      <p:sp>
        <p:nvSpPr>
          <p:cNvPr id="28" name="TextBox 28"/>
          <p:cNvSpPr txBox="1"/>
          <p:nvPr/>
        </p:nvSpPr>
        <p:spPr>
          <a:xfrm>
            <a:off x="8180542" y="7071295"/>
            <a:ext cx="7995329" cy="1852606"/>
          </a:xfrm>
          <a:prstGeom prst="rect">
            <a:avLst/>
          </a:prstGeom>
        </p:spPr>
        <p:txBody>
          <a:bodyPr lIns="0" tIns="0" rIns="0" bIns="0" rtlCol="0" anchor="t">
            <a:spAutoFit/>
          </a:bodyPr>
          <a:lstStyle/>
          <a:p>
            <a:pPr algn="l">
              <a:lnSpc>
                <a:spcPts val="4987"/>
              </a:lnSpc>
              <a:spcBef>
                <a:spcPct val="0"/>
              </a:spcBef>
            </a:pPr>
            <a:r>
              <a:rPr lang="en-US" sz="3562" b="1">
                <a:solidFill>
                  <a:srgbClr val="FFFFFF"/>
                </a:solidFill>
                <a:latin typeface="Atma Medium"/>
                <a:ea typeface="Atma Medium"/>
                <a:cs typeface="Atma Medium"/>
                <a:sym typeface="Atma Medium"/>
              </a:rPr>
              <a:t>初期人力與資金有限，新增功能、推廣速度可能無法快速對應市場需求。</a:t>
            </a:r>
          </a:p>
          <a:p>
            <a:pPr algn="l">
              <a:lnSpc>
                <a:spcPts val="4987"/>
              </a:lnSpc>
              <a:spcBef>
                <a:spcPct val="0"/>
              </a:spcBef>
            </a:pPr>
            <a:r>
              <a:rPr lang="en-US" sz="3562" b="1">
                <a:solidFill>
                  <a:srgbClr val="FFFFFF"/>
                </a:solidFill>
                <a:latin typeface="Atma Medium"/>
                <a:ea typeface="Atma Medium"/>
                <a:cs typeface="Atma Medium"/>
                <a:sym typeface="Atma Medium"/>
              </a:rPr>
              <a:t>平台初期曝光度不足</a:t>
            </a:r>
          </a:p>
        </p:txBody>
      </p:sp>
      <p:sp>
        <p:nvSpPr>
          <p:cNvPr id="29" name="TextBox 29"/>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30" name="投影片編號版面配置區 29">
            <a:extLst>
              <a:ext uri="{FF2B5EF4-FFF2-40B4-BE49-F238E27FC236}">
                <a16:creationId xmlns:a16="http://schemas.microsoft.com/office/drawing/2014/main" id="{57E4C24C-4F60-5CF1-FD61-AB257F8746A2}"/>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31" name="投影片編號版面配置區 1">
            <a:extLst>
              <a:ext uri="{FF2B5EF4-FFF2-40B4-BE49-F238E27FC236}">
                <a16:creationId xmlns:a16="http://schemas.microsoft.com/office/drawing/2014/main" id="{7DD3DE1D-B54C-89FA-480F-B427E5A9083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9</a:t>
            </a:fld>
            <a:endParaRPr lang="en-US" sz="4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grpSp>
        <p:nvGrpSpPr>
          <p:cNvPr id="9" name="Group 9"/>
          <p:cNvGrpSpPr/>
          <p:nvPr/>
        </p:nvGrpSpPr>
        <p:grpSpPr>
          <a:xfrm>
            <a:off x="226987" y="343068"/>
            <a:ext cx="17491126" cy="9943932"/>
            <a:chOff x="0" y="0"/>
            <a:chExt cx="4057722" cy="2306868"/>
          </a:xfrm>
        </p:grpSpPr>
        <p:sp>
          <p:nvSpPr>
            <p:cNvPr id="10" name="Freeform 10"/>
            <p:cNvSpPr/>
            <p:nvPr/>
          </p:nvSpPr>
          <p:spPr>
            <a:xfrm>
              <a:off x="0" y="0"/>
              <a:ext cx="4057722" cy="2306868"/>
            </a:xfrm>
            <a:custGeom>
              <a:avLst/>
              <a:gdLst/>
              <a:ahLst/>
              <a:cxnLst/>
              <a:rect l="l" t="t" r="r" b="b"/>
              <a:pathLst>
                <a:path w="4057722" h="2306868">
                  <a:moveTo>
                    <a:pt x="22574" y="0"/>
                  </a:moveTo>
                  <a:lnTo>
                    <a:pt x="4035149" y="0"/>
                  </a:lnTo>
                  <a:cubicBezTo>
                    <a:pt x="4041136" y="0"/>
                    <a:pt x="4046877" y="2378"/>
                    <a:pt x="4051111" y="6612"/>
                  </a:cubicBezTo>
                  <a:cubicBezTo>
                    <a:pt x="4055344" y="10845"/>
                    <a:pt x="4057722" y="16587"/>
                    <a:pt x="4057722" y="22574"/>
                  </a:cubicBezTo>
                  <a:lnTo>
                    <a:pt x="4057722" y="2284294"/>
                  </a:lnTo>
                  <a:cubicBezTo>
                    <a:pt x="4057722" y="2290281"/>
                    <a:pt x="4055344" y="2296023"/>
                    <a:pt x="4051111" y="2300256"/>
                  </a:cubicBezTo>
                  <a:cubicBezTo>
                    <a:pt x="4046877" y="2304490"/>
                    <a:pt x="4041136" y="2306868"/>
                    <a:pt x="4035149" y="2306868"/>
                  </a:cubicBezTo>
                  <a:lnTo>
                    <a:pt x="22574" y="2306868"/>
                  </a:lnTo>
                  <a:cubicBezTo>
                    <a:pt x="16587" y="2306868"/>
                    <a:pt x="10845" y="2304490"/>
                    <a:pt x="6612" y="2300256"/>
                  </a:cubicBezTo>
                  <a:cubicBezTo>
                    <a:pt x="2378" y="2296023"/>
                    <a:pt x="0" y="2290281"/>
                    <a:pt x="0" y="2284294"/>
                  </a:cubicBezTo>
                  <a:lnTo>
                    <a:pt x="0" y="22574"/>
                  </a:lnTo>
                  <a:cubicBezTo>
                    <a:pt x="0" y="16587"/>
                    <a:pt x="2378" y="10845"/>
                    <a:pt x="6612" y="6612"/>
                  </a:cubicBezTo>
                  <a:cubicBezTo>
                    <a:pt x="10845" y="2378"/>
                    <a:pt x="16587" y="0"/>
                    <a:pt x="22574" y="0"/>
                  </a:cubicBezTo>
                  <a:close/>
                </a:path>
              </a:pathLst>
            </a:custGeom>
            <a:solidFill>
              <a:srgbClr val="FFFFFF">
                <a:alpha val="85882"/>
              </a:srgbClr>
            </a:solidFill>
          </p:spPr>
          <p:txBody>
            <a:bodyPr/>
            <a:lstStyle/>
            <a:p>
              <a:endParaRPr lang="zh-TW" altLang="en-US"/>
            </a:p>
          </p:txBody>
        </p:sp>
        <p:sp>
          <p:nvSpPr>
            <p:cNvPr id="11" name="TextBox 11"/>
            <p:cNvSpPr txBox="1"/>
            <p:nvPr/>
          </p:nvSpPr>
          <p:spPr>
            <a:xfrm>
              <a:off x="0" y="-38100"/>
              <a:ext cx="4057722" cy="2344968"/>
            </a:xfrm>
            <a:prstGeom prst="rect">
              <a:avLst/>
            </a:prstGeom>
          </p:spPr>
          <p:txBody>
            <a:bodyPr lIns="50800" tIns="50800" rIns="50800" bIns="50800" rtlCol="0" anchor="ctr"/>
            <a:lstStyle/>
            <a:p>
              <a:pPr algn="ctr">
                <a:lnSpc>
                  <a:spcPts val="2120"/>
                </a:lnSpc>
              </a:pPr>
              <a:endParaRPr/>
            </a:p>
          </p:txBody>
        </p:sp>
      </p:grpSp>
      <p:grpSp>
        <p:nvGrpSpPr>
          <p:cNvPr id="12" name="Group 12"/>
          <p:cNvGrpSpPr/>
          <p:nvPr/>
        </p:nvGrpSpPr>
        <p:grpSpPr>
          <a:xfrm>
            <a:off x="6334115" y="343068"/>
            <a:ext cx="10263711" cy="1715144"/>
            <a:chOff x="0" y="0"/>
            <a:chExt cx="2703200" cy="451725"/>
          </a:xfrm>
        </p:grpSpPr>
        <p:sp>
          <p:nvSpPr>
            <p:cNvPr id="13" name="Freeform 13"/>
            <p:cNvSpPr/>
            <p:nvPr/>
          </p:nvSpPr>
          <p:spPr>
            <a:xfrm>
              <a:off x="0" y="0"/>
              <a:ext cx="2703200" cy="451725"/>
            </a:xfrm>
            <a:custGeom>
              <a:avLst/>
              <a:gdLst/>
              <a:ahLst/>
              <a:cxnLst/>
              <a:rect l="l" t="t" r="r" b="b"/>
              <a:pathLst>
                <a:path w="2703200" h="451725">
                  <a:moveTo>
                    <a:pt x="38469" y="0"/>
                  </a:moveTo>
                  <a:lnTo>
                    <a:pt x="2664730" y="0"/>
                  </a:lnTo>
                  <a:cubicBezTo>
                    <a:pt x="2685976" y="0"/>
                    <a:pt x="2703200" y="17223"/>
                    <a:pt x="2703200" y="38469"/>
                  </a:cubicBezTo>
                  <a:lnTo>
                    <a:pt x="2703200" y="413256"/>
                  </a:lnTo>
                  <a:cubicBezTo>
                    <a:pt x="2703200" y="423459"/>
                    <a:pt x="2699147" y="433243"/>
                    <a:pt x="2691932" y="440458"/>
                  </a:cubicBezTo>
                  <a:cubicBezTo>
                    <a:pt x="2684718" y="447672"/>
                    <a:pt x="2674933" y="451725"/>
                    <a:pt x="2664730" y="451725"/>
                  </a:cubicBezTo>
                  <a:lnTo>
                    <a:pt x="38469" y="451725"/>
                  </a:lnTo>
                  <a:cubicBezTo>
                    <a:pt x="28267" y="451725"/>
                    <a:pt x="18482" y="447672"/>
                    <a:pt x="11267" y="440458"/>
                  </a:cubicBezTo>
                  <a:cubicBezTo>
                    <a:pt x="4053" y="433243"/>
                    <a:pt x="0" y="423459"/>
                    <a:pt x="0" y="413256"/>
                  </a:cubicBezTo>
                  <a:lnTo>
                    <a:pt x="0" y="38469"/>
                  </a:lnTo>
                  <a:cubicBezTo>
                    <a:pt x="0" y="28267"/>
                    <a:pt x="4053" y="18482"/>
                    <a:pt x="11267" y="11267"/>
                  </a:cubicBezTo>
                  <a:cubicBezTo>
                    <a:pt x="18482" y="4053"/>
                    <a:pt x="28267" y="0"/>
                    <a:pt x="38469" y="0"/>
                  </a:cubicBezTo>
                  <a:close/>
                </a:path>
              </a:pathLst>
            </a:custGeom>
            <a:solidFill>
              <a:srgbClr val="0093B9"/>
            </a:solidFill>
          </p:spPr>
          <p:txBody>
            <a:bodyPr/>
            <a:lstStyle/>
            <a:p>
              <a:endParaRPr lang="zh-TW" altLang="en-US"/>
            </a:p>
          </p:txBody>
        </p:sp>
        <p:sp>
          <p:nvSpPr>
            <p:cNvPr id="14" name="TextBox 14"/>
            <p:cNvSpPr txBox="1"/>
            <p:nvPr/>
          </p:nvSpPr>
          <p:spPr>
            <a:xfrm>
              <a:off x="0" y="-38100"/>
              <a:ext cx="2703200" cy="489825"/>
            </a:xfrm>
            <a:prstGeom prst="rect">
              <a:avLst/>
            </a:prstGeom>
          </p:spPr>
          <p:txBody>
            <a:bodyPr lIns="50800" tIns="50800" rIns="50800" bIns="50800" rtlCol="0" anchor="ctr"/>
            <a:lstStyle/>
            <a:p>
              <a:pPr algn="ctr">
                <a:lnSpc>
                  <a:spcPts val="2120"/>
                </a:lnSpc>
              </a:pPr>
              <a:endParaRPr/>
            </a:p>
          </p:txBody>
        </p:sp>
      </p:grpSp>
      <p:grpSp>
        <p:nvGrpSpPr>
          <p:cNvPr id="15" name="Group 15"/>
          <p:cNvGrpSpPr/>
          <p:nvPr/>
        </p:nvGrpSpPr>
        <p:grpSpPr>
          <a:xfrm>
            <a:off x="6595107" y="5490918"/>
            <a:ext cx="10664193" cy="2076778"/>
            <a:chOff x="0" y="0"/>
            <a:chExt cx="2808676" cy="546970"/>
          </a:xfrm>
        </p:grpSpPr>
        <p:sp>
          <p:nvSpPr>
            <p:cNvPr id="16" name="Freeform 16"/>
            <p:cNvSpPr/>
            <p:nvPr/>
          </p:nvSpPr>
          <p:spPr>
            <a:xfrm>
              <a:off x="0" y="0"/>
              <a:ext cx="2808676" cy="546970"/>
            </a:xfrm>
            <a:custGeom>
              <a:avLst/>
              <a:gdLst/>
              <a:ahLst/>
              <a:cxnLst/>
              <a:rect l="l" t="t" r="r" b="b"/>
              <a:pathLst>
                <a:path w="2808676" h="546970">
                  <a:moveTo>
                    <a:pt x="37025" y="0"/>
                  </a:moveTo>
                  <a:lnTo>
                    <a:pt x="2771652" y="0"/>
                  </a:lnTo>
                  <a:cubicBezTo>
                    <a:pt x="2792100" y="0"/>
                    <a:pt x="2808676" y="16576"/>
                    <a:pt x="2808676" y="37025"/>
                  </a:cubicBezTo>
                  <a:lnTo>
                    <a:pt x="2808676" y="509946"/>
                  </a:lnTo>
                  <a:cubicBezTo>
                    <a:pt x="2808676" y="519765"/>
                    <a:pt x="2804776" y="529183"/>
                    <a:pt x="2797832" y="536126"/>
                  </a:cubicBezTo>
                  <a:cubicBezTo>
                    <a:pt x="2790889" y="543069"/>
                    <a:pt x="2781471" y="546970"/>
                    <a:pt x="2771652" y="546970"/>
                  </a:cubicBezTo>
                  <a:lnTo>
                    <a:pt x="37025" y="546970"/>
                  </a:lnTo>
                  <a:cubicBezTo>
                    <a:pt x="16576" y="546970"/>
                    <a:pt x="0" y="530394"/>
                    <a:pt x="0" y="509946"/>
                  </a:cubicBezTo>
                  <a:lnTo>
                    <a:pt x="0" y="37025"/>
                  </a:lnTo>
                  <a:cubicBezTo>
                    <a:pt x="0" y="16576"/>
                    <a:pt x="16576" y="0"/>
                    <a:pt x="37025" y="0"/>
                  </a:cubicBezTo>
                  <a:close/>
                </a:path>
              </a:pathLst>
            </a:custGeom>
            <a:solidFill>
              <a:srgbClr val="0093B9"/>
            </a:solidFill>
          </p:spPr>
          <p:txBody>
            <a:bodyPr/>
            <a:lstStyle/>
            <a:p>
              <a:endParaRPr lang="zh-TW" altLang="en-US"/>
            </a:p>
          </p:txBody>
        </p:sp>
        <p:sp>
          <p:nvSpPr>
            <p:cNvPr id="17" name="TextBox 17"/>
            <p:cNvSpPr txBox="1"/>
            <p:nvPr/>
          </p:nvSpPr>
          <p:spPr>
            <a:xfrm>
              <a:off x="0" y="-38100"/>
              <a:ext cx="2808676" cy="585070"/>
            </a:xfrm>
            <a:prstGeom prst="rect">
              <a:avLst/>
            </a:prstGeom>
          </p:spPr>
          <p:txBody>
            <a:bodyPr lIns="50800" tIns="50800" rIns="50800" bIns="50800" rtlCol="0" anchor="ctr"/>
            <a:lstStyle/>
            <a:p>
              <a:pPr algn="ctr">
                <a:lnSpc>
                  <a:spcPts val="2120"/>
                </a:lnSpc>
              </a:pPr>
              <a:endParaRPr/>
            </a:p>
          </p:txBody>
        </p:sp>
      </p:grpSp>
      <p:sp>
        <p:nvSpPr>
          <p:cNvPr id="18" name="Freeform 18"/>
          <p:cNvSpPr/>
          <p:nvPr/>
        </p:nvSpPr>
        <p:spPr>
          <a:xfrm>
            <a:off x="-1335089" y="-2910718"/>
            <a:ext cx="9515631" cy="9440025"/>
          </a:xfrm>
          <a:custGeom>
            <a:avLst/>
            <a:gdLst/>
            <a:ahLst/>
            <a:cxnLst/>
            <a:rect l="l" t="t" r="r" b="b"/>
            <a:pathLst>
              <a:path w="9515631" h="9440025">
                <a:moveTo>
                  <a:pt x="0" y="0"/>
                </a:moveTo>
                <a:lnTo>
                  <a:pt x="9515631" y="0"/>
                </a:lnTo>
                <a:lnTo>
                  <a:pt x="9515631" y="9440025"/>
                </a:lnTo>
                <a:lnTo>
                  <a:pt x="0" y="94400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9" name="TextBox 19"/>
          <p:cNvSpPr txBox="1"/>
          <p:nvPr/>
        </p:nvSpPr>
        <p:spPr>
          <a:xfrm>
            <a:off x="1773622" y="3312403"/>
            <a:ext cx="5791814" cy="644990"/>
          </a:xfrm>
          <a:prstGeom prst="rect">
            <a:avLst/>
          </a:prstGeom>
        </p:spPr>
        <p:txBody>
          <a:bodyPr lIns="0" tIns="0" rIns="0" bIns="0" rtlCol="0" anchor="t">
            <a:spAutoFit/>
          </a:bodyPr>
          <a:lstStyle/>
          <a:p>
            <a:pPr algn="ctr">
              <a:lnSpc>
                <a:spcPts val="5323"/>
              </a:lnSpc>
              <a:spcBef>
                <a:spcPct val="0"/>
              </a:spcBef>
            </a:pPr>
            <a:r>
              <a:rPr lang="en-US" sz="3802">
                <a:solidFill>
                  <a:srgbClr val="000000"/>
                </a:solidFill>
                <a:latin typeface="Quicksand"/>
                <a:ea typeface="Quicksand"/>
                <a:cs typeface="Quicksand"/>
                <a:sym typeface="Quicksand"/>
              </a:rPr>
              <a:t>威脅 (THREATS)</a:t>
            </a:r>
          </a:p>
        </p:txBody>
      </p:sp>
      <p:sp>
        <p:nvSpPr>
          <p:cNvPr id="20" name="TextBox 20"/>
          <p:cNvSpPr txBox="1"/>
          <p:nvPr/>
        </p:nvSpPr>
        <p:spPr>
          <a:xfrm>
            <a:off x="439521" y="1423368"/>
            <a:ext cx="6224283" cy="1422635"/>
          </a:xfrm>
          <a:prstGeom prst="rect">
            <a:avLst/>
          </a:prstGeom>
        </p:spPr>
        <p:txBody>
          <a:bodyPr lIns="0" tIns="0" rIns="0" bIns="0" rtlCol="0" anchor="t">
            <a:spAutoFit/>
          </a:bodyPr>
          <a:lstStyle/>
          <a:p>
            <a:pPr algn="l">
              <a:lnSpc>
                <a:spcPts val="11769"/>
              </a:lnSpc>
              <a:spcBef>
                <a:spcPct val="0"/>
              </a:spcBef>
            </a:pPr>
            <a:r>
              <a:rPr lang="en-US" sz="8406">
                <a:solidFill>
                  <a:srgbClr val="FFFFFF"/>
                </a:solidFill>
                <a:latin typeface="Quicksand"/>
                <a:ea typeface="Quicksand"/>
                <a:cs typeface="Quicksand"/>
                <a:sym typeface="Quicksand"/>
              </a:rPr>
              <a:t> SWOT分析</a:t>
            </a:r>
          </a:p>
        </p:txBody>
      </p:sp>
      <p:sp>
        <p:nvSpPr>
          <p:cNvPr id="21" name="TextBox 21"/>
          <p:cNvSpPr txBox="1"/>
          <p:nvPr/>
        </p:nvSpPr>
        <p:spPr>
          <a:xfrm>
            <a:off x="8689116" y="802476"/>
            <a:ext cx="4574084" cy="771468"/>
          </a:xfrm>
          <a:prstGeom prst="rect">
            <a:avLst/>
          </a:prstGeom>
        </p:spPr>
        <p:txBody>
          <a:bodyPr lIns="0" tIns="0" rIns="0" bIns="0" rtlCol="0" anchor="t">
            <a:spAutoFit/>
          </a:bodyPr>
          <a:lstStyle/>
          <a:p>
            <a:pPr algn="ctr">
              <a:lnSpc>
                <a:spcPts val="6303"/>
              </a:lnSpc>
              <a:spcBef>
                <a:spcPct val="0"/>
              </a:spcBef>
            </a:pPr>
            <a:r>
              <a:rPr lang="en-US" sz="4502">
                <a:solidFill>
                  <a:srgbClr val="FFFFFF"/>
                </a:solidFill>
                <a:latin typeface="Atma"/>
                <a:ea typeface="Atma"/>
                <a:cs typeface="Atma"/>
                <a:sym typeface="Atma"/>
              </a:rPr>
              <a:t>競爭對手進入市場</a:t>
            </a:r>
          </a:p>
        </p:txBody>
      </p:sp>
      <p:grpSp>
        <p:nvGrpSpPr>
          <p:cNvPr id="22" name="Group 22"/>
          <p:cNvGrpSpPr/>
          <p:nvPr/>
        </p:nvGrpSpPr>
        <p:grpSpPr>
          <a:xfrm>
            <a:off x="8769561" y="2506395"/>
            <a:ext cx="8944956" cy="2502598"/>
            <a:chOff x="0" y="0"/>
            <a:chExt cx="2355873" cy="659120"/>
          </a:xfrm>
        </p:grpSpPr>
        <p:sp>
          <p:nvSpPr>
            <p:cNvPr id="23" name="Freeform 23"/>
            <p:cNvSpPr/>
            <p:nvPr/>
          </p:nvSpPr>
          <p:spPr>
            <a:xfrm>
              <a:off x="0" y="0"/>
              <a:ext cx="2355873" cy="659120"/>
            </a:xfrm>
            <a:custGeom>
              <a:avLst/>
              <a:gdLst/>
              <a:ahLst/>
              <a:cxnLst/>
              <a:rect l="l" t="t" r="r" b="b"/>
              <a:pathLst>
                <a:path w="2355873" h="659120">
                  <a:moveTo>
                    <a:pt x="44141" y="0"/>
                  </a:moveTo>
                  <a:lnTo>
                    <a:pt x="2311732" y="0"/>
                  </a:lnTo>
                  <a:cubicBezTo>
                    <a:pt x="2336111" y="0"/>
                    <a:pt x="2355873" y="19763"/>
                    <a:pt x="2355873" y="44141"/>
                  </a:cubicBezTo>
                  <a:lnTo>
                    <a:pt x="2355873" y="614980"/>
                  </a:lnTo>
                  <a:cubicBezTo>
                    <a:pt x="2355873" y="626686"/>
                    <a:pt x="2351223" y="637914"/>
                    <a:pt x="2342945" y="646192"/>
                  </a:cubicBezTo>
                  <a:cubicBezTo>
                    <a:pt x="2334667" y="654470"/>
                    <a:pt x="2323439" y="659120"/>
                    <a:pt x="2311732" y="659120"/>
                  </a:cubicBezTo>
                  <a:lnTo>
                    <a:pt x="44141" y="659120"/>
                  </a:lnTo>
                  <a:cubicBezTo>
                    <a:pt x="32434" y="659120"/>
                    <a:pt x="21207" y="654470"/>
                    <a:pt x="12929" y="646192"/>
                  </a:cubicBezTo>
                  <a:cubicBezTo>
                    <a:pt x="4651" y="637914"/>
                    <a:pt x="0" y="626686"/>
                    <a:pt x="0" y="614980"/>
                  </a:cubicBezTo>
                  <a:lnTo>
                    <a:pt x="0" y="44141"/>
                  </a:lnTo>
                  <a:cubicBezTo>
                    <a:pt x="0" y="32434"/>
                    <a:pt x="4651" y="21207"/>
                    <a:pt x="12929" y="12929"/>
                  </a:cubicBezTo>
                  <a:cubicBezTo>
                    <a:pt x="21207" y="4651"/>
                    <a:pt x="32434" y="0"/>
                    <a:pt x="44141" y="0"/>
                  </a:cubicBezTo>
                  <a:close/>
                </a:path>
              </a:pathLst>
            </a:custGeom>
            <a:solidFill>
              <a:srgbClr val="137064"/>
            </a:solidFill>
          </p:spPr>
          <p:txBody>
            <a:bodyPr/>
            <a:lstStyle/>
            <a:p>
              <a:endParaRPr lang="zh-TW" altLang="en-US"/>
            </a:p>
          </p:txBody>
        </p:sp>
        <p:sp>
          <p:nvSpPr>
            <p:cNvPr id="24" name="TextBox 24"/>
            <p:cNvSpPr txBox="1"/>
            <p:nvPr/>
          </p:nvSpPr>
          <p:spPr>
            <a:xfrm>
              <a:off x="0" y="-38100"/>
              <a:ext cx="2355873" cy="697220"/>
            </a:xfrm>
            <a:prstGeom prst="rect">
              <a:avLst/>
            </a:prstGeom>
          </p:spPr>
          <p:txBody>
            <a:bodyPr lIns="50800" tIns="50800" rIns="50800" bIns="50800" rtlCol="0" anchor="ctr"/>
            <a:lstStyle/>
            <a:p>
              <a:pPr algn="ctr">
                <a:lnSpc>
                  <a:spcPts val="2120"/>
                </a:lnSpc>
              </a:pPr>
              <a:endParaRPr/>
            </a:p>
          </p:txBody>
        </p:sp>
      </p:grpSp>
      <p:sp>
        <p:nvSpPr>
          <p:cNvPr id="25" name="TextBox 25"/>
          <p:cNvSpPr txBox="1"/>
          <p:nvPr/>
        </p:nvSpPr>
        <p:spPr>
          <a:xfrm>
            <a:off x="8893030" y="2775348"/>
            <a:ext cx="5900613" cy="779188"/>
          </a:xfrm>
          <a:prstGeom prst="rect">
            <a:avLst/>
          </a:prstGeom>
        </p:spPr>
        <p:txBody>
          <a:bodyPr wrap="square" lIns="0" tIns="0" rIns="0" bIns="0" rtlCol="0" anchor="t">
            <a:spAutoFit/>
          </a:bodyPr>
          <a:lstStyle/>
          <a:p>
            <a:pPr algn="ctr">
              <a:lnSpc>
                <a:spcPts val="6303"/>
              </a:lnSpc>
              <a:spcBef>
                <a:spcPct val="0"/>
              </a:spcBef>
            </a:pPr>
            <a:r>
              <a:rPr lang="en-US" sz="4502" b="1" dirty="0" err="1">
                <a:solidFill>
                  <a:srgbClr val="FFFFFF"/>
                </a:solidFill>
                <a:latin typeface="Atma Medium"/>
                <a:ea typeface="Atma Medium"/>
                <a:cs typeface="Atma Medium"/>
                <a:sym typeface="Atma Medium"/>
              </a:rPr>
              <a:t>隱私與法律風險存在</a:t>
            </a:r>
            <a:endParaRPr lang="en-US" sz="4502" b="1" dirty="0">
              <a:solidFill>
                <a:srgbClr val="FFFFFF"/>
              </a:solidFill>
              <a:latin typeface="Atma Medium"/>
              <a:ea typeface="Atma Medium"/>
              <a:cs typeface="Atma Medium"/>
              <a:sym typeface="Atma Medium"/>
            </a:endParaRPr>
          </a:p>
        </p:txBody>
      </p:sp>
      <p:sp>
        <p:nvSpPr>
          <p:cNvPr id="26" name="TextBox 26"/>
          <p:cNvSpPr txBox="1"/>
          <p:nvPr/>
        </p:nvSpPr>
        <p:spPr>
          <a:xfrm>
            <a:off x="9263971" y="3727847"/>
            <a:ext cx="9135355" cy="1553520"/>
          </a:xfrm>
          <a:prstGeom prst="rect">
            <a:avLst/>
          </a:prstGeom>
        </p:spPr>
        <p:txBody>
          <a:bodyPr lIns="0" tIns="0" rIns="0" bIns="0" rtlCol="0" anchor="t">
            <a:spAutoFit/>
          </a:bodyPr>
          <a:lstStyle/>
          <a:p>
            <a:pPr algn="l">
              <a:lnSpc>
                <a:spcPts val="4147"/>
              </a:lnSpc>
            </a:pPr>
            <a:r>
              <a:rPr lang="en-US" sz="2962" b="1" dirty="0">
                <a:solidFill>
                  <a:srgbClr val="FFFFFF"/>
                </a:solidFill>
                <a:latin typeface="Atma Medium"/>
                <a:ea typeface="Atma Medium"/>
                <a:cs typeface="Atma Medium"/>
                <a:sym typeface="Atma Medium"/>
              </a:rPr>
              <a:t>(</a:t>
            </a:r>
            <a:r>
              <a:rPr lang="en-US" sz="2962" b="1" dirty="0" err="1">
                <a:solidFill>
                  <a:srgbClr val="FFFFFF"/>
                </a:solidFill>
                <a:latin typeface="Atma Medium"/>
                <a:ea typeface="Atma Medium"/>
                <a:cs typeface="Atma Medium"/>
                <a:sym typeface="Atma Medium"/>
              </a:rPr>
              <a:t>用戶回報、聊天室交流可能涉及個資洩漏、誹謗</a:t>
            </a:r>
            <a:r>
              <a:rPr lang="en-US" sz="2962" b="1" dirty="0">
                <a:solidFill>
                  <a:srgbClr val="FFFFFF"/>
                </a:solidFill>
                <a:latin typeface="Atma Medium"/>
                <a:ea typeface="Atma Medium"/>
                <a:cs typeface="Atma Medium"/>
                <a:sym typeface="Atma Medium"/>
              </a:rPr>
              <a:t>，</a:t>
            </a:r>
          </a:p>
          <a:p>
            <a:pPr algn="l">
              <a:lnSpc>
                <a:spcPts val="4147"/>
              </a:lnSpc>
            </a:pPr>
            <a:r>
              <a:rPr lang="en-US" sz="2962" b="1" dirty="0">
                <a:solidFill>
                  <a:srgbClr val="FFFFFF"/>
                </a:solidFill>
                <a:latin typeface="Atma Medium"/>
                <a:ea typeface="Atma Medium"/>
                <a:cs typeface="Atma Medium"/>
                <a:sym typeface="Atma Medium"/>
              </a:rPr>
              <a:t> </a:t>
            </a:r>
            <a:r>
              <a:rPr lang="en-US" sz="2962" b="1" dirty="0" err="1">
                <a:solidFill>
                  <a:srgbClr val="FFFFFF"/>
                </a:solidFill>
                <a:latin typeface="Atma Medium"/>
                <a:ea typeface="Atma Medium"/>
                <a:cs typeface="Atma Medium"/>
                <a:sym typeface="Atma Medium"/>
              </a:rPr>
              <a:t>若處理不慎，會引發法律問題與信任危機</a:t>
            </a:r>
            <a:r>
              <a:rPr lang="en-US" sz="2962" b="1" dirty="0">
                <a:solidFill>
                  <a:srgbClr val="FFFFFF"/>
                </a:solidFill>
                <a:latin typeface="Atma Medium"/>
                <a:ea typeface="Atma Medium"/>
                <a:cs typeface="Atma Medium"/>
                <a:sym typeface="Atma Medium"/>
              </a:rPr>
              <a:t>)</a:t>
            </a:r>
          </a:p>
          <a:p>
            <a:pPr algn="l">
              <a:lnSpc>
                <a:spcPts val="4147"/>
              </a:lnSpc>
              <a:spcBef>
                <a:spcPct val="0"/>
              </a:spcBef>
            </a:pPr>
            <a:endParaRPr lang="en-US" sz="2962" b="1" dirty="0">
              <a:solidFill>
                <a:srgbClr val="FFFFFF"/>
              </a:solidFill>
              <a:latin typeface="Atma Medium"/>
              <a:ea typeface="Atma Medium"/>
              <a:cs typeface="Atma Medium"/>
              <a:sym typeface="Atma Medium"/>
            </a:endParaRPr>
          </a:p>
        </p:txBody>
      </p:sp>
      <p:sp>
        <p:nvSpPr>
          <p:cNvPr id="27" name="TextBox 27"/>
          <p:cNvSpPr txBox="1"/>
          <p:nvPr/>
        </p:nvSpPr>
        <p:spPr>
          <a:xfrm>
            <a:off x="7086600" y="5649372"/>
            <a:ext cx="4574084" cy="771468"/>
          </a:xfrm>
          <a:prstGeom prst="rect">
            <a:avLst/>
          </a:prstGeom>
        </p:spPr>
        <p:txBody>
          <a:bodyPr lIns="0" tIns="0" rIns="0" bIns="0" rtlCol="0" anchor="t">
            <a:spAutoFit/>
          </a:bodyPr>
          <a:lstStyle/>
          <a:p>
            <a:pPr algn="ctr">
              <a:lnSpc>
                <a:spcPts val="6303"/>
              </a:lnSpc>
              <a:spcBef>
                <a:spcPct val="0"/>
              </a:spcBef>
            </a:pPr>
            <a:r>
              <a:rPr lang="en-US" sz="4502" dirty="0" err="1">
                <a:solidFill>
                  <a:srgbClr val="FFFFFF"/>
                </a:solidFill>
                <a:latin typeface="Atma"/>
                <a:ea typeface="Atma"/>
                <a:cs typeface="Atma"/>
                <a:sym typeface="Atma"/>
              </a:rPr>
              <a:t>使用者活躍度下降</a:t>
            </a:r>
            <a:endParaRPr lang="en-US" sz="4502" dirty="0">
              <a:solidFill>
                <a:srgbClr val="FFFFFF"/>
              </a:solidFill>
              <a:latin typeface="Atma"/>
              <a:ea typeface="Atma"/>
              <a:cs typeface="Atma"/>
              <a:sym typeface="Atma"/>
            </a:endParaRPr>
          </a:p>
        </p:txBody>
      </p:sp>
      <p:sp>
        <p:nvSpPr>
          <p:cNvPr id="28" name="TextBox 28"/>
          <p:cNvSpPr txBox="1"/>
          <p:nvPr/>
        </p:nvSpPr>
        <p:spPr>
          <a:xfrm>
            <a:off x="9144000" y="6788055"/>
            <a:ext cx="7995329" cy="555301"/>
          </a:xfrm>
          <a:prstGeom prst="rect">
            <a:avLst/>
          </a:prstGeom>
        </p:spPr>
        <p:txBody>
          <a:bodyPr lIns="0" tIns="0" rIns="0" bIns="0" rtlCol="0" anchor="t">
            <a:spAutoFit/>
          </a:bodyPr>
          <a:lstStyle/>
          <a:p>
            <a:pPr algn="l">
              <a:lnSpc>
                <a:spcPts val="4567"/>
              </a:lnSpc>
              <a:spcBef>
                <a:spcPct val="0"/>
              </a:spcBef>
            </a:pPr>
            <a:r>
              <a:rPr lang="en-US" sz="3262" b="1">
                <a:solidFill>
                  <a:srgbClr val="FFFFFF"/>
                </a:solidFill>
                <a:latin typeface="Atma Medium"/>
                <a:ea typeface="Atma Medium"/>
                <a:cs typeface="Atma Medium"/>
                <a:sym typeface="Atma Medium"/>
              </a:rPr>
              <a:t>過度通知可能會導致用戶疲乏、逐漸流失。</a:t>
            </a:r>
          </a:p>
        </p:txBody>
      </p:sp>
      <p:grpSp>
        <p:nvGrpSpPr>
          <p:cNvPr id="29" name="Group 29"/>
          <p:cNvGrpSpPr/>
          <p:nvPr/>
        </p:nvGrpSpPr>
        <p:grpSpPr>
          <a:xfrm>
            <a:off x="812465" y="7777245"/>
            <a:ext cx="9906113" cy="2189306"/>
            <a:chOff x="0" y="0"/>
            <a:chExt cx="2609017" cy="576607"/>
          </a:xfrm>
        </p:grpSpPr>
        <p:sp>
          <p:nvSpPr>
            <p:cNvPr id="30" name="Freeform 30"/>
            <p:cNvSpPr/>
            <p:nvPr/>
          </p:nvSpPr>
          <p:spPr>
            <a:xfrm>
              <a:off x="0" y="0"/>
              <a:ext cx="2609017" cy="576607"/>
            </a:xfrm>
            <a:custGeom>
              <a:avLst/>
              <a:gdLst/>
              <a:ahLst/>
              <a:cxnLst/>
              <a:rect l="l" t="t" r="r" b="b"/>
              <a:pathLst>
                <a:path w="2609017" h="576607">
                  <a:moveTo>
                    <a:pt x="39858" y="0"/>
                  </a:moveTo>
                  <a:lnTo>
                    <a:pt x="2569159" y="0"/>
                  </a:lnTo>
                  <a:cubicBezTo>
                    <a:pt x="2579730" y="0"/>
                    <a:pt x="2589868" y="4199"/>
                    <a:pt x="2597343" y="11674"/>
                  </a:cubicBezTo>
                  <a:cubicBezTo>
                    <a:pt x="2604818" y="19149"/>
                    <a:pt x="2609017" y="29287"/>
                    <a:pt x="2609017" y="39858"/>
                  </a:cubicBezTo>
                  <a:lnTo>
                    <a:pt x="2609017" y="536749"/>
                  </a:lnTo>
                  <a:cubicBezTo>
                    <a:pt x="2609017" y="547320"/>
                    <a:pt x="2604818" y="557458"/>
                    <a:pt x="2597343" y="564933"/>
                  </a:cubicBezTo>
                  <a:cubicBezTo>
                    <a:pt x="2589868" y="572408"/>
                    <a:pt x="2579730" y="576607"/>
                    <a:pt x="2569159" y="576607"/>
                  </a:cubicBezTo>
                  <a:lnTo>
                    <a:pt x="39858" y="576607"/>
                  </a:lnTo>
                  <a:cubicBezTo>
                    <a:pt x="29287" y="576607"/>
                    <a:pt x="19149" y="572408"/>
                    <a:pt x="11674" y="564933"/>
                  </a:cubicBezTo>
                  <a:cubicBezTo>
                    <a:pt x="4199" y="557458"/>
                    <a:pt x="0" y="547320"/>
                    <a:pt x="0" y="536749"/>
                  </a:cubicBezTo>
                  <a:lnTo>
                    <a:pt x="0" y="39858"/>
                  </a:lnTo>
                  <a:cubicBezTo>
                    <a:pt x="0" y="29287"/>
                    <a:pt x="4199" y="19149"/>
                    <a:pt x="11674" y="11674"/>
                  </a:cubicBezTo>
                  <a:cubicBezTo>
                    <a:pt x="19149" y="4199"/>
                    <a:pt x="29287" y="0"/>
                    <a:pt x="39858" y="0"/>
                  </a:cubicBezTo>
                  <a:close/>
                </a:path>
              </a:pathLst>
            </a:custGeom>
            <a:solidFill>
              <a:srgbClr val="137064"/>
            </a:solidFill>
          </p:spPr>
          <p:txBody>
            <a:bodyPr/>
            <a:lstStyle/>
            <a:p>
              <a:endParaRPr lang="zh-TW" altLang="en-US"/>
            </a:p>
          </p:txBody>
        </p:sp>
        <p:sp>
          <p:nvSpPr>
            <p:cNvPr id="31" name="TextBox 31"/>
            <p:cNvSpPr txBox="1"/>
            <p:nvPr/>
          </p:nvSpPr>
          <p:spPr>
            <a:xfrm>
              <a:off x="0" y="-38100"/>
              <a:ext cx="2609017" cy="614707"/>
            </a:xfrm>
            <a:prstGeom prst="rect">
              <a:avLst/>
            </a:prstGeom>
          </p:spPr>
          <p:txBody>
            <a:bodyPr lIns="50800" tIns="50800" rIns="50800" bIns="50800" rtlCol="0" anchor="ctr"/>
            <a:lstStyle/>
            <a:p>
              <a:pPr algn="ctr">
                <a:lnSpc>
                  <a:spcPts val="2120"/>
                </a:lnSpc>
              </a:pPr>
              <a:endParaRPr/>
            </a:p>
          </p:txBody>
        </p:sp>
      </p:grpSp>
      <p:sp>
        <p:nvSpPr>
          <p:cNvPr id="32" name="TextBox 32"/>
          <p:cNvSpPr txBox="1"/>
          <p:nvPr/>
        </p:nvSpPr>
        <p:spPr>
          <a:xfrm>
            <a:off x="1077059" y="7815345"/>
            <a:ext cx="5717580" cy="771468"/>
          </a:xfrm>
          <a:prstGeom prst="rect">
            <a:avLst/>
          </a:prstGeom>
        </p:spPr>
        <p:txBody>
          <a:bodyPr lIns="0" tIns="0" rIns="0" bIns="0" rtlCol="0" anchor="t">
            <a:spAutoFit/>
          </a:bodyPr>
          <a:lstStyle/>
          <a:p>
            <a:pPr algn="ctr">
              <a:lnSpc>
                <a:spcPts val="6303"/>
              </a:lnSpc>
              <a:spcBef>
                <a:spcPct val="0"/>
              </a:spcBef>
            </a:pPr>
            <a:r>
              <a:rPr lang="en-US" sz="4502">
                <a:solidFill>
                  <a:srgbClr val="FFFFFF"/>
                </a:solidFill>
                <a:latin typeface="Atma"/>
                <a:ea typeface="Atma"/>
                <a:cs typeface="Atma"/>
                <a:sym typeface="Atma"/>
              </a:rPr>
              <a:t>負面公關事件擴散風險</a:t>
            </a:r>
          </a:p>
        </p:txBody>
      </p:sp>
      <p:sp>
        <p:nvSpPr>
          <p:cNvPr id="33" name="TextBox 33"/>
          <p:cNvSpPr txBox="1"/>
          <p:nvPr/>
        </p:nvSpPr>
        <p:spPr>
          <a:xfrm>
            <a:off x="2228370" y="9091638"/>
            <a:ext cx="8490208" cy="489260"/>
          </a:xfrm>
          <a:prstGeom prst="rect">
            <a:avLst/>
          </a:prstGeom>
        </p:spPr>
        <p:txBody>
          <a:bodyPr lIns="0" tIns="0" rIns="0" bIns="0" rtlCol="0" anchor="t">
            <a:spAutoFit/>
          </a:bodyPr>
          <a:lstStyle/>
          <a:p>
            <a:pPr algn="l">
              <a:lnSpc>
                <a:spcPts val="4007"/>
              </a:lnSpc>
              <a:spcBef>
                <a:spcPct val="0"/>
              </a:spcBef>
            </a:pPr>
            <a:r>
              <a:rPr lang="en-US" sz="2862" b="1">
                <a:solidFill>
                  <a:srgbClr val="FFFFFF"/>
                </a:solidFill>
                <a:latin typeface="Atma Medium"/>
                <a:ea typeface="Atma Medium"/>
                <a:cs typeface="Atma Medium"/>
                <a:sym typeface="Atma Medium"/>
              </a:rPr>
              <a:t>一旦誤報或資訊外洩事件，可能導致信任度急速下滑</a:t>
            </a:r>
          </a:p>
        </p:txBody>
      </p:sp>
      <p:sp>
        <p:nvSpPr>
          <p:cNvPr id="34" name="TextBox 34"/>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35" name="投影片編號版面配置區 34">
            <a:extLst>
              <a:ext uri="{FF2B5EF4-FFF2-40B4-BE49-F238E27FC236}">
                <a16:creationId xmlns:a16="http://schemas.microsoft.com/office/drawing/2014/main" id="{18AAC2D4-DBD7-848D-A57D-9DCFC2BE56DE}"/>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36" name="投影片編號版面配置區 1">
            <a:extLst>
              <a:ext uri="{FF2B5EF4-FFF2-40B4-BE49-F238E27FC236}">
                <a16:creationId xmlns:a16="http://schemas.microsoft.com/office/drawing/2014/main" id="{6E243E5E-7A96-0208-C946-C6DA7B0FD395}"/>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10</a:t>
            </a:fld>
            <a:endParaRPr lang="en-US" sz="4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870903">
            <a:off x="9482394" y="-3401478"/>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1030102" y="-277765"/>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FFFCD9">
                <a:alpha val="50980"/>
              </a:srgbClr>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392879" y="-277765"/>
            <a:ext cx="20348204" cy="10564765"/>
            <a:chOff x="0" y="0"/>
            <a:chExt cx="5359198" cy="2782489"/>
          </a:xfrm>
        </p:grpSpPr>
        <p:sp>
          <p:nvSpPr>
            <p:cNvPr id="7" name="Freeform 7"/>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8" name="TextBox 8"/>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9" name="Freeform 9"/>
          <p:cNvSpPr/>
          <p:nvPr/>
        </p:nvSpPr>
        <p:spPr>
          <a:xfrm>
            <a:off x="-2844521" y="-1025851"/>
            <a:ext cx="22545800" cy="12338701"/>
          </a:xfrm>
          <a:custGeom>
            <a:avLst/>
            <a:gdLst/>
            <a:ahLst/>
            <a:cxnLst/>
            <a:rect l="l" t="t" r="r" b="b"/>
            <a:pathLst>
              <a:path w="22545800" h="12338701">
                <a:moveTo>
                  <a:pt x="0" y="0"/>
                </a:moveTo>
                <a:lnTo>
                  <a:pt x="22545800" y="0"/>
                </a:lnTo>
                <a:lnTo>
                  <a:pt x="22545800" y="12338702"/>
                </a:lnTo>
                <a:lnTo>
                  <a:pt x="0" y="12338702"/>
                </a:lnTo>
                <a:lnTo>
                  <a:pt x="0" y="0"/>
                </a:lnTo>
                <a:close/>
              </a:path>
            </a:pathLst>
          </a:custGeom>
          <a:blipFill>
            <a:blip r:embed="rId4">
              <a:alphaModFix amt="72000"/>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Freeform 10"/>
          <p:cNvSpPr/>
          <p:nvPr/>
        </p:nvSpPr>
        <p:spPr>
          <a:xfrm rot="-922393">
            <a:off x="-7310162" y="-343886"/>
            <a:ext cx="14620325" cy="17849231"/>
          </a:xfrm>
          <a:custGeom>
            <a:avLst/>
            <a:gdLst/>
            <a:ahLst/>
            <a:cxnLst/>
            <a:rect l="l" t="t" r="r" b="b"/>
            <a:pathLst>
              <a:path w="14620325" h="17849231">
                <a:moveTo>
                  <a:pt x="0" y="0"/>
                </a:moveTo>
                <a:lnTo>
                  <a:pt x="14620324" y="0"/>
                </a:lnTo>
                <a:lnTo>
                  <a:pt x="14620324" y="17849231"/>
                </a:lnTo>
                <a:lnTo>
                  <a:pt x="0" y="178492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TextBox 11"/>
          <p:cNvSpPr txBox="1"/>
          <p:nvPr/>
        </p:nvSpPr>
        <p:spPr>
          <a:xfrm>
            <a:off x="7770778" y="-190500"/>
            <a:ext cx="2746445" cy="1687080"/>
          </a:xfrm>
          <a:prstGeom prst="rect">
            <a:avLst/>
          </a:prstGeom>
        </p:spPr>
        <p:txBody>
          <a:bodyPr lIns="0" tIns="0" rIns="0" bIns="0" rtlCol="0" anchor="t">
            <a:spAutoFit/>
          </a:bodyPr>
          <a:lstStyle/>
          <a:p>
            <a:pPr algn="l">
              <a:lnSpc>
                <a:spcPts val="13801"/>
              </a:lnSpc>
            </a:pPr>
            <a:r>
              <a:rPr lang="en-US" sz="9858">
                <a:solidFill>
                  <a:srgbClr val="494F56"/>
                </a:solidFill>
                <a:latin typeface="Quicksand"/>
                <a:ea typeface="Quicksand"/>
                <a:cs typeface="Quicksand"/>
                <a:sym typeface="Quicksand"/>
              </a:rPr>
              <a:t>目錄</a:t>
            </a:r>
          </a:p>
        </p:txBody>
      </p:sp>
      <p:grpSp>
        <p:nvGrpSpPr>
          <p:cNvPr id="12" name="Group 12"/>
          <p:cNvGrpSpPr/>
          <p:nvPr/>
        </p:nvGrpSpPr>
        <p:grpSpPr>
          <a:xfrm rot="5400000">
            <a:off x="3474273" y="-4955840"/>
            <a:ext cx="11339454" cy="19920915"/>
            <a:chOff x="0" y="0"/>
            <a:chExt cx="2021507" cy="3551341"/>
          </a:xfrm>
        </p:grpSpPr>
        <p:sp>
          <p:nvSpPr>
            <p:cNvPr id="13" name="Freeform 13"/>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588157"/>
            </a:solidFill>
          </p:spPr>
          <p:txBody>
            <a:bodyPr/>
            <a:lstStyle/>
            <a:p>
              <a:endParaRPr lang="zh-TW" altLang="en-US"/>
            </a:p>
          </p:txBody>
        </p:sp>
        <p:sp>
          <p:nvSpPr>
            <p:cNvPr id="14" name="TextBox 14"/>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grpSp>
        <p:nvGrpSpPr>
          <p:cNvPr id="15" name="Group 15"/>
          <p:cNvGrpSpPr/>
          <p:nvPr/>
        </p:nvGrpSpPr>
        <p:grpSpPr>
          <a:xfrm>
            <a:off x="-6409755" y="7486008"/>
            <a:ext cx="28734743" cy="2800992"/>
            <a:chOff x="0" y="0"/>
            <a:chExt cx="38312990" cy="3734656"/>
          </a:xfrm>
        </p:grpSpPr>
        <p:sp>
          <p:nvSpPr>
            <p:cNvPr id="16" name="Freeform 16"/>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7" name="Freeform 17"/>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18" name="Group 18"/>
          <p:cNvGrpSpPr/>
          <p:nvPr/>
        </p:nvGrpSpPr>
        <p:grpSpPr>
          <a:xfrm rot="-10800000">
            <a:off x="-6596594" y="-277765"/>
            <a:ext cx="28734743" cy="2800992"/>
            <a:chOff x="0" y="0"/>
            <a:chExt cx="38312990" cy="3734656"/>
          </a:xfrm>
        </p:grpSpPr>
        <p:sp>
          <p:nvSpPr>
            <p:cNvPr id="19" name="Freeform 19"/>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1" name="TextBox 21"/>
          <p:cNvSpPr txBox="1"/>
          <p:nvPr/>
        </p:nvSpPr>
        <p:spPr>
          <a:xfrm>
            <a:off x="4244795" y="3809193"/>
            <a:ext cx="13535106" cy="1803631"/>
          </a:xfrm>
          <a:prstGeom prst="rect">
            <a:avLst/>
          </a:prstGeom>
        </p:spPr>
        <p:txBody>
          <a:bodyPr lIns="0" tIns="0" rIns="0" bIns="0" rtlCol="0" anchor="t">
            <a:spAutoFit/>
          </a:bodyPr>
          <a:lstStyle/>
          <a:p>
            <a:pPr algn="l">
              <a:lnSpc>
                <a:spcPts val="14858"/>
              </a:lnSpc>
              <a:spcBef>
                <a:spcPct val="0"/>
              </a:spcBef>
            </a:pPr>
            <a:r>
              <a:rPr lang="zh-TW" altLang="en-US" sz="10613" dirty="0">
                <a:solidFill>
                  <a:srgbClr val="FFFFFF"/>
                </a:solidFill>
                <a:latin typeface="Quicksand"/>
                <a:ea typeface="Quicksand"/>
                <a:cs typeface="Quicksand"/>
                <a:sym typeface="Quicksand"/>
              </a:rPr>
              <a:t>三</a:t>
            </a:r>
            <a:r>
              <a:rPr lang="en-US" sz="10613" dirty="0">
                <a:solidFill>
                  <a:srgbClr val="FFFFFF"/>
                </a:solidFill>
                <a:latin typeface="Quicksand"/>
                <a:ea typeface="Quicksand"/>
                <a:cs typeface="Quicksand"/>
                <a:sym typeface="Quicksand"/>
              </a:rPr>
              <a:t>. </a:t>
            </a:r>
            <a:r>
              <a:rPr lang="en-US" sz="10613" dirty="0" err="1">
                <a:solidFill>
                  <a:srgbClr val="FFFFFF"/>
                </a:solidFill>
                <a:latin typeface="Quicksand"/>
                <a:ea typeface="Quicksand"/>
                <a:cs typeface="Quicksand"/>
                <a:sym typeface="Quicksand"/>
              </a:rPr>
              <a:t>系統功能介紹</a:t>
            </a:r>
            <a:endParaRPr lang="en-US" sz="10613" dirty="0">
              <a:solidFill>
                <a:srgbClr val="FFFFFF"/>
              </a:solidFill>
              <a:latin typeface="Quicksand"/>
              <a:ea typeface="Quicksand"/>
              <a:cs typeface="Quicksand"/>
              <a:sym typeface="Quicksand"/>
            </a:endParaRPr>
          </a:p>
        </p:txBody>
      </p:sp>
      <p:sp>
        <p:nvSpPr>
          <p:cNvPr id="23" name="投影片編號版面配置區 1">
            <a:extLst>
              <a:ext uri="{FF2B5EF4-FFF2-40B4-BE49-F238E27FC236}">
                <a16:creationId xmlns:a16="http://schemas.microsoft.com/office/drawing/2014/main" id="{4B6E5F6D-EDBF-7B39-E0F8-26BC8E0CF84B}"/>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solidFill>
                  <a:schemeClr val="bg1"/>
                </a:solidFill>
              </a:rPr>
              <a:pPr/>
              <a:t>11</a:t>
            </a:fld>
            <a:endParaRPr lang="en-US" sz="440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sp>
        <p:nvSpPr>
          <p:cNvPr id="18" name="Freeform 18"/>
          <p:cNvSpPr/>
          <p:nvPr/>
        </p:nvSpPr>
        <p:spPr>
          <a:xfrm>
            <a:off x="252598" y="1135322"/>
            <a:ext cx="7275487" cy="8024982"/>
          </a:xfrm>
          <a:custGeom>
            <a:avLst/>
            <a:gdLst/>
            <a:ahLst/>
            <a:cxnLst/>
            <a:rect l="l" t="t" r="r" b="b"/>
            <a:pathLst>
              <a:path w="7275487" h="8024982">
                <a:moveTo>
                  <a:pt x="0" y="0"/>
                </a:moveTo>
                <a:lnTo>
                  <a:pt x="7275487" y="0"/>
                </a:lnTo>
                <a:lnTo>
                  <a:pt x="7275487" y="8024982"/>
                </a:lnTo>
                <a:lnTo>
                  <a:pt x="0" y="8024982"/>
                </a:lnTo>
                <a:lnTo>
                  <a:pt x="0" y="0"/>
                </a:lnTo>
                <a:close/>
              </a:path>
            </a:pathLst>
          </a:custGeom>
          <a:blipFill>
            <a:blip r:embed="rId9"/>
            <a:stretch>
              <a:fillRect l="-21010" r="-8566"/>
            </a:stretch>
          </a:blipFill>
        </p:spPr>
        <p:txBody>
          <a:bodyPr/>
          <a:lstStyle/>
          <a:p>
            <a:endParaRPr lang="zh-TW" altLang="en-US"/>
          </a:p>
        </p:txBody>
      </p:sp>
      <p:sp>
        <p:nvSpPr>
          <p:cNvPr id="19" name="Freeform 19"/>
          <p:cNvSpPr/>
          <p:nvPr/>
        </p:nvSpPr>
        <p:spPr>
          <a:xfrm>
            <a:off x="7784393" y="146028"/>
            <a:ext cx="10304151" cy="10487685"/>
          </a:xfrm>
          <a:custGeom>
            <a:avLst/>
            <a:gdLst/>
            <a:ahLst/>
            <a:cxnLst/>
            <a:rect l="l" t="t" r="r" b="b"/>
            <a:pathLst>
              <a:path w="10304151" h="10487685">
                <a:moveTo>
                  <a:pt x="0" y="0"/>
                </a:moveTo>
                <a:lnTo>
                  <a:pt x="10304151" y="0"/>
                </a:lnTo>
                <a:lnTo>
                  <a:pt x="10304151" y="10487685"/>
                </a:lnTo>
                <a:lnTo>
                  <a:pt x="0" y="10487685"/>
                </a:lnTo>
                <a:lnTo>
                  <a:pt x="0" y="0"/>
                </a:lnTo>
                <a:close/>
              </a:path>
            </a:pathLst>
          </a:custGeom>
          <a:blipFill>
            <a:blip r:embed="rId10"/>
            <a:stretch>
              <a:fillRect/>
            </a:stretch>
          </a:blipFill>
        </p:spPr>
        <p:txBody>
          <a:bodyPr/>
          <a:lstStyle/>
          <a:p>
            <a:endParaRPr lang="zh-TW" altLang="en-US"/>
          </a:p>
        </p:txBody>
      </p:sp>
      <p:sp>
        <p:nvSpPr>
          <p:cNvPr id="20" name="TextBox 20"/>
          <p:cNvSpPr txBox="1"/>
          <p:nvPr/>
        </p:nvSpPr>
        <p:spPr>
          <a:xfrm>
            <a:off x="479606" y="-171450"/>
            <a:ext cx="10283781"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功能-個人管理</a:t>
            </a:r>
          </a:p>
        </p:txBody>
      </p:sp>
      <p:sp>
        <p:nvSpPr>
          <p:cNvPr id="21" name="TextBox 21"/>
          <p:cNvSpPr txBox="1"/>
          <p:nvPr/>
        </p:nvSpPr>
        <p:spPr>
          <a:xfrm>
            <a:off x="14793643"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3" name="投影片編號版面配置區 1">
            <a:extLst>
              <a:ext uri="{FF2B5EF4-FFF2-40B4-BE49-F238E27FC236}">
                <a16:creationId xmlns:a16="http://schemas.microsoft.com/office/drawing/2014/main" id="{AF924A5D-DC3C-2763-45B1-FEEC02DF4015}"/>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12</a:t>
            </a:fld>
            <a:endParaRPr lang="en-US" sz="4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8285" y="-138882"/>
            <a:ext cx="20348204" cy="10564765"/>
            <a:chOff x="0" y="0"/>
            <a:chExt cx="5359198" cy="2782489"/>
          </a:xfrm>
        </p:grpSpPr>
        <p:sp>
          <p:nvSpPr>
            <p:cNvPr id="3" name="Freeform 3"/>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4" name="TextBox 4"/>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5" name="Group 5"/>
          <p:cNvGrpSpPr/>
          <p:nvPr/>
        </p:nvGrpSpPr>
        <p:grpSpPr>
          <a:xfrm>
            <a:off x="-510256" y="-342401"/>
            <a:ext cx="20772145" cy="10971802"/>
            <a:chOff x="0" y="0"/>
            <a:chExt cx="27696193" cy="14629069"/>
          </a:xfrm>
        </p:grpSpPr>
        <p:sp>
          <p:nvSpPr>
            <p:cNvPr id="6" name="Freeform 6"/>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7" name="Freeform 7"/>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8" name="Freeform 8"/>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9" name="Freeform 9"/>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10" name="Freeform 10"/>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11" name="Freeform 11"/>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12" name="Freeform 1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13" name="Group 13"/>
          <p:cNvGrpSpPr/>
          <p:nvPr/>
        </p:nvGrpSpPr>
        <p:grpSpPr>
          <a:xfrm>
            <a:off x="560157" y="884087"/>
            <a:ext cx="17304722" cy="8374213"/>
            <a:chOff x="0" y="0"/>
            <a:chExt cx="4557622" cy="2205554"/>
          </a:xfrm>
        </p:grpSpPr>
        <p:sp>
          <p:nvSpPr>
            <p:cNvPr id="14" name="Freeform 14"/>
            <p:cNvSpPr/>
            <p:nvPr/>
          </p:nvSpPr>
          <p:spPr>
            <a:xfrm>
              <a:off x="0" y="0"/>
              <a:ext cx="4557622" cy="2205554"/>
            </a:xfrm>
            <a:custGeom>
              <a:avLst/>
              <a:gdLst/>
              <a:ahLst/>
              <a:cxnLst/>
              <a:rect l="l" t="t" r="r" b="b"/>
              <a:pathLst>
                <a:path w="4557622" h="2205554">
                  <a:moveTo>
                    <a:pt x="22817" y="0"/>
                  </a:moveTo>
                  <a:lnTo>
                    <a:pt x="4534805" y="0"/>
                  </a:lnTo>
                  <a:cubicBezTo>
                    <a:pt x="4547407" y="0"/>
                    <a:pt x="4557622" y="10215"/>
                    <a:pt x="4557622" y="22817"/>
                  </a:cubicBezTo>
                  <a:lnTo>
                    <a:pt x="4557622" y="2182737"/>
                  </a:lnTo>
                  <a:cubicBezTo>
                    <a:pt x="4557622" y="2195338"/>
                    <a:pt x="4547407" y="2205554"/>
                    <a:pt x="4534805" y="2205554"/>
                  </a:cubicBezTo>
                  <a:lnTo>
                    <a:pt x="22817" y="2205554"/>
                  </a:lnTo>
                  <a:cubicBezTo>
                    <a:pt x="10215" y="2205554"/>
                    <a:pt x="0" y="2195338"/>
                    <a:pt x="0" y="2182737"/>
                  </a:cubicBezTo>
                  <a:lnTo>
                    <a:pt x="0" y="22817"/>
                  </a:lnTo>
                  <a:cubicBezTo>
                    <a:pt x="0" y="10215"/>
                    <a:pt x="10215" y="0"/>
                    <a:pt x="22817"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4557622" cy="2243654"/>
            </a:xfrm>
            <a:prstGeom prst="rect">
              <a:avLst/>
            </a:prstGeom>
          </p:spPr>
          <p:txBody>
            <a:bodyPr lIns="50800" tIns="50800" rIns="50800" bIns="50800" rtlCol="0" anchor="ctr"/>
            <a:lstStyle/>
            <a:p>
              <a:pPr algn="ctr">
                <a:lnSpc>
                  <a:spcPts val="2120"/>
                </a:lnSpc>
              </a:pPr>
              <a:endParaRPr/>
            </a:p>
          </p:txBody>
        </p:sp>
      </p:grpSp>
      <p:sp>
        <p:nvSpPr>
          <p:cNvPr id="16" name="TextBox 16"/>
          <p:cNvSpPr txBox="1"/>
          <p:nvPr/>
        </p:nvSpPr>
        <p:spPr>
          <a:xfrm>
            <a:off x="1886902" y="3257077"/>
            <a:ext cx="14635649" cy="5204992"/>
          </a:xfrm>
          <a:prstGeom prst="rect">
            <a:avLst/>
          </a:prstGeom>
        </p:spPr>
        <p:txBody>
          <a:bodyPr lIns="0" tIns="0" rIns="0" bIns="0" rtlCol="0" anchor="t">
            <a:spAutoFit/>
          </a:bodyPr>
          <a:lstStyle/>
          <a:p>
            <a:pPr algn="l">
              <a:lnSpc>
                <a:spcPts val="5535"/>
              </a:lnSpc>
            </a:pPr>
            <a:endParaRPr/>
          </a:p>
          <a:p>
            <a:pPr algn="l">
              <a:lnSpc>
                <a:spcPts val="4151"/>
              </a:lnSpc>
            </a:pPr>
            <a:r>
              <a:rPr lang="en-US" sz="3954">
                <a:solidFill>
                  <a:srgbClr val="494F56"/>
                </a:solidFill>
                <a:latin typeface="Quicksand"/>
                <a:ea typeface="Quicksand"/>
                <a:cs typeface="Quicksand"/>
                <a:sym typeface="Quicksand"/>
              </a:rPr>
              <a:t>用戶可快速上傳事件，選擇顯示名稱、事件分類與地點資訊。</a:t>
            </a:r>
          </a:p>
          <a:p>
            <a:pPr algn="l">
              <a:lnSpc>
                <a:spcPts val="4151"/>
              </a:lnSpc>
            </a:pPr>
            <a:endParaRPr lang="en-US" sz="3954">
              <a:solidFill>
                <a:srgbClr val="494F56"/>
              </a:solidFill>
              <a:latin typeface="Quicksand"/>
              <a:ea typeface="Quicksand"/>
              <a:cs typeface="Quicksand"/>
              <a:sym typeface="Quicksand"/>
            </a:endParaRPr>
          </a:p>
          <a:p>
            <a:pPr algn="l">
              <a:lnSpc>
                <a:spcPts val="4151"/>
              </a:lnSpc>
            </a:pPr>
            <a:r>
              <a:rPr lang="en-US" sz="3954">
                <a:solidFill>
                  <a:srgbClr val="494F56"/>
                </a:solidFill>
                <a:latin typeface="Quicksand"/>
                <a:ea typeface="Quicksand"/>
                <a:cs typeface="Quicksand"/>
                <a:sym typeface="Quicksand"/>
              </a:rPr>
              <a:t>經審核通過的資料將顯示於對應分類地圖，使用者進入騷擾事件熱點，也能收到通知，有效協助使用者提高警覺。</a:t>
            </a:r>
          </a:p>
          <a:p>
            <a:pPr algn="l">
              <a:lnSpc>
                <a:spcPts val="4151"/>
              </a:lnSpc>
            </a:pPr>
            <a:endParaRPr lang="en-US" sz="3954">
              <a:solidFill>
                <a:srgbClr val="494F56"/>
              </a:solidFill>
              <a:latin typeface="Quicksand"/>
              <a:ea typeface="Quicksand"/>
              <a:cs typeface="Quicksand"/>
              <a:sym typeface="Quicksand"/>
            </a:endParaRPr>
          </a:p>
          <a:p>
            <a:pPr algn="l">
              <a:lnSpc>
                <a:spcPts val="4151"/>
              </a:lnSpc>
            </a:pPr>
            <a:r>
              <a:rPr lang="en-US" sz="3954">
                <a:solidFill>
                  <a:srgbClr val="494F56"/>
                </a:solidFill>
                <a:latin typeface="Quicksand"/>
                <a:ea typeface="Quicksand"/>
                <a:cs typeface="Quicksand"/>
                <a:sym typeface="Quicksand"/>
              </a:rPr>
              <a:t>回報成功可獲得積分，並可累積用戶等級，提升功能使用意願。</a:t>
            </a:r>
          </a:p>
          <a:p>
            <a:pPr algn="l">
              <a:lnSpc>
                <a:spcPts val="5535"/>
              </a:lnSpc>
            </a:pPr>
            <a:endParaRPr lang="en-US" sz="3954">
              <a:solidFill>
                <a:srgbClr val="494F56"/>
              </a:solidFill>
              <a:latin typeface="Quicksand"/>
              <a:ea typeface="Quicksand"/>
              <a:cs typeface="Quicksand"/>
              <a:sym typeface="Quicksand"/>
            </a:endParaRPr>
          </a:p>
          <a:p>
            <a:pPr algn="l">
              <a:lnSpc>
                <a:spcPts val="5535"/>
              </a:lnSpc>
            </a:pPr>
            <a:endParaRPr lang="en-US" sz="3954">
              <a:solidFill>
                <a:srgbClr val="494F56"/>
              </a:solidFill>
              <a:latin typeface="Quicksand"/>
              <a:ea typeface="Quicksand"/>
              <a:cs typeface="Quicksand"/>
              <a:sym typeface="Quicksand"/>
            </a:endParaRPr>
          </a:p>
        </p:txBody>
      </p:sp>
      <p:sp>
        <p:nvSpPr>
          <p:cNvPr id="17" name="Freeform 17"/>
          <p:cNvSpPr/>
          <p:nvPr/>
        </p:nvSpPr>
        <p:spPr>
          <a:xfrm rot="-997594">
            <a:off x="15020124" y="2737814"/>
            <a:ext cx="6535751" cy="5024359"/>
          </a:xfrm>
          <a:custGeom>
            <a:avLst/>
            <a:gdLst/>
            <a:ahLst/>
            <a:cxnLst/>
            <a:rect l="l" t="t" r="r" b="b"/>
            <a:pathLst>
              <a:path w="6535751" h="5024359">
                <a:moveTo>
                  <a:pt x="0" y="0"/>
                </a:moveTo>
                <a:lnTo>
                  <a:pt x="6535752" y="0"/>
                </a:lnTo>
                <a:lnTo>
                  <a:pt x="6535752" y="5024359"/>
                </a:lnTo>
                <a:lnTo>
                  <a:pt x="0" y="5024359"/>
                </a:lnTo>
                <a:lnTo>
                  <a:pt x="0" y="0"/>
                </a:lnTo>
                <a:close/>
              </a:path>
            </a:pathLst>
          </a:custGeom>
          <a:blipFill>
            <a:blip r:embed="rId6">
              <a:alphaModFix amt="83000"/>
            </a:blip>
            <a:stretch>
              <a:fillRect/>
            </a:stretch>
          </a:blipFill>
        </p:spPr>
        <p:txBody>
          <a:bodyPr/>
          <a:lstStyle/>
          <a:p>
            <a:endParaRPr lang="zh-TW" altLang="en-US"/>
          </a:p>
        </p:txBody>
      </p:sp>
      <p:sp>
        <p:nvSpPr>
          <p:cNvPr id="18" name="TextBox 18"/>
          <p:cNvSpPr txBox="1"/>
          <p:nvPr/>
        </p:nvSpPr>
        <p:spPr>
          <a:xfrm>
            <a:off x="5452258" y="1083574"/>
            <a:ext cx="7383483"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功能-我要填單</a:t>
            </a:r>
          </a:p>
        </p:txBody>
      </p:sp>
      <p:sp>
        <p:nvSpPr>
          <p:cNvPr id="19" name="TextBox 19"/>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報告人:思璇</a:t>
            </a:r>
          </a:p>
        </p:txBody>
      </p:sp>
      <p:sp>
        <p:nvSpPr>
          <p:cNvPr id="20" name="TextBox 20"/>
          <p:cNvSpPr txBox="1"/>
          <p:nvPr/>
        </p:nvSpPr>
        <p:spPr>
          <a:xfrm>
            <a:off x="1886902" y="2572677"/>
            <a:ext cx="14939486" cy="672302"/>
          </a:xfrm>
          <a:prstGeom prst="rect">
            <a:avLst/>
          </a:prstGeom>
        </p:spPr>
        <p:txBody>
          <a:bodyPr lIns="0" tIns="0" rIns="0" bIns="0" rtlCol="0" anchor="t">
            <a:spAutoFit/>
          </a:bodyPr>
          <a:lstStyle/>
          <a:p>
            <a:pPr algn="l">
              <a:lnSpc>
                <a:spcPts val="5535"/>
              </a:lnSpc>
            </a:pPr>
            <a:r>
              <a:rPr lang="en-US" sz="3954" b="1">
                <a:solidFill>
                  <a:srgbClr val="494F56"/>
                </a:solidFill>
                <a:latin typeface="Quicksand Bold"/>
                <a:ea typeface="Quicksand Bold"/>
                <a:cs typeface="Quicksand Bold"/>
                <a:sym typeface="Quicksand Bold"/>
              </a:rPr>
              <a:t>事件填單</a:t>
            </a:r>
          </a:p>
        </p:txBody>
      </p:sp>
      <p:sp>
        <p:nvSpPr>
          <p:cNvPr id="22" name="投影片編號版面配置區 1">
            <a:extLst>
              <a:ext uri="{FF2B5EF4-FFF2-40B4-BE49-F238E27FC236}">
                <a16:creationId xmlns:a16="http://schemas.microsoft.com/office/drawing/2014/main" id="{54723456-C250-2099-3821-298B50C7A5A1}"/>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13</a:t>
            </a:fld>
            <a:endParaRPr lang="en-US" sz="4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4093" b="-14093"/>
            </a:stretch>
          </a:blipFill>
        </p:spPr>
        <p:txBody>
          <a:bodyPr/>
          <a:lstStyle/>
          <a:p>
            <a:endParaRPr lang="zh-TW" altLang="en-US"/>
          </a:p>
        </p:txBody>
      </p:sp>
      <p:sp>
        <p:nvSpPr>
          <p:cNvPr id="3" name="Freeform 3"/>
          <p:cNvSpPr/>
          <p:nvPr/>
        </p:nvSpPr>
        <p:spPr>
          <a:xfrm rot="-997594">
            <a:off x="16379870" y="5839901"/>
            <a:ext cx="3816260" cy="2933750"/>
          </a:xfrm>
          <a:custGeom>
            <a:avLst/>
            <a:gdLst/>
            <a:ahLst/>
            <a:cxnLst/>
            <a:rect l="l" t="t" r="r" b="b"/>
            <a:pathLst>
              <a:path w="3816260" h="2933750">
                <a:moveTo>
                  <a:pt x="0" y="0"/>
                </a:moveTo>
                <a:lnTo>
                  <a:pt x="3816260" y="0"/>
                </a:lnTo>
                <a:lnTo>
                  <a:pt x="3816260" y="2933750"/>
                </a:lnTo>
                <a:lnTo>
                  <a:pt x="0" y="2933750"/>
                </a:lnTo>
                <a:lnTo>
                  <a:pt x="0" y="0"/>
                </a:lnTo>
                <a:close/>
              </a:path>
            </a:pathLst>
          </a:custGeom>
          <a:blipFill>
            <a:blip r:embed="rId3">
              <a:alphaModFix amt="83000"/>
            </a:blip>
            <a:stretch>
              <a:fillRect/>
            </a:stretch>
          </a:blipFill>
        </p:spPr>
        <p:txBody>
          <a:bodyPr/>
          <a:lstStyle/>
          <a:p>
            <a:endParaRPr lang="zh-TW" altLang="en-US"/>
          </a:p>
        </p:txBody>
      </p:sp>
      <p:sp>
        <p:nvSpPr>
          <p:cNvPr id="4" name="TextBox 4"/>
          <p:cNvSpPr txBox="1"/>
          <p:nvPr/>
        </p:nvSpPr>
        <p:spPr>
          <a:xfrm>
            <a:off x="13583828" y="-104775"/>
            <a:ext cx="5456678" cy="890530"/>
          </a:xfrm>
          <a:prstGeom prst="rect">
            <a:avLst/>
          </a:prstGeom>
        </p:spPr>
        <p:txBody>
          <a:bodyPr lIns="0" tIns="0" rIns="0" bIns="0" rtlCol="0" anchor="t">
            <a:spAutoFit/>
          </a:bodyPr>
          <a:lstStyle/>
          <a:p>
            <a:pPr algn="l">
              <a:lnSpc>
                <a:spcPts val="7246"/>
              </a:lnSpc>
            </a:pPr>
            <a:r>
              <a:rPr lang="en-US" sz="5175">
                <a:solidFill>
                  <a:srgbClr val="494F56"/>
                </a:solidFill>
                <a:latin typeface="Quicksand"/>
                <a:ea typeface="Quicksand"/>
                <a:cs typeface="Quicksand"/>
                <a:sym typeface="Quicksand"/>
              </a:rPr>
              <a:t>功能-我要填單</a:t>
            </a:r>
          </a:p>
        </p:txBody>
      </p:sp>
      <p:sp>
        <p:nvSpPr>
          <p:cNvPr id="5" name="TextBox 5"/>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報告人:思璇</a:t>
            </a:r>
          </a:p>
        </p:txBody>
      </p:sp>
      <p:sp>
        <p:nvSpPr>
          <p:cNvPr id="6" name="TextBox 6"/>
          <p:cNvSpPr txBox="1"/>
          <p:nvPr/>
        </p:nvSpPr>
        <p:spPr>
          <a:xfrm>
            <a:off x="1269102" y="8601742"/>
            <a:ext cx="1677114" cy="266332"/>
          </a:xfrm>
          <a:prstGeom prst="rect">
            <a:avLst/>
          </a:prstGeom>
        </p:spPr>
        <p:txBody>
          <a:bodyPr lIns="0" tIns="0" rIns="0" bIns="0" rtlCol="0" anchor="t">
            <a:spAutoFit/>
          </a:bodyPr>
          <a:lstStyle/>
          <a:p>
            <a:pPr algn="ctr">
              <a:lnSpc>
                <a:spcPts val="2120"/>
              </a:lnSpc>
              <a:spcBef>
                <a:spcPct val="0"/>
              </a:spcBef>
            </a:pPr>
            <a:r>
              <a:rPr lang="en-US" sz="1514" b="1">
                <a:solidFill>
                  <a:srgbClr val="494F56"/>
                </a:solidFill>
                <a:latin typeface="Atma Medium"/>
                <a:ea typeface="Atma Medium"/>
                <a:cs typeface="Atma Medium"/>
                <a:sym typeface="Atma Medium"/>
              </a:rPr>
              <a:t>(此圖片僅為示意圖)</a:t>
            </a:r>
          </a:p>
        </p:txBody>
      </p:sp>
      <p:sp>
        <p:nvSpPr>
          <p:cNvPr id="8" name="投影片編號版面配置區 1">
            <a:extLst>
              <a:ext uri="{FF2B5EF4-FFF2-40B4-BE49-F238E27FC236}">
                <a16:creationId xmlns:a16="http://schemas.microsoft.com/office/drawing/2014/main" id="{43B29DA9-A8E5-5EBB-50D2-BD74A95B99B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14</a:t>
            </a:fld>
            <a:endParaRPr lang="en-US" sz="4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8285" y="-138882"/>
            <a:ext cx="20348204" cy="10564765"/>
            <a:chOff x="0" y="0"/>
            <a:chExt cx="5359198" cy="2782489"/>
          </a:xfrm>
        </p:grpSpPr>
        <p:sp>
          <p:nvSpPr>
            <p:cNvPr id="3" name="Freeform 3"/>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4" name="TextBox 4"/>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5" name="Group 5"/>
          <p:cNvGrpSpPr/>
          <p:nvPr/>
        </p:nvGrpSpPr>
        <p:grpSpPr>
          <a:xfrm>
            <a:off x="-510256" y="-342401"/>
            <a:ext cx="20772145" cy="10971802"/>
            <a:chOff x="0" y="0"/>
            <a:chExt cx="27696193" cy="14629069"/>
          </a:xfrm>
        </p:grpSpPr>
        <p:sp>
          <p:nvSpPr>
            <p:cNvPr id="6" name="Freeform 6"/>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7" name="Freeform 7"/>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8" name="Freeform 8"/>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9" name="Freeform 9"/>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10" name="Freeform 10"/>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11" name="Freeform 11"/>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12" name="Freeform 12"/>
          <p:cNvSpPr/>
          <p:nvPr/>
        </p:nvSpPr>
        <p:spPr>
          <a:xfrm>
            <a:off x="9144000" y="3631327"/>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13" name="Group 13"/>
          <p:cNvGrpSpPr/>
          <p:nvPr/>
        </p:nvGrpSpPr>
        <p:grpSpPr>
          <a:xfrm>
            <a:off x="560157" y="884087"/>
            <a:ext cx="17304722" cy="8374213"/>
            <a:chOff x="0" y="0"/>
            <a:chExt cx="4557622" cy="2205554"/>
          </a:xfrm>
        </p:grpSpPr>
        <p:sp>
          <p:nvSpPr>
            <p:cNvPr id="14" name="Freeform 14"/>
            <p:cNvSpPr/>
            <p:nvPr/>
          </p:nvSpPr>
          <p:spPr>
            <a:xfrm>
              <a:off x="0" y="0"/>
              <a:ext cx="4557622" cy="2205554"/>
            </a:xfrm>
            <a:custGeom>
              <a:avLst/>
              <a:gdLst/>
              <a:ahLst/>
              <a:cxnLst/>
              <a:rect l="l" t="t" r="r" b="b"/>
              <a:pathLst>
                <a:path w="4557622" h="2205554">
                  <a:moveTo>
                    <a:pt x="22817" y="0"/>
                  </a:moveTo>
                  <a:lnTo>
                    <a:pt x="4534805" y="0"/>
                  </a:lnTo>
                  <a:cubicBezTo>
                    <a:pt x="4547407" y="0"/>
                    <a:pt x="4557622" y="10215"/>
                    <a:pt x="4557622" y="22817"/>
                  </a:cubicBezTo>
                  <a:lnTo>
                    <a:pt x="4557622" y="2182737"/>
                  </a:lnTo>
                  <a:cubicBezTo>
                    <a:pt x="4557622" y="2195338"/>
                    <a:pt x="4547407" y="2205554"/>
                    <a:pt x="4534805" y="2205554"/>
                  </a:cubicBezTo>
                  <a:lnTo>
                    <a:pt x="22817" y="2205554"/>
                  </a:lnTo>
                  <a:cubicBezTo>
                    <a:pt x="10215" y="2205554"/>
                    <a:pt x="0" y="2195338"/>
                    <a:pt x="0" y="2182737"/>
                  </a:cubicBezTo>
                  <a:lnTo>
                    <a:pt x="0" y="22817"/>
                  </a:lnTo>
                  <a:cubicBezTo>
                    <a:pt x="0" y="10215"/>
                    <a:pt x="10215" y="0"/>
                    <a:pt x="22817"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4557622" cy="2243654"/>
            </a:xfrm>
            <a:prstGeom prst="rect">
              <a:avLst/>
            </a:prstGeom>
          </p:spPr>
          <p:txBody>
            <a:bodyPr lIns="50800" tIns="50800" rIns="50800" bIns="50800" rtlCol="0" anchor="ctr"/>
            <a:lstStyle/>
            <a:p>
              <a:pPr algn="ctr">
                <a:lnSpc>
                  <a:spcPts val="2120"/>
                </a:lnSpc>
              </a:pPr>
              <a:endParaRPr/>
            </a:p>
          </p:txBody>
        </p:sp>
      </p:grpSp>
      <p:sp>
        <p:nvSpPr>
          <p:cNvPr id="16" name="TextBox 16"/>
          <p:cNvSpPr txBox="1"/>
          <p:nvPr/>
        </p:nvSpPr>
        <p:spPr>
          <a:xfrm>
            <a:off x="1886902" y="3257077"/>
            <a:ext cx="14114786" cy="4157242"/>
          </a:xfrm>
          <a:prstGeom prst="rect">
            <a:avLst/>
          </a:prstGeom>
        </p:spPr>
        <p:txBody>
          <a:bodyPr lIns="0" tIns="0" rIns="0" bIns="0" rtlCol="0" anchor="t">
            <a:spAutoFit/>
          </a:bodyPr>
          <a:lstStyle/>
          <a:p>
            <a:pPr algn="l">
              <a:lnSpc>
                <a:spcPts val="5535"/>
              </a:lnSpc>
            </a:pPr>
            <a:endParaRPr dirty="0"/>
          </a:p>
          <a:p>
            <a:pPr algn="l">
              <a:lnSpc>
                <a:spcPts val="4151"/>
              </a:lnSpc>
            </a:pPr>
            <a:r>
              <a:rPr lang="en-US" sz="3954" dirty="0" err="1">
                <a:solidFill>
                  <a:srgbClr val="494F56"/>
                </a:solidFill>
                <a:latin typeface="Quicksand"/>
                <a:ea typeface="Quicksand"/>
                <a:cs typeface="Quicksand"/>
                <a:sym typeface="Quicksand"/>
              </a:rPr>
              <a:t>提供商家申請表單，讓使用者可填寫並上傳商家資訊</a:t>
            </a:r>
            <a:r>
              <a:rPr lang="en-US" sz="3954" dirty="0">
                <a:solidFill>
                  <a:srgbClr val="494F56"/>
                </a:solidFill>
                <a:latin typeface="Quicksand"/>
                <a:ea typeface="Quicksand"/>
                <a:cs typeface="Quicksand"/>
                <a:sym typeface="Quicksand"/>
              </a:rPr>
              <a:t>。</a:t>
            </a:r>
          </a:p>
          <a:p>
            <a:pPr algn="l">
              <a:lnSpc>
                <a:spcPts val="4151"/>
              </a:lnSpc>
            </a:pPr>
            <a:endParaRPr lang="en-US" sz="3954" dirty="0">
              <a:solidFill>
                <a:srgbClr val="494F56"/>
              </a:solidFill>
              <a:latin typeface="Quicksand"/>
              <a:ea typeface="Quicksand"/>
              <a:cs typeface="Quicksand"/>
              <a:sym typeface="Quicksand"/>
            </a:endParaRPr>
          </a:p>
          <a:p>
            <a:pPr algn="l">
              <a:lnSpc>
                <a:spcPts val="4151"/>
              </a:lnSpc>
            </a:pPr>
            <a:r>
              <a:rPr lang="en-US" sz="3954" dirty="0" err="1">
                <a:solidFill>
                  <a:srgbClr val="494F56"/>
                </a:solidFill>
                <a:latin typeface="Quicksand"/>
                <a:ea typeface="Quicksand"/>
                <a:cs typeface="Quicksand"/>
                <a:sym typeface="Quicksand"/>
              </a:rPr>
              <a:t>系統會根據使用時間與位置，顯示附近營業中的安全商家地圖</a:t>
            </a:r>
            <a:r>
              <a:rPr lang="en-US" sz="3954" dirty="0">
                <a:solidFill>
                  <a:srgbClr val="494F56"/>
                </a:solidFill>
                <a:latin typeface="Quicksand"/>
                <a:ea typeface="Quicksand"/>
                <a:cs typeface="Quicksand"/>
                <a:sym typeface="Quicksand"/>
              </a:rPr>
              <a:t>，</a:t>
            </a:r>
          </a:p>
          <a:p>
            <a:pPr algn="l">
              <a:lnSpc>
                <a:spcPts val="4151"/>
              </a:lnSpc>
            </a:pPr>
            <a:r>
              <a:rPr lang="en-US" sz="3954" dirty="0" err="1">
                <a:solidFill>
                  <a:srgbClr val="494F56"/>
                </a:solidFill>
                <a:latin typeface="Quicksand"/>
                <a:ea typeface="Quicksand"/>
                <a:cs typeface="Quicksand"/>
                <a:sym typeface="Quicksand"/>
              </a:rPr>
              <a:t>並可直接點擊商家聯絡電話進行聯繫</a:t>
            </a:r>
            <a:r>
              <a:rPr lang="en-US" sz="3954" dirty="0">
                <a:solidFill>
                  <a:srgbClr val="494F56"/>
                </a:solidFill>
                <a:latin typeface="Quicksand"/>
                <a:ea typeface="Quicksand"/>
                <a:cs typeface="Quicksand"/>
                <a:sym typeface="Quicksand"/>
              </a:rPr>
              <a:t>。</a:t>
            </a:r>
          </a:p>
          <a:p>
            <a:pPr algn="l">
              <a:lnSpc>
                <a:spcPts val="5535"/>
              </a:lnSpc>
            </a:pPr>
            <a:endParaRPr lang="en-US" sz="3954" dirty="0">
              <a:solidFill>
                <a:srgbClr val="494F56"/>
              </a:solidFill>
              <a:latin typeface="Quicksand"/>
              <a:ea typeface="Quicksand"/>
              <a:cs typeface="Quicksand"/>
              <a:sym typeface="Quicksand"/>
            </a:endParaRPr>
          </a:p>
          <a:p>
            <a:pPr algn="l">
              <a:lnSpc>
                <a:spcPts val="5535"/>
              </a:lnSpc>
            </a:pPr>
            <a:endParaRPr lang="en-US" sz="3954" dirty="0">
              <a:solidFill>
                <a:srgbClr val="494F56"/>
              </a:solidFill>
              <a:latin typeface="Quicksand"/>
              <a:ea typeface="Quicksand"/>
              <a:cs typeface="Quicksand"/>
              <a:sym typeface="Quicksand"/>
            </a:endParaRPr>
          </a:p>
        </p:txBody>
      </p:sp>
      <p:sp>
        <p:nvSpPr>
          <p:cNvPr id="17" name="Freeform 17"/>
          <p:cNvSpPr/>
          <p:nvPr/>
        </p:nvSpPr>
        <p:spPr>
          <a:xfrm rot="-997594">
            <a:off x="15020124" y="2737814"/>
            <a:ext cx="6535751" cy="5024359"/>
          </a:xfrm>
          <a:custGeom>
            <a:avLst/>
            <a:gdLst/>
            <a:ahLst/>
            <a:cxnLst/>
            <a:rect l="l" t="t" r="r" b="b"/>
            <a:pathLst>
              <a:path w="6535751" h="5024359">
                <a:moveTo>
                  <a:pt x="0" y="0"/>
                </a:moveTo>
                <a:lnTo>
                  <a:pt x="6535752" y="0"/>
                </a:lnTo>
                <a:lnTo>
                  <a:pt x="6535752" y="5024359"/>
                </a:lnTo>
                <a:lnTo>
                  <a:pt x="0" y="5024359"/>
                </a:lnTo>
                <a:lnTo>
                  <a:pt x="0" y="0"/>
                </a:lnTo>
                <a:close/>
              </a:path>
            </a:pathLst>
          </a:custGeom>
          <a:blipFill>
            <a:blip r:embed="rId6">
              <a:alphaModFix amt="83000"/>
            </a:blip>
            <a:stretch>
              <a:fillRect/>
            </a:stretch>
          </a:blipFill>
        </p:spPr>
        <p:txBody>
          <a:bodyPr/>
          <a:lstStyle/>
          <a:p>
            <a:endParaRPr lang="zh-TW" altLang="en-US"/>
          </a:p>
        </p:txBody>
      </p:sp>
      <p:sp>
        <p:nvSpPr>
          <p:cNvPr id="18" name="TextBox 18"/>
          <p:cNvSpPr txBox="1"/>
          <p:nvPr/>
        </p:nvSpPr>
        <p:spPr>
          <a:xfrm>
            <a:off x="5452258" y="1083574"/>
            <a:ext cx="7383483"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功能-我要填單</a:t>
            </a:r>
          </a:p>
        </p:txBody>
      </p:sp>
      <p:sp>
        <p:nvSpPr>
          <p:cNvPr id="19" name="TextBox 19"/>
          <p:cNvSpPr txBox="1"/>
          <p:nvPr/>
        </p:nvSpPr>
        <p:spPr>
          <a:xfrm>
            <a:off x="1886902" y="2721702"/>
            <a:ext cx="14939486" cy="672302"/>
          </a:xfrm>
          <a:prstGeom prst="rect">
            <a:avLst/>
          </a:prstGeom>
        </p:spPr>
        <p:txBody>
          <a:bodyPr lIns="0" tIns="0" rIns="0" bIns="0" rtlCol="0" anchor="t">
            <a:spAutoFit/>
          </a:bodyPr>
          <a:lstStyle/>
          <a:p>
            <a:pPr algn="l">
              <a:lnSpc>
                <a:spcPts val="5535"/>
              </a:lnSpc>
            </a:pPr>
            <a:r>
              <a:rPr lang="en-US" sz="3954" b="1">
                <a:solidFill>
                  <a:srgbClr val="494F56"/>
                </a:solidFill>
                <a:latin typeface="Quicksand Bold"/>
                <a:ea typeface="Quicksand Bold"/>
                <a:cs typeface="Quicksand Bold"/>
                <a:sym typeface="Quicksand Bold"/>
              </a:rPr>
              <a:t>商家申請填單</a:t>
            </a:r>
          </a:p>
        </p:txBody>
      </p:sp>
      <p:sp>
        <p:nvSpPr>
          <p:cNvPr id="20" name="TextBox 20"/>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報告人:思璇</a:t>
            </a:r>
          </a:p>
        </p:txBody>
      </p:sp>
      <p:sp>
        <p:nvSpPr>
          <p:cNvPr id="22" name="投影片編號版面配置區 1">
            <a:extLst>
              <a:ext uri="{FF2B5EF4-FFF2-40B4-BE49-F238E27FC236}">
                <a16:creationId xmlns:a16="http://schemas.microsoft.com/office/drawing/2014/main" id="{80A0197F-27E6-9592-BD08-6A7E84A222DF}"/>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15</a:t>
            </a:fld>
            <a:endParaRPr lang="en-US" sz="4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7594">
            <a:off x="16379870" y="5839901"/>
            <a:ext cx="3816260" cy="2933750"/>
          </a:xfrm>
          <a:custGeom>
            <a:avLst/>
            <a:gdLst/>
            <a:ahLst/>
            <a:cxnLst/>
            <a:rect l="l" t="t" r="r" b="b"/>
            <a:pathLst>
              <a:path w="3816260" h="2933750">
                <a:moveTo>
                  <a:pt x="0" y="0"/>
                </a:moveTo>
                <a:lnTo>
                  <a:pt x="3816260" y="0"/>
                </a:lnTo>
                <a:lnTo>
                  <a:pt x="3816260" y="2933750"/>
                </a:lnTo>
                <a:lnTo>
                  <a:pt x="0" y="2933750"/>
                </a:lnTo>
                <a:lnTo>
                  <a:pt x="0" y="0"/>
                </a:lnTo>
                <a:close/>
              </a:path>
            </a:pathLst>
          </a:custGeom>
          <a:blipFill>
            <a:blip r:embed="rId2">
              <a:alphaModFix amt="83000"/>
            </a:blip>
            <a:stretch>
              <a:fillRect/>
            </a:stretch>
          </a:blipFill>
        </p:spPr>
        <p:txBody>
          <a:bodyPr/>
          <a:lstStyle/>
          <a:p>
            <a:endParaRPr lang="zh-TW" altLang="en-US"/>
          </a:p>
        </p:txBody>
      </p:sp>
      <p:sp>
        <p:nvSpPr>
          <p:cNvPr id="3" name="Freeform 3"/>
          <p:cNvSpPr/>
          <p:nvPr/>
        </p:nvSpPr>
        <p:spPr>
          <a:xfrm>
            <a:off x="3430087" y="1185908"/>
            <a:ext cx="11406123" cy="8494527"/>
          </a:xfrm>
          <a:custGeom>
            <a:avLst/>
            <a:gdLst/>
            <a:ahLst/>
            <a:cxnLst/>
            <a:rect l="l" t="t" r="r" b="b"/>
            <a:pathLst>
              <a:path w="11406123" h="8494527">
                <a:moveTo>
                  <a:pt x="0" y="0"/>
                </a:moveTo>
                <a:lnTo>
                  <a:pt x="11406123" y="0"/>
                </a:lnTo>
                <a:lnTo>
                  <a:pt x="11406123" y="8494528"/>
                </a:lnTo>
                <a:lnTo>
                  <a:pt x="0" y="8494528"/>
                </a:lnTo>
                <a:lnTo>
                  <a:pt x="0" y="0"/>
                </a:lnTo>
                <a:close/>
              </a:path>
            </a:pathLst>
          </a:custGeom>
          <a:blipFill>
            <a:blip r:embed="rId3"/>
            <a:stretch>
              <a:fillRect l="-1712" r="-1902"/>
            </a:stretch>
          </a:blipFill>
        </p:spPr>
        <p:txBody>
          <a:bodyPr/>
          <a:lstStyle/>
          <a:p>
            <a:endParaRPr lang="zh-TW" altLang="en-US"/>
          </a:p>
        </p:txBody>
      </p:sp>
      <p:sp>
        <p:nvSpPr>
          <p:cNvPr id="4" name="TextBox 4"/>
          <p:cNvSpPr txBox="1"/>
          <p:nvPr/>
        </p:nvSpPr>
        <p:spPr>
          <a:xfrm>
            <a:off x="13583828" y="-104775"/>
            <a:ext cx="5456678" cy="890530"/>
          </a:xfrm>
          <a:prstGeom prst="rect">
            <a:avLst/>
          </a:prstGeom>
        </p:spPr>
        <p:txBody>
          <a:bodyPr lIns="0" tIns="0" rIns="0" bIns="0" rtlCol="0" anchor="t">
            <a:spAutoFit/>
          </a:bodyPr>
          <a:lstStyle/>
          <a:p>
            <a:pPr algn="l">
              <a:lnSpc>
                <a:spcPts val="7246"/>
              </a:lnSpc>
            </a:pPr>
            <a:r>
              <a:rPr lang="en-US" sz="5175">
                <a:solidFill>
                  <a:srgbClr val="494F56"/>
                </a:solidFill>
                <a:latin typeface="Quicksand"/>
                <a:ea typeface="Quicksand"/>
                <a:cs typeface="Quicksand"/>
                <a:sym typeface="Quicksand"/>
              </a:rPr>
              <a:t>功能-我要填單</a:t>
            </a:r>
          </a:p>
        </p:txBody>
      </p:sp>
      <p:sp>
        <p:nvSpPr>
          <p:cNvPr id="5" name="TextBox 5"/>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報告人:思璇</a:t>
            </a:r>
          </a:p>
        </p:txBody>
      </p:sp>
      <p:sp>
        <p:nvSpPr>
          <p:cNvPr id="6" name="TextBox 6"/>
          <p:cNvSpPr txBox="1"/>
          <p:nvPr/>
        </p:nvSpPr>
        <p:spPr>
          <a:xfrm>
            <a:off x="959287" y="9220200"/>
            <a:ext cx="1677114" cy="266332"/>
          </a:xfrm>
          <a:prstGeom prst="rect">
            <a:avLst/>
          </a:prstGeom>
        </p:spPr>
        <p:txBody>
          <a:bodyPr lIns="0" tIns="0" rIns="0" bIns="0" rtlCol="0" anchor="t">
            <a:spAutoFit/>
          </a:bodyPr>
          <a:lstStyle/>
          <a:p>
            <a:pPr algn="ctr">
              <a:lnSpc>
                <a:spcPts val="2120"/>
              </a:lnSpc>
              <a:spcBef>
                <a:spcPct val="0"/>
              </a:spcBef>
            </a:pPr>
            <a:r>
              <a:rPr lang="en-US" sz="1514" b="1">
                <a:solidFill>
                  <a:srgbClr val="494F56"/>
                </a:solidFill>
                <a:latin typeface="Atma Medium"/>
                <a:ea typeface="Atma Medium"/>
                <a:cs typeface="Atma Medium"/>
                <a:sym typeface="Atma Medium"/>
              </a:rPr>
              <a:t>(此圖片僅為示意圖)</a:t>
            </a:r>
          </a:p>
        </p:txBody>
      </p:sp>
      <p:sp>
        <p:nvSpPr>
          <p:cNvPr id="8" name="投影片編號版面配置區 1">
            <a:extLst>
              <a:ext uri="{FF2B5EF4-FFF2-40B4-BE49-F238E27FC236}">
                <a16:creationId xmlns:a16="http://schemas.microsoft.com/office/drawing/2014/main" id="{8523D162-4612-D65D-AF9F-2AE27088CF8E}"/>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16</a:t>
            </a:fld>
            <a:endParaRPr lang="en-US" sz="4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338088"/>
            <a:ext cx="21253286" cy="10763971"/>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5955960" y="971002"/>
            <a:ext cx="12332040" cy="8606817"/>
            <a:chOff x="0" y="0"/>
            <a:chExt cx="3247945" cy="2266816"/>
          </a:xfrm>
        </p:grpSpPr>
        <p:sp>
          <p:nvSpPr>
            <p:cNvPr id="14" name="Freeform 14"/>
            <p:cNvSpPr/>
            <p:nvPr/>
          </p:nvSpPr>
          <p:spPr>
            <a:xfrm>
              <a:off x="0" y="0"/>
              <a:ext cx="3247945" cy="2266816"/>
            </a:xfrm>
            <a:custGeom>
              <a:avLst/>
              <a:gdLst/>
              <a:ahLst/>
              <a:cxnLst/>
              <a:rect l="l" t="t" r="r" b="b"/>
              <a:pathLst>
                <a:path w="3247945" h="2266816">
                  <a:moveTo>
                    <a:pt x="32017" y="0"/>
                  </a:moveTo>
                  <a:lnTo>
                    <a:pt x="3215928" y="0"/>
                  </a:lnTo>
                  <a:cubicBezTo>
                    <a:pt x="3233610" y="0"/>
                    <a:pt x="3247945" y="14335"/>
                    <a:pt x="3247945" y="32017"/>
                  </a:cubicBezTo>
                  <a:lnTo>
                    <a:pt x="3247945" y="2234799"/>
                  </a:lnTo>
                  <a:cubicBezTo>
                    <a:pt x="3247945" y="2243290"/>
                    <a:pt x="3244572" y="2251434"/>
                    <a:pt x="3238567" y="2257438"/>
                  </a:cubicBezTo>
                  <a:cubicBezTo>
                    <a:pt x="3232563" y="2263443"/>
                    <a:pt x="3224419" y="2266816"/>
                    <a:pt x="3215928" y="2266816"/>
                  </a:cubicBezTo>
                  <a:lnTo>
                    <a:pt x="32017" y="2266816"/>
                  </a:lnTo>
                  <a:cubicBezTo>
                    <a:pt x="14335" y="2266816"/>
                    <a:pt x="0" y="2252481"/>
                    <a:pt x="0" y="2234799"/>
                  </a:cubicBezTo>
                  <a:lnTo>
                    <a:pt x="0" y="32017"/>
                  </a:lnTo>
                  <a:cubicBezTo>
                    <a:pt x="0" y="23526"/>
                    <a:pt x="3373" y="15382"/>
                    <a:pt x="9378" y="9378"/>
                  </a:cubicBezTo>
                  <a:cubicBezTo>
                    <a:pt x="15382" y="3373"/>
                    <a:pt x="23526" y="0"/>
                    <a:pt x="32017"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247945" cy="2304916"/>
            </a:xfrm>
            <a:prstGeom prst="rect">
              <a:avLst/>
            </a:prstGeom>
          </p:spPr>
          <p:txBody>
            <a:bodyPr lIns="50800" tIns="50800" rIns="50800" bIns="50800" rtlCol="0" anchor="ctr"/>
            <a:lstStyle/>
            <a:p>
              <a:pPr algn="ctr">
                <a:lnSpc>
                  <a:spcPts val="2120"/>
                </a:lnSpc>
              </a:pPr>
              <a:endParaRPr/>
            </a:p>
          </p:txBody>
        </p:sp>
      </p:grpSp>
      <p:grpSp>
        <p:nvGrpSpPr>
          <p:cNvPr id="16" name="Group 16"/>
          <p:cNvGrpSpPr/>
          <p:nvPr/>
        </p:nvGrpSpPr>
        <p:grpSpPr>
          <a:xfrm rot="92087">
            <a:off x="16028872" y="2862743"/>
            <a:ext cx="2218509" cy="3062805"/>
            <a:chOff x="0" y="0"/>
            <a:chExt cx="2958012" cy="4083741"/>
          </a:xfrm>
        </p:grpSpPr>
        <p:sp>
          <p:nvSpPr>
            <p:cNvPr id="17" name="Freeform 17"/>
            <p:cNvSpPr/>
            <p:nvPr/>
          </p:nvSpPr>
          <p:spPr>
            <a:xfrm>
              <a:off x="0" y="0"/>
              <a:ext cx="2958012" cy="4083741"/>
            </a:xfrm>
            <a:custGeom>
              <a:avLst/>
              <a:gdLst/>
              <a:ahLst/>
              <a:cxnLst/>
              <a:rect l="l" t="t" r="r" b="b"/>
              <a:pathLst>
                <a:path w="2958012" h="4083741">
                  <a:moveTo>
                    <a:pt x="0" y="0"/>
                  </a:moveTo>
                  <a:lnTo>
                    <a:pt x="2958012" y="0"/>
                  </a:lnTo>
                  <a:lnTo>
                    <a:pt x="2958012" y="4083741"/>
                  </a:lnTo>
                  <a:lnTo>
                    <a:pt x="0" y="4083741"/>
                  </a:lnTo>
                  <a:lnTo>
                    <a:pt x="0" y="0"/>
                  </a:lnTo>
                  <a:close/>
                </a:path>
              </a:pathLst>
            </a:custGeom>
            <a:blipFill>
              <a:blip r:embed="rId6">
                <a:alphaModFix amt="91000"/>
              </a:blip>
              <a:stretch>
                <a:fillRect t="-1592" b="-1592"/>
              </a:stretch>
            </a:blipFill>
          </p:spPr>
          <p:txBody>
            <a:bodyPr/>
            <a:lstStyle/>
            <a:p>
              <a:endParaRPr lang="zh-TW" altLang="en-US"/>
            </a:p>
          </p:txBody>
        </p:sp>
        <p:sp>
          <p:nvSpPr>
            <p:cNvPr id="18" name="Freeform 18"/>
            <p:cNvSpPr/>
            <p:nvPr/>
          </p:nvSpPr>
          <p:spPr>
            <a:xfrm rot="-618166">
              <a:off x="920194" y="1519066"/>
              <a:ext cx="1461444" cy="1372477"/>
            </a:xfrm>
            <a:custGeom>
              <a:avLst/>
              <a:gdLst/>
              <a:ahLst/>
              <a:cxnLst/>
              <a:rect l="l" t="t" r="r" b="b"/>
              <a:pathLst>
                <a:path w="1461444" h="1372477">
                  <a:moveTo>
                    <a:pt x="0" y="0"/>
                  </a:moveTo>
                  <a:lnTo>
                    <a:pt x="1461444" y="0"/>
                  </a:lnTo>
                  <a:lnTo>
                    <a:pt x="1461444" y="1372478"/>
                  </a:lnTo>
                  <a:lnTo>
                    <a:pt x="0" y="1372478"/>
                  </a:lnTo>
                  <a:lnTo>
                    <a:pt x="0" y="0"/>
                  </a:lnTo>
                  <a:close/>
                </a:path>
              </a:pathLst>
            </a:custGeom>
            <a:blipFill>
              <a:blip r:embed="rId7">
                <a:alphaModFix amt="80000"/>
                <a:extLst>
                  <a:ext uri="{96DAC541-7B7A-43D3-8B79-37D633B846F1}">
                    <asvg:svgBlip xmlns:asvg="http://schemas.microsoft.com/office/drawing/2016/SVG/main" r:embed="rId8"/>
                  </a:ext>
                </a:extLst>
              </a:blip>
              <a:stretch>
                <a:fillRect/>
              </a:stretch>
            </a:blipFill>
          </p:spPr>
          <p:txBody>
            <a:bodyPr/>
            <a:lstStyle/>
            <a:p>
              <a:endParaRPr lang="zh-TW" altLang="en-US"/>
            </a:p>
          </p:txBody>
        </p:sp>
        <p:sp>
          <p:nvSpPr>
            <p:cNvPr id="19" name="Freeform 19"/>
            <p:cNvSpPr/>
            <p:nvPr/>
          </p:nvSpPr>
          <p:spPr>
            <a:xfrm>
              <a:off x="2174623" y="1186648"/>
              <a:ext cx="224881" cy="212793"/>
            </a:xfrm>
            <a:custGeom>
              <a:avLst/>
              <a:gdLst/>
              <a:ahLst/>
              <a:cxnLst/>
              <a:rect l="l" t="t" r="r" b="b"/>
              <a:pathLst>
                <a:path w="224881" h="212793">
                  <a:moveTo>
                    <a:pt x="0" y="0"/>
                  </a:moveTo>
                  <a:lnTo>
                    <a:pt x="224880" y="0"/>
                  </a:lnTo>
                  <a:lnTo>
                    <a:pt x="224880" y="212793"/>
                  </a:lnTo>
                  <a:lnTo>
                    <a:pt x="0" y="21279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TW" altLang="en-US"/>
            </a:p>
          </p:txBody>
        </p:sp>
        <p:sp>
          <p:nvSpPr>
            <p:cNvPr id="20" name="Freeform 20"/>
            <p:cNvSpPr/>
            <p:nvPr/>
          </p:nvSpPr>
          <p:spPr>
            <a:xfrm>
              <a:off x="1497907" y="2462024"/>
              <a:ext cx="153009" cy="132422"/>
            </a:xfrm>
            <a:custGeom>
              <a:avLst/>
              <a:gdLst/>
              <a:ahLst/>
              <a:cxnLst/>
              <a:rect l="l" t="t" r="r" b="b"/>
              <a:pathLst>
                <a:path w="153009" h="132422">
                  <a:moveTo>
                    <a:pt x="0" y="0"/>
                  </a:moveTo>
                  <a:lnTo>
                    <a:pt x="153009" y="0"/>
                  </a:lnTo>
                  <a:lnTo>
                    <a:pt x="153009" y="132423"/>
                  </a:lnTo>
                  <a:lnTo>
                    <a:pt x="0" y="13242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21" name="Freeform 21"/>
            <p:cNvSpPr/>
            <p:nvPr/>
          </p:nvSpPr>
          <p:spPr>
            <a:xfrm>
              <a:off x="1896723" y="2258997"/>
              <a:ext cx="153009" cy="132422"/>
            </a:xfrm>
            <a:custGeom>
              <a:avLst/>
              <a:gdLst/>
              <a:ahLst/>
              <a:cxnLst/>
              <a:rect l="l" t="t" r="r" b="b"/>
              <a:pathLst>
                <a:path w="153009" h="132422">
                  <a:moveTo>
                    <a:pt x="0" y="0"/>
                  </a:moveTo>
                  <a:lnTo>
                    <a:pt x="153009" y="0"/>
                  </a:lnTo>
                  <a:lnTo>
                    <a:pt x="153009" y="132422"/>
                  </a:lnTo>
                  <a:lnTo>
                    <a:pt x="0" y="1324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22" name="Freeform 22"/>
            <p:cNvSpPr/>
            <p:nvPr/>
          </p:nvSpPr>
          <p:spPr>
            <a:xfrm>
              <a:off x="1973228" y="2072883"/>
              <a:ext cx="153009" cy="132422"/>
            </a:xfrm>
            <a:custGeom>
              <a:avLst/>
              <a:gdLst/>
              <a:ahLst/>
              <a:cxnLst/>
              <a:rect l="l" t="t" r="r" b="b"/>
              <a:pathLst>
                <a:path w="153009" h="132422">
                  <a:moveTo>
                    <a:pt x="0" y="0"/>
                  </a:moveTo>
                  <a:lnTo>
                    <a:pt x="153009" y="0"/>
                  </a:lnTo>
                  <a:lnTo>
                    <a:pt x="153009" y="132422"/>
                  </a:lnTo>
                  <a:lnTo>
                    <a:pt x="0" y="1324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23" name="Freeform 23"/>
            <p:cNvSpPr/>
            <p:nvPr/>
          </p:nvSpPr>
          <p:spPr>
            <a:xfrm>
              <a:off x="1097386" y="2528235"/>
              <a:ext cx="153009" cy="132422"/>
            </a:xfrm>
            <a:custGeom>
              <a:avLst/>
              <a:gdLst/>
              <a:ahLst/>
              <a:cxnLst/>
              <a:rect l="l" t="t" r="r" b="b"/>
              <a:pathLst>
                <a:path w="153009" h="132422">
                  <a:moveTo>
                    <a:pt x="0" y="0"/>
                  </a:moveTo>
                  <a:lnTo>
                    <a:pt x="153009" y="0"/>
                  </a:lnTo>
                  <a:lnTo>
                    <a:pt x="153009" y="132423"/>
                  </a:lnTo>
                  <a:lnTo>
                    <a:pt x="0" y="13242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24" name="Freeform 24"/>
            <p:cNvSpPr/>
            <p:nvPr/>
          </p:nvSpPr>
          <p:spPr>
            <a:xfrm>
              <a:off x="1165883" y="2596733"/>
              <a:ext cx="153009" cy="132422"/>
            </a:xfrm>
            <a:custGeom>
              <a:avLst/>
              <a:gdLst/>
              <a:ahLst/>
              <a:cxnLst/>
              <a:rect l="l" t="t" r="r" b="b"/>
              <a:pathLst>
                <a:path w="153009" h="132422">
                  <a:moveTo>
                    <a:pt x="0" y="0"/>
                  </a:moveTo>
                  <a:lnTo>
                    <a:pt x="153009" y="0"/>
                  </a:lnTo>
                  <a:lnTo>
                    <a:pt x="153009" y="132422"/>
                  </a:lnTo>
                  <a:lnTo>
                    <a:pt x="0" y="1324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25" name="Freeform 25"/>
            <p:cNvSpPr/>
            <p:nvPr/>
          </p:nvSpPr>
          <p:spPr>
            <a:xfrm>
              <a:off x="1250395" y="2258997"/>
              <a:ext cx="153009" cy="132422"/>
            </a:xfrm>
            <a:custGeom>
              <a:avLst/>
              <a:gdLst/>
              <a:ahLst/>
              <a:cxnLst/>
              <a:rect l="l" t="t" r="r" b="b"/>
              <a:pathLst>
                <a:path w="153009" h="132422">
                  <a:moveTo>
                    <a:pt x="0" y="0"/>
                  </a:moveTo>
                  <a:lnTo>
                    <a:pt x="153009" y="0"/>
                  </a:lnTo>
                  <a:lnTo>
                    <a:pt x="153009" y="132422"/>
                  </a:lnTo>
                  <a:lnTo>
                    <a:pt x="0" y="1324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26" name="Freeform 26"/>
            <p:cNvSpPr/>
            <p:nvPr/>
          </p:nvSpPr>
          <p:spPr>
            <a:xfrm>
              <a:off x="2021614" y="2395813"/>
              <a:ext cx="153009" cy="132422"/>
            </a:xfrm>
            <a:custGeom>
              <a:avLst/>
              <a:gdLst/>
              <a:ahLst/>
              <a:cxnLst/>
              <a:rect l="l" t="t" r="r" b="b"/>
              <a:pathLst>
                <a:path w="153009" h="132422">
                  <a:moveTo>
                    <a:pt x="0" y="0"/>
                  </a:moveTo>
                  <a:lnTo>
                    <a:pt x="153009" y="0"/>
                  </a:lnTo>
                  <a:lnTo>
                    <a:pt x="153009" y="132422"/>
                  </a:lnTo>
                  <a:lnTo>
                    <a:pt x="0" y="1324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grpSp>
      <p:sp>
        <p:nvSpPr>
          <p:cNvPr id="27" name="TextBox 27"/>
          <p:cNvSpPr txBox="1"/>
          <p:nvPr/>
        </p:nvSpPr>
        <p:spPr>
          <a:xfrm>
            <a:off x="6136755" y="2689042"/>
            <a:ext cx="11303340" cy="6700347"/>
          </a:xfrm>
          <a:prstGeom prst="rect">
            <a:avLst/>
          </a:prstGeom>
        </p:spPr>
        <p:txBody>
          <a:bodyPr lIns="0" tIns="0" rIns="0" bIns="0" rtlCol="0" anchor="t">
            <a:spAutoFit/>
          </a:bodyPr>
          <a:lstStyle/>
          <a:p>
            <a:pPr algn="ctr">
              <a:lnSpc>
                <a:spcPts val="7114"/>
              </a:lnSpc>
            </a:pPr>
            <a:r>
              <a:rPr lang="en-US" sz="5081" b="1" dirty="0">
                <a:solidFill>
                  <a:srgbClr val="494F56"/>
                </a:solidFill>
                <a:latin typeface="Quicksand Bold"/>
                <a:ea typeface="Quicksand Bold"/>
                <a:cs typeface="Quicksand Bold"/>
                <a:sym typeface="Quicksand Bold"/>
              </a:rPr>
              <a:t>📍 </a:t>
            </a:r>
            <a:r>
              <a:rPr lang="en-US" sz="5081" b="1" dirty="0" err="1">
                <a:solidFill>
                  <a:srgbClr val="494F56"/>
                </a:solidFill>
                <a:latin typeface="Quicksand Bold"/>
                <a:ea typeface="Quicksand Bold"/>
                <a:cs typeface="Quicksand Bold"/>
                <a:sym typeface="Quicksand Bold"/>
              </a:rPr>
              <a:t>我的地圖功能說明</a:t>
            </a:r>
            <a:endParaRPr lang="en-US" sz="5081" b="1" dirty="0">
              <a:solidFill>
                <a:srgbClr val="494F56"/>
              </a:solidFill>
              <a:latin typeface="Quicksand Bold"/>
              <a:ea typeface="Quicksand Bold"/>
              <a:cs typeface="Quicksand Bold"/>
              <a:sym typeface="Quicksand Bold"/>
            </a:endParaRPr>
          </a:p>
          <a:p>
            <a:pPr marL="794909" lvl="1" indent="-397455" algn="l">
              <a:lnSpc>
                <a:spcPts val="5154"/>
              </a:lnSpc>
              <a:buFont typeface="Arial"/>
              <a:buChar char="•"/>
            </a:pPr>
            <a:r>
              <a:rPr lang="en-US" sz="3681" b="1" dirty="0" err="1">
                <a:solidFill>
                  <a:srgbClr val="494F56"/>
                </a:solidFill>
                <a:latin typeface="Quicksand Bold"/>
                <a:ea typeface="Quicksand Bold"/>
                <a:cs typeface="Quicksand Bold"/>
                <a:sym typeface="Quicksand Bold"/>
              </a:rPr>
              <a:t>案件篩選</a:t>
            </a:r>
            <a:endParaRPr lang="en-US" sz="3681" b="1" dirty="0">
              <a:solidFill>
                <a:srgbClr val="494F56"/>
              </a:solidFill>
              <a:latin typeface="Quicksand Bold"/>
              <a:ea typeface="Quicksand Bold"/>
              <a:cs typeface="Quicksand Bold"/>
              <a:sym typeface="Quicksand Bold"/>
            </a:endParaRPr>
          </a:p>
          <a:p>
            <a:pPr algn="l">
              <a:lnSpc>
                <a:spcPts val="5154"/>
              </a:lnSpc>
            </a:pPr>
            <a:r>
              <a:rPr lang="en-US" sz="3681" dirty="0">
                <a:solidFill>
                  <a:srgbClr val="494F56"/>
                </a:solidFill>
                <a:latin typeface="Quicksand"/>
                <a:ea typeface="Quicksand"/>
                <a:cs typeface="Quicksand"/>
                <a:sym typeface="Quicksand"/>
              </a:rPr>
              <a:t>    →</a:t>
            </a:r>
            <a:r>
              <a:rPr lang="en-US" sz="3681" dirty="0" err="1">
                <a:solidFill>
                  <a:srgbClr val="494F56"/>
                </a:solidFill>
                <a:latin typeface="Quicksand"/>
                <a:ea typeface="Quicksand"/>
                <a:cs typeface="Quicksand"/>
                <a:sym typeface="Quicksand"/>
              </a:rPr>
              <a:t>使用者可依案件類型與發生時間自訂篩選條件</a:t>
            </a:r>
            <a:r>
              <a:rPr lang="en-US" sz="3681" dirty="0">
                <a:solidFill>
                  <a:srgbClr val="494F56"/>
                </a:solidFill>
                <a:latin typeface="Quicksand"/>
                <a:ea typeface="Quicksand"/>
                <a:cs typeface="Quicksand"/>
                <a:sym typeface="Quicksand"/>
              </a:rPr>
              <a:t>　</a:t>
            </a:r>
          </a:p>
          <a:p>
            <a:pPr algn="just">
              <a:lnSpc>
                <a:spcPts val="5154"/>
              </a:lnSpc>
            </a:pPr>
            <a:r>
              <a:rPr lang="en-US" sz="3681" dirty="0">
                <a:solidFill>
                  <a:srgbClr val="494F56"/>
                </a:solidFill>
                <a:latin typeface="Quicksand"/>
                <a:ea typeface="Quicksand"/>
                <a:cs typeface="Quicksand"/>
                <a:sym typeface="Quicksand"/>
              </a:rPr>
              <a:t>　　例如：尾隨｜30日內</a:t>
            </a:r>
          </a:p>
          <a:p>
            <a:pPr marL="794909" lvl="1" indent="-397455" algn="l">
              <a:lnSpc>
                <a:spcPts val="5154"/>
              </a:lnSpc>
              <a:buFont typeface="Arial"/>
              <a:buChar char="•"/>
            </a:pPr>
            <a:r>
              <a:rPr lang="en-US" sz="3681" b="1" dirty="0" err="1">
                <a:solidFill>
                  <a:srgbClr val="494F56"/>
                </a:solidFill>
                <a:latin typeface="Quicksand Bold"/>
                <a:ea typeface="Quicksand Bold"/>
                <a:cs typeface="Quicksand Bold"/>
                <a:sym typeface="Quicksand Bold"/>
              </a:rPr>
              <a:t>視覺化熱區分析</a:t>
            </a:r>
            <a:r>
              <a:rPr lang="en-US" sz="3681" dirty="0">
                <a:solidFill>
                  <a:srgbClr val="494F56"/>
                </a:solidFill>
                <a:latin typeface="Quicksand"/>
                <a:ea typeface="Quicksand"/>
                <a:cs typeface="Quicksand"/>
                <a:sym typeface="Quicksand"/>
              </a:rPr>
              <a:t>  </a:t>
            </a:r>
          </a:p>
          <a:p>
            <a:pPr algn="l">
              <a:lnSpc>
                <a:spcPts val="5154"/>
              </a:lnSpc>
            </a:pPr>
            <a:r>
              <a:rPr lang="en-US" sz="3681" dirty="0">
                <a:solidFill>
                  <a:srgbClr val="494F56"/>
                </a:solidFill>
                <a:latin typeface="Quicksand"/>
                <a:ea typeface="Quicksand"/>
                <a:cs typeface="Quicksand"/>
                <a:sym typeface="Quicksand"/>
              </a:rPr>
              <a:t>    →</a:t>
            </a:r>
            <a:r>
              <a:rPr lang="en-US" sz="3681" dirty="0" err="1">
                <a:solidFill>
                  <a:srgbClr val="494F56"/>
                </a:solidFill>
                <a:latin typeface="Quicksand"/>
                <a:ea typeface="Quicksand"/>
                <a:cs typeface="Quicksand"/>
                <a:sym typeface="Quicksand"/>
              </a:rPr>
              <a:t>直觀呈現高風險地點，幫助用戶掌握潛在危險區域</a:t>
            </a:r>
            <a:endParaRPr lang="en-US" sz="3681" dirty="0">
              <a:solidFill>
                <a:srgbClr val="494F56"/>
              </a:solidFill>
              <a:latin typeface="Quicksand"/>
              <a:ea typeface="Quicksand"/>
              <a:cs typeface="Quicksand"/>
              <a:sym typeface="Quicksand"/>
            </a:endParaRPr>
          </a:p>
          <a:p>
            <a:pPr marL="794909" lvl="1" indent="-397455" algn="l">
              <a:lnSpc>
                <a:spcPts val="5154"/>
              </a:lnSpc>
              <a:buFont typeface="Arial"/>
              <a:buChar char="•"/>
            </a:pPr>
            <a:r>
              <a:rPr lang="en-US" sz="3681" b="1" dirty="0" err="1">
                <a:solidFill>
                  <a:srgbClr val="494F56"/>
                </a:solidFill>
                <a:latin typeface="Quicksand Bold"/>
                <a:ea typeface="Quicksand Bold"/>
                <a:cs typeface="Quicksand Bold"/>
                <a:sym typeface="Quicksand Bold"/>
              </a:rPr>
              <a:t>安全路徑規劃</a:t>
            </a:r>
            <a:endParaRPr lang="en-US" sz="3681" b="1" dirty="0">
              <a:solidFill>
                <a:srgbClr val="494F56"/>
              </a:solidFill>
              <a:latin typeface="Quicksand Bold"/>
              <a:ea typeface="Quicksand Bold"/>
              <a:cs typeface="Quicksand Bold"/>
              <a:sym typeface="Quicksand Bold"/>
            </a:endParaRPr>
          </a:p>
          <a:p>
            <a:pPr algn="ctr">
              <a:lnSpc>
                <a:spcPts val="5154"/>
              </a:lnSpc>
            </a:pPr>
            <a:r>
              <a:rPr lang="en-US" sz="3681" b="1" dirty="0">
                <a:solidFill>
                  <a:srgbClr val="494F56"/>
                </a:solidFill>
                <a:latin typeface="Quicksand Bold"/>
                <a:ea typeface="Quicksand Bold"/>
                <a:cs typeface="Quicksand Bold"/>
                <a:sym typeface="Quicksand Bold"/>
              </a:rPr>
              <a:t>    </a:t>
            </a:r>
            <a:r>
              <a:rPr lang="en-US" sz="3681" dirty="0">
                <a:solidFill>
                  <a:srgbClr val="494F56"/>
                </a:solidFill>
                <a:latin typeface="Quicksand"/>
                <a:ea typeface="Quicksand"/>
                <a:cs typeface="Quicksand"/>
                <a:sym typeface="Quicksand"/>
              </a:rPr>
              <a:t>→</a:t>
            </a:r>
            <a:r>
              <a:rPr lang="en-US" sz="3681" dirty="0" err="1">
                <a:solidFill>
                  <a:srgbClr val="494F56"/>
                </a:solidFill>
                <a:latin typeface="Quicksand"/>
                <a:ea typeface="Quicksand"/>
                <a:cs typeface="Quicksand"/>
                <a:sym typeface="Quicksand"/>
              </a:rPr>
              <a:t>根據使用者輸入的起點和目的地結合案件分布</a:t>
            </a:r>
            <a:r>
              <a:rPr lang="en-US" sz="3681" dirty="0">
                <a:solidFill>
                  <a:srgbClr val="494F56"/>
                </a:solidFill>
                <a:latin typeface="Quicksand"/>
                <a:ea typeface="Quicksand"/>
                <a:cs typeface="Quicksand"/>
                <a:sym typeface="Quicksand"/>
              </a:rPr>
              <a:t>，</a:t>
            </a:r>
          </a:p>
          <a:p>
            <a:pPr algn="ctr">
              <a:lnSpc>
                <a:spcPts val="5154"/>
              </a:lnSpc>
            </a:pPr>
            <a:r>
              <a:rPr lang="en-US" sz="3681" dirty="0">
                <a:solidFill>
                  <a:srgbClr val="494F56"/>
                </a:solidFill>
                <a:latin typeface="Quicksand"/>
                <a:ea typeface="Quicksand"/>
                <a:cs typeface="Quicksand"/>
                <a:sym typeface="Quicksand"/>
              </a:rPr>
              <a:t>    </a:t>
            </a:r>
            <a:r>
              <a:rPr lang="en-US" sz="3681" dirty="0" err="1">
                <a:solidFill>
                  <a:srgbClr val="494F56"/>
                </a:solidFill>
                <a:latin typeface="Quicksand"/>
                <a:ea typeface="Quicksand"/>
                <a:cs typeface="Quicksand"/>
                <a:sym typeface="Quicksand"/>
              </a:rPr>
              <a:t>規劃避開危險地點的最佳路線，提升行走安全</a:t>
            </a:r>
            <a:endParaRPr lang="en-US" sz="3681" dirty="0">
              <a:solidFill>
                <a:srgbClr val="494F56"/>
              </a:solidFill>
              <a:latin typeface="Quicksand"/>
              <a:ea typeface="Quicksand"/>
              <a:cs typeface="Quicksand"/>
              <a:sym typeface="Quicksand"/>
            </a:endParaRPr>
          </a:p>
          <a:p>
            <a:pPr algn="l">
              <a:lnSpc>
                <a:spcPts val="5014"/>
              </a:lnSpc>
            </a:pPr>
            <a:endParaRPr lang="en-US" sz="3681" dirty="0">
              <a:solidFill>
                <a:srgbClr val="494F56"/>
              </a:solidFill>
              <a:latin typeface="Quicksand"/>
              <a:ea typeface="Quicksand"/>
              <a:cs typeface="Quicksand"/>
              <a:sym typeface="Quicksand"/>
            </a:endParaRPr>
          </a:p>
        </p:txBody>
      </p:sp>
      <p:sp>
        <p:nvSpPr>
          <p:cNvPr id="28" name="Freeform 28"/>
          <p:cNvSpPr/>
          <p:nvPr/>
        </p:nvSpPr>
        <p:spPr>
          <a:xfrm rot="5528538">
            <a:off x="11727020" y="-4243211"/>
            <a:ext cx="14112853" cy="13833742"/>
          </a:xfrm>
          <a:custGeom>
            <a:avLst/>
            <a:gdLst/>
            <a:ahLst/>
            <a:cxnLst/>
            <a:rect l="l" t="t" r="r" b="b"/>
            <a:pathLst>
              <a:path w="14112853" h="13833742">
                <a:moveTo>
                  <a:pt x="0" y="0"/>
                </a:moveTo>
                <a:lnTo>
                  <a:pt x="14112853" y="0"/>
                </a:lnTo>
                <a:lnTo>
                  <a:pt x="14112853" y="13833742"/>
                </a:lnTo>
                <a:lnTo>
                  <a:pt x="0" y="13833742"/>
                </a:lnTo>
                <a:lnTo>
                  <a:pt x="0" y="0"/>
                </a:lnTo>
                <a:close/>
              </a:path>
            </a:pathLst>
          </a:custGeom>
          <a:blipFill>
            <a:blip r:embed="rId13">
              <a:alphaModFix amt="39000"/>
              <a:extLst>
                <a:ext uri="{96DAC541-7B7A-43D3-8B79-37D633B846F1}">
                  <asvg:svgBlip xmlns:asvg="http://schemas.microsoft.com/office/drawing/2016/SVG/main" r:embed="rId14"/>
                </a:ext>
              </a:extLst>
            </a:blip>
            <a:stretch>
              <a:fillRect/>
            </a:stretch>
          </a:blipFill>
        </p:spPr>
        <p:txBody>
          <a:bodyPr/>
          <a:lstStyle/>
          <a:p>
            <a:endParaRPr lang="zh-TW" altLang="en-US"/>
          </a:p>
        </p:txBody>
      </p:sp>
      <p:sp>
        <p:nvSpPr>
          <p:cNvPr id="29" name="Freeform 29"/>
          <p:cNvSpPr/>
          <p:nvPr/>
        </p:nvSpPr>
        <p:spPr>
          <a:xfrm>
            <a:off x="267285" y="971002"/>
            <a:ext cx="5479869" cy="8606817"/>
          </a:xfrm>
          <a:custGeom>
            <a:avLst/>
            <a:gdLst/>
            <a:ahLst/>
            <a:cxnLst/>
            <a:rect l="l" t="t" r="r" b="b"/>
            <a:pathLst>
              <a:path w="5479869" h="8606817">
                <a:moveTo>
                  <a:pt x="0" y="0"/>
                </a:moveTo>
                <a:lnTo>
                  <a:pt x="5479869" y="0"/>
                </a:lnTo>
                <a:lnTo>
                  <a:pt x="5479869" y="8606817"/>
                </a:lnTo>
                <a:lnTo>
                  <a:pt x="0" y="8606817"/>
                </a:lnTo>
                <a:lnTo>
                  <a:pt x="0" y="0"/>
                </a:lnTo>
                <a:close/>
              </a:path>
            </a:pathLst>
          </a:custGeom>
          <a:blipFill>
            <a:blip r:embed="rId15"/>
            <a:stretch>
              <a:fillRect l="-3435" r="-3435"/>
            </a:stretch>
          </a:blipFill>
        </p:spPr>
        <p:txBody>
          <a:bodyPr/>
          <a:lstStyle/>
          <a:p>
            <a:endParaRPr lang="zh-TW" altLang="en-US"/>
          </a:p>
        </p:txBody>
      </p:sp>
      <p:sp>
        <p:nvSpPr>
          <p:cNvPr id="30" name="TextBox 30"/>
          <p:cNvSpPr txBox="1"/>
          <p:nvPr/>
        </p:nvSpPr>
        <p:spPr>
          <a:xfrm>
            <a:off x="6646535" y="946389"/>
            <a:ext cx="10283781"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功能-我的地圖</a:t>
            </a:r>
          </a:p>
        </p:txBody>
      </p:sp>
      <p:sp>
        <p:nvSpPr>
          <p:cNvPr id="31" name="TextBox 31"/>
          <p:cNvSpPr txBox="1"/>
          <p:nvPr/>
        </p:nvSpPr>
        <p:spPr>
          <a:xfrm>
            <a:off x="14919011"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報告人:雨琦</a:t>
            </a:r>
          </a:p>
        </p:txBody>
      </p:sp>
      <p:sp>
        <p:nvSpPr>
          <p:cNvPr id="32" name="Freeform 32"/>
          <p:cNvSpPr/>
          <p:nvPr/>
        </p:nvSpPr>
        <p:spPr>
          <a:xfrm rot="5528538">
            <a:off x="11879420" y="-4090811"/>
            <a:ext cx="14112853" cy="13833742"/>
          </a:xfrm>
          <a:custGeom>
            <a:avLst/>
            <a:gdLst/>
            <a:ahLst/>
            <a:cxnLst/>
            <a:rect l="l" t="t" r="r" b="b"/>
            <a:pathLst>
              <a:path w="14112853" h="13833742">
                <a:moveTo>
                  <a:pt x="0" y="0"/>
                </a:moveTo>
                <a:lnTo>
                  <a:pt x="14112853" y="0"/>
                </a:lnTo>
                <a:lnTo>
                  <a:pt x="14112853" y="13833742"/>
                </a:lnTo>
                <a:lnTo>
                  <a:pt x="0" y="13833742"/>
                </a:lnTo>
                <a:lnTo>
                  <a:pt x="0" y="0"/>
                </a:lnTo>
                <a:close/>
              </a:path>
            </a:pathLst>
          </a:custGeom>
          <a:blipFill>
            <a:blip r:embed="rId13">
              <a:alphaModFix amt="39000"/>
              <a:extLst>
                <a:ext uri="{96DAC541-7B7A-43D3-8B79-37D633B846F1}">
                  <asvg:svgBlip xmlns:asvg="http://schemas.microsoft.com/office/drawing/2016/SVG/main" r:embed="rId14"/>
                </a:ext>
              </a:extLst>
            </a:blip>
            <a:stretch>
              <a:fillRect/>
            </a:stretch>
          </a:blipFill>
        </p:spPr>
        <p:txBody>
          <a:bodyPr/>
          <a:lstStyle/>
          <a:p>
            <a:endParaRPr lang="zh-TW" altLang="en-US"/>
          </a:p>
        </p:txBody>
      </p:sp>
      <p:sp>
        <p:nvSpPr>
          <p:cNvPr id="33" name="TextBox 33"/>
          <p:cNvSpPr txBox="1"/>
          <p:nvPr/>
        </p:nvSpPr>
        <p:spPr>
          <a:xfrm>
            <a:off x="1028700" y="9621911"/>
            <a:ext cx="3727450" cy="562472"/>
          </a:xfrm>
          <a:prstGeom prst="rect">
            <a:avLst/>
          </a:prstGeom>
        </p:spPr>
        <p:txBody>
          <a:bodyPr lIns="0" tIns="0" rIns="0" bIns="0" rtlCol="0" anchor="t">
            <a:spAutoFit/>
          </a:bodyPr>
          <a:lstStyle/>
          <a:p>
            <a:pPr algn="ctr">
              <a:lnSpc>
                <a:spcPts val="4697"/>
              </a:lnSpc>
              <a:spcBef>
                <a:spcPct val="0"/>
              </a:spcBef>
            </a:pPr>
            <a:r>
              <a:rPr lang="en-US" sz="3355">
                <a:solidFill>
                  <a:srgbClr val="494F56"/>
                </a:solidFill>
                <a:latin typeface="Quicksand"/>
                <a:ea typeface="Quicksand"/>
                <a:cs typeface="Quicksand"/>
                <a:sym typeface="Quicksand"/>
              </a:rPr>
              <a:t>(此圖片僅為示意圖)</a:t>
            </a:r>
          </a:p>
        </p:txBody>
      </p:sp>
      <p:sp>
        <p:nvSpPr>
          <p:cNvPr id="35" name="投影片編號版面配置區 1">
            <a:extLst>
              <a:ext uri="{FF2B5EF4-FFF2-40B4-BE49-F238E27FC236}">
                <a16:creationId xmlns:a16="http://schemas.microsoft.com/office/drawing/2014/main" id="{77F9C529-62F3-18F4-828A-433059197330}"/>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17</a:t>
            </a:fld>
            <a:endParaRPr lang="en-US" sz="4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5910481" y="862621"/>
            <a:ext cx="11901385" cy="8598783"/>
            <a:chOff x="0" y="0"/>
            <a:chExt cx="3134521" cy="2264700"/>
          </a:xfrm>
        </p:grpSpPr>
        <p:sp>
          <p:nvSpPr>
            <p:cNvPr id="14" name="Freeform 14"/>
            <p:cNvSpPr/>
            <p:nvPr/>
          </p:nvSpPr>
          <p:spPr>
            <a:xfrm>
              <a:off x="0" y="0"/>
              <a:ext cx="3134521" cy="2264700"/>
            </a:xfrm>
            <a:custGeom>
              <a:avLst/>
              <a:gdLst/>
              <a:ahLst/>
              <a:cxnLst/>
              <a:rect l="l" t="t" r="r" b="b"/>
              <a:pathLst>
                <a:path w="3134521" h="2264700">
                  <a:moveTo>
                    <a:pt x="33176" y="0"/>
                  </a:moveTo>
                  <a:lnTo>
                    <a:pt x="3101345" y="0"/>
                  </a:lnTo>
                  <a:cubicBezTo>
                    <a:pt x="3110144" y="0"/>
                    <a:pt x="3118583" y="3495"/>
                    <a:pt x="3124804" y="9717"/>
                  </a:cubicBezTo>
                  <a:cubicBezTo>
                    <a:pt x="3131026" y="15939"/>
                    <a:pt x="3134521" y="24377"/>
                    <a:pt x="3134521" y="33176"/>
                  </a:cubicBezTo>
                  <a:lnTo>
                    <a:pt x="3134521" y="2231524"/>
                  </a:lnTo>
                  <a:cubicBezTo>
                    <a:pt x="3134521" y="2240323"/>
                    <a:pt x="3131026" y="2248761"/>
                    <a:pt x="3124804" y="2254983"/>
                  </a:cubicBezTo>
                  <a:cubicBezTo>
                    <a:pt x="3118583" y="2261205"/>
                    <a:pt x="3110144" y="2264700"/>
                    <a:pt x="3101345" y="2264700"/>
                  </a:cubicBezTo>
                  <a:lnTo>
                    <a:pt x="33176" y="2264700"/>
                  </a:lnTo>
                  <a:cubicBezTo>
                    <a:pt x="24377" y="2264700"/>
                    <a:pt x="15939" y="2261205"/>
                    <a:pt x="9717" y="2254983"/>
                  </a:cubicBezTo>
                  <a:cubicBezTo>
                    <a:pt x="3495" y="2248761"/>
                    <a:pt x="0" y="2240323"/>
                    <a:pt x="0" y="2231524"/>
                  </a:cubicBezTo>
                  <a:lnTo>
                    <a:pt x="0" y="33176"/>
                  </a:lnTo>
                  <a:cubicBezTo>
                    <a:pt x="0" y="24377"/>
                    <a:pt x="3495" y="15939"/>
                    <a:pt x="9717" y="9717"/>
                  </a:cubicBezTo>
                  <a:cubicBezTo>
                    <a:pt x="15939" y="3495"/>
                    <a:pt x="24377" y="0"/>
                    <a:pt x="33176"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134521" cy="2302800"/>
            </a:xfrm>
            <a:prstGeom prst="rect">
              <a:avLst/>
            </a:prstGeom>
          </p:spPr>
          <p:txBody>
            <a:bodyPr lIns="50800" tIns="50800" rIns="50800" bIns="50800" rtlCol="0" anchor="ctr"/>
            <a:lstStyle/>
            <a:p>
              <a:pPr algn="ctr">
                <a:lnSpc>
                  <a:spcPts val="2120"/>
                </a:lnSpc>
              </a:pPr>
              <a:endParaRPr/>
            </a:p>
          </p:txBody>
        </p:sp>
      </p:grpSp>
      <p:sp>
        <p:nvSpPr>
          <p:cNvPr id="16" name="TextBox 16"/>
          <p:cNvSpPr txBox="1"/>
          <p:nvPr/>
        </p:nvSpPr>
        <p:spPr>
          <a:xfrm>
            <a:off x="6384239" y="2456249"/>
            <a:ext cx="10922686" cy="7005155"/>
          </a:xfrm>
          <a:prstGeom prst="rect">
            <a:avLst/>
          </a:prstGeom>
        </p:spPr>
        <p:txBody>
          <a:bodyPr lIns="0" tIns="0" rIns="0" bIns="0" rtlCol="0" anchor="t">
            <a:spAutoFit/>
          </a:bodyPr>
          <a:lstStyle/>
          <a:p>
            <a:pPr algn="just">
              <a:lnSpc>
                <a:spcPts val="6204"/>
              </a:lnSpc>
            </a:pPr>
            <a:r>
              <a:rPr lang="en-US" sz="4431" b="1">
                <a:solidFill>
                  <a:srgbClr val="494F56"/>
                </a:solidFill>
                <a:latin typeface="Quicksand Bold"/>
                <a:ea typeface="Quicksand Bold"/>
                <a:cs typeface="Quicksand Bold"/>
                <a:sym typeface="Quicksand Bold"/>
              </a:rPr>
              <a:t>🛟 快速避難空間機制</a:t>
            </a:r>
          </a:p>
          <a:p>
            <a:pPr marL="956760" lvl="1" indent="-478380" algn="l">
              <a:lnSpc>
                <a:spcPts val="6204"/>
              </a:lnSpc>
              <a:buFont typeface="Arial"/>
              <a:buChar char="•"/>
            </a:pPr>
            <a:r>
              <a:rPr lang="en-US" sz="4431">
                <a:solidFill>
                  <a:srgbClr val="494F56"/>
                </a:solidFill>
                <a:latin typeface="Quicksand"/>
                <a:ea typeface="Quicksand"/>
                <a:cs typeface="Quicksand"/>
                <a:sym typeface="Quicksand"/>
              </a:rPr>
              <a:t>臨時避難空間查詢</a:t>
            </a:r>
          </a:p>
          <a:p>
            <a:pPr algn="just">
              <a:lnSpc>
                <a:spcPts val="6204"/>
              </a:lnSpc>
            </a:pPr>
            <a:r>
              <a:rPr lang="en-US" sz="4431">
                <a:solidFill>
                  <a:srgbClr val="494F56"/>
                </a:solidFill>
                <a:latin typeface="Quicksand"/>
                <a:ea typeface="Quicksand"/>
                <a:cs typeface="Quicksand"/>
                <a:sym typeface="Quicksand"/>
              </a:rPr>
              <a:t>     →可即時檢視附近「已認證」且「目前時段開放」的避難店家</a:t>
            </a:r>
          </a:p>
          <a:p>
            <a:pPr algn="just">
              <a:lnSpc>
                <a:spcPts val="6204"/>
              </a:lnSpc>
            </a:pPr>
            <a:endParaRPr lang="en-US" sz="4431">
              <a:solidFill>
                <a:srgbClr val="494F56"/>
              </a:solidFill>
              <a:latin typeface="Quicksand"/>
              <a:ea typeface="Quicksand"/>
              <a:cs typeface="Quicksand"/>
              <a:sym typeface="Quicksand"/>
            </a:endParaRPr>
          </a:p>
          <a:p>
            <a:pPr algn="l">
              <a:lnSpc>
                <a:spcPts val="6484"/>
              </a:lnSpc>
            </a:pPr>
            <a:r>
              <a:rPr lang="en-US" sz="4631">
                <a:solidFill>
                  <a:srgbClr val="494F56"/>
                </a:solidFill>
                <a:latin typeface="Quicksand"/>
                <a:ea typeface="Quicksand"/>
                <a:cs typeface="Quicksand"/>
                <a:sym typeface="Quicksand"/>
              </a:rPr>
              <a:t>       </a:t>
            </a:r>
            <a:r>
              <a:rPr lang="en-US" sz="4631" b="1">
                <a:solidFill>
                  <a:srgbClr val="494F56"/>
                </a:solidFill>
                <a:latin typeface="Quicksand Bold"/>
                <a:ea typeface="Quicksand Bold"/>
                <a:cs typeface="Quicksand Bold"/>
                <a:sym typeface="Quicksand Bold"/>
              </a:rPr>
              <a:t>商家申請機制</a:t>
            </a:r>
          </a:p>
          <a:p>
            <a:pPr algn="l">
              <a:lnSpc>
                <a:spcPts val="6204"/>
              </a:lnSpc>
            </a:pPr>
            <a:r>
              <a:rPr lang="en-US" sz="4431">
                <a:solidFill>
                  <a:srgbClr val="494F56"/>
                </a:solidFill>
                <a:latin typeface="Quicksand"/>
                <a:ea typeface="Quicksand"/>
                <a:cs typeface="Quicksand"/>
                <a:sym typeface="Quicksand"/>
              </a:rPr>
              <a:t>     →通過認證後</a:t>
            </a:r>
          </a:p>
          <a:p>
            <a:pPr algn="l">
              <a:lnSpc>
                <a:spcPts val="6204"/>
              </a:lnSpc>
            </a:pPr>
            <a:r>
              <a:rPr lang="en-US" sz="4431">
                <a:solidFill>
                  <a:srgbClr val="494F56"/>
                </a:solidFill>
                <a:latin typeface="Quicksand"/>
                <a:ea typeface="Quicksand"/>
                <a:cs typeface="Quicksand"/>
                <a:sym typeface="Quicksand"/>
              </a:rPr>
              <a:t>店家可獲得一個月免費宣傳，提升參與意願</a:t>
            </a:r>
          </a:p>
          <a:p>
            <a:pPr algn="l">
              <a:lnSpc>
                <a:spcPts val="5924"/>
              </a:lnSpc>
            </a:pPr>
            <a:endParaRPr lang="en-US" sz="4431">
              <a:solidFill>
                <a:srgbClr val="494F56"/>
              </a:solidFill>
              <a:latin typeface="Quicksand"/>
              <a:ea typeface="Quicksand"/>
              <a:cs typeface="Quicksand"/>
              <a:sym typeface="Quicksand"/>
            </a:endParaRPr>
          </a:p>
        </p:txBody>
      </p:sp>
      <p:sp>
        <p:nvSpPr>
          <p:cNvPr id="17" name="Freeform 17"/>
          <p:cNvSpPr/>
          <p:nvPr/>
        </p:nvSpPr>
        <p:spPr>
          <a:xfrm>
            <a:off x="316136" y="862621"/>
            <a:ext cx="5104816" cy="8598783"/>
          </a:xfrm>
          <a:custGeom>
            <a:avLst/>
            <a:gdLst/>
            <a:ahLst/>
            <a:cxnLst/>
            <a:rect l="l" t="t" r="r" b="b"/>
            <a:pathLst>
              <a:path w="5104816" h="8598783">
                <a:moveTo>
                  <a:pt x="0" y="0"/>
                </a:moveTo>
                <a:lnTo>
                  <a:pt x="5104816" y="0"/>
                </a:lnTo>
                <a:lnTo>
                  <a:pt x="5104816" y="8598783"/>
                </a:lnTo>
                <a:lnTo>
                  <a:pt x="0" y="8598783"/>
                </a:lnTo>
                <a:lnTo>
                  <a:pt x="0" y="0"/>
                </a:lnTo>
                <a:close/>
              </a:path>
            </a:pathLst>
          </a:custGeom>
          <a:blipFill>
            <a:blip r:embed="rId6"/>
            <a:stretch>
              <a:fillRect t="-4010" b="-4101"/>
            </a:stretch>
          </a:blipFill>
        </p:spPr>
        <p:txBody>
          <a:bodyPr/>
          <a:lstStyle/>
          <a:p>
            <a:endParaRPr lang="zh-TW" altLang="en-US"/>
          </a:p>
        </p:txBody>
      </p:sp>
      <p:sp>
        <p:nvSpPr>
          <p:cNvPr id="18" name="Freeform 18"/>
          <p:cNvSpPr/>
          <p:nvPr/>
        </p:nvSpPr>
        <p:spPr>
          <a:xfrm>
            <a:off x="6467795" y="6385704"/>
            <a:ext cx="500226" cy="517151"/>
          </a:xfrm>
          <a:custGeom>
            <a:avLst/>
            <a:gdLst/>
            <a:ahLst/>
            <a:cxnLst/>
            <a:rect l="l" t="t" r="r" b="b"/>
            <a:pathLst>
              <a:path w="500226" h="517151">
                <a:moveTo>
                  <a:pt x="0" y="0"/>
                </a:moveTo>
                <a:lnTo>
                  <a:pt x="500226" y="0"/>
                </a:lnTo>
                <a:lnTo>
                  <a:pt x="500226" y="517152"/>
                </a:lnTo>
                <a:lnTo>
                  <a:pt x="0" y="5171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sp>
        <p:nvSpPr>
          <p:cNvPr id="19" name="TextBox 19"/>
          <p:cNvSpPr txBox="1"/>
          <p:nvPr/>
        </p:nvSpPr>
        <p:spPr>
          <a:xfrm>
            <a:off x="6968021" y="864944"/>
            <a:ext cx="10283781"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功能-安全合作商家</a:t>
            </a:r>
          </a:p>
        </p:txBody>
      </p:sp>
      <p:sp>
        <p:nvSpPr>
          <p:cNvPr id="20" name="TextBox 20"/>
          <p:cNvSpPr txBox="1"/>
          <p:nvPr/>
        </p:nvSpPr>
        <p:spPr>
          <a:xfrm>
            <a:off x="1028700" y="9621911"/>
            <a:ext cx="3727450" cy="562472"/>
          </a:xfrm>
          <a:prstGeom prst="rect">
            <a:avLst/>
          </a:prstGeom>
        </p:spPr>
        <p:txBody>
          <a:bodyPr lIns="0" tIns="0" rIns="0" bIns="0" rtlCol="0" anchor="t">
            <a:spAutoFit/>
          </a:bodyPr>
          <a:lstStyle/>
          <a:p>
            <a:pPr algn="ctr">
              <a:lnSpc>
                <a:spcPts val="4697"/>
              </a:lnSpc>
              <a:spcBef>
                <a:spcPct val="0"/>
              </a:spcBef>
            </a:pPr>
            <a:r>
              <a:rPr lang="en-US" sz="3355">
                <a:solidFill>
                  <a:srgbClr val="494F56"/>
                </a:solidFill>
                <a:latin typeface="Quicksand"/>
                <a:ea typeface="Quicksand"/>
                <a:cs typeface="Quicksand"/>
                <a:sym typeface="Quicksand"/>
              </a:rPr>
              <a:t>(此圖片僅為示意圖)</a:t>
            </a:r>
          </a:p>
        </p:txBody>
      </p:sp>
      <p:sp>
        <p:nvSpPr>
          <p:cNvPr id="21" name="TextBox 21"/>
          <p:cNvSpPr txBox="1"/>
          <p:nvPr/>
        </p:nvSpPr>
        <p:spPr>
          <a:xfrm>
            <a:off x="14919011"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報告人:雨琦</a:t>
            </a:r>
          </a:p>
        </p:txBody>
      </p:sp>
      <p:sp>
        <p:nvSpPr>
          <p:cNvPr id="23" name="投影片編號版面配置區 1">
            <a:extLst>
              <a:ext uri="{FF2B5EF4-FFF2-40B4-BE49-F238E27FC236}">
                <a16:creationId xmlns:a16="http://schemas.microsoft.com/office/drawing/2014/main" id="{E53F5FE6-912D-EDD3-B5D6-E70378D24D30}"/>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18</a:t>
            </a:fld>
            <a:endParaRPr lang="en-US" sz="4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653200" y="803080"/>
            <a:ext cx="17324328" cy="8774739"/>
            <a:chOff x="0" y="0"/>
            <a:chExt cx="4562786" cy="2311042"/>
          </a:xfrm>
        </p:grpSpPr>
        <p:sp>
          <p:nvSpPr>
            <p:cNvPr id="14" name="Freeform 14"/>
            <p:cNvSpPr/>
            <p:nvPr/>
          </p:nvSpPr>
          <p:spPr>
            <a:xfrm>
              <a:off x="0" y="0"/>
              <a:ext cx="4562786" cy="2311042"/>
            </a:xfrm>
            <a:custGeom>
              <a:avLst/>
              <a:gdLst/>
              <a:ahLst/>
              <a:cxnLst/>
              <a:rect l="l" t="t" r="r" b="b"/>
              <a:pathLst>
                <a:path w="4562786" h="2311042">
                  <a:moveTo>
                    <a:pt x="22791" y="0"/>
                  </a:moveTo>
                  <a:lnTo>
                    <a:pt x="4539995" y="0"/>
                  </a:lnTo>
                  <a:cubicBezTo>
                    <a:pt x="4552582" y="0"/>
                    <a:pt x="4562786" y="10204"/>
                    <a:pt x="4562786" y="22791"/>
                  </a:cubicBezTo>
                  <a:lnTo>
                    <a:pt x="4562786" y="2288251"/>
                  </a:lnTo>
                  <a:cubicBezTo>
                    <a:pt x="4562786" y="2300838"/>
                    <a:pt x="4552582" y="2311042"/>
                    <a:pt x="4539995" y="2311042"/>
                  </a:cubicBezTo>
                  <a:lnTo>
                    <a:pt x="22791" y="2311042"/>
                  </a:lnTo>
                  <a:cubicBezTo>
                    <a:pt x="10204" y="2311042"/>
                    <a:pt x="0" y="2300838"/>
                    <a:pt x="0" y="2288251"/>
                  </a:cubicBezTo>
                  <a:lnTo>
                    <a:pt x="0" y="22791"/>
                  </a:lnTo>
                  <a:cubicBezTo>
                    <a:pt x="0" y="10204"/>
                    <a:pt x="10204" y="0"/>
                    <a:pt x="22791"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4562786" cy="2349142"/>
            </a:xfrm>
            <a:prstGeom prst="rect">
              <a:avLst/>
            </a:prstGeom>
          </p:spPr>
          <p:txBody>
            <a:bodyPr lIns="50800" tIns="50800" rIns="50800" bIns="50800" rtlCol="0" anchor="ctr"/>
            <a:lstStyle/>
            <a:p>
              <a:pPr algn="ctr">
                <a:lnSpc>
                  <a:spcPts val="2120"/>
                </a:lnSpc>
              </a:pPr>
              <a:endParaRPr/>
            </a:p>
          </p:txBody>
        </p:sp>
      </p:grpSp>
      <p:sp>
        <p:nvSpPr>
          <p:cNvPr id="16" name="TextBox 16"/>
          <p:cNvSpPr txBox="1"/>
          <p:nvPr/>
        </p:nvSpPr>
        <p:spPr>
          <a:xfrm>
            <a:off x="8358975" y="857250"/>
            <a:ext cx="8580286"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功能-匿名聊天室</a:t>
            </a:r>
          </a:p>
        </p:txBody>
      </p:sp>
      <p:grpSp>
        <p:nvGrpSpPr>
          <p:cNvPr id="17" name="Group 17"/>
          <p:cNvGrpSpPr/>
          <p:nvPr/>
        </p:nvGrpSpPr>
        <p:grpSpPr>
          <a:xfrm>
            <a:off x="9144000" y="7885363"/>
            <a:ext cx="6894808" cy="1305057"/>
            <a:chOff x="0" y="0"/>
            <a:chExt cx="1815916" cy="343719"/>
          </a:xfrm>
        </p:grpSpPr>
        <p:sp>
          <p:nvSpPr>
            <p:cNvPr id="18" name="Freeform 18"/>
            <p:cNvSpPr/>
            <p:nvPr/>
          </p:nvSpPr>
          <p:spPr>
            <a:xfrm>
              <a:off x="0" y="0"/>
              <a:ext cx="1815916" cy="343719"/>
            </a:xfrm>
            <a:custGeom>
              <a:avLst/>
              <a:gdLst/>
              <a:ahLst/>
              <a:cxnLst/>
              <a:rect l="l" t="t" r="r" b="b"/>
              <a:pathLst>
                <a:path w="1815916" h="343719">
                  <a:moveTo>
                    <a:pt x="57266" y="0"/>
                  </a:moveTo>
                  <a:lnTo>
                    <a:pt x="1758651" y="0"/>
                  </a:lnTo>
                  <a:cubicBezTo>
                    <a:pt x="1790278" y="0"/>
                    <a:pt x="1815916" y="25639"/>
                    <a:pt x="1815916" y="57266"/>
                  </a:cubicBezTo>
                  <a:lnTo>
                    <a:pt x="1815916" y="286453"/>
                  </a:lnTo>
                  <a:cubicBezTo>
                    <a:pt x="1815916" y="318080"/>
                    <a:pt x="1790278" y="343719"/>
                    <a:pt x="1758651" y="343719"/>
                  </a:cubicBezTo>
                  <a:lnTo>
                    <a:pt x="57266" y="343719"/>
                  </a:lnTo>
                  <a:cubicBezTo>
                    <a:pt x="25639" y="343719"/>
                    <a:pt x="0" y="318080"/>
                    <a:pt x="0" y="286453"/>
                  </a:cubicBezTo>
                  <a:lnTo>
                    <a:pt x="0" y="57266"/>
                  </a:lnTo>
                  <a:cubicBezTo>
                    <a:pt x="0" y="25639"/>
                    <a:pt x="25639" y="0"/>
                    <a:pt x="57266" y="0"/>
                  </a:cubicBezTo>
                  <a:close/>
                </a:path>
              </a:pathLst>
            </a:custGeom>
            <a:solidFill>
              <a:srgbClr val="C9C9C7"/>
            </a:solidFill>
          </p:spPr>
          <p:txBody>
            <a:bodyPr/>
            <a:lstStyle/>
            <a:p>
              <a:endParaRPr lang="zh-TW" altLang="en-US"/>
            </a:p>
          </p:txBody>
        </p:sp>
        <p:sp>
          <p:nvSpPr>
            <p:cNvPr id="19" name="TextBox 19"/>
            <p:cNvSpPr txBox="1"/>
            <p:nvPr/>
          </p:nvSpPr>
          <p:spPr>
            <a:xfrm>
              <a:off x="0" y="-38100"/>
              <a:ext cx="1815916" cy="381819"/>
            </a:xfrm>
            <a:prstGeom prst="rect">
              <a:avLst/>
            </a:prstGeom>
          </p:spPr>
          <p:txBody>
            <a:bodyPr lIns="50800" tIns="50800" rIns="50800" bIns="50800" rtlCol="0" anchor="ctr"/>
            <a:lstStyle/>
            <a:p>
              <a:pPr algn="ctr">
                <a:lnSpc>
                  <a:spcPts val="2120"/>
                </a:lnSpc>
              </a:pPr>
              <a:endParaRPr/>
            </a:p>
          </p:txBody>
        </p:sp>
      </p:grpSp>
      <p:sp>
        <p:nvSpPr>
          <p:cNvPr id="20" name="TextBox 20"/>
          <p:cNvSpPr txBox="1"/>
          <p:nvPr/>
        </p:nvSpPr>
        <p:spPr>
          <a:xfrm>
            <a:off x="8513067" y="2229481"/>
            <a:ext cx="8746233" cy="5956180"/>
          </a:xfrm>
          <a:prstGeom prst="rect">
            <a:avLst/>
          </a:prstGeom>
        </p:spPr>
        <p:txBody>
          <a:bodyPr lIns="0" tIns="0" rIns="0" bIns="0" rtlCol="0" anchor="t">
            <a:spAutoFit/>
          </a:bodyPr>
          <a:lstStyle/>
          <a:p>
            <a:pPr algn="ctr">
              <a:lnSpc>
                <a:spcPts val="8132"/>
              </a:lnSpc>
            </a:pPr>
            <a:r>
              <a:rPr lang="en-US" sz="5808" b="1" dirty="0">
                <a:solidFill>
                  <a:srgbClr val="494F56"/>
                </a:solidFill>
                <a:latin typeface="Quicksand Bold"/>
                <a:ea typeface="Quicksand Bold"/>
                <a:cs typeface="Quicksand Bold"/>
                <a:sym typeface="Quicksand Bold"/>
              </a:rPr>
              <a:t>💬 </a:t>
            </a:r>
            <a:r>
              <a:rPr lang="en-US" sz="5808" b="1" dirty="0" err="1">
                <a:solidFill>
                  <a:srgbClr val="494F56"/>
                </a:solidFill>
                <a:latin typeface="Quicksand Bold"/>
                <a:ea typeface="Quicksand Bold"/>
                <a:cs typeface="Quicksand Bold"/>
                <a:sym typeface="Quicksand Bold"/>
              </a:rPr>
              <a:t>聊天室設計</a:t>
            </a:r>
            <a:endParaRPr lang="en-US" sz="5808" b="1" dirty="0">
              <a:solidFill>
                <a:srgbClr val="494F56"/>
              </a:solidFill>
              <a:latin typeface="Quicksand Bold"/>
              <a:ea typeface="Quicksand Bold"/>
              <a:cs typeface="Quicksand Bold"/>
              <a:sym typeface="Quicksand Bold"/>
            </a:endParaRPr>
          </a:p>
          <a:p>
            <a:pPr marL="875561" lvl="1" indent="-437780" algn="l">
              <a:lnSpc>
                <a:spcPts val="5677"/>
              </a:lnSpc>
              <a:buFont typeface="Arial"/>
              <a:buChar char="•"/>
            </a:pPr>
            <a:r>
              <a:rPr lang="en-US" sz="4055" b="1" dirty="0" err="1">
                <a:solidFill>
                  <a:srgbClr val="494F56"/>
                </a:solidFill>
                <a:latin typeface="Quicksand Bold"/>
                <a:ea typeface="Quicksand Bold"/>
                <a:cs typeface="Quicksand Bold"/>
                <a:sym typeface="Quicksand Bold"/>
              </a:rPr>
              <a:t>聊天室分類</a:t>
            </a:r>
            <a:endParaRPr lang="en-US" sz="4055" b="1" dirty="0">
              <a:solidFill>
                <a:srgbClr val="494F56"/>
              </a:solidFill>
              <a:latin typeface="Quicksand Bold"/>
              <a:ea typeface="Quicksand Bold"/>
              <a:cs typeface="Quicksand Bold"/>
              <a:sym typeface="Quicksand Bold"/>
            </a:endParaRPr>
          </a:p>
          <a:p>
            <a:pPr algn="l">
              <a:lnSpc>
                <a:spcPts val="5677"/>
              </a:lnSpc>
            </a:pPr>
            <a:r>
              <a:rPr lang="en-US" sz="4055" dirty="0">
                <a:solidFill>
                  <a:srgbClr val="494F56"/>
                </a:solidFill>
                <a:latin typeface="Quicksand"/>
                <a:ea typeface="Quicksand"/>
                <a:cs typeface="Quicksand"/>
                <a:sym typeface="Quicksand"/>
              </a:rPr>
              <a:t>    →</a:t>
            </a:r>
            <a:r>
              <a:rPr lang="en-US" sz="4055" dirty="0" err="1">
                <a:solidFill>
                  <a:srgbClr val="494F56"/>
                </a:solidFill>
                <a:latin typeface="Quicksand"/>
                <a:ea typeface="Quicksand"/>
                <a:cs typeface="Quicksand"/>
                <a:sym typeface="Quicksand"/>
              </a:rPr>
              <a:t>依縣市／里別</a:t>
            </a:r>
            <a:endParaRPr lang="en-US" sz="4055" dirty="0">
              <a:solidFill>
                <a:srgbClr val="494F56"/>
              </a:solidFill>
              <a:latin typeface="Quicksand"/>
              <a:ea typeface="Quicksand"/>
              <a:cs typeface="Quicksand"/>
              <a:sym typeface="Quicksand"/>
            </a:endParaRPr>
          </a:p>
          <a:p>
            <a:pPr algn="l">
              <a:lnSpc>
                <a:spcPts val="5677"/>
              </a:lnSpc>
            </a:pPr>
            <a:r>
              <a:rPr lang="en-US" sz="4055" dirty="0">
                <a:solidFill>
                  <a:srgbClr val="494F56"/>
                </a:solidFill>
                <a:latin typeface="Quicksand"/>
                <a:ea typeface="Quicksand"/>
                <a:cs typeface="Quicksand"/>
                <a:sym typeface="Quicksand"/>
              </a:rPr>
              <a:t>    →</a:t>
            </a:r>
            <a:r>
              <a:rPr lang="en-US" sz="4055" dirty="0" err="1">
                <a:solidFill>
                  <a:srgbClr val="494F56"/>
                </a:solidFill>
                <a:latin typeface="Quicksand"/>
                <a:ea typeface="Quicksand"/>
                <a:cs typeface="Quicksand"/>
                <a:sym typeface="Quicksand"/>
              </a:rPr>
              <a:t>可選擇事件類別深入交流</a:t>
            </a:r>
            <a:endParaRPr lang="en-US" sz="4055" dirty="0">
              <a:solidFill>
                <a:srgbClr val="494F56"/>
              </a:solidFill>
              <a:latin typeface="Quicksand"/>
              <a:ea typeface="Quicksand"/>
              <a:cs typeface="Quicksand"/>
              <a:sym typeface="Quicksand"/>
            </a:endParaRPr>
          </a:p>
          <a:p>
            <a:pPr marL="875561" lvl="1" indent="-437780" algn="l">
              <a:lnSpc>
                <a:spcPts val="5677"/>
              </a:lnSpc>
              <a:buFont typeface="Arial"/>
              <a:buChar char="•"/>
            </a:pPr>
            <a:r>
              <a:rPr lang="en-US" sz="4055" b="1" dirty="0" err="1">
                <a:solidFill>
                  <a:srgbClr val="494F56"/>
                </a:solidFill>
                <a:latin typeface="Quicksand Bold"/>
                <a:ea typeface="Quicksand Bold"/>
                <a:cs typeface="Quicksand Bold"/>
                <a:sym typeface="Quicksand Bold"/>
              </a:rPr>
              <a:t>熱門聊天室推薦</a:t>
            </a:r>
            <a:endParaRPr lang="en-US" sz="4055" b="1" dirty="0">
              <a:solidFill>
                <a:srgbClr val="494F56"/>
              </a:solidFill>
              <a:latin typeface="Quicksand Bold"/>
              <a:ea typeface="Quicksand Bold"/>
              <a:cs typeface="Quicksand Bold"/>
              <a:sym typeface="Quicksand Bold"/>
            </a:endParaRPr>
          </a:p>
          <a:p>
            <a:pPr algn="l">
              <a:lnSpc>
                <a:spcPts val="5677"/>
              </a:lnSpc>
            </a:pPr>
            <a:r>
              <a:rPr lang="en-US" sz="4055" dirty="0">
                <a:solidFill>
                  <a:srgbClr val="494F56"/>
                </a:solidFill>
                <a:latin typeface="Quicksand"/>
                <a:ea typeface="Quicksand"/>
                <a:cs typeface="Quicksand"/>
                <a:sym typeface="Quicksand"/>
              </a:rPr>
              <a:t>    →</a:t>
            </a:r>
            <a:r>
              <a:rPr lang="en-US" sz="4055" dirty="0" err="1">
                <a:solidFill>
                  <a:srgbClr val="494F56"/>
                </a:solidFill>
                <a:latin typeface="Quicksand"/>
                <a:ea typeface="Quicksand"/>
                <a:cs typeface="Quicksand"/>
                <a:sym typeface="Quicksand"/>
              </a:rPr>
              <a:t>根據活躍度推薦熱議主題</a:t>
            </a:r>
            <a:endParaRPr lang="en-US" sz="4055" dirty="0">
              <a:solidFill>
                <a:srgbClr val="494F56"/>
              </a:solidFill>
              <a:latin typeface="Quicksand"/>
              <a:ea typeface="Quicksand"/>
              <a:cs typeface="Quicksand"/>
              <a:sym typeface="Quicksand"/>
            </a:endParaRPr>
          </a:p>
          <a:p>
            <a:pPr algn="l">
              <a:lnSpc>
                <a:spcPts val="5677"/>
              </a:lnSpc>
            </a:pPr>
            <a:r>
              <a:rPr lang="en-US" sz="4055" dirty="0">
                <a:solidFill>
                  <a:srgbClr val="494F56"/>
                </a:solidFill>
                <a:latin typeface="Quicksand"/>
                <a:ea typeface="Quicksand"/>
                <a:cs typeface="Quicksand"/>
                <a:sym typeface="Quicksand"/>
              </a:rPr>
              <a:t>    →</a:t>
            </a:r>
            <a:r>
              <a:rPr lang="en-US" sz="4055" dirty="0" err="1">
                <a:solidFill>
                  <a:srgbClr val="494F56"/>
                </a:solidFill>
                <a:latin typeface="Quicksand"/>
                <a:ea typeface="Quicksand"/>
                <a:cs typeface="Quicksand"/>
                <a:sym typeface="Quicksand"/>
              </a:rPr>
              <a:t>一鍵加入，快速參與</a:t>
            </a:r>
            <a:endParaRPr lang="en-US" sz="4055" dirty="0">
              <a:solidFill>
                <a:srgbClr val="494F56"/>
              </a:solidFill>
              <a:latin typeface="Quicksand"/>
              <a:ea typeface="Quicksand"/>
              <a:cs typeface="Quicksand"/>
              <a:sym typeface="Quicksand"/>
            </a:endParaRPr>
          </a:p>
          <a:p>
            <a:pPr algn="l">
              <a:lnSpc>
                <a:spcPts val="5180"/>
              </a:lnSpc>
            </a:pPr>
            <a:endParaRPr lang="en-US" sz="4055" dirty="0">
              <a:solidFill>
                <a:srgbClr val="494F56"/>
              </a:solidFill>
              <a:latin typeface="Quicksand"/>
              <a:ea typeface="Quicksand"/>
              <a:cs typeface="Quicksand"/>
              <a:sym typeface="Quicksand"/>
            </a:endParaRPr>
          </a:p>
        </p:txBody>
      </p:sp>
      <p:sp>
        <p:nvSpPr>
          <p:cNvPr id="21" name="Freeform 21"/>
          <p:cNvSpPr/>
          <p:nvPr/>
        </p:nvSpPr>
        <p:spPr>
          <a:xfrm>
            <a:off x="1028700" y="2651696"/>
            <a:ext cx="7484367" cy="6606604"/>
          </a:xfrm>
          <a:custGeom>
            <a:avLst/>
            <a:gdLst/>
            <a:ahLst/>
            <a:cxnLst/>
            <a:rect l="l" t="t" r="r" b="b"/>
            <a:pathLst>
              <a:path w="7484367" h="6606604">
                <a:moveTo>
                  <a:pt x="0" y="0"/>
                </a:moveTo>
                <a:lnTo>
                  <a:pt x="7484367" y="0"/>
                </a:lnTo>
                <a:lnTo>
                  <a:pt x="7484367" y="6606604"/>
                </a:lnTo>
                <a:lnTo>
                  <a:pt x="0" y="6606604"/>
                </a:lnTo>
                <a:lnTo>
                  <a:pt x="0" y="0"/>
                </a:lnTo>
                <a:close/>
              </a:path>
            </a:pathLst>
          </a:custGeom>
          <a:blipFill>
            <a:blip r:embed="rId6"/>
            <a:stretch>
              <a:fillRect l="-785" r="-785"/>
            </a:stretch>
          </a:blipFill>
        </p:spPr>
        <p:txBody>
          <a:bodyPr/>
          <a:lstStyle/>
          <a:p>
            <a:endParaRPr lang="zh-TW" altLang="en-US"/>
          </a:p>
        </p:txBody>
      </p:sp>
      <p:sp>
        <p:nvSpPr>
          <p:cNvPr id="22" name="TextBox 22"/>
          <p:cNvSpPr txBox="1"/>
          <p:nvPr/>
        </p:nvSpPr>
        <p:spPr>
          <a:xfrm>
            <a:off x="9299049" y="8057164"/>
            <a:ext cx="6584710" cy="904307"/>
          </a:xfrm>
          <a:prstGeom prst="rect">
            <a:avLst/>
          </a:prstGeom>
        </p:spPr>
        <p:txBody>
          <a:bodyPr lIns="0" tIns="0" rIns="0" bIns="0" rtlCol="0" anchor="t">
            <a:spAutoFit/>
          </a:bodyPr>
          <a:lstStyle/>
          <a:p>
            <a:pPr algn="ctr">
              <a:lnSpc>
                <a:spcPts val="3639"/>
              </a:lnSpc>
            </a:pPr>
            <a:r>
              <a:rPr lang="en-US" sz="2599" b="1">
                <a:solidFill>
                  <a:srgbClr val="494F56"/>
                </a:solidFill>
                <a:latin typeface="Quicksand Bold"/>
                <a:ea typeface="Quicksand Bold"/>
                <a:cs typeface="Quicksand Bold"/>
                <a:sym typeface="Quicksand Bold"/>
              </a:rPr>
              <a:t>用戶隱私與平台安全保障 :</a:t>
            </a:r>
          </a:p>
          <a:p>
            <a:pPr algn="ctr">
              <a:lnSpc>
                <a:spcPts val="3639"/>
              </a:lnSpc>
              <a:spcBef>
                <a:spcPct val="0"/>
              </a:spcBef>
            </a:pPr>
            <a:r>
              <a:rPr lang="en-US" sz="2599" b="1">
                <a:solidFill>
                  <a:srgbClr val="494F56"/>
                </a:solidFill>
                <a:latin typeface="Quicksand Bold"/>
                <a:ea typeface="Quicksand Bold"/>
                <a:cs typeface="Quicksand Bold"/>
                <a:sym typeface="Quicksand Bold"/>
              </a:rPr>
              <a:t> 發言內容送出前由 AI 審核，過濾不當言論</a:t>
            </a:r>
          </a:p>
        </p:txBody>
      </p:sp>
      <p:sp>
        <p:nvSpPr>
          <p:cNvPr id="23" name="TextBox 23"/>
          <p:cNvSpPr txBox="1"/>
          <p:nvPr/>
        </p:nvSpPr>
        <p:spPr>
          <a:xfrm>
            <a:off x="1028700" y="9621911"/>
            <a:ext cx="3727450" cy="562472"/>
          </a:xfrm>
          <a:prstGeom prst="rect">
            <a:avLst/>
          </a:prstGeom>
        </p:spPr>
        <p:txBody>
          <a:bodyPr lIns="0" tIns="0" rIns="0" bIns="0" rtlCol="0" anchor="t">
            <a:spAutoFit/>
          </a:bodyPr>
          <a:lstStyle/>
          <a:p>
            <a:pPr algn="ctr">
              <a:lnSpc>
                <a:spcPts val="4697"/>
              </a:lnSpc>
              <a:spcBef>
                <a:spcPct val="0"/>
              </a:spcBef>
            </a:pPr>
            <a:r>
              <a:rPr lang="en-US" sz="3355">
                <a:solidFill>
                  <a:srgbClr val="494F56"/>
                </a:solidFill>
                <a:latin typeface="Quicksand"/>
                <a:ea typeface="Quicksand"/>
                <a:cs typeface="Quicksand"/>
                <a:sym typeface="Quicksand"/>
              </a:rPr>
              <a:t>(此圖片僅為示意圖)</a:t>
            </a:r>
          </a:p>
        </p:txBody>
      </p:sp>
      <p:sp>
        <p:nvSpPr>
          <p:cNvPr id="24" name="TextBox 24"/>
          <p:cNvSpPr txBox="1"/>
          <p:nvPr/>
        </p:nvSpPr>
        <p:spPr>
          <a:xfrm>
            <a:off x="14919011"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報告人:雨琦</a:t>
            </a:r>
          </a:p>
        </p:txBody>
      </p:sp>
      <p:sp>
        <p:nvSpPr>
          <p:cNvPr id="26" name="投影片編號版面配置區 1">
            <a:extLst>
              <a:ext uri="{FF2B5EF4-FFF2-40B4-BE49-F238E27FC236}">
                <a16:creationId xmlns:a16="http://schemas.microsoft.com/office/drawing/2014/main" id="{C3D1E25A-3EC6-A313-2B1C-C4B59FF2BEC5}"/>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4400" dirty="0"/>
          </a:p>
        </p:txBody>
      </p:sp>
      <p:sp>
        <p:nvSpPr>
          <p:cNvPr id="27" name="投影片編號版面配置區 1">
            <a:extLst>
              <a:ext uri="{FF2B5EF4-FFF2-40B4-BE49-F238E27FC236}">
                <a16:creationId xmlns:a16="http://schemas.microsoft.com/office/drawing/2014/main" id="{4CFF451B-2D33-D84C-4611-29C8FBD1BD2F}"/>
              </a:ext>
            </a:extLst>
          </p:cNvPr>
          <p:cNvSpPr>
            <a:spLocks noGrp="1"/>
          </p:cNvSpPr>
          <p:nvPr>
            <p:ph type="sldNum" sz="quarter" idx="12"/>
          </p:nvPr>
        </p:nvSpPr>
        <p:spPr>
          <a:xfrm>
            <a:off x="-1143000" y="9563100"/>
            <a:ext cx="2209800" cy="669925"/>
          </a:xfrm>
        </p:spPr>
        <p:txBody>
          <a:bodyPr/>
          <a:lstStyle/>
          <a:p>
            <a:fld id="{B6F15528-21DE-4FAA-801E-634DDDAF4B2B}" type="slidenum">
              <a:rPr lang="en-US" sz="4400" smtClean="0"/>
              <a:pPr/>
              <a:t>19</a:t>
            </a:fld>
            <a:endParaRPr lang="en-US" sz="4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5530291" y="117305"/>
            <a:ext cx="7246604" cy="9465535"/>
            <a:chOff x="0" y="0"/>
            <a:chExt cx="1908571" cy="2492981"/>
          </a:xfrm>
        </p:grpSpPr>
        <p:sp>
          <p:nvSpPr>
            <p:cNvPr id="14" name="Freeform 14"/>
            <p:cNvSpPr/>
            <p:nvPr/>
          </p:nvSpPr>
          <p:spPr>
            <a:xfrm>
              <a:off x="0" y="0"/>
              <a:ext cx="1908571" cy="2492981"/>
            </a:xfrm>
            <a:custGeom>
              <a:avLst/>
              <a:gdLst/>
              <a:ahLst/>
              <a:cxnLst/>
              <a:rect l="l" t="t" r="r" b="b"/>
              <a:pathLst>
                <a:path w="1908571" h="2492981">
                  <a:moveTo>
                    <a:pt x="54486" y="0"/>
                  </a:moveTo>
                  <a:lnTo>
                    <a:pt x="1854085" y="0"/>
                  </a:lnTo>
                  <a:cubicBezTo>
                    <a:pt x="1868535" y="0"/>
                    <a:pt x="1882394" y="5740"/>
                    <a:pt x="1892612" y="15959"/>
                  </a:cubicBezTo>
                  <a:cubicBezTo>
                    <a:pt x="1902830" y="26177"/>
                    <a:pt x="1908571" y="40035"/>
                    <a:pt x="1908571" y="54486"/>
                  </a:cubicBezTo>
                  <a:lnTo>
                    <a:pt x="1908571" y="2438495"/>
                  </a:lnTo>
                  <a:cubicBezTo>
                    <a:pt x="1908571" y="2452945"/>
                    <a:pt x="1902830" y="2466804"/>
                    <a:pt x="1892612" y="2477022"/>
                  </a:cubicBezTo>
                  <a:cubicBezTo>
                    <a:pt x="1882394" y="2487240"/>
                    <a:pt x="1868535" y="2492981"/>
                    <a:pt x="1854085" y="2492981"/>
                  </a:cubicBezTo>
                  <a:lnTo>
                    <a:pt x="54486" y="2492981"/>
                  </a:lnTo>
                  <a:cubicBezTo>
                    <a:pt x="24394" y="2492981"/>
                    <a:pt x="0" y="2468586"/>
                    <a:pt x="0" y="2438495"/>
                  </a:cubicBezTo>
                  <a:lnTo>
                    <a:pt x="0" y="54486"/>
                  </a:lnTo>
                  <a:cubicBezTo>
                    <a:pt x="0" y="40035"/>
                    <a:pt x="5740" y="26177"/>
                    <a:pt x="15959" y="15959"/>
                  </a:cubicBezTo>
                  <a:cubicBezTo>
                    <a:pt x="26177" y="5740"/>
                    <a:pt x="40035" y="0"/>
                    <a:pt x="54486"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1908571" cy="2531081"/>
            </a:xfrm>
            <a:prstGeom prst="rect">
              <a:avLst/>
            </a:prstGeom>
          </p:spPr>
          <p:txBody>
            <a:bodyPr lIns="50800" tIns="50800" rIns="50800" bIns="50800" rtlCol="0" anchor="ctr"/>
            <a:lstStyle/>
            <a:p>
              <a:pPr algn="ctr">
                <a:lnSpc>
                  <a:spcPts val="2120"/>
                </a:lnSpc>
              </a:pPr>
              <a:endParaRPr/>
            </a:p>
          </p:txBody>
        </p:sp>
      </p:grpSp>
      <p:sp>
        <p:nvSpPr>
          <p:cNvPr id="16" name="TextBox 16"/>
          <p:cNvSpPr txBox="1"/>
          <p:nvPr/>
        </p:nvSpPr>
        <p:spPr>
          <a:xfrm>
            <a:off x="5417733" y="2150521"/>
            <a:ext cx="7020107" cy="4370158"/>
          </a:xfrm>
          <a:prstGeom prst="rect">
            <a:avLst/>
          </a:prstGeom>
        </p:spPr>
        <p:txBody>
          <a:bodyPr lIns="0" tIns="0" rIns="0" bIns="0" rtlCol="0" anchor="t">
            <a:spAutoFit/>
          </a:bodyPr>
          <a:lstStyle/>
          <a:p>
            <a:pPr algn="ctr">
              <a:lnSpc>
                <a:spcPts val="7031"/>
              </a:lnSpc>
            </a:pPr>
            <a:r>
              <a:rPr lang="en-US" sz="5022" b="1">
                <a:solidFill>
                  <a:srgbClr val="494F56"/>
                </a:solidFill>
                <a:latin typeface="Quicksand Bold"/>
                <a:ea typeface="Quicksand Bold"/>
                <a:cs typeface="Quicksand Bold"/>
                <a:sym typeface="Quicksand Bold"/>
              </a:rPr>
              <a:t>設立交流區目的🫂</a:t>
            </a:r>
          </a:p>
          <a:p>
            <a:pPr marL="857649" lvl="1" indent="-428825" algn="l">
              <a:lnSpc>
                <a:spcPts val="5561"/>
              </a:lnSpc>
              <a:buFont typeface="Arial"/>
              <a:buChar char="•"/>
            </a:pPr>
            <a:r>
              <a:rPr lang="en-US" sz="3972">
                <a:solidFill>
                  <a:srgbClr val="494F56"/>
                </a:solidFill>
                <a:latin typeface="Quicksand"/>
                <a:ea typeface="Quicksand"/>
                <a:cs typeface="Quicksand"/>
                <a:sym typeface="Quicksand"/>
              </a:rPr>
              <a:t>使用者可匿名或用暱稱發文</a:t>
            </a:r>
          </a:p>
          <a:p>
            <a:pPr marL="857649" lvl="1" indent="-428825" algn="l">
              <a:lnSpc>
                <a:spcPts val="5561"/>
              </a:lnSpc>
              <a:buFont typeface="Arial"/>
              <a:buChar char="•"/>
            </a:pPr>
            <a:r>
              <a:rPr lang="en-US" sz="3972">
                <a:solidFill>
                  <a:srgbClr val="494F56"/>
                </a:solidFill>
                <a:latin typeface="Quicksand"/>
                <a:ea typeface="Quicksand"/>
                <a:cs typeface="Quicksand"/>
                <a:sym typeface="Quicksand"/>
              </a:rPr>
              <a:t>讓他人提高警覺避免受害</a:t>
            </a:r>
          </a:p>
          <a:p>
            <a:pPr marL="857649" lvl="1" indent="-428825" algn="l">
              <a:lnSpc>
                <a:spcPts val="5561"/>
              </a:lnSpc>
              <a:buFont typeface="Arial"/>
              <a:buChar char="•"/>
            </a:pPr>
            <a:r>
              <a:rPr lang="en-US" sz="3972">
                <a:solidFill>
                  <a:srgbClr val="494F56"/>
                </a:solidFill>
                <a:latin typeface="Quicksand"/>
                <a:ea typeface="Quicksand"/>
                <a:cs typeface="Quicksand"/>
                <a:sym typeface="Quicksand"/>
              </a:rPr>
              <a:t>分享親身經驗或目擊事件</a:t>
            </a:r>
          </a:p>
          <a:p>
            <a:pPr marL="857649" lvl="1" indent="-428825" algn="l">
              <a:lnSpc>
                <a:spcPts val="5561"/>
              </a:lnSpc>
              <a:buFont typeface="Arial"/>
              <a:buChar char="•"/>
            </a:pPr>
            <a:r>
              <a:rPr lang="en-US" sz="3972">
                <a:solidFill>
                  <a:srgbClr val="494F56"/>
                </a:solidFill>
                <a:latin typeface="Quicksand"/>
                <a:ea typeface="Quicksand"/>
                <a:cs typeface="Quicksand"/>
                <a:sym typeface="Quicksand"/>
              </a:rPr>
              <a:t>提醒社區居民注意</a:t>
            </a:r>
          </a:p>
          <a:p>
            <a:pPr marL="857649" lvl="1" indent="-428825" algn="l">
              <a:lnSpc>
                <a:spcPts val="5561"/>
              </a:lnSpc>
              <a:buFont typeface="Arial"/>
              <a:buChar char="•"/>
            </a:pPr>
            <a:r>
              <a:rPr lang="en-US" sz="3972">
                <a:solidFill>
                  <a:srgbClr val="494F56"/>
                </a:solidFill>
                <a:latin typeface="Quicksand"/>
                <a:ea typeface="Quicksand"/>
                <a:cs typeface="Quicksand"/>
                <a:sym typeface="Quicksand"/>
              </a:rPr>
              <a:t>抒發情緒與壓力</a:t>
            </a:r>
          </a:p>
        </p:txBody>
      </p:sp>
      <p:sp>
        <p:nvSpPr>
          <p:cNvPr id="17" name="Freeform 17"/>
          <p:cNvSpPr/>
          <p:nvPr/>
        </p:nvSpPr>
        <p:spPr>
          <a:xfrm>
            <a:off x="121225" y="117305"/>
            <a:ext cx="5091189" cy="9680436"/>
          </a:xfrm>
          <a:custGeom>
            <a:avLst/>
            <a:gdLst/>
            <a:ahLst/>
            <a:cxnLst/>
            <a:rect l="l" t="t" r="r" b="b"/>
            <a:pathLst>
              <a:path w="5091189" h="9680436">
                <a:moveTo>
                  <a:pt x="0" y="0"/>
                </a:moveTo>
                <a:lnTo>
                  <a:pt x="5091189" y="0"/>
                </a:lnTo>
                <a:lnTo>
                  <a:pt x="5091189" y="9680436"/>
                </a:lnTo>
                <a:lnTo>
                  <a:pt x="0" y="9680436"/>
                </a:lnTo>
                <a:lnTo>
                  <a:pt x="0" y="0"/>
                </a:lnTo>
                <a:close/>
              </a:path>
            </a:pathLst>
          </a:custGeom>
          <a:blipFill>
            <a:blip r:embed="rId6"/>
            <a:stretch>
              <a:fillRect l="-6351" r="-3217"/>
            </a:stretch>
          </a:blipFill>
        </p:spPr>
        <p:txBody>
          <a:bodyPr/>
          <a:lstStyle/>
          <a:p>
            <a:endParaRPr lang="zh-TW" altLang="en-US"/>
          </a:p>
        </p:txBody>
      </p:sp>
      <p:sp>
        <p:nvSpPr>
          <p:cNvPr id="18" name="TextBox 18"/>
          <p:cNvSpPr txBox="1"/>
          <p:nvPr/>
        </p:nvSpPr>
        <p:spPr>
          <a:xfrm>
            <a:off x="5870291" y="363522"/>
            <a:ext cx="4930422" cy="1227487"/>
          </a:xfrm>
          <a:prstGeom prst="rect">
            <a:avLst/>
          </a:prstGeom>
        </p:spPr>
        <p:txBody>
          <a:bodyPr lIns="0" tIns="0" rIns="0" bIns="0" rtlCol="0" anchor="t">
            <a:spAutoFit/>
          </a:bodyPr>
          <a:lstStyle/>
          <a:p>
            <a:pPr algn="l">
              <a:lnSpc>
                <a:spcPts val="10043"/>
              </a:lnSpc>
            </a:pPr>
            <a:r>
              <a:rPr lang="en-US" sz="7173">
                <a:solidFill>
                  <a:srgbClr val="494F56"/>
                </a:solidFill>
                <a:latin typeface="Quicksand"/>
                <a:ea typeface="Quicksand"/>
                <a:cs typeface="Quicksand"/>
                <a:sym typeface="Quicksand"/>
              </a:rPr>
              <a:t>功能-交流區</a:t>
            </a:r>
          </a:p>
        </p:txBody>
      </p:sp>
      <p:sp>
        <p:nvSpPr>
          <p:cNvPr id="19" name="Freeform 19"/>
          <p:cNvSpPr/>
          <p:nvPr/>
        </p:nvSpPr>
        <p:spPr>
          <a:xfrm>
            <a:off x="13094772" y="117305"/>
            <a:ext cx="5757812" cy="9465535"/>
          </a:xfrm>
          <a:custGeom>
            <a:avLst/>
            <a:gdLst/>
            <a:ahLst/>
            <a:cxnLst/>
            <a:rect l="l" t="t" r="r" b="b"/>
            <a:pathLst>
              <a:path w="5757812" h="9465535">
                <a:moveTo>
                  <a:pt x="0" y="0"/>
                </a:moveTo>
                <a:lnTo>
                  <a:pt x="5757811" y="0"/>
                </a:lnTo>
                <a:lnTo>
                  <a:pt x="5757811" y="9465535"/>
                </a:lnTo>
                <a:lnTo>
                  <a:pt x="0" y="9465535"/>
                </a:lnTo>
                <a:lnTo>
                  <a:pt x="0" y="0"/>
                </a:lnTo>
                <a:close/>
              </a:path>
            </a:pathLst>
          </a:custGeom>
          <a:blipFill>
            <a:blip r:embed="rId7"/>
            <a:stretch>
              <a:fillRect l="-15502" r="-13135"/>
            </a:stretch>
          </a:blipFill>
        </p:spPr>
        <p:txBody>
          <a:bodyPr/>
          <a:lstStyle/>
          <a:p>
            <a:endParaRPr lang="zh-TW" altLang="en-US"/>
          </a:p>
        </p:txBody>
      </p:sp>
      <p:sp>
        <p:nvSpPr>
          <p:cNvPr id="20" name="TextBox 20"/>
          <p:cNvSpPr txBox="1"/>
          <p:nvPr/>
        </p:nvSpPr>
        <p:spPr>
          <a:xfrm>
            <a:off x="2945160" y="5057775"/>
            <a:ext cx="2099965" cy="733214"/>
          </a:xfrm>
          <a:prstGeom prst="rect">
            <a:avLst/>
          </a:prstGeom>
        </p:spPr>
        <p:txBody>
          <a:bodyPr lIns="0" tIns="0" rIns="0" bIns="0" rtlCol="0" anchor="t">
            <a:spAutoFit/>
          </a:bodyPr>
          <a:lstStyle/>
          <a:p>
            <a:pPr algn="ctr">
              <a:lnSpc>
                <a:spcPts val="6233"/>
              </a:lnSpc>
              <a:spcBef>
                <a:spcPct val="0"/>
              </a:spcBef>
            </a:pPr>
            <a:r>
              <a:rPr lang="en-US" sz="4452" b="1" dirty="0">
                <a:solidFill>
                  <a:srgbClr val="494F56"/>
                </a:solidFill>
                <a:latin typeface="Quicksand Bold"/>
                <a:ea typeface="Quicksand Bold"/>
                <a:cs typeface="Quicksand Bold"/>
                <a:sym typeface="Quicksand Bold"/>
              </a:rPr>
              <a:t>(</a:t>
            </a:r>
            <a:r>
              <a:rPr lang="en-US" sz="4452" b="1" dirty="0" err="1">
                <a:solidFill>
                  <a:srgbClr val="494F56"/>
                </a:solidFill>
                <a:latin typeface="Quicksand Bold"/>
                <a:ea typeface="Quicksand Bold"/>
                <a:cs typeface="Quicksand Bold"/>
                <a:sym typeface="Quicksand Bold"/>
              </a:rPr>
              <a:t>發文前</a:t>
            </a:r>
            <a:r>
              <a:rPr lang="en-US" altLang="zh-TW" sz="4452" b="1" dirty="0">
                <a:solidFill>
                  <a:srgbClr val="494F56"/>
                </a:solidFill>
                <a:latin typeface="Quicksand Bold"/>
                <a:ea typeface="Quicksand Bold"/>
                <a:cs typeface="Quicksand Bold"/>
                <a:sym typeface="Quicksand Bold"/>
              </a:rPr>
              <a:t>)</a:t>
            </a:r>
            <a:endParaRPr lang="en-US" sz="4452" b="1" dirty="0">
              <a:solidFill>
                <a:srgbClr val="494F56"/>
              </a:solidFill>
              <a:latin typeface="Quicksand Bold"/>
              <a:ea typeface="Quicksand Bold"/>
              <a:cs typeface="Quicksand Bold"/>
              <a:sym typeface="Quicksand Bold"/>
            </a:endParaRPr>
          </a:p>
        </p:txBody>
      </p:sp>
      <p:grpSp>
        <p:nvGrpSpPr>
          <p:cNvPr id="21" name="Group 21"/>
          <p:cNvGrpSpPr/>
          <p:nvPr/>
        </p:nvGrpSpPr>
        <p:grpSpPr>
          <a:xfrm>
            <a:off x="5593070" y="7207564"/>
            <a:ext cx="6922051" cy="1762940"/>
            <a:chOff x="0" y="0"/>
            <a:chExt cx="1823092" cy="464313"/>
          </a:xfrm>
        </p:grpSpPr>
        <p:sp>
          <p:nvSpPr>
            <p:cNvPr id="22" name="Freeform 22"/>
            <p:cNvSpPr/>
            <p:nvPr/>
          </p:nvSpPr>
          <p:spPr>
            <a:xfrm>
              <a:off x="0" y="0"/>
              <a:ext cx="1823092" cy="464313"/>
            </a:xfrm>
            <a:custGeom>
              <a:avLst/>
              <a:gdLst/>
              <a:ahLst/>
              <a:cxnLst/>
              <a:rect l="l" t="t" r="r" b="b"/>
              <a:pathLst>
                <a:path w="1823092" h="464313">
                  <a:moveTo>
                    <a:pt x="57041" y="0"/>
                  </a:moveTo>
                  <a:lnTo>
                    <a:pt x="1766051" y="0"/>
                  </a:lnTo>
                  <a:cubicBezTo>
                    <a:pt x="1781179" y="0"/>
                    <a:pt x="1795688" y="6010"/>
                    <a:pt x="1806385" y="16707"/>
                  </a:cubicBezTo>
                  <a:cubicBezTo>
                    <a:pt x="1817082" y="27404"/>
                    <a:pt x="1823092" y="41912"/>
                    <a:pt x="1823092" y="57041"/>
                  </a:cubicBezTo>
                  <a:lnTo>
                    <a:pt x="1823092" y="407273"/>
                  </a:lnTo>
                  <a:cubicBezTo>
                    <a:pt x="1823092" y="422401"/>
                    <a:pt x="1817082" y="436909"/>
                    <a:pt x="1806385" y="447607"/>
                  </a:cubicBezTo>
                  <a:cubicBezTo>
                    <a:pt x="1795688" y="458304"/>
                    <a:pt x="1781179" y="464313"/>
                    <a:pt x="1766051" y="464313"/>
                  </a:cubicBezTo>
                  <a:lnTo>
                    <a:pt x="57041" y="464313"/>
                  </a:lnTo>
                  <a:cubicBezTo>
                    <a:pt x="41912" y="464313"/>
                    <a:pt x="27404" y="458304"/>
                    <a:pt x="16707" y="447607"/>
                  </a:cubicBezTo>
                  <a:cubicBezTo>
                    <a:pt x="6010" y="436909"/>
                    <a:pt x="0" y="422401"/>
                    <a:pt x="0" y="407273"/>
                  </a:cubicBezTo>
                  <a:lnTo>
                    <a:pt x="0" y="57041"/>
                  </a:lnTo>
                  <a:cubicBezTo>
                    <a:pt x="0" y="41912"/>
                    <a:pt x="6010" y="27404"/>
                    <a:pt x="16707" y="16707"/>
                  </a:cubicBezTo>
                  <a:cubicBezTo>
                    <a:pt x="27404" y="6010"/>
                    <a:pt x="41912" y="0"/>
                    <a:pt x="57041" y="0"/>
                  </a:cubicBezTo>
                  <a:close/>
                </a:path>
              </a:pathLst>
            </a:custGeom>
            <a:solidFill>
              <a:srgbClr val="C9C9C7"/>
            </a:solidFill>
          </p:spPr>
          <p:txBody>
            <a:bodyPr/>
            <a:lstStyle/>
            <a:p>
              <a:endParaRPr lang="zh-TW" altLang="en-US"/>
            </a:p>
          </p:txBody>
        </p:sp>
        <p:sp>
          <p:nvSpPr>
            <p:cNvPr id="23" name="TextBox 23"/>
            <p:cNvSpPr txBox="1"/>
            <p:nvPr/>
          </p:nvSpPr>
          <p:spPr>
            <a:xfrm>
              <a:off x="0" y="-38100"/>
              <a:ext cx="1823092" cy="502413"/>
            </a:xfrm>
            <a:prstGeom prst="rect">
              <a:avLst/>
            </a:prstGeom>
          </p:spPr>
          <p:txBody>
            <a:bodyPr lIns="50800" tIns="50800" rIns="50800" bIns="50800" rtlCol="0" anchor="ctr"/>
            <a:lstStyle/>
            <a:p>
              <a:pPr algn="ctr">
                <a:lnSpc>
                  <a:spcPts val="2120"/>
                </a:lnSpc>
              </a:pPr>
              <a:endParaRPr/>
            </a:p>
          </p:txBody>
        </p:sp>
      </p:grpSp>
      <p:sp>
        <p:nvSpPr>
          <p:cNvPr id="24" name="TextBox 24"/>
          <p:cNvSpPr txBox="1"/>
          <p:nvPr/>
        </p:nvSpPr>
        <p:spPr>
          <a:xfrm>
            <a:off x="5821585" y="7354162"/>
            <a:ext cx="6644830" cy="1904138"/>
          </a:xfrm>
          <a:prstGeom prst="rect">
            <a:avLst/>
          </a:prstGeom>
        </p:spPr>
        <p:txBody>
          <a:bodyPr lIns="0" tIns="0" rIns="0" bIns="0" rtlCol="0" anchor="t">
            <a:spAutoFit/>
          </a:bodyPr>
          <a:lstStyle/>
          <a:p>
            <a:pPr algn="just">
              <a:lnSpc>
                <a:spcPts val="3780"/>
              </a:lnSpc>
              <a:spcBef>
                <a:spcPct val="0"/>
              </a:spcBef>
            </a:pPr>
            <a:r>
              <a:rPr lang="en-US" sz="2700" b="1">
                <a:solidFill>
                  <a:srgbClr val="494F56"/>
                </a:solidFill>
                <a:latin typeface="Quicksand Bold"/>
                <a:ea typeface="Quicksand Bold"/>
                <a:cs typeface="Quicksand Bold"/>
                <a:sym typeface="Quicksand Bold"/>
              </a:rPr>
              <a:t>貼文送出後會經由 AI 審核</a:t>
            </a:r>
          </a:p>
          <a:p>
            <a:pPr algn="just">
              <a:lnSpc>
                <a:spcPts val="3780"/>
              </a:lnSpc>
              <a:spcBef>
                <a:spcPct val="0"/>
              </a:spcBef>
            </a:pPr>
            <a:r>
              <a:rPr lang="en-US" sz="2700" b="1">
                <a:solidFill>
                  <a:srgbClr val="494F56"/>
                </a:solidFill>
                <a:latin typeface="Quicksand Bold"/>
                <a:ea typeface="Quicksand Bold"/>
                <a:cs typeface="Quicksand Bold"/>
                <a:sym typeface="Quicksand Bold"/>
              </a:rPr>
              <a:t>過濾不當言論</a:t>
            </a:r>
          </a:p>
          <a:p>
            <a:pPr algn="just">
              <a:lnSpc>
                <a:spcPts val="3780"/>
              </a:lnSpc>
              <a:spcBef>
                <a:spcPct val="0"/>
              </a:spcBef>
            </a:pPr>
            <a:r>
              <a:rPr lang="en-US" sz="2700" b="1">
                <a:solidFill>
                  <a:srgbClr val="494F56"/>
                </a:solidFill>
                <a:latin typeface="Quicksand Bold"/>
                <a:ea typeface="Quicksand Bold"/>
                <a:cs typeface="Quicksand Bold"/>
                <a:sym typeface="Quicksand Bold"/>
              </a:rPr>
              <a:t>AI 審核通過的交流文章才會顯示於交流區</a:t>
            </a:r>
          </a:p>
          <a:p>
            <a:pPr algn="just">
              <a:lnSpc>
                <a:spcPts val="3780"/>
              </a:lnSpc>
              <a:spcBef>
                <a:spcPct val="0"/>
              </a:spcBef>
            </a:pPr>
            <a:endParaRPr lang="en-US" sz="2700" b="1">
              <a:solidFill>
                <a:srgbClr val="494F56"/>
              </a:solidFill>
              <a:latin typeface="Quicksand Bold"/>
              <a:ea typeface="Quicksand Bold"/>
              <a:cs typeface="Quicksand Bold"/>
              <a:sym typeface="Quicksand Bold"/>
            </a:endParaRPr>
          </a:p>
        </p:txBody>
      </p:sp>
      <p:sp>
        <p:nvSpPr>
          <p:cNvPr id="25" name="TextBox 25"/>
          <p:cNvSpPr txBox="1"/>
          <p:nvPr/>
        </p:nvSpPr>
        <p:spPr>
          <a:xfrm>
            <a:off x="5212414" y="9748023"/>
            <a:ext cx="7912795" cy="538977"/>
          </a:xfrm>
          <a:prstGeom prst="rect">
            <a:avLst/>
          </a:prstGeom>
        </p:spPr>
        <p:txBody>
          <a:bodyPr lIns="0" tIns="0" rIns="0" bIns="0" rtlCol="0" anchor="t">
            <a:spAutoFit/>
          </a:bodyPr>
          <a:lstStyle/>
          <a:p>
            <a:pPr algn="ctr">
              <a:lnSpc>
                <a:spcPts val="4417"/>
              </a:lnSpc>
              <a:spcBef>
                <a:spcPct val="0"/>
              </a:spcBef>
            </a:pPr>
            <a:r>
              <a:rPr lang="en-US" sz="3155">
                <a:solidFill>
                  <a:srgbClr val="494F56"/>
                </a:solidFill>
                <a:latin typeface="Quicksand"/>
                <a:ea typeface="Quicksand"/>
                <a:cs typeface="Quicksand"/>
                <a:sym typeface="Quicksand"/>
              </a:rPr>
              <a:t>(我要發文和交流區文章展示圖片僅為示意圖)</a:t>
            </a:r>
          </a:p>
        </p:txBody>
      </p:sp>
      <p:sp>
        <p:nvSpPr>
          <p:cNvPr id="26" name="TextBox 26"/>
          <p:cNvSpPr txBox="1"/>
          <p:nvPr/>
        </p:nvSpPr>
        <p:spPr>
          <a:xfrm>
            <a:off x="14919011"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報告人:雨琦</a:t>
            </a:r>
          </a:p>
        </p:txBody>
      </p:sp>
      <p:sp>
        <p:nvSpPr>
          <p:cNvPr id="28" name="投影片編號版面配置區 1">
            <a:extLst>
              <a:ext uri="{FF2B5EF4-FFF2-40B4-BE49-F238E27FC236}">
                <a16:creationId xmlns:a16="http://schemas.microsoft.com/office/drawing/2014/main" id="{99537ECB-0DB7-34EA-3ACD-4FB088E425BF}"/>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20</a:t>
            </a:fld>
            <a:endParaRPr lang="en-US" sz="4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6" name="Freeform 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4">
              <a:alphaModFix amt="39000"/>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7" name="Group 7"/>
          <p:cNvGrpSpPr/>
          <p:nvPr/>
        </p:nvGrpSpPr>
        <p:grpSpPr>
          <a:xfrm>
            <a:off x="-518421" y="-338088"/>
            <a:ext cx="20772145" cy="10971802"/>
            <a:chOff x="0" y="0"/>
            <a:chExt cx="27696193" cy="14629069"/>
          </a:xfrm>
        </p:grpSpPr>
        <p:sp>
          <p:nvSpPr>
            <p:cNvPr id="8" name="Freeform 8"/>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9" name="Freeform 9"/>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10" name="Freeform 10"/>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11" name="Freeform 11"/>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12" name="Freeform 12"/>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13" name="Freeform 13"/>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grpSp>
      <p:grpSp>
        <p:nvGrpSpPr>
          <p:cNvPr id="14" name="Group 14"/>
          <p:cNvGrpSpPr/>
          <p:nvPr/>
        </p:nvGrpSpPr>
        <p:grpSpPr>
          <a:xfrm>
            <a:off x="2665280" y="1028700"/>
            <a:ext cx="15146585" cy="8550417"/>
            <a:chOff x="0" y="0"/>
            <a:chExt cx="3989224" cy="2251962"/>
          </a:xfrm>
        </p:grpSpPr>
        <p:sp>
          <p:nvSpPr>
            <p:cNvPr id="15" name="Freeform 15"/>
            <p:cNvSpPr/>
            <p:nvPr/>
          </p:nvSpPr>
          <p:spPr>
            <a:xfrm>
              <a:off x="0" y="0"/>
              <a:ext cx="3989224" cy="2251962"/>
            </a:xfrm>
            <a:custGeom>
              <a:avLst/>
              <a:gdLst/>
              <a:ahLst/>
              <a:cxnLst/>
              <a:rect l="l" t="t" r="r" b="b"/>
              <a:pathLst>
                <a:path w="3989224" h="2251962">
                  <a:moveTo>
                    <a:pt x="26068" y="0"/>
                  </a:moveTo>
                  <a:lnTo>
                    <a:pt x="3963157" y="0"/>
                  </a:lnTo>
                  <a:cubicBezTo>
                    <a:pt x="3970070" y="0"/>
                    <a:pt x="3976701" y="2746"/>
                    <a:pt x="3981589" y="7635"/>
                  </a:cubicBezTo>
                  <a:cubicBezTo>
                    <a:pt x="3986478" y="12524"/>
                    <a:pt x="3989224" y="19154"/>
                    <a:pt x="3989224" y="26068"/>
                  </a:cubicBezTo>
                  <a:lnTo>
                    <a:pt x="3989224" y="2225894"/>
                  </a:lnTo>
                  <a:cubicBezTo>
                    <a:pt x="3989224" y="2232807"/>
                    <a:pt x="3986478" y="2239438"/>
                    <a:pt x="3981589" y="2244327"/>
                  </a:cubicBezTo>
                  <a:cubicBezTo>
                    <a:pt x="3976701" y="2249215"/>
                    <a:pt x="3970070" y="2251962"/>
                    <a:pt x="3963157" y="2251962"/>
                  </a:cubicBezTo>
                  <a:lnTo>
                    <a:pt x="26068" y="2251962"/>
                  </a:lnTo>
                  <a:cubicBezTo>
                    <a:pt x="19154" y="2251962"/>
                    <a:pt x="12524" y="2249215"/>
                    <a:pt x="7635" y="2244327"/>
                  </a:cubicBezTo>
                  <a:cubicBezTo>
                    <a:pt x="2746" y="2239438"/>
                    <a:pt x="0" y="2232807"/>
                    <a:pt x="0" y="2225894"/>
                  </a:cubicBezTo>
                  <a:lnTo>
                    <a:pt x="0" y="26068"/>
                  </a:lnTo>
                  <a:cubicBezTo>
                    <a:pt x="0" y="19154"/>
                    <a:pt x="2746" y="12524"/>
                    <a:pt x="7635" y="7635"/>
                  </a:cubicBezTo>
                  <a:cubicBezTo>
                    <a:pt x="12524" y="2746"/>
                    <a:pt x="19154" y="0"/>
                    <a:pt x="26068" y="0"/>
                  </a:cubicBezTo>
                  <a:close/>
                </a:path>
              </a:pathLst>
            </a:custGeom>
            <a:solidFill>
              <a:srgbClr val="FFFFFF">
                <a:alpha val="85882"/>
              </a:srgbClr>
            </a:solidFill>
          </p:spPr>
          <p:txBody>
            <a:bodyPr/>
            <a:lstStyle/>
            <a:p>
              <a:endParaRPr lang="zh-TW" altLang="en-US"/>
            </a:p>
          </p:txBody>
        </p:sp>
        <p:sp>
          <p:nvSpPr>
            <p:cNvPr id="16" name="TextBox 16"/>
            <p:cNvSpPr txBox="1"/>
            <p:nvPr/>
          </p:nvSpPr>
          <p:spPr>
            <a:xfrm>
              <a:off x="0" y="-38100"/>
              <a:ext cx="3989224" cy="2290062"/>
            </a:xfrm>
            <a:prstGeom prst="rect">
              <a:avLst/>
            </a:prstGeom>
          </p:spPr>
          <p:txBody>
            <a:bodyPr lIns="50800" tIns="50800" rIns="50800" bIns="50800" rtlCol="0" anchor="ctr"/>
            <a:lstStyle/>
            <a:p>
              <a:pPr algn="ctr">
                <a:lnSpc>
                  <a:spcPts val="2120"/>
                </a:lnSpc>
              </a:pPr>
              <a:endParaRPr/>
            </a:p>
          </p:txBody>
        </p:sp>
      </p:grpSp>
      <p:sp>
        <p:nvSpPr>
          <p:cNvPr id="17" name="Freeform 17"/>
          <p:cNvSpPr/>
          <p:nvPr/>
        </p:nvSpPr>
        <p:spPr>
          <a:xfrm>
            <a:off x="3811829" y="2599446"/>
            <a:ext cx="6055823" cy="5408924"/>
          </a:xfrm>
          <a:custGeom>
            <a:avLst/>
            <a:gdLst/>
            <a:ahLst/>
            <a:cxnLst/>
            <a:rect l="l" t="t" r="r" b="b"/>
            <a:pathLst>
              <a:path w="6055823" h="5408924">
                <a:moveTo>
                  <a:pt x="0" y="0"/>
                </a:moveTo>
                <a:lnTo>
                  <a:pt x="6055823" y="0"/>
                </a:lnTo>
                <a:lnTo>
                  <a:pt x="6055823" y="5408924"/>
                </a:lnTo>
                <a:lnTo>
                  <a:pt x="0" y="5408924"/>
                </a:lnTo>
                <a:lnTo>
                  <a:pt x="0" y="0"/>
                </a:lnTo>
                <a:close/>
              </a:path>
            </a:pathLst>
          </a:custGeom>
          <a:blipFill>
            <a:blip r:embed="rId8"/>
            <a:stretch>
              <a:fillRect b="-84826"/>
            </a:stretch>
          </a:blipFill>
        </p:spPr>
        <p:txBody>
          <a:bodyPr/>
          <a:lstStyle/>
          <a:p>
            <a:endParaRPr lang="zh-TW" altLang="en-US"/>
          </a:p>
        </p:txBody>
      </p:sp>
      <p:sp>
        <p:nvSpPr>
          <p:cNvPr id="18" name="TextBox 18"/>
          <p:cNvSpPr txBox="1"/>
          <p:nvPr/>
        </p:nvSpPr>
        <p:spPr>
          <a:xfrm>
            <a:off x="10829882" y="629585"/>
            <a:ext cx="6529626" cy="1161471"/>
          </a:xfrm>
          <a:prstGeom prst="rect">
            <a:avLst/>
          </a:prstGeom>
        </p:spPr>
        <p:txBody>
          <a:bodyPr lIns="0" tIns="0" rIns="0" bIns="0" rtlCol="0" anchor="t">
            <a:spAutoFit/>
          </a:bodyPr>
          <a:lstStyle/>
          <a:p>
            <a:pPr algn="l">
              <a:lnSpc>
                <a:spcPts val="9569"/>
              </a:lnSpc>
            </a:pPr>
            <a:r>
              <a:rPr lang="en-US" sz="6835">
                <a:solidFill>
                  <a:srgbClr val="494F56"/>
                </a:solidFill>
                <a:latin typeface="Quicksand"/>
                <a:ea typeface="Quicksand"/>
                <a:cs typeface="Quicksand"/>
                <a:sym typeface="Quicksand"/>
              </a:rPr>
              <a:t>功能-及時求助</a:t>
            </a:r>
          </a:p>
        </p:txBody>
      </p:sp>
      <p:sp>
        <p:nvSpPr>
          <p:cNvPr id="19" name="TextBox 19"/>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0" name="Freeform 20"/>
          <p:cNvSpPr/>
          <p:nvPr/>
        </p:nvSpPr>
        <p:spPr>
          <a:xfrm>
            <a:off x="10470421" y="2599446"/>
            <a:ext cx="6788879" cy="5339393"/>
          </a:xfrm>
          <a:custGeom>
            <a:avLst/>
            <a:gdLst/>
            <a:ahLst/>
            <a:cxnLst/>
            <a:rect l="l" t="t" r="r" b="b"/>
            <a:pathLst>
              <a:path w="6788879" h="5339393">
                <a:moveTo>
                  <a:pt x="0" y="0"/>
                </a:moveTo>
                <a:lnTo>
                  <a:pt x="6788879" y="0"/>
                </a:lnTo>
                <a:lnTo>
                  <a:pt x="6788879" y="5339393"/>
                </a:lnTo>
                <a:lnTo>
                  <a:pt x="0" y="5339393"/>
                </a:lnTo>
                <a:lnTo>
                  <a:pt x="0" y="0"/>
                </a:lnTo>
                <a:close/>
              </a:path>
            </a:pathLst>
          </a:custGeom>
          <a:blipFill>
            <a:blip r:embed="rId8"/>
            <a:stretch>
              <a:fillRect t="-109898"/>
            </a:stretch>
          </a:blipFill>
        </p:spPr>
        <p:txBody>
          <a:bodyPr/>
          <a:lstStyle/>
          <a:p>
            <a:endParaRPr lang="zh-TW" altLang="en-US"/>
          </a:p>
        </p:txBody>
      </p:sp>
      <p:sp>
        <p:nvSpPr>
          <p:cNvPr id="21" name="Freeform 21"/>
          <p:cNvSpPr/>
          <p:nvPr/>
        </p:nvSpPr>
        <p:spPr>
          <a:xfrm rot="3660581">
            <a:off x="-412851" y="3061196"/>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TW" altLang="en-US"/>
          </a:p>
        </p:txBody>
      </p:sp>
      <p:sp>
        <p:nvSpPr>
          <p:cNvPr id="22" name="TextBox 22"/>
          <p:cNvSpPr txBox="1"/>
          <p:nvPr/>
        </p:nvSpPr>
        <p:spPr>
          <a:xfrm>
            <a:off x="8794021" y="8268982"/>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494F56"/>
                </a:solidFill>
                <a:latin typeface="Atma Medium"/>
                <a:ea typeface="Atma Medium"/>
                <a:cs typeface="Atma Medium"/>
                <a:sym typeface="Atma Medium"/>
              </a:rPr>
              <a:t>此圖片僅為示意圖</a:t>
            </a:r>
          </a:p>
        </p:txBody>
      </p:sp>
      <p:sp>
        <p:nvSpPr>
          <p:cNvPr id="23" name="Freeform 23"/>
          <p:cNvSpPr/>
          <p:nvPr/>
        </p:nvSpPr>
        <p:spPr>
          <a:xfrm>
            <a:off x="284656" y="3118747"/>
            <a:ext cx="2927098" cy="4820092"/>
          </a:xfrm>
          <a:custGeom>
            <a:avLst/>
            <a:gdLst/>
            <a:ahLst/>
            <a:cxnLst/>
            <a:rect l="l" t="t" r="r" b="b"/>
            <a:pathLst>
              <a:path w="2927098" h="4820092">
                <a:moveTo>
                  <a:pt x="0" y="0"/>
                </a:moveTo>
                <a:lnTo>
                  <a:pt x="2927098" y="0"/>
                </a:lnTo>
                <a:lnTo>
                  <a:pt x="2927098" y="4820092"/>
                </a:lnTo>
                <a:lnTo>
                  <a:pt x="0" y="4820092"/>
                </a:lnTo>
                <a:lnTo>
                  <a:pt x="0" y="0"/>
                </a:lnTo>
                <a:close/>
              </a:path>
            </a:pathLst>
          </a:custGeom>
          <a:blipFill>
            <a:blip r:embed="rId8"/>
            <a:stretch>
              <a:fillRect t="-247" b="-2"/>
            </a:stretch>
          </a:blipFill>
        </p:spPr>
        <p:txBody>
          <a:bodyPr/>
          <a:lstStyle/>
          <a:p>
            <a:endParaRPr lang="zh-TW" altLang="en-US"/>
          </a:p>
        </p:txBody>
      </p:sp>
      <p:sp>
        <p:nvSpPr>
          <p:cNvPr id="25" name="投影片編號版面配置區 1">
            <a:extLst>
              <a:ext uri="{FF2B5EF4-FFF2-40B4-BE49-F238E27FC236}">
                <a16:creationId xmlns:a16="http://schemas.microsoft.com/office/drawing/2014/main" id="{9E95E4F7-DFB8-3864-18D2-79C35A7A5DB8}"/>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21</a:t>
            </a:fld>
            <a:endParaRPr lang="en-US" sz="4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sp>
        <p:nvSpPr>
          <p:cNvPr id="13" name="Freeform 13"/>
          <p:cNvSpPr/>
          <p:nvPr/>
        </p:nvSpPr>
        <p:spPr>
          <a:xfrm rot="3660581">
            <a:off x="1064115" y="328881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4" name="Freeform 14"/>
          <p:cNvSpPr/>
          <p:nvPr/>
        </p:nvSpPr>
        <p:spPr>
          <a:xfrm rot="2349442">
            <a:off x="12961826" y="2493035"/>
            <a:ext cx="11394101" cy="819386"/>
          </a:xfrm>
          <a:custGeom>
            <a:avLst/>
            <a:gdLst/>
            <a:ahLst/>
            <a:cxnLst/>
            <a:rect l="l" t="t" r="r" b="b"/>
            <a:pathLst>
              <a:path w="11394101" h="819386">
                <a:moveTo>
                  <a:pt x="0" y="0"/>
                </a:moveTo>
                <a:lnTo>
                  <a:pt x="11394100" y="0"/>
                </a:lnTo>
                <a:lnTo>
                  <a:pt x="11394100" y="819386"/>
                </a:lnTo>
                <a:lnTo>
                  <a:pt x="0" y="81938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grpSp>
        <p:nvGrpSpPr>
          <p:cNvPr id="15" name="Group 15"/>
          <p:cNvGrpSpPr/>
          <p:nvPr/>
        </p:nvGrpSpPr>
        <p:grpSpPr>
          <a:xfrm>
            <a:off x="1290872" y="1028700"/>
            <a:ext cx="16520994" cy="8776740"/>
            <a:chOff x="0" y="0"/>
            <a:chExt cx="4351208" cy="2311569"/>
          </a:xfrm>
        </p:grpSpPr>
        <p:sp>
          <p:nvSpPr>
            <p:cNvPr id="16" name="Freeform 16"/>
            <p:cNvSpPr/>
            <p:nvPr/>
          </p:nvSpPr>
          <p:spPr>
            <a:xfrm>
              <a:off x="0" y="0"/>
              <a:ext cx="4351208" cy="2311569"/>
            </a:xfrm>
            <a:custGeom>
              <a:avLst/>
              <a:gdLst/>
              <a:ahLst/>
              <a:cxnLst/>
              <a:rect l="l" t="t" r="r" b="b"/>
              <a:pathLst>
                <a:path w="4351208" h="2311569">
                  <a:moveTo>
                    <a:pt x="23899" y="0"/>
                  </a:moveTo>
                  <a:lnTo>
                    <a:pt x="4327309" y="0"/>
                  </a:lnTo>
                  <a:cubicBezTo>
                    <a:pt x="4333648" y="0"/>
                    <a:pt x="4339727" y="2518"/>
                    <a:pt x="4344208" y="7000"/>
                  </a:cubicBezTo>
                  <a:cubicBezTo>
                    <a:pt x="4348690" y="11482"/>
                    <a:pt x="4351208" y="17561"/>
                    <a:pt x="4351208" y="23899"/>
                  </a:cubicBezTo>
                  <a:lnTo>
                    <a:pt x="4351208" y="2287670"/>
                  </a:lnTo>
                  <a:cubicBezTo>
                    <a:pt x="4351208" y="2300869"/>
                    <a:pt x="4340508" y="2311569"/>
                    <a:pt x="4327309" y="2311569"/>
                  </a:cubicBezTo>
                  <a:lnTo>
                    <a:pt x="23899" y="2311569"/>
                  </a:lnTo>
                  <a:cubicBezTo>
                    <a:pt x="17561" y="2311569"/>
                    <a:pt x="11482" y="2309051"/>
                    <a:pt x="7000" y="2304569"/>
                  </a:cubicBezTo>
                  <a:cubicBezTo>
                    <a:pt x="2518" y="2300088"/>
                    <a:pt x="0" y="2294009"/>
                    <a:pt x="0" y="2287670"/>
                  </a:cubicBezTo>
                  <a:lnTo>
                    <a:pt x="0" y="23899"/>
                  </a:lnTo>
                  <a:cubicBezTo>
                    <a:pt x="0" y="10700"/>
                    <a:pt x="10700" y="0"/>
                    <a:pt x="23899" y="0"/>
                  </a:cubicBezTo>
                  <a:close/>
                </a:path>
              </a:pathLst>
            </a:custGeom>
            <a:solidFill>
              <a:srgbClr val="FFFFFF">
                <a:alpha val="85882"/>
              </a:srgbClr>
            </a:solidFill>
          </p:spPr>
          <p:txBody>
            <a:bodyPr/>
            <a:lstStyle/>
            <a:p>
              <a:endParaRPr lang="zh-TW" altLang="en-US"/>
            </a:p>
          </p:txBody>
        </p:sp>
        <p:sp>
          <p:nvSpPr>
            <p:cNvPr id="17" name="TextBox 17"/>
            <p:cNvSpPr txBox="1"/>
            <p:nvPr/>
          </p:nvSpPr>
          <p:spPr>
            <a:xfrm>
              <a:off x="0" y="-38100"/>
              <a:ext cx="4351208" cy="2349669"/>
            </a:xfrm>
            <a:prstGeom prst="rect">
              <a:avLst/>
            </a:prstGeom>
          </p:spPr>
          <p:txBody>
            <a:bodyPr lIns="50800" tIns="50800" rIns="50800" bIns="50800" rtlCol="0" anchor="ctr"/>
            <a:lstStyle/>
            <a:p>
              <a:pPr algn="ctr">
                <a:lnSpc>
                  <a:spcPts val="2120"/>
                </a:lnSpc>
              </a:pPr>
              <a:endParaRPr/>
            </a:p>
          </p:txBody>
        </p:sp>
      </p:grpSp>
      <p:sp>
        <p:nvSpPr>
          <p:cNvPr id="18" name="Freeform 18"/>
          <p:cNvSpPr/>
          <p:nvPr/>
        </p:nvSpPr>
        <p:spPr>
          <a:xfrm>
            <a:off x="1290872" y="3053215"/>
            <a:ext cx="7052150" cy="4180570"/>
          </a:xfrm>
          <a:custGeom>
            <a:avLst/>
            <a:gdLst/>
            <a:ahLst/>
            <a:cxnLst/>
            <a:rect l="l" t="t" r="r" b="b"/>
            <a:pathLst>
              <a:path w="7052150" h="4180570">
                <a:moveTo>
                  <a:pt x="0" y="0"/>
                </a:moveTo>
                <a:lnTo>
                  <a:pt x="7052150" y="0"/>
                </a:lnTo>
                <a:lnTo>
                  <a:pt x="7052150" y="4180570"/>
                </a:lnTo>
                <a:lnTo>
                  <a:pt x="0" y="4180570"/>
                </a:lnTo>
                <a:lnTo>
                  <a:pt x="0" y="0"/>
                </a:lnTo>
                <a:close/>
              </a:path>
            </a:pathLst>
          </a:custGeom>
          <a:blipFill>
            <a:blip r:embed="rId10"/>
            <a:stretch>
              <a:fillRect t="-4675" b="-85995"/>
            </a:stretch>
          </a:blipFill>
        </p:spPr>
        <p:txBody>
          <a:bodyPr/>
          <a:lstStyle/>
          <a:p>
            <a:endParaRPr lang="zh-TW" altLang="en-US"/>
          </a:p>
        </p:txBody>
      </p:sp>
      <p:sp>
        <p:nvSpPr>
          <p:cNvPr id="19" name="TextBox 19"/>
          <p:cNvSpPr txBox="1"/>
          <p:nvPr/>
        </p:nvSpPr>
        <p:spPr>
          <a:xfrm>
            <a:off x="7782579" y="3711714"/>
            <a:ext cx="9838312" cy="2673991"/>
          </a:xfrm>
          <a:prstGeom prst="rect">
            <a:avLst/>
          </a:prstGeom>
        </p:spPr>
        <p:txBody>
          <a:bodyPr lIns="0" tIns="0" rIns="0" bIns="0" rtlCol="0" anchor="t">
            <a:spAutoFit/>
          </a:bodyPr>
          <a:lstStyle/>
          <a:p>
            <a:pPr marL="831712" lvl="1" indent="-415856" algn="l">
              <a:lnSpc>
                <a:spcPts val="5393"/>
              </a:lnSpc>
              <a:buFont typeface="Arial"/>
              <a:buChar char="•"/>
            </a:pPr>
            <a:r>
              <a:rPr lang="en-US" sz="3852">
                <a:solidFill>
                  <a:srgbClr val="494F56"/>
                </a:solidFill>
                <a:latin typeface="Quicksand"/>
                <a:ea typeface="Quicksand"/>
                <a:cs typeface="Quicksand"/>
                <a:sym typeface="Quicksand"/>
              </a:rPr>
              <a:t> 教育網頁：學習防範騙擄技巧與案例說明</a:t>
            </a:r>
          </a:p>
          <a:p>
            <a:pPr marL="831712" lvl="1" indent="-415856" algn="l">
              <a:lnSpc>
                <a:spcPts val="5393"/>
              </a:lnSpc>
              <a:buFont typeface="Arial"/>
              <a:buChar char="•"/>
            </a:pPr>
            <a:r>
              <a:rPr lang="en-US" sz="3852">
                <a:solidFill>
                  <a:srgbClr val="494F56"/>
                </a:solidFill>
                <a:latin typeface="Quicksand"/>
                <a:ea typeface="Quicksand"/>
                <a:cs typeface="Quicksand"/>
                <a:sym typeface="Quicksand"/>
              </a:rPr>
              <a:t> 線上報案連結：快速通報警方、留下證據</a:t>
            </a:r>
          </a:p>
          <a:p>
            <a:pPr marL="831712" lvl="1" indent="-415856" algn="l">
              <a:lnSpc>
                <a:spcPts val="5393"/>
              </a:lnSpc>
              <a:buFont typeface="Arial"/>
              <a:buChar char="•"/>
            </a:pPr>
            <a:r>
              <a:rPr lang="en-US" sz="3852">
                <a:solidFill>
                  <a:srgbClr val="494F56"/>
                </a:solidFill>
                <a:latin typeface="Quicksand"/>
                <a:ea typeface="Quicksand"/>
                <a:cs typeface="Quicksand"/>
                <a:sym typeface="Quicksand"/>
              </a:rPr>
              <a:t> 最近警局：找最近的警察局，立即求助</a:t>
            </a:r>
          </a:p>
          <a:p>
            <a:pPr algn="l">
              <a:lnSpc>
                <a:spcPts val="5393"/>
              </a:lnSpc>
            </a:pPr>
            <a:endParaRPr lang="en-US" sz="3852">
              <a:solidFill>
                <a:srgbClr val="494F56"/>
              </a:solidFill>
              <a:latin typeface="Quicksand"/>
              <a:ea typeface="Quicksand"/>
              <a:cs typeface="Quicksand"/>
              <a:sym typeface="Quicksand"/>
            </a:endParaRPr>
          </a:p>
        </p:txBody>
      </p:sp>
      <p:sp>
        <p:nvSpPr>
          <p:cNvPr id="20" name="TextBox 20"/>
          <p:cNvSpPr txBox="1"/>
          <p:nvPr/>
        </p:nvSpPr>
        <p:spPr>
          <a:xfrm>
            <a:off x="7923210" y="1083594"/>
            <a:ext cx="9336090"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功能-騷擾應對防治</a:t>
            </a:r>
          </a:p>
        </p:txBody>
      </p:sp>
      <p:sp>
        <p:nvSpPr>
          <p:cNvPr id="21" name="TextBox 21"/>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3" name="投影片編號版面配置區 1">
            <a:extLst>
              <a:ext uri="{FF2B5EF4-FFF2-40B4-BE49-F238E27FC236}">
                <a16:creationId xmlns:a16="http://schemas.microsoft.com/office/drawing/2014/main" id="{BE2AB79C-199B-C198-7084-7970284632E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22</a:t>
            </a:fld>
            <a:endParaRPr lang="en-US" sz="4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sp>
        <p:nvSpPr>
          <p:cNvPr id="13" name="Freeform 13"/>
          <p:cNvSpPr/>
          <p:nvPr/>
        </p:nvSpPr>
        <p:spPr>
          <a:xfrm rot="3660581">
            <a:off x="1064115" y="328881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4" name="Freeform 14"/>
          <p:cNvSpPr/>
          <p:nvPr/>
        </p:nvSpPr>
        <p:spPr>
          <a:xfrm rot="2349442">
            <a:off x="12961826" y="2493035"/>
            <a:ext cx="11394101" cy="819386"/>
          </a:xfrm>
          <a:custGeom>
            <a:avLst/>
            <a:gdLst/>
            <a:ahLst/>
            <a:cxnLst/>
            <a:rect l="l" t="t" r="r" b="b"/>
            <a:pathLst>
              <a:path w="11394101" h="819386">
                <a:moveTo>
                  <a:pt x="0" y="0"/>
                </a:moveTo>
                <a:lnTo>
                  <a:pt x="11394100" y="0"/>
                </a:lnTo>
                <a:lnTo>
                  <a:pt x="11394100" y="819386"/>
                </a:lnTo>
                <a:lnTo>
                  <a:pt x="0" y="81938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grpSp>
        <p:nvGrpSpPr>
          <p:cNvPr id="15" name="Group 15"/>
          <p:cNvGrpSpPr/>
          <p:nvPr/>
        </p:nvGrpSpPr>
        <p:grpSpPr>
          <a:xfrm>
            <a:off x="1290872" y="1028700"/>
            <a:ext cx="16520994" cy="8776740"/>
            <a:chOff x="0" y="0"/>
            <a:chExt cx="4351208" cy="2311569"/>
          </a:xfrm>
        </p:grpSpPr>
        <p:sp>
          <p:nvSpPr>
            <p:cNvPr id="16" name="Freeform 16"/>
            <p:cNvSpPr/>
            <p:nvPr/>
          </p:nvSpPr>
          <p:spPr>
            <a:xfrm>
              <a:off x="0" y="0"/>
              <a:ext cx="4351208" cy="2311569"/>
            </a:xfrm>
            <a:custGeom>
              <a:avLst/>
              <a:gdLst/>
              <a:ahLst/>
              <a:cxnLst/>
              <a:rect l="l" t="t" r="r" b="b"/>
              <a:pathLst>
                <a:path w="4351208" h="2311569">
                  <a:moveTo>
                    <a:pt x="23899" y="0"/>
                  </a:moveTo>
                  <a:lnTo>
                    <a:pt x="4327309" y="0"/>
                  </a:lnTo>
                  <a:cubicBezTo>
                    <a:pt x="4333648" y="0"/>
                    <a:pt x="4339727" y="2518"/>
                    <a:pt x="4344208" y="7000"/>
                  </a:cubicBezTo>
                  <a:cubicBezTo>
                    <a:pt x="4348690" y="11482"/>
                    <a:pt x="4351208" y="17561"/>
                    <a:pt x="4351208" y="23899"/>
                  </a:cubicBezTo>
                  <a:lnTo>
                    <a:pt x="4351208" y="2287670"/>
                  </a:lnTo>
                  <a:cubicBezTo>
                    <a:pt x="4351208" y="2300869"/>
                    <a:pt x="4340508" y="2311569"/>
                    <a:pt x="4327309" y="2311569"/>
                  </a:cubicBezTo>
                  <a:lnTo>
                    <a:pt x="23899" y="2311569"/>
                  </a:lnTo>
                  <a:cubicBezTo>
                    <a:pt x="17561" y="2311569"/>
                    <a:pt x="11482" y="2309051"/>
                    <a:pt x="7000" y="2304569"/>
                  </a:cubicBezTo>
                  <a:cubicBezTo>
                    <a:pt x="2518" y="2300088"/>
                    <a:pt x="0" y="2294009"/>
                    <a:pt x="0" y="2287670"/>
                  </a:cubicBezTo>
                  <a:lnTo>
                    <a:pt x="0" y="23899"/>
                  </a:lnTo>
                  <a:cubicBezTo>
                    <a:pt x="0" y="10700"/>
                    <a:pt x="10700" y="0"/>
                    <a:pt x="23899" y="0"/>
                  </a:cubicBezTo>
                  <a:close/>
                </a:path>
              </a:pathLst>
            </a:custGeom>
            <a:solidFill>
              <a:srgbClr val="FFFFFF">
                <a:alpha val="85882"/>
              </a:srgbClr>
            </a:solidFill>
          </p:spPr>
          <p:txBody>
            <a:bodyPr/>
            <a:lstStyle/>
            <a:p>
              <a:endParaRPr lang="zh-TW" altLang="en-US"/>
            </a:p>
          </p:txBody>
        </p:sp>
        <p:sp>
          <p:nvSpPr>
            <p:cNvPr id="17" name="TextBox 17"/>
            <p:cNvSpPr txBox="1"/>
            <p:nvPr/>
          </p:nvSpPr>
          <p:spPr>
            <a:xfrm>
              <a:off x="0" y="-38100"/>
              <a:ext cx="4351208" cy="2349669"/>
            </a:xfrm>
            <a:prstGeom prst="rect">
              <a:avLst/>
            </a:prstGeom>
          </p:spPr>
          <p:txBody>
            <a:bodyPr lIns="50800" tIns="50800" rIns="50800" bIns="50800" rtlCol="0" anchor="ctr"/>
            <a:lstStyle/>
            <a:p>
              <a:pPr algn="ctr">
                <a:lnSpc>
                  <a:spcPts val="2120"/>
                </a:lnSpc>
              </a:pPr>
              <a:endParaRPr/>
            </a:p>
          </p:txBody>
        </p:sp>
      </p:grpSp>
      <p:sp>
        <p:nvSpPr>
          <p:cNvPr id="18" name="TextBox 18"/>
          <p:cNvSpPr txBox="1"/>
          <p:nvPr/>
        </p:nvSpPr>
        <p:spPr>
          <a:xfrm>
            <a:off x="5681323" y="3411532"/>
            <a:ext cx="11939568" cy="3925352"/>
          </a:xfrm>
          <a:prstGeom prst="rect">
            <a:avLst/>
          </a:prstGeom>
        </p:spPr>
        <p:txBody>
          <a:bodyPr lIns="0" tIns="0" rIns="0" bIns="0" rtlCol="0" anchor="t">
            <a:spAutoFit/>
          </a:bodyPr>
          <a:lstStyle/>
          <a:p>
            <a:pPr marL="961248" lvl="1" indent="-480624" algn="l">
              <a:lnSpc>
                <a:spcPts val="6233"/>
              </a:lnSpc>
              <a:buFont typeface="Arial"/>
              <a:buChar char="•"/>
            </a:pPr>
            <a:r>
              <a:rPr lang="en-US" sz="4452">
                <a:solidFill>
                  <a:srgbClr val="494F56"/>
                </a:solidFill>
                <a:latin typeface="Quicksand"/>
                <a:ea typeface="Quicksand"/>
                <a:cs typeface="Quicksand"/>
                <a:sym typeface="Quicksand"/>
              </a:rPr>
              <a:t>提供各種防身知識網頁的快捷鍵</a:t>
            </a:r>
          </a:p>
          <a:p>
            <a:pPr marL="961248" lvl="1" indent="-480624" algn="l">
              <a:lnSpc>
                <a:spcPts val="6233"/>
              </a:lnSpc>
              <a:buFont typeface="Arial"/>
              <a:buChar char="•"/>
            </a:pPr>
            <a:r>
              <a:rPr lang="en-US" sz="4452">
                <a:solidFill>
                  <a:srgbClr val="494F56"/>
                </a:solidFill>
                <a:latin typeface="Quicksand"/>
                <a:ea typeface="Quicksand"/>
                <a:cs typeface="Quicksand"/>
                <a:sym typeface="Quicksand"/>
              </a:rPr>
              <a:t>讓使用者在應對突發事件時能更冷靜更有底氣，減少突發狀況造成的損害</a:t>
            </a:r>
          </a:p>
          <a:p>
            <a:pPr marL="961248" lvl="1" indent="-480624" algn="l">
              <a:lnSpc>
                <a:spcPts val="6233"/>
              </a:lnSpc>
              <a:buFont typeface="Arial"/>
              <a:buChar char="•"/>
            </a:pPr>
            <a:r>
              <a:rPr lang="en-US" sz="4452">
                <a:solidFill>
                  <a:srgbClr val="494F56"/>
                </a:solidFill>
                <a:latin typeface="Quicksand"/>
                <a:ea typeface="Quicksand"/>
                <a:cs typeface="Quicksand"/>
                <a:sym typeface="Quicksand"/>
              </a:rPr>
              <a:t>(例：兒童防身術、防身術四要點、認識搭訕騷擾懶人包)</a:t>
            </a:r>
          </a:p>
        </p:txBody>
      </p:sp>
      <p:sp>
        <p:nvSpPr>
          <p:cNvPr id="19" name="Freeform 19"/>
          <p:cNvSpPr/>
          <p:nvPr/>
        </p:nvSpPr>
        <p:spPr>
          <a:xfrm>
            <a:off x="1028700" y="-79845"/>
            <a:ext cx="4806085" cy="10366845"/>
          </a:xfrm>
          <a:custGeom>
            <a:avLst/>
            <a:gdLst/>
            <a:ahLst/>
            <a:cxnLst/>
            <a:rect l="l" t="t" r="r" b="b"/>
            <a:pathLst>
              <a:path w="4806085" h="10366845">
                <a:moveTo>
                  <a:pt x="0" y="0"/>
                </a:moveTo>
                <a:lnTo>
                  <a:pt x="4806085" y="0"/>
                </a:lnTo>
                <a:lnTo>
                  <a:pt x="4806085" y="10366845"/>
                </a:lnTo>
                <a:lnTo>
                  <a:pt x="0" y="10366845"/>
                </a:lnTo>
                <a:lnTo>
                  <a:pt x="0" y="0"/>
                </a:lnTo>
                <a:close/>
              </a:path>
            </a:pathLst>
          </a:custGeom>
          <a:blipFill>
            <a:blip r:embed="rId10"/>
            <a:stretch>
              <a:fillRect/>
            </a:stretch>
          </a:blipFill>
        </p:spPr>
        <p:txBody>
          <a:bodyPr/>
          <a:lstStyle/>
          <a:p>
            <a:endParaRPr lang="zh-TW" altLang="en-US"/>
          </a:p>
        </p:txBody>
      </p:sp>
      <p:sp>
        <p:nvSpPr>
          <p:cNvPr id="20" name="TextBox 20"/>
          <p:cNvSpPr txBox="1"/>
          <p:nvPr/>
        </p:nvSpPr>
        <p:spPr>
          <a:xfrm>
            <a:off x="7923210" y="863190"/>
            <a:ext cx="9336090"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功能-教育網頁</a:t>
            </a:r>
          </a:p>
        </p:txBody>
      </p:sp>
      <p:sp>
        <p:nvSpPr>
          <p:cNvPr id="21" name="TextBox 21"/>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3" name="投影片編號版面配置區 1">
            <a:extLst>
              <a:ext uri="{FF2B5EF4-FFF2-40B4-BE49-F238E27FC236}">
                <a16:creationId xmlns:a16="http://schemas.microsoft.com/office/drawing/2014/main" id="{A64549CF-8759-9988-C318-A1CE5122F6EC}"/>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23</a:t>
            </a:fld>
            <a:endParaRPr lang="en-US" sz="4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sp>
        <p:nvSpPr>
          <p:cNvPr id="13" name="Freeform 13"/>
          <p:cNvSpPr/>
          <p:nvPr/>
        </p:nvSpPr>
        <p:spPr>
          <a:xfrm rot="3660581">
            <a:off x="1064115" y="328881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4" name="Freeform 14"/>
          <p:cNvSpPr/>
          <p:nvPr/>
        </p:nvSpPr>
        <p:spPr>
          <a:xfrm rot="2349442">
            <a:off x="12961826" y="2493035"/>
            <a:ext cx="11394101" cy="819386"/>
          </a:xfrm>
          <a:custGeom>
            <a:avLst/>
            <a:gdLst/>
            <a:ahLst/>
            <a:cxnLst/>
            <a:rect l="l" t="t" r="r" b="b"/>
            <a:pathLst>
              <a:path w="11394101" h="819386">
                <a:moveTo>
                  <a:pt x="0" y="0"/>
                </a:moveTo>
                <a:lnTo>
                  <a:pt x="11394100" y="0"/>
                </a:lnTo>
                <a:lnTo>
                  <a:pt x="11394100" y="819386"/>
                </a:lnTo>
                <a:lnTo>
                  <a:pt x="0" y="81938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grpSp>
        <p:nvGrpSpPr>
          <p:cNvPr id="15" name="Group 15"/>
          <p:cNvGrpSpPr/>
          <p:nvPr/>
        </p:nvGrpSpPr>
        <p:grpSpPr>
          <a:xfrm>
            <a:off x="1290872" y="1028700"/>
            <a:ext cx="16520994" cy="8776740"/>
            <a:chOff x="0" y="0"/>
            <a:chExt cx="4351208" cy="2311569"/>
          </a:xfrm>
        </p:grpSpPr>
        <p:sp>
          <p:nvSpPr>
            <p:cNvPr id="16" name="Freeform 16"/>
            <p:cNvSpPr/>
            <p:nvPr/>
          </p:nvSpPr>
          <p:spPr>
            <a:xfrm>
              <a:off x="0" y="0"/>
              <a:ext cx="4351208" cy="2311569"/>
            </a:xfrm>
            <a:custGeom>
              <a:avLst/>
              <a:gdLst/>
              <a:ahLst/>
              <a:cxnLst/>
              <a:rect l="l" t="t" r="r" b="b"/>
              <a:pathLst>
                <a:path w="4351208" h="2311569">
                  <a:moveTo>
                    <a:pt x="23899" y="0"/>
                  </a:moveTo>
                  <a:lnTo>
                    <a:pt x="4327309" y="0"/>
                  </a:lnTo>
                  <a:cubicBezTo>
                    <a:pt x="4333648" y="0"/>
                    <a:pt x="4339727" y="2518"/>
                    <a:pt x="4344208" y="7000"/>
                  </a:cubicBezTo>
                  <a:cubicBezTo>
                    <a:pt x="4348690" y="11482"/>
                    <a:pt x="4351208" y="17561"/>
                    <a:pt x="4351208" y="23899"/>
                  </a:cubicBezTo>
                  <a:lnTo>
                    <a:pt x="4351208" y="2287670"/>
                  </a:lnTo>
                  <a:cubicBezTo>
                    <a:pt x="4351208" y="2300869"/>
                    <a:pt x="4340508" y="2311569"/>
                    <a:pt x="4327309" y="2311569"/>
                  </a:cubicBezTo>
                  <a:lnTo>
                    <a:pt x="23899" y="2311569"/>
                  </a:lnTo>
                  <a:cubicBezTo>
                    <a:pt x="17561" y="2311569"/>
                    <a:pt x="11482" y="2309051"/>
                    <a:pt x="7000" y="2304569"/>
                  </a:cubicBezTo>
                  <a:cubicBezTo>
                    <a:pt x="2518" y="2300088"/>
                    <a:pt x="0" y="2294009"/>
                    <a:pt x="0" y="2287670"/>
                  </a:cubicBezTo>
                  <a:lnTo>
                    <a:pt x="0" y="23899"/>
                  </a:lnTo>
                  <a:cubicBezTo>
                    <a:pt x="0" y="10700"/>
                    <a:pt x="10700" y="0"/>
                    <a:pt x="23899" y="0"/>
                  </a:cubicBezTo>
                  <a:close/>
                </a:path>
              </a:pathLst>
            </a:custGeom>
            <a:solidFill>
              <a:srgbClr val="FFFFFF">
                <a:alpha val="85882"/>
              </a:srgbClr>
            </a:solidFill>
          </p:spPr>
          <p:txBody>
            <a:bodyPr/>
            <a:lstStyle/>
            <a:p>
              <a:endParaRPr lang="zh-TW" altLang="en-US"/>
            </a:p>
          </p:txBody>
        </p:sp>
        <p:sp>
          <p:nvSpPr>
            <p:cNvPr id="17" name="TextBox 17"/>
            <p:cNvSpPr txBox="1"/>
            <p:nvPr/>
          </p:nvSpPr>
          <p:spPr>
            <a:xfrm>
              <a:off x="0" y="-38100"/>
              <a:ext cx="4351208" cy="2349669"/>
            </a:xfrm>
            <a:prstGeom prst="rect">
              <a:avLst/>
            </a:prstGeom>
          </p:spPr>
          <p:txBody>
            <a:bodyPr lIns="50800" tIns="50800" rIns="50800" bIns="50800" rtlCol="0" anchor="ctr"/>
            <a:lstStyle/>
            <a:p>
              <a:pPr algn="ctr">
                <a:lnSpc>
                  <a:spcPts val="2120"/>
                </a:lnSpc>
              </a:pPr>
              <a:endParaRPr/>
            </a:p>
          </p:txBody>
        </p:sp>
      </p:grpSp>
      <p:sp>
        <p:nvSpPr>
          <p:cNvPr id="18" name="Freeform 18"/>
          <p:cNvSpPr/>
          <p:nvPr/>
        </p:nvSpPr>
        <p:spPr>
          <a:xfrm>
            <a:off x="1708446" y="2166523"/>
            <a:ext cx="5983481" cy="6629896"/>
          </a:xfrm>
          <a:custGeom>
            <a:avLst/>
            <a:gdLst/>
            <a:ahLst/>
            <a:cxnLst/>
            <a:rect l="l" t="t" r="r" b="b"/>
            <a:pathLst>
              <a:path w="5983481" h="6629896">
                <a:moveTo>
                  <a:pt x="0" y="0"/>
                </a:moveTo>
                <a:lnTo>
                  <a:pt x="5983481" y="0"/>
                </a:lnTo>
                <a:lnTo>
                  <a:pt x="5983481" y="6629897"/>
                </a:lnTo>
                <a:lnTo>
                  <a:pt x="0" y="6629897"/>
                </a:lnTo>
                <a:lnTo>
                  <a:pt x="0" y="0"/>
                </a:lnTo>
                <a:close/>
              </a:path>
            </a:pathLst>
          </a:custGeom>
          <a:blipFill>
            <a:blip r:embed="rId10"/>
            <a:stretch>
              <a:fillRect/>
            </a:stretch>
          </a:blipFill>
        </p:spPr>
        <p:txBody>
          <a:bodyPr/>
          <a:lstStyle/>
          <a:p>
            <a:endParaRPr lang="zh-TW" altLang="en-US"/>
          </a:p>
        </p:txBody>
      </p:sp>
      <p:sp>
        <p:nvSpPr>
          <p:cNvPr id="19" name="TextBox 19"/>
          <p:cNvSpPr txBox="1"/>
          <p:nvPr/>
        </p:nvSpPr>
        <p:spPr>
          <a:xfrm>
            <a:off x="8275363" y="3533233"/>
            <a:ext cx="8983937" cy="3134808"/>
          </a:xfrm>
          <a:prstGeom prst="rect">
            <a:avLst/>
          </a:prstGeom>
        </p:spPr>
        <p:txBody>
          <a:bodyPr lIns="0" tIns="0" rIns="0" bIns="0" rtlCol="0" anchor="t">
            <a:spAutoFit/>
          </a:bodyPr>
          <a:lstStyle/>
          <a:p>
            <a:pPr algn="l">
              <a:lnSpc>
                <a:spcPts val="6233"/>
              </a:lnSpc>
            </a:pPr>
            <a:r>
              <a:rPr lang="en-US" sz="4452">
                <a:solidFill>
                  <a:srgbClr val="494F56"/>
                </a:solidFill>
                <a:latin typeface="Quicksand"/>
                <a:ea typeface="Quicksand"/>
                <a:cs typeface="Quicksand"/>
                <a:sym typeface="Quicksand"/>
              </a:rPr>
              <a:t>🔹 線上報案連結</a:t>
            </a:r>
          </a:p>
          <a:p>
            <a:pPr marL="961248" lvl="1" indent="-480624" algn="l">
              <a:lnSpc>
                <a:spcPts val="6233"/>
              </a:lnSpc>
              <a:buFont typeface="Arial"/>
              <a:buChar char="•"/>
            </a:pPr>
            <a:r>
              <a:rPr lang="en-US" sz="4452">
                <a:solidFill>
                  <a:srgbClr val="494F56"/>
                </a:solidFill>
                <a:latin typeface="Quicksand"/>
                <a:ea typeface="Quicksand"/>
                <a:cs typeface="Quicksand"/>
                <a:sym typeface="Quicksand"/>
              </a:rPr>
              <a:t>線上填寫報案內容</a:t>
            </a:r>
          </a:p>
          <a:p>
            <a:pPr marL="961248" lvl="1" indent="-480624" algn="l">
              <a:lnSpc>
                <a:spcPts val="6233"/>
              </a:lnSpc>
              <a:buFont typeface="Arial"/>
              <a:buChar char="•"/>
            </a:pPr>
            <a:r>
              <a:rPr lang="en-US" sz="4452">
                <a:solidFill>
                  <a:srgbClr val="494F56"/>
                </a:solidFill>
                <a:latin typeface="Quicksand"/>
                <a:ea typeface="Quicksand"/>
                <a:cs typeface="Quicksand"/>
                <a:sym typeface="Quicksand"/>
              </a:rPr>
              <a:t>上傳照片或影片證據</a:t>
            </a:r>
          </a:p>
          <a:p>
            <a:pPr marL="961248" lvl="1" indent="-480624" algn="l">
              <a:lnSpc>
                <a:spcPts val="6233"/>
              </a:lnSpc>
              <a:buFont typeface="Arial"/>
              <a:buChar char="•"/>
            </a:pPr>
            <a:r>
              <a:rPr lang="en-US" sz="4452">
                <a:solidFill>
                  <a:srgbClr val="494F56"/>
                </a:solidFill>
                <a:latin typeface="Quicksand"/>
                <a:ea typeface="Quicksand"/>
                <a:cs typeface="Quicksand"/>
                <a:sym typeface="Quicksand"/>
              </a:rPr>
              <a:t>由警方受理並聯繫你跟進</a:t>
            </a:r>
          </a:p>
        </p:txBody>
      </p:sp>
      <p:sp>
        <p:nvSpPr>
          <p:cNvPr id="20" name="TextBox 20"/>
          <p:cNvSpPr txBox="1"/>
          <p:nvPr/>
        </p:nvSpPr>
        <p:spPr>
          <a:xfrm>
            <a:off x="7923210" y="863190"/>
            <a:ext cx="9336090"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功能-線上報案</a:t>
            </a:r>
          </a:p>
        </p:txBody>
      </p:sp>
      <p:sp>
        <p:nvSpPr>
          <p:cNvPr id="21" name="TextBox 21"/>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3" name="投影片編號版面配置區 1">
            <a:extLst>
              <a:ext uri="{FF2B5EF4-FFF2-40B4-BE49-F238E27FC236}">
                <a16:creationId xmlns:a16="http://schemas.microsoft.com/office/drawing/2014/main" id="{3B83D5B2-9A90-80A9-D583-8578469ADD2A}"/>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24</a:t>
            </a:fld>
            <a:endParaRPr lang="en-US" sz="4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sp>
        <p:nvSpPr>
          <p:cNvPr id="13" name="Freeform 13"/>
          <p:cNvSpPr/>
          <p:nvPr/>
        </p:nvSpPr>
        <p:spPr>
          <a:xfrm rot="3660581">
            <a:off x="1064115" y="328881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4" name="Freeform 14"/>
          <p:cNvSpPr/>
          <p:nvPr/>
        </p:nvSpPr>
        <p:spPr>
          <a:xfrm rot="2349442">
            <a:off x="12961826" y="2493035"/>
            <a:ext cx="11394101" cy="819386"/>
          </a:xfrm>
          <a:custGeom>
            <a:avLst/>
            <a:gdLst/>
            <a:ahLst/>
            <a:cxnLst/>
            <a:rect l="l" t="t" r="r" b="b"/>
            <a:pathLst>
              <a:path w="11394101" h="819386">
                <a:moveTo>
                  <a:pt x="0" y="0"/>
                </a:moveTo>
                <a:lnTo>
                  <a:pt x="11394100" y="0"/>
                </a:lnTo>
                <a:lnTo>
                  <a:pt x="11394100" y="819386"/>
                </a:lnTo>
                <a:lnTo>
                  <a:pt x="0" y="81938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grpSp>
        <p:nvGrpSpPr>
          <p:cNvPr id="15" name="Group 15"/>
          <p:cNvGrpSpPr/>
          <p:nvPr/>
        </p:nvGrpSpPr>
        <p:grpSpPr>
          <a:xfrm>
            <a:off x="1290872" y="1028700"/>
            <a:ext cx="16520994" cy="8776740"/>
            <a:chOff x="0" y="0"/>
            <a:chExt cx="4351208" cy="2311569"/>
          </a:xfrm>
        </p:grpSpPr>
        <p:sp>
          <p:nvSpPr>
            <p:cNvPr id="16" name="Freeform 16"/>
            <p:cNvSpPr/>
            <p:nvPr/>
          </p:nvSpPr>
          <p:spPr>
            <a:xfrm>
              <a:off x="0" y="0"/>
              <a:ext cx="4351208" cy="2311569"/>
            </a:xfrm>
            <a:custGeom>
              <a:avLst/>
              <a:gdLst/>
              <a:ahLst/>
              <a:cxnLst/>
              <a:rect l="l" t="t" r="r" b="b"/>
              <a:pathLst>
                <a:path w="4351208" h="2311569">
                  <a:moveTo>
                    <a:pt x="23899" y="0"/>
                  </a:moveTo>
                  <a:lnTo>
                    <a:pt x="4327309" y="0"/>
                  </a:lnTo>
                  <a:cubicBezTo>
                    <a:pt x="4333648" y="0"/>
                    <a:pt x="4339727" y="2518"/>
                    <a:pt x="4344208" y="7000"/>
                  </a:cubicBezTo>
                  <a:cubicBezTo>
                    <a:pt x="4348690" y="11482"/>
                    <a:pt x="4351208" y="17561"/>
                    <a:pt x="4351208" y="23899"/>
                  </a:cubicBezTo>
                  <a:lnTo>
                    <a:pt x="4351208" y="2287670"/>
                  </a:lnTo>
                  <a:cubicBezTo>
                    <a:pt x="4351208" y="2300869"/>
                    <a:pt x="4340508" y="2311569"/>
                    <a:pt x="4327309" y="2311569"/>
                  </a:cubicBezTo>
                  <a:lnTo>
                    <a:pt x="23899" y="2311569"/>
                  </a:lnTo>
                  <a:cubicBezTo>
                    <a:pt x="17561" y="2311569"/>
                    <a:pt x="11482" y="2309051"/>
                    <a:pt x="7000" y="2304569"/>
                  </a:cubicBezTo>
                  <a:cubicBezTo>
                    <a:pt x="2518" y="2300088"/>
                    <a:pt x="0" y="2294009"/>
                    <a:pt x="0" y="2287670"/>
                  </a:cubicBezTo>
                  <a:lnTo>
                    <a:pt x="0" y="23899"/>
                  </a:lnTo>
                  <a:cubicBezTo>
                    <a:pt x="0" y="10700"/>
                    <a:pt x="10700" y="0"/>
                    <a:pt x="23899" y="0"/>
                  </a:cubicBezTo>
                  <a:close/>
                </a:path>
              </a:pathLst>
            </a:custGeom>
            <a:solidFill>
              <a:srgbClr val="FFFFFF">
                <a:alpha val="85882"/>
              </a:srgbClr>
            </a:solidFill>
          </p:spPr>
          <p:txBody>
            <a:bodyPr/>
            <a:lstStyle/>
            <a:p>
              <a:endParaRPr lang="zh-TW" altLang="en-US"/>
            </a:p>
          </p:txBody>
        </p:sp>
        <p:sp>
          <p:nvSpPr>
            <p:cNvPr id="17" name="TextBox 17"/>
            <p:cNvSpPr txBox="1"/>
            <p:nvPr/>
          </p:nvSpPr>
          <p:spPr>
            <a:xfrm>
              <a:off x="0" y="-38100"/>
              <a:ext cx="4351208" cy="2349669"/>
            </a:xfrm>
            <a:prstGeom prst="rect">
              <a:avLst/>
            </a:prstGeom>
          </p:spPr>
          <p:txBody>
            <a:bodyPr lIns="50800" tIns="50800" rIns="50800" bIns="50800" rtlCol="0" anchor="ctr"/>
            <a:lstStyle/>
            <a:p>
              <a:pPr algn="ctr">
                <a:lnSpc>
                  <a:spcPts val="2120"/>
                </a:lnSpc>
              </a:pPr>
              <a:endParaRPr/>
            </a:p>
          </p:txBody>
        </p:sp>
      </p:grpSp>
      <p:sp>
        <p:nvSpPr>
          <p:cNvPr id="18" name="Freeform 18"/>
          <p:cNvSpPr/>
          <p:nvPr/>
        </p:nvSpPr>
        <p:spPr>
          <a:xfrm>
            <a:off x="2034254" y="2340155"/>
            <a:ext cx="4854141" cy="5981171"/>
          </a:xfrm>
          <a:custGeom>
            <a:avLst/>
            <a:gdLst/>
            <a:ahLst/>
            <a:cxnLst/>
            <a:rect l="l" t="t" r="r" b="b"/>
            <a:pathLst>
              <a:path w="4854141" h="5981171">
                <a:moveTo>
                  <a:pt x="0" y="0"/>
                </a:moveTo>
                <a:lnTo>
                  <a:pt x="4854141" y="0"/>
                </a:lnTo>
                <a:lnTo>
                  <a:pt x="4854141" y="5981171"/>
                </a:lnTo>
                <a:lnTo>
                  <a:pt x="0" y="5981171"/>
                </a:lnTo>
                <a:lnTo>
                  <a:pt x="0" y="0"/>
                </a:lnTo>
                <a:close/>
              </a:path>
            </a:pathLst>
          </a:custGeom>
          <a:blipFill>
            <a:blip r:embed="rId10"/>
            <a:stretch>
              <a:fillRect/>
            </a:stretch>
          </a:blipFill>
        </p:spPr>
        <p:txBody>
          <a:bodyPr/>
          <a:lstStyle/>
          <a:p>
            <a:endParaRPr lang="zh-TW" altLang="en-US"/>
          </a:p>
        </p:txBody>
      </p:sp>
      <p:sp>
        <p:nvSpPr>
          <p:cNvPr id="19" name="TextBox 19"/>
          <p:cNvSpPr txBox="1"/>
          <p:nvPr/>
        </p:nvSpPr>
        <p:spPr>
          <a:xfrm>
            <a:off x="7408122" y="3073702"/>
            <a:ext cx="10366265" cy="3810468"/>
          </a:xfrm>
          <a:prstGeom prst="rect">
            <a:avLst/>
          </a:prstGeom>
        </p:spPr>
        <p:txBody>
          <a:bodyPr lIns="0" tIns="0" rIns="0" bIns="0" rtlCol="0" anchor="t">
            <a:spAutoFit/>
          </a:bodyPr>
          <a:lstStyle/>
          <a:p>
            <a:pPr algn="l">
              <a:lnSpc>
                <a:spcPts val="6233"/>
              </a:lnSpc>
            </a:pPr>
            <a:r>
              <a:rPr lang="en-US" sz="4452" dirty="0">
                <a:solidFill>
                  <a:srgbClr val="494F56"/>
                </a:solidFill>
                <a:latin typeface="Quicksand"/>
                <a:ea typeface="Quicksand"/>
                <a:cs typeface="Quicksand"/>
                <a:sym typeface="Quicksand"/>
              </a:rPr>
              <a:t>🔹 </a:t>
            </a:r>
            <a:r>
              <a:rPr lang="en-US" sz="4452" dirty="0" err="1">
                <a:solidFill>
                  <a:srgbClr val="494F56"/>
                </a:solidFill>
                <a:latin typeface="Quicksand"/>
                <a:ea typeface="Quicksand"/>
                <a:cs typeface="Quicksand"/>
                <a:sym typeface="Quicksand"/>
              </a:rPr>
              <a:t>最近警局</a:t>
            </a:r>
            <a:endParaRPr lang="en-US" sz="4452" dirty="0">
              <a:solidFill>
                <a:srgbClr val="494F56"/>
              </a:solidFill>
              <a:latin typeface="Quicksand"/>
              <a:ea typeface="Quicksand"/>
              <a:cs typeface="Quicksand"/>
              <a:sym typeface="Quicksand"/>
            </a:endParaRPr>
          </a:p>
          <a:p>
            <a:pPr marL="961248" lvl="1" indent="-480624" algn="l">
              <a:lnSpc>
                <a:spcPts val="6233"/>
              </a:lnSpc>
              <a:buFont typeface="Arial"/>
              <a:buChar char="•"/>
            </a:pPr>
            <a:r>
              <a:rPr lang="en-US" sz="4452" dirty="0" err="1">
                <a:solidFill>
                  <a:srgbClr val="494F56"/>
                </a:solidFill>
                <a:latin typeface="Quicksand"/>
                <a:ea typeface="Quicksand"/>
                <a:cs typeface="Quicksand"/>
                <a:sym typeface="Quicksand"/>
              </a:rPr>
              <a:t>一開始會出現兩個下拉式選單，依照用戶所選的縣市與區域</a:t>
            </a:r>
            <a:endParaRPr lang="en-US" sz="4452" dirty="0">
              <a:solidFill>
                <a:srgbClr val="494F56"/>
              </a:solidFill>
              <a:latin typeface="Quicksand"/>
              <a:ea typeface="Quicksand"/>
              <a:cs typeface="Quicksand"/>
              <a:sym typeface="Quicksand"/>
            </a:endParaRPr>
          </a:p>
          <a:p>
            <a:pPr marL="961248" lvl="1" indent="-480624" algn="l">
              <a:lnSpc>
                <a:spcPts val="6233"/>
              </a:lnSpc>
              <a:buFont typeface="Arial"/>
              <a:buChar char="•"/>
            </a:pPr>
            <a:r>
              <a:rPr lang="en-US" sz="4452" dirty="0" err="1">
                <a:solidFill>
                  <a:srgbClr val="494F56"/>
                </a:solidFill>
                <a:latin typeface="Quicksand"/>
                <a:ea typeface="Quicksand"/>
                <a:cs typeface="Quicksand"/>
                <a:sym typeface="Quicksand"/>
              </a:rPr>
              <a:t>顯示最近的警局名稱、電話與地址</a:t>
            </a:r>
            <a:endParaRPr lang="en-US" sz="4452" dirty="0">
              <a:solidFill>
                <a:srgbClr val="494F56"/>
              </a:solidFill>
              <a:latin typeface="Quicksand"/>
              <a:ea typeface="Quicksand"/>
              <a:cs typeface="Quicksand"/>
              <a:sym typeface="Quicksand"/>
            </a:endParaRPr>
          </a:p>
          <a:p>
            <a:pPr algn="l">
              <a:lnSpc>
                <a:spcPts val="5253"/>
              </a:lnSpc>
            </a:pPr>
            <a:endParaRPr lang="en-US" sz="4452" dirty="0">
              <a:solidFill>
                <a:srgbClr val="494F56"/>
              </a:solidFill>
              <a:latin typeface="Quicksand"/>
              <a:ea typeface="Quicksand"/>
              <a:cs typeface="Quicksand"/>
              <a:sym typeface="Quicksand"/>
            </a:endParaRPr>
          </a:p>
        </p:txBody>
      </p:sp>
      <p:sp>
        <p:nvSpPr>
          <p:cNvPr id="20" name="TextBox 20"/>
          <p:cNvSpPr txBox="1"/>
          <p:nvPr/>
        </p:nvSpPr>
        <p:spPr>
          <a:xfrm>
            <a:off x="7923210" y="863190"/>
            <a:ext cx="9336090"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功能-最近警局</a:t>
            </a:r>
          </a:p>
        </p:txBody>
      </p:sp>
      <p:sp>
        <p:nvSpPr>
          <p:cNvPr id="21" name="TextBox 21"/>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2" name="TextBox 22"/>
          <p:cNvSpPr txBox="1"/>
          <p:nvPr/>
        </p:nvSpPr>
        <p:spPr>
          <a:xfrm>
            <a:off x="2784879" y="8264176"/>
            <a:ext cx="3352892" cy="554311"/>
          </a:xfrm>
          <a:prstGeom prst="rect">
            <a:avLst/>
          </a:prstGeom>
        </p:spPr>
        <p:txBody>
          <a:bodyPr lIns="0" tIns="0" rIns="0" bIns="0" rtlCol="0" anchor="t">
            <a:spAutoFit/>
          </a:bodyPr>
          <a:lstStyle/>
          <a:p>
            <a:pPr algn="ctr">
              <a:lnSpc>
                <a:spcPts val="4620"/>
              </a:lnSpc>
              <a:spcBef>
                <a:spcPct val="0"/>
              </a:spcBef>
            </a:pPr>
            <a:r>
              <a:rPr lang="en-US" sz="3300" b="1">
                <a:solidFill>
                  <a:srgbClr val="494F56"/>
                </a:solidFill>
                <a:latin typeface="Atma Medium"/>
                <a:ea typeface="Atma Medium"/>
                <a:cs typeface="Atma Medium"/>
                <a:sym typeface="Atma Medium"/>
              </a:rPr>
              <a:t>此圖片僅為示意圖</a:t>
            </a:r>
          </a:p>
        </p:txBody>
      </p:sp>
      <p:sp>
        <p:nvSpPr>
          <p:cNvPr id="24" name="投影片編號版面配置區 1">
            <a:extLst>
              <a:ext uri="{FF2B5EF4-FFF2-40B4-BE49-F238E27FC236}">
                <a16:creationId xmlns:a16="http://schemas.microsoft.com/office/drawing/2014/main" id="{85B322B1-74CD-2E24-63D9-25CB8FE12E1B}"/>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25</a:t>
            </a:fld>
            <a:endParaRPr lang="en-US" sz="4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sp>
        <p:nvSpPr>
          <p:cNvPr id="19" name="TextBox 19"/>
          <p:cNvSpPr txBox="1"/>
          <p:nvPr/>
        </p:nvSpPr>
        <p:spPr>
          <a:xfrm>
            <a:off x="8287937" y="-63044"/>
            <a:ext cx="9332954" cy="1327720"/>
          </a:xfrm>
          <a:prstGeom prst="rect">
            <a:avLst/>
          </a:prstGeom>
        </p:spPr>
        <p:txBody>
          <a:bodyPr lIns="0" tIns="0" rIns="0" bIns="0" rtlCol="0" anchor="t">
            <a:spAutoFit/>
          </a:bodyPr>
          <a:lstStyle/>
          <a:p>
            <a:pPr algn="l">
              <a:lnSpc>
                <a:spcPts val="10927"/>
              </a:lnSpc>
            </a:pPr>
            <a:r>
              <a:rPr lang="en-US" sz="7805">
                <a:solidFill>
                  <a:srgbClr val="494F56"/>
                </a:solidFill>
                <a:latin typeface="Quicksand"/>
                <a:ea typeface="Quicksand"/>
                <a:cs typeface="Quicksand"/>
                <a:sym typeface="Quicksand"/>
              </a:rPr>
              <a:t>功能-管理員帳號管理</a:t>
            </a:r>
          </a:p>
        </p:txBody>
      </p:sp>
      <p:sp>
        <p:nvSpPr>
          <p:cNvPr id="20" name="TextBox 20"/>
          <p:cNvSpPr txBox="1"/>
          <p:nvPr/>
        </p:nvSpPr>
        <p:spPr>
          <a:xfrm>
            <a:off x="14952571"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1" name="Freeform 21"/>
          <p:cNvSpPr/>
          <p:nvPr/>
        </p:nvSpPr>
        <p:spPr>
          <a:xfrm rot="8024405">
            <a:off x="-3032358" y="-200615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TW" altLang="en-US"/>
          </a:p>
        </p:txBody>
      </p:sp>
      <p:sp>
        <p:nvSpPr>
          <p:cNvPr id="24" name="投影片編號版面配置區 1">
            <a:extLst>
              <a:ext uri="{FF2B5EF4-FFF2-40B4-BE49-F238E27FC236}">
                <a16:creationId xmlns:a16="http://schemas.microsoft.com/office/drawing/2014/main" id="{9F4F8F4C-73FA-77D8-7052-2D681AE0DD40}"/>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26</a:t>
            </a:fld>
            <a:endParaRPr lang="en-US" sz="4400" dirty="0"/>
          </a:p>
        </p:txBody>
      </p:sp>
      <p:pic>
        <p:nvPicPr>
          <p:cNvPr id="25" name="圖片 24">
            <a:extLst>
              <a:ext uri="{FF2B5EF4-FFF2-40B4-BE49-F238E27FC236}">
                <a16:creationId xmlns:a16="http://schemas.microsoft.com/office/drawing/2014/main" id="{867F77D9-F72C-E132-1A75-F75F1A3A8856}"/>
              </a:ext>
            </a:extLst>
          </p:cNvPr>
          <p:cNvPicPr>
            <a:picLocks noChangeAspect="1"/>
          </p:cNvPicPr>
          <p:nvPr/>
        </p:nvPicPr>
        <p:blipFill>
          <a:blip r:embed="rId11"/>
          <a:stretch>
            <a:fillRect/>
          </a:stretch>
        </p:blipFill>
        <p:spPr>
          <a:xfrm>
            <a:off x="5259929" y="1162096"/>
            <a:ext cx="11785860" cy="8471773"/>
          </a:xfrm>
          <a:prstGeom prst="rect">
            <a:avLst/>
          </a:prstGeom>
        </p:spPr>
      </p:pic>
      <p:sp>
        <p:nvSpPr>
          <p:cNvPr id="22" name="TextBox 22"/>
          <p:cNvSpPr txBox="1"/>
          <p:nvPr/>
        </p:nvSpPr>
        <p:spPr>
          <a:xfrm>
            <a:off x="10180764" y="9468484"/>
            <a:ext cx="3352800" cy="554355"/>
          </a:xfrm>
          <a:prstGeom prst="rect">
            <a:avLst/>
          </a:prstGeom>
        </p:spPr>
        <p:txBody>
          <a:bodyPr lIns="0" tIns="0" rIns="0" bIns="0" rtlCol="0" anchor="t">
            <a:spAutoFit/>
          </a:bodyPr>
          <a:lstStyle/>
          <a:p>
            <a:pPr algn="ctr">
              <a:lnSpc>
                <a:spcPts val="4620"/>
              </a:lnSpc>
              <a:spcBef>
                <a:spcPct val="0"/>
              </a:spcBef>
            </a:pPr>
            <a:r>
              <a:rPr lang="en-US" sz="3300" b="1" dirty="0" err="1">
                <a:solidFill>
                  <a:srgbClr val="494F56"/>
                </a:solidFill>
                <a:latin typeface="Atma Medium"/>
                <a:ea typeface="Atma Medium"/>
                <a:cs typeface="Atma Medium"/>
                <a:sym typeface="Atma Medium"/>
              </a:rPr>
              <a:t>此圖片僅為示意圖</a:t>
            </a:r>
            <a:endParaRPr lang="en-US" sz="3300" b="1" dirty="0">
              <a:solidFill>
                <a:srgbClr val="494F56"/>
              </a:solidFill>
              <a:latin typeface="Atma Medium"/>
              <a:ea typeface="Atma Medium"/>
              <a:cs typeface="Atma Medium"/>
              <a:sym typeface="Atma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sp>
        <p:nvSpPr>
          <p:cNvPr id="19" name="TextBox 19"/>
          <p:cNvSpPr txBox="1"/>
          <p:nvPr/>
        </p:nvSpPr>
        <p:spPr>
          <a:xfrm>
            <a:off x="6975519" y="204472"/>
            <a:ext cx="10283781"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功能-管理員帳號管理</a:t>
            </a:r>
          </a:p>
        </p:txBody>
      </p:sp>
      <p:sp>
        <p:nvSpPr>
          <p:cNvPr id="20" name="TextBox 20"/>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2" name="Freeform 22"/>
          <p:cNvSpPr/>
          <p:nvPr/>
        </p:nvSpPr>
        <p:spPr>
          <a:xfrm rot="8453648">
            <a:off x="-4569530" y="-1212715"/>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TW" altLang="en-US"/>
          </a:p>
        </p:txBody>
      </p:sp>
      <p:sp>
        <p:nvSpPr>
          <p:cNvPr id="24" name="投影片編號版面配置區 1">
            <a:extLst>
              <a:ext uri="{FF2B5EF4-FFF2-40B4-BE49-F238E27FC236}">
                <a16:creationId xmlns:a16="http://schemas.microsoft.com/office/drawing/2014/main" id="{84FD606C-AE74-D7B4-932F-5ACC5B6172E7}"/>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27</a:t>
            </a:fld>
            <a:endParaRPr lang="en-US" sz="4400" dirty="0"/>
          </a:p>
        </p:txBody>
      </p:sp>
      <p:pic>
        <p:nvPicPr>
          <p:cNvPr id="25" name="圖片 24">
            <a:extLst>
              <a:ext uri="{FF2B5EF4-FFF2-40B4-BE49-F238E27FC236}">
                <a16:creationId xmlns:a16="http://schemas.microsoft.com/office/drawing/2014/main" id="{607A1BAB-BDF8-DBD9-F7F8-23998633BD8C}"/>
              </a:ext>
            </a:extLst>
          </p:cNvPr>
          <p:cNvPicPr>
            <a:picLocks noChangeAspect="1"/>
          </p:cNvPicPr>
          <p:nvPr/>
        </p:nvPicPr>
        <p:blipFill>
          <a:blip r:embed="rId11"/>
          <a:stretch>
            <a:fillRect/>
          </a:stretch>
        </p:blipFill>
        <p:spPr>
          <a:xfrm>
            <a:off x="5853574" y="1583639"/>
            <a:ext cx="11431126" cy="8079362"/>
          </a:xfrm>
          <a:prstGeom prst="rect">
            <a:avLst/>
          </a:prstGeom>
        </p:spPr>
      </p:pic>
      <p:sp>
        <p:nvSpPr>
          <p:cNvPr id="21" name="TextBox 21"/>
          <p:cNvSpPr txBox="1"/>
          <p:nvPr/>
        </p:nvSpPr>
        <p:spPr>
          <a:xfrm>
            <a:off x="9965895" y="9201150"/>
            <a:ext cx="3352800" cy="554355"/>
          </a:xfrm>
          <a:prstGeom prst="rect">
            <a:avLst/>
          </a:prstGeom>
        </p:spPr>
        <p:txBody>
          <a:bodyPr lIns="0" tIns="0" rIns="0" bIns="0" rtlCol="0" anchor="t">
            <a:spAutoFit/>
          </a:bodyPr>
          <a:lstStyle/>
          <a:p>
            <a:pPr algn="ctr">
              <a:lnSpc>
                <a:spcPts val="4620"/>
              </a:lnSpc>
              <a:spcBef>
                <a:spcPct val="0"/>
              </a:spcBef>
            </a:pPr>
            <a:r>
              <a:rPr lang="en-US" sz="3300" b="1" dirty="0" err="1">
                <a:solidFill>
                  <a:srgbClr val="494F56"/>
                </a:solidFill>
                <a:latin typeface="Atma Medium"/>
                <a:ea typeface="Atma Medium"/>
                <a:cs typeface="Atma Medium"/>
                <a:sym typeface="Atma Medium"/>
              </a:rPr>
              <a:t>此圖片僅為示意圖</a:t>
            </a:r>
            <a:endParaRPr lang="en-US" sz="3300" b="1" dirty="0">
              <a:solidFill>
                <a:srgbClr val="494F56"/>
              </a:solidFill>
              <a:latin typeface="Atma Medium"/>
              <a:ea typeface="Atma Medium"/>
              <a:cs typeface="Atma Medium"/>
              <a:sym typeface="Atma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grpSp>
        <p:nvGrpSpPr>
          <p:cNvPr id="18" name="Group 18"/>
          <p:cNvGrpSpPr/>
          <p:nvPr/>
        </p:nvGrpSpPr>
        <p:grpSpPr>
          <a:xfrm>
            <a:off x="1028700" y="1943090"/>
            <a:ext cx="5582007" cy="7315210"/>
            <a:chOff x="0" y="0"/>
            <a:chExt cx="1470158" cy="1926640"/>
          </a:xfrm>
        </p:grpSpPr>
        <p:sp>
          <p:nvSpPr>
            <p:cNvPr id="19" name="Freeform 19"/>
            <p:cNvSpPr/>
            <p:nvPr/>
          </p:nvSpPr>
          <p:spPr>
            <a:xfrm>
              <a:off x="0" y="0"/>
              <a:ext cx="1470158" cy="1926640"/>
            </a:xfrm>
            <a:custGeom>
              <a:avLst/>
              <a:gdLst/>
              <a:ahLst/>
              <a:cxnLst/>
              <a:rect l="l" t="t" r="r" b="b"/>
              <a:pathLst>
                <a:path w="1470158" h="1926640">
                  <a:moveTo>
                    <a:pt x="70734" y="0"/>
                  </a:moveTo>
                  <a:lnTo>
                    <a:pt x="1399424" y="0"/>
                  </a:lnTo>
                  <a:cubicBezTo>
                    <a:pt x="1418184" y="0"/>
                    <a:pt x="1436175" y="7452"/>
                    <a:pt x="1449441" y="20718"/>
                  </a:cubicBezTo>
                  <a:cubicBezTo>
                    <a:pt x="1462706" y="33983"/>
                    <a:pt x="1470158" y="51974"/>
                    <a:pt x="1470158" y="70734"/>
                  </a:cubicBezTo>
                  <a:lnTo>
                    <a:pt x="1470158" y="1855906"/>
                  </a:lnTo>
                  <a:cubicBezTo>
                    <a:pt x="1470158" y="1894971"/>
                    <a:pt x="1438489" y="1926640"/>
                    <a:pt x="1399424" y="1926640"/>
                  </a:cubicBezTo>
                  <a:lnTo>
                    <a:pt x="70734" y="1926640"/>
                  </a:lnTo>
                  <a:cubicBezTo>
                    <a:pt x="31669" y="1926640"/>
                    <a:pt x="0" y="1894971"/>
                    <a:pt x="0" y="1855906"/>
                  </a:cubicBezTo>
                  <a:lnTo>
                    <a:pt x="0" y="70734"/>
                  </a:lnTo>
                  <a:cubicBezTo>
                    <a:pt x="0" y="31669"/>
                    <a:pt x="31669" y="0"/>
                    <a:pt x="70734" y="0"/>
                  </a:cubicBezTo>
                  <a:close/>
                </a:path>
              </a:pathLst>
            </a:custGeom>
            <a:solidFill>
              <a:srgbClr val="588157"/>
            </a:solidFill>
          </p:spPr>
          <p:txBody>
            <a:bodyPr/>
            <a:lstStyle/>
            <a:p>
              <a:endParaRPr lang="zh-TW" altLang="en-US"/>
            </a:p>
          </p:txBody>
        </p:sp>
        <p:sp>
          <p:nvSpPr>
            <p:cNvPr id="20" name="TextBox 20"/>
            <p:cNvSpPr txBox="1"/>
            <p:nvPr/>
          </p:nvSpPr>
          <p:spPr>
            <a:xfrm>
              <a:off x="0" y="-38100"/>
              <a:ext cx="1470158" cy="1964740"/>
            </a:xfrm>
            <a:prstGeom prst="rect">
              <a:avLst/>
            </a:prstGeom>
          </p:spPr>
          <p:txBody>
            <a:bodyPr lIns="50800" tIns="50800" rIns="50800" bIns="50800" rtlCol="0" anchor="ctr"/>
            <a:lstStyle/>
            <a:p>
              <a:pPr algn="ctr">
                <a:lnSpc>
                  <a:spcPts val="2120"/>
                </a:lnSpc>
              </a:pPr>
              <a:endParaRPr/>
            </a:p>
          </p:txBody>
        </p:sp>
      </p:grpSp>
      <p:sp>
        <p:nvSpPr>
          <p:cNvPr id="21" name="Freeform 21"/>
          <p:cNvSpPr/>
          <p:nvPr/>
        </p:nvSpPr>
        <p:spPr>
          <a:xfrm>
            <a:off x="1387923" y="3503725"/>
            <a:ext cx="4863562" cy="4193941"/>
          </a:xfrm>
          <a:custGeom>
            <a:avLst/>
            <a:gdLst/>
            <a:ahLst/>
            <a:cxnLst/>
            <a:rect l="l" t="t" r="r" b="b"/>
            <a:pathLst>
              <a:path w="4863562" h="4193941">
                <a:moveTo>
                  <a:pt x="0" y="0"/>
                </a:moveTo>
                <a:lnTo>
                  <a:pt x="4863561" y="0"/>
                </a:lnTo>
                <a:lnTo>
                  <a:pt x="4863561" y="4193940"/>
                </a:lnTo>
                <a:lnTo>
                  <a:pt x="0" y="4193940"/>
                </a:lnTo>
                <a:lnTo>
                  <a:pt x="0" y="0"/>
                </a:lnTo>
                <a:close/>
              </a:path>
            </a:pathLst>
          </a:custGeom>
          <a:blipFill>
            <a:blip r:embed="rId9"/>
            <a:stretch>
              <a:fillRect/>
            </a:stretch>
          </a:blipFill>
        </p:spPr>
        <p:txBody>
          <a:bodyPr/>
          <a:lstStyle/>
          <a:p>
            <a:endParaRPr lang="zh-TW" altLang="en-US"/>
          </a:p>
        </p:txBody>
      </p:sp>
      <p:sp>
        <p:nvSpPr>
          <p:cNvPr id="22" name="TextBox 22"/>
          <p:cNvSpPr txBox="1"/>
          <p:nvPr/>
        </p:nvSpPr>
        <p:spPr>
          <a:xfrm>
            <a:off x="6975519" y="1661601"/>
            <a:ext cx="10283781"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功能-會員管理(標註) </a:t>
            </a:r>
          </a:p>
        </p:txBody>
      </p:sp>
      <p:sp>
        <p:nvSpPr>
          <p:cNvPr id="23" name="TextBox 23"/>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報告人:思璇</a:t>
            </a:r>
          </a:p>
        </p:txBody>
      </p:sp>
      <p:sp>
        <p:nvSpPr>
          <p:cNvPr id="24" name="TextBox 24"/>
          <p:cNvSpPr txBox="1"/>
          <p:nvPr/>
        </p:nvSpPr>
        <p:spPr>
          <a:xfrm>
            <a:off x="7159295" y="3919657"/>
            <a:ext cx="10461596" cy="4855822"/>
          </a:xfrm>
          <a:prstGeom prst="rect">
            <a:avLst/>
          </a:prstGeom>
        </p:spPr>
        <p:txBody>
          <a:bodyPr lIns="0" tIns="0" rIns="0" bIns="0" rtlCol="0" anchor="t">
            <a:spAutoFit/>
          </a:bodyPr>
          <a:lstStyle/>
          <a:p>
            <a:pPr algn="l">
              <a:lnSpc>
                <a:spcPts val="6473"/>
              </a:lnSpc>
            </a:pPr>
            <a:r>
              <a:rPr lang="en-US" sz="4624">
                <a:solidFill>
                  <a:srgbClr val="494F56"/>
                </a:solidFill>
                <a:latin typeface="Quicksand"/>
                <a:ea typeface="Quicksand"/>
                <a:cs typeface="Quicksand"/>
                <a:sym typeface="Quicksand"/>
              </a:rPr>
              <a:t>管理員可查詢並選擇用戶，進行基本資料管理與標註操作。</a:t>
            </a:r>
          </a:p>
          <a:p>
            <a:pPr algn="l">
              <a:lnSpc>
                <a:spcPts val="6473"/>
              </a:lnSpc>
            </a:pPr>
            <a:endParaRPr lang="en-US" sz="4624">
              <a:solidFill>
                <a:srgbClr val="494F56"/>
              </a:solidFill>
              <a:latin typeface="Quicksand"/>
              <a:ea typeface="Quicksand"/>
              <a:cs typeface="Quicksand"/>
              <a:sym typeface="Quicksand"/>
            </a:endParaRPr>
          </a:p>
          <a:p>
            <a:pPr algn="l">
              <a:lnSpc>
                <a:spcPts val="6473"/>
              </a:lnSpc>
            </a:pPr>
            <a:r>
              <a:rPr lang="en-US" sz="4624">
                <a:solidFill>
                  <a:srgbClr val="494F56"/>
                </a:solidFill>
                <a:latin typeface="Quicksand"/>
                <a:ea typeface="Quicksand"/>
                <a:cs typeface="Quicksand"/>
                <a:sym typeface="Quicksand"/>
              </a:rPr>
              <a:t>透過標註顏色區分用戶審核後的狀態，便於快速辨識與後續管理。</a:t>
            </a:r>
          </a:p>
          <a:p>
            <a:pPr algn="l">
              <a:lnSpc>
                <a:spcPts val="6473"/>
              </a:lnSpc>
            </a:pPr>
            <a:endParaRPr lang="en-US" sz="4624">
              <a:solidFill>
                <a:srgbClr val="494F56"/>
              </a:solidFill>
              <a:latin typeface="Quicksand"/>
              <a:ea typeface="Quicksand"/>
              <a:cs typeface="Quicksand"/>
              <a:sym typeface="Quicksand"/>
            </a:endParaRPr>
          </a:p>
        </p:txBody>
      </p:sp>
      <p:sp>
        <p:nvSpPr>
          <p:cNvPr id="26" name="投影片編號版面配置區 1">
            <a:extLst>
              <a:ext uri="{FF2B5EF4-FFF2-40B4-BE49-F238E27FC236}">
                <a16:creationId xmlns:a16="http://schemas.microsoft.com/office/drawing/2014/main" id="{88C9EEA0-29E4-569F-12E7-1958D6A43B52}"/>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28</a:t>
            </a:fld>
            <a:endParaRPr lang="en-US" sz="4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sp>
        <p:nvSpPr>
          <p:cNvPr id="18" name="Freeform 18"/>
          <p:cNvSpPr/>
          <p:nvPr/>
        </p:nvSpPr>
        <p:spPr>
          <a:xfrm>
            <a:off x="6621281" y="1546559"/>
            <a:ext cx="10638019" cy="7711741"/>
          </a:xfrm>
          <a:custGeom>
            <a:avLst/>
            <a:gdLst/>
            <a:ahLst/>
            <a:cxnLst/>
            <a:rect l="l" t="t" r="r" b="b"/>
            <a:pathLst>
              <a:path w="10638019" h="7711741">
                <a:moveTo>
                  <a:pt x="0" y="0"/>
                </a:moveTo>
                <a:lnTo>
                  <a:pt x="10638019" y="0"/>
                </a:lnTo>
                <a:lnTo>
                  <a:pt x="10638019" y="7711741"/>
                </a:lnTo>
                <a:lnTo>
                  <a:pt x="0" y="7711741"/>
                </a:lnTo>
                <a:lnTo>
                  <a:pt x="0" y="0"/>
                </a:lnTo>
                <a:close/>
              </a:path>
            </a:pathLst>
          </a:custGeom>
          <a:blipFill>
            <a:blip r:embed="rId9"/>
            <a:stretch>
              <a:fillRect t="-177" b="-177"/>
            </a:stretch>
          </a:blipFill>
        </p:spPr>
        <p:txBody>
          <a:bodyPr/>
          <a:lstStyle/>
          <a:p>
            <a:endParaRPr lang="zh-TW" altLang="en-US"/>
          </a:p>
        </p:txBody>
      </p:sp>
      <p:sp>
        <p:nvSpPr>
          <p:cNvPr id="19" name="TextBox 19"/>
          <p:cNvSpPr txBox="1"/>
          <p:nvPr/>
        </p:nvSpPr>
        <p:spPr>
          <a:xfrm>
            <a:off x="6975519" y="204472"/>
            <a:ext cx="12229494"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功能-表單審核與封存 </a:t>
            </a:r>
          </a:p>
        </p:txBody>
      </p:sp>
      <p:sp>
        <p:nvSpPr>
          <p:cNvPr id="20" name="TextBox 20"/>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1" name="TextBox 21"/>
          <p:cNvSpPr txBox="1"/>
          <p:nvPr/>
        </p:nvSpPr>
        <p:spPr>
          <a:xfrm>
            <a:off x="9965895" y="9201150"/>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494F56"/>
                </a:solidFill>
                <a:latin typeface="Atma Medium"/>
                <a:ea typeface="Atma Medium"/>
                <a:cs typeface="Atma Medium"/>
                <a:sym typeface="Atma Medium"/>
              </a:rPr>
              <a:t>此圖片僅為示意圖</a:t>
            </a:r>
          </a:p>
        </p:txBody>
      </p:sp>
      <p:sp>
        <p:nvSpPr>
          <p:cNvPr id="22" name="Freeform 22"/>
          <p:cNvSpPr/>
          <p:nvPr/>
        </p:nvSpPr>
        <p:spPr>
          <a:xfrm rot="7963502">
            <a:off x="-3032358" y="-200615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24" name="投影片編號版面配置區 1">
            <a:extLst>
              <a:ext uri="{FF2B5EF4-FFF2-40B4-BE49-F238E27FC236}">
                <a16:creationId xmlns:a16="http://schemas.microsoft.com/office/drawing/2014/main" id="{4CA0691B-6239-69C9-D5A2-AAFA3657162D}"/>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29</a:t>
            </a:fld>
            <a:endParaRPr lang="en-US" sz="4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0" y="-138882"/>
            <a:ext cx="20049919"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559458" y="1028700"/>
            <a:ext cx="13252407" cy="8550417"/>
            <a:chOff x="0" y="0"/>
            <a:chExt cx="3490346" cy="2251962"/>
          </a:xfrm>
        </p:grpSpPr>
        <p:sp>
          <p:nvSpPr>
            <p:cNvPr id="14" name="Freeform 14"/>
            <p:cNvSpPr/>
            <p:nvPr/>
          </p:nvSpPr>
          <p:spPr>
            <a:xfrm>
              <a:off x="0" y="0"/>
              <a:ext cx="3490346" cy="2251962"/>
            </a:xfrm>
            <a:custGeom>
              <a:avLst/>
              <a:gdLst/>
              <a:ahLst/>
              <a:cxnLst/>
              <a:rect l="l" t="t" r="r" b="b"/>
              <a:pathLst>
                <a:path w="3490346" h="2251962">
                  <a:moveTo>
                    <a:pt x="29794" y="0"/>
                  </a:moveTo>
                  <a:lnTo>
                    <a:pt x="3460552" y="0"/>
                  </a:lnTo>
                  <a:cubicBezTo>
                    <a:pt x="3468454" y="0"/>
                    <a:pt x="3476032" y="3139"/>
                    <a:pt x="3481620" y="8726"/>
                  </a:cubicBezTo>
                  <a:cubicBezTo>
                    <a:pt x="3487207" y="14314"/>
                    <a:pt x="3490346" y="21892"/>
                    <a:pt x="3490346" y="29794"/>
                  </a:cubicBezTo>
                  <a:lnTo>
                    <a:pt x="3490346" y="2222168"/>
                  </a:lnTo>
                  <a:cubicBezTo>
                    <a:pt x="3490346" y="2230070"/>
                    <a:pt x="3487207" y="2237648"/>
                    <a:pt x="3481620" y="2243235"/>
                  </a:cubicBezTo>
                  <a:cubicBezTo>
                    <a:pt x="3476032" y="2248823"/>
                    <a:pt x="3468454" y="2251962"/>
                    <a:pt x="3460552" y="2251962"/>
                  </a:cubicBezTo>
                  <a:lnTo>
                    <a:pt x="29794" y="2251962"/>
                  </a:lnTo>
                  <a:cubicBezTo>
                    <a:pt x="21892" y="2251962"/>
                    <a:pt x="14314" y="2248823"/>
                    <a:pt x="8726" y="2243235"/>
                  </a:cubicBezTo>
                  <a:cubicBezTo>
                    <a:pt x="3139" y="2237648"/>
                    <a:pt x="0" y="2230070"/>
                    <a:pt x="0" y="2222168"/>
                  </a:cubicBezTo>
                  <a:lnTo>
                    <a:pt x="0" y="29794"/>
                  </a:lnTo>
                  <a:cubicBezTo>
                    <a:pt x="0" y="21892"/>
                    <a:pt x="3139" y="14314"/>
                    <a:pt x="8726" y="8726"/>
                  </a:cubicBezTo>
                  <a:cubicBezTo>
                    <a:pt x="14314" y="3139"/>
                    <a:pt x="21892" y="0"/>
                    <a:pt x="29794"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49034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sp>
        <p:nvSpPr>
          <p:cNvPr id="18" name="Freeform 18"/>
          <p:cNvSpPr/>
          <p:nvPr/>
        </p:nvSpPr>
        <p:spPr>
          <a:xfrm>
            <a:off x="6182420" y="1681478"/>
            <a:ext cx="11076880" cy="7850739"/>
          </a:xfrm>
          <a:custGeom>
            <a:avLst/>
            <a:gdLst/>
            <a:ahLst/>
            <a:cxnLst/>
            <a:rect l="l" t="t" r="r" b="b"/>
            <a:pathLst>
              <a:path w="11076880" h="7850739">
                <a:moveTo>
                  <a:pt x="0" y="0"/>
                </a:moveTo>
                <a:lnTo>
                  <a:pt x="11076880" y="0"/>
                </a:lnTo>
                <a:lnTo>
                  <a:pt x="11076880" y="7850739"/>
                </a:lnTo>
                <a:lnTo>
                  <a:pt x="0" y="7850739"/>
                </a:lnTo>
                <a:lnTo>
                  <a:pt x="0" y="0"/>
                </a:lnTo>
                <a:close/>
              </a:path>
            </a:pathLst>
          </a:custGeom>
          <a:blipFill>
            <a:blip r:embed="rId9"/>
            <a:stretch>
              <a:fillRect/>
            </a:stretch>
          </a:blipFill>
        </p:spPr>
        <p:txBody>
          <a:bodyPr/>
          <a:lstStyle/>
          <a:p>
            <a:endParaRPr lang="zh-TW" altLang="en-US"/>
          </a:p>
        </p:txBody>
      </p:sp>
      <p:sp>
        <p:nvSpPr>
          <p:cNvPr id="19" name="TextBox 19"/>
          <p:cNvSpPr txBox="1"/>
          <p:nvPr/>
        </p:nvSpPr>
        <p:spPr>
          <a:xfrm>
            <a:off x="6975519" y="204472"/>
            <a:ext cx="12229494"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功能-表單審核與封存 </a:t>
            </a:r>
          </a:p>
        </p:txBody>
      </p:sp>
      <p:sp>
        <p:nvSpPr>
          <p:cNvPr id="20" name="TextBox 20"/>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1" name="TextBox 21"/>
          <p:cNvSpPr txBox="1"/>
          <p:nvPr/>
        </p:nvSpPr>
        <p:spPr>
          <a:xfrm>
            <a:off x="10044460" y="9326746"/>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494F56"/>
                </a:solidFill>
                <a:latin typeface="Atma Medium"/>
                <a:ea typeface="Atma Medium"/>
                <a:cs typeface="Atma Medium"/>
                <a:sym typeface="Atma Medium"/>
              </a:rPr>
              <a:t>此圖片僅為示意圖</a:t>
            </a:r>
          </a:p>
        </p:txBody>
      </p:sp>
      <p:sp>
        <p:nvSpPr>
          <p:cNvPr id="22" name="Freeform 22"/>
          <p:cNvSpPr/>
          <p:nvPr/>
        </p:nvSpPr>
        <p:spPr>
          <a:xfrm rot="7920642">
            <a:off x="-3032358" y="-2006157"/>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24" name="投影片編號版面配置區 1">
            <a:extLst>
              <a:ext uri="{FF2B5EF4-FFF2-40B4-BE49-F238E27FC236}">
                <a16:creationId xmlns:a16="http://schemas.microsoft.com/office/drawing/2014/main" id="{973E4041-6D09-A731-4BD1-D549E731DDEB}"/>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30</a:t>
            </a:fld>
            <a:endParaRPr lang="en-US" sz="4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559458" y="1028700"/>
            <a:ext cx="13252407" cy="8852401"/>
            <a:chOff x="0" y="0"/>
            <a:chExt cx="3490346" cy="2331497"/>
          </a:xfrm>
        </p:grpSpPr>
        <p:sp>
          <p:nvSpPr>
            <p:cNvPr id="14" name="Freeform 14"/>
            <p:cNvSpPr/>
            <p:nvPr/>
          </p:nvSpPr>
          <p:spPr>
            <a:xfrm>
              <a:off x="0" y="0"/>
              <a:ext cx="3490346" cy="2331496"/>
            </a:xfrm>
            <a:custGeom>
              <a:avLst/>
              <a:gdLst/>
              <a:ahLst/>
              <a:cxnLst/>
              <a:rect l="l" t="t" r="r" b="b"/>
              <a:pathLst>
                <a:path w="3490346" h="2331496">
                  <a:moveTo>
                    <a:pt x="29794" y="0"/>
                  </a:moveTo>
                  <a:lnTo>
                    <a:pt x="3460552" y="0"/>
                  </a:lnTo>
                  <a:cubicBezTo>
                    <a:pt x="3468454" y="0"/>
                    <a:pt x="3476032" y="3139"/>
                    <a:pt x="3481620" y="8726"/>
                  </a:cubicBezTo>
                  <a:cubicBezTo>
                    <a:pt x="3487207" y="14314"/>
                    <a:pt x="3490346" y="21892"/>
                    <a:pt x="3490346" y="29794"/>
                  </a:cubicBezTo>
                  <a:lnTo>
                    <a:pt x="3490346" y="2301703"/>
                  </a:lnTo>
                  <a:cubicBezTo>
                    <a:pt x="3490346" y="2309605"/>
                    <a:pt x="3487207" y="2317183"/>
                    <a:pt x="3481620" y="2322770"/>
                  </a:cubicBezTo>
                  <a:cubicBezTo>
                    <a:pt x="3476032" y="2328357"/>
                    <a:pt x="3468454" y="2331496"/>
                    <a:pt x="3460552" y="2331496"/>
                  </a:cubicBezTo>
                  <a:lnTo>
                    <a:pt x="29794" y="2331496"/>
                  </a:lnTo>
                  <a:cubicBezTo>
                    <a:pt x="21892" y="2331496"/>
                    <a:pt x="14314" y="2328357"/>
                    <a:pt x="8726" y="2322770"/>
                  </a:cubicBezTo>
                  <a:cubicBezTo>
                    <a:pt x="3139" y="2317183"/>
                    <a:pt x="0" y="2309605"/>
                    <a:pt x="0" y="2301703"/>
                  </a:cubicBezTo>
                  <a:lnTo>
                    <a:pt x="0" y="29794"/>
                  </a:lnTo>
                  <a:cubicBezTo>
                    <a:pt x="0" y="21892"/>
                    <a:pt x="3139" y="14314"/>
                    <a:pt x="8726" y="8726"/>
                  </a:cubicBezTo>
                  <a:cubicBezTo>
                    <a:pt x="14314" y="3139"/>
                    <a:pt x="21892" y="0"/>
                    <a:pt x="29794"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490346" cy="2369597"/>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sp>
        <p:nvSpPr>
          <p:cNvPr id="18" name="Freeform 18"/>
          <p:cNvSpPr/>
          <p:nvPr/>
        </p:nvSpPr>
        <p:spPr>
          <a:xfrm>
            <a:off x="5417556" y="1387108"/>
            <a:ext cx="11536212" cy="8190711"/>
          </a:xfrm>
          <a:custGeom>
            <a:avLst/>
            <a:gdLst/>
            <a:ahLst/>
            <a:cxnLst/>
            <a:rect l="l" t="t" r="r" b="b"/>
            <a:pathLst>
              <a:path w="11536212" h="8190711">
                <a:moveTo>
                  <a:pt x="0" y="0"/>
                </a:moveTo>
                <a:lnTo>
                  <a:pt x="11536212" y="0"/>
                </a:lnTo>
                <a:lnTo>
                  <a:pt x="11536212" y="8190711"/>
                </a:lnTo>
                <a:lnTo>
                  <a:pt x="0" y="8190711"/>
                </a:lnTo>
                <a:lnTo>
                  <a:pt x="0" y="0"/>
                </a:lnTo>
                <a:close/>
              </a:path>
            </a:pathLst>
          </a:custGeom>
          <a:blipFill>
            <a:blip r:embed="rId9"/>
            <a:stretch>
              <a:fillRect/>
            </a:stretch>
          </a:blipFill>
        </p:spPr>
        <p:txBody>
          <a:bodyPr/>
          <a:lstStyle/>
          <a:p>
            <a:endParaRPr lang="zh-TW" altLang="en-US"/>
          </a:p>
        </p:txBody>
      </p:sp>
      <p:sp>
        <p:nvSpPr>
          <p:cNvPr id="19" name="TextBox 19"/>
          <p:cNvSpPr txBox="1"/>
          <p:nvPr/>
        </p:nvSpPr>
        <p:spPr>
          <a:xfrm>
            <a:off x="7083984" y="-310332"/>
            <a:ext cx="12229494" cy="1477006"/>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功能-表單審核與封存 </a:t>
            </a:r>
          </a:p>
        </p:txBody>
      </p:sp>
      <p:sp>
        <p:nvSpPr>
          <p:cNvPr id="20" name="TextBox 20"/>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1" name="TextBox 21"/>
          <p:cNvSpPr txBox="1"/>
          <p:nvPr/>
        </p:nvSpPr>
        <p:spPr>
          <a:xfrm>
            <a:off x="9875817" y="9520669"/>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494F56"/>
                </a:solidFill>
                <a:latin typeface="Atma Medium"/>
                <a:ea typeface="Atma Medium"/>
                <a:cs typeface="Atma Medium"/>
                <a:sym typeface="Atma Medium"/>
              </a:rPr>
              <a:t>此圖片僅為示意圖</a:t>
            </a:r>
          </a:p>
        </p:txBody>
      </p:sp>
      <p:sp>
        <p:nvSpPr>
          <p:cNvPr id="22" name="Freeform 22"/>
          <p:cNvSpPr/>
          <p:nvPr/>
        </p:nvSpPr>
        <p:spPr>
          <a:xfrm rot="8046416">
            <a:off x="-2238412" y="-2847180"/>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24" name="投影片編號版面配置區 1">
            <a:extLst>
              <a:ext uri="{FF2B5EF4-FFF2-40B4-BE49-F238E27FC236}">
                <a16:creationId xmlns:a16="http://schemas.microsoft.com/office/drawing/2014/main" id="{786AC840-9B88-B2C4-71F9-270F9791B307}"/>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31</a:t>
            </a:fld>
            <a:endParaRPr lang="en-US" sz="4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grpSp>
        <p:nvGrpSpPr>
          <p:cNvPr id="18" name="Group 18"/>
          <p:cNvGrpSpPr/>
          <p:nvPr/>
        </p:nvGrpSpPr>
        <p:grpSpPr>
          <a:xfrm>
            <a:off x="1028700" y="1943090"/>
            <a:ext cx="5582007" cy="7315210"/>
            <a:chOff x="0" y="0"/>
            <a:chExt cx="1470158" cy="1926640"/>
          </a:xfrm>
        </p:grpSpPr>
        <p:sp>
          <p:nvSpPr>
            <p:cNvPr id="19" name="Freeform 19"/>
            <p:cNvSpPr/>
            <p:nvPr/>
          </p:nvSpPr>
          <p:spPr>
            <a:xfrm>
              <a:off x="0" y="0"/>
              <a:ext cx="1470158" cy="1926640"/>
            </a:xfrm>
            <a:custGeom>
              <a:avLst/>
              <a:gdLst/>
              <a:ahLst/>
              <a:cxnLst/>
              <a:rect l="l" t="t" r="r" b="b"/>
              <a:pathLst>
                <a:path w="1470158" h="1926640">
                  <a:moveTo>
                    <a:pt x="70734" y="0"/>
                  </a:moveTo>
                  <a:lnTo>
                    <a:pt x="1399424" y="0"/>
                  </a:lnTo>
                  <a:cubicBezTo>
                    <a:pt x="1418184" y="0"/>
                    <a:pt x="1436175" y="7452"/>
                    <a:pt x="1449441" y="20718"/>
                  </a:cubicBezTo>
                  <a:cubicBezTo>
                    <a:pt x="1462706" y="33983"/>
                    <a:pt x="1470158" y="51974"/>
                    <a:pt x="1470158" y="70734"/>
                  </a:cubicBezTo>
                  <a:lnTo>
                    <a:pt x="1470158" y="1855906"/>
                  </a:lnTo>
                  <a:cubicBezTo>
                    <a:pt x="1470158" y="1894971"/>
                    <a:pt x="1438489" y="1926640"/>
                    <a:pt x="1399424" y="1926640"/>
                  </a:cubicBezTo>
                  <a:lnTo>
                    <a:pt x="70734" y="1926640"/>
                  </a:lnTo>
                  <a:cubicBezTo>
                    <a:pt x="31669" y="1926640"/>
                    <a:pt x="0" y="1894971"/>
                    <a:pt x="0" y="1855906"/>
                  </a:cubicBezTo>
                  <a:lnTo>
                    <a:pt x="0" y="70734"/>
                  </a:lnTo>
                  <a:cubicBezTo>
                    <a:pt x="0" y="31669"/>
                    <a:pt x="31669" y="0"/>
                    <a:pt x="70734" y="0"/>
                  </a:cubicBezTo>
                  <a:close/>
                </a:path>
              </a:pathLst>
            </a:custGeom>
            <a:solidFill>
              <a:srgbClr val="588157"/>
            </a:solidFill>
          </p:spPr>
          <p:txBody>
            <a:bodyPr/>
            <a:lstStyle/>
            <a:p>
              <a:endParaRPr lang="zh-TW" altLang="en-US"/>
            </a:p>
          </p:txBody>
        </p:sp>
        <p:sp>
          <p:nvSpPr>
            <p:cNvPr id="20" name="TextBox 20"/>
            <p:cNvSpPr txBox="1"/>
            <p:nvPr/>
          </p:nvSpPr>
          <p:spPr>
            <a:xfrm>
              <a:off x="0" y="-38100"/>
              <a:ext cx="1470158" cy="1964740"/>
            </a:xfrm>
            <a:prstGeom prst="rect">
              <a:avLst/>
            </a:prstGeom>
          </p:spPr>
          <p:txBody>
            <a:bodyPr lIns="50800" tIns="50800" rIns="50800" bIns="50800" rtlCol="0" anchor="ctr"/>
            <a:lstStyle/>
            <a:p>
              <a:pPr algn="ctr">
                <a:lnSpc>
                  <a:spcPts val="2120"/>
                </a:lnSpc>
              </a:pPr>
              <a:endParaRPr/>
            </a:p>
          </p:txBody>
        </p:sp>
      </p:grpSp>
      <p:sp>
        <p:nvSpPr>
          <p:cNvPr id="21" name="Freeform 21"/>
          <p:cNvSpPr/>
          <p:nvPr/>
        </p:nvSpPr>
        <p:spPr>
          <a:xfrm>
            <a:off x="1122504" y="3505528"/>
            <a:ext cx="5394398" cy="3858019"/>
          </a:xfrm>
          <a:custGeom>
            <a:avLst/>
            <a:gdLst/>
            <a:ahLst/>
            <a:cxnLst/>
            <a:rect l="l" t="t" r="r" b="b"/>
            <a:pathLst>
              <a:path w="5394398" h="3858019">
                <a:moveTo>
                  <a:pt x="0" y="0"/>
                </a:moveTo>
                <a:lnTo>
                  <a:pt x="5394398" y="0"/>
                </a:lnTo>
                <a:lnTo>
                  <a:pt x="5394398" y="3858019"/>
                </a:lnTo>
                <a:lnTo>
                  <a:pt x="0" y="3858019"/>
                </a:lnTo>
                <a:lnTo>
                  <a:pt x="0" y="0"/>
                </a:lnTo>
                <a:close/>
              </a:path>
            </a:pathLst>
          </a:custGeom>
          <a:blipFill>
            <a:blip r:embed="rId9"/>
            <a:stretch>
              <a:fillRect/>
            </a:stretch>
          </a:blipFill>
        </p:spPr>
        <p:txBody>
          <a:bodyPr/>
          <a:lstStyle/>
          <a:p>
            <a:endParaRPr lang="zh-TW" altLang="en-US"/>
          </a:p>
        </p:txBody>
      </p:sp>
      <p:sp>
        <p:nvSpPr>
          <p:cNvPr id="22" name="TextBox 22"/>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en-US" sz="6396">
                <a:solidFill>
                  <a:srgbClr val="494F56"/>
                </a:solidFill>
                <a:latin typeface="Quicksand"/>
                <a:ea typeface="Quicksand"/>
                <a:cs typeface="Quicksand"/>
                <a:sym typeface="Quicksand"/>
              </a:rPr>
              <a:t>四. 系統功能介紹</a:t>
            </a:r>
          </a:p>
        </p:txBody>
      </p:sp>
      <p:sp>
        <p:nvSpPr>
          <p:cNvPr id="23" name="TextBox 23"/>
          <p:cNvSpPr txBox="1"/>
          <p:nvPr/>
        </p:nvSpPr>
        <p:spPr>
          <a:xfrm>
            <a:off x="6975519" y="204472"/>
            <a:ext cx="11312481"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功能-教育網頁管理  </a:t>
            </a:r>
          </a:p>
        </p:txBody>
      </p:sp>
      <p:sp>
        <p:nvSpPr>
          <p:cNvPr id="24" name="TextBox 24"/>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5" name="TextBox 25"/>
          <p:cNvSpPr txBox="1"/>
          <p:nvPr/>
        </p:nvSpPr>
        <p:spPr>
          <a:xfrm>
            <a:off x="6975519" y="2592105"/>
            <a:ext cx="9344298" cy="4771442"/>
          </a:xfrm>
          <a:prstGeom prst="rect">
            <a:avLst/>
          </a:prstGeom>
        </p:spPr>
        <p:txBody>
          <a:bodyPr lIns="0" tIns="0" rIns="0" bIns="0" rtlCol="0" anchor="t">
            <a:spAutoFit/>
          </a:bodyPr>
          <a:lstStyle/>
          <a:p>
            <a:pPr algn="l">
              <a:lnSpc>
                <a:spcPts val="6320"/>
              </a:lnSpc>
            </a:pPr>
            <a:r>
              <a:rPr lang="en-US" sz="4514" b="1" dirty="0" err="1">
                <a:solidFill>
                  <a:srgbClr val="494F56"/>
                </a:solidFill>
                <a:latin typeface="Atma Medium"/>
                <a:ea typeface="Atma Medium"/>
                <a:cs typeface="Atma Medium"/>
                <a:sym typeface="Atma Medium"/>
              </a:rPr>
              <a:t>功能介紹</a:t>
            </a:r>
            <a:r>
              <a:rPr lang="en-US" sz="4514" b="1" dirty="0">
                <a:solidFill>
                  <a:srgbClr val="494F56"/>
                </a:solidFill>
                <a:latin typeface="Atma Medium"/>
                <a:ea typeface="Atma Medium"/>
                <a:cs typeface="Atma Medium"/>
                <a:sym typeface="Atma Medium"/>
              </a:rPr>
              <a:t>：</a:t>
            </a:r>
          </a:p>
          <a:p>
            <a:pPr algn="l">
              <a:lnSpc>
                <a:spcPts val="6320"/>
              </a:lnSpc>
            </a:pPr>
            <a:endParaRPr lang="en-US" sz="4514" b="1" dirty="0">
              <a:solidFill>
                <a:srgbClr val="494F56"/>
              </a:solidFill>
              <a:latin typeface="Atma Medium"/>
              <a:ea typeface="Atma Medium"/>
              <a:cs typeface="Atma Medium"/>
              <a:sym typeface="Atma Medium"/>
            </a:endParaRPr>
          </a:p>
          <a:p>
            <a:pPr marL="974664" lvl="1" indent="-487332" algn="l">
              <a:lnSpc>
                <a:spcPts val="6320"/>
              </a:lnSpc>
              <a:buFont typeface="Arial"/>
              <a:buChar char="•"/>
            </a:pPr>
            <a:r>
              <a:rPr lang="en-US" sz="4514" b="1" dirty="0" err="1">
                <a:solidFill>
                  <a:srgbClr val="494F56"/>
                </a:solidFill>
                <a:latin typeface="Atma Medium"/>
                <a:ea typeface="Atma Medium"/>
                <a:cs typeface="Atma Medium"/>
                <a:sym typeface="Atma Medium"/>
              </a:rPr>
              <a:t>管理員可新增、修改、刪除教育網頁上的防身知識內容</a:t>
            </a:r>
            <a:r>
              <a:rPr lang="en-US" sz="4514" b="1" dirty="0">
                <a:solidFill>
                  <a:srgbClr val="494F56"/>
                </a:solidFill>
                <a:latin typeface="Atma Medium"/>
                <a:ea typeface="Atma Medium"/>
                <a:cs typeface="Atma Medium"/>
                <a:sym typeface="Atma Medium"/>
              </a:rPr>
              <a:t>。</a:t>
            </a:r>
          </a:p>
          <a:p>
            <a:pPr marL="974664" lvl="1" indent="-487332" algn="l">
              <a:lnSpc>
                <a:spcPts val="6320"/>
              </a:lnSpc>
              <a:buFont typeface="Arial"/>
              <a:buChar char="•"/>
            </a:pPr>
            <a:r>
              <a:rPr lang="en-US" sz="4514" b="1" dirty="0" err="1">
                <a:solidFill>
                  <a:srgbClr val="494F56"/>
                </a:solidFill>
                <a:latin typeface="Atma Medium"/>
                <a:ea typeface="Atma Medium"/>
                <a:cs typeface="Atma Medium"/>
                <a:sym typeface="Atma Medium"/>
              </a:rPr>
              <a:t>支援即時編輯，確保內容更新快速且準確</a:t>
            </a:r>
            <a:r>
              <a:rPr lang="en-US" sz="4514" b="1" dirty="0">
                <a:solidFill>
                  <a:srgbClr val="494F56"/>
                </a:solidFill>
                <a:latin typeface="Atma Medium"/>
                <a:ea typeface="Atma Medium"/>
                <a:cs typeface="Atma Medium"/>
                <a:sym typeface="Atma Medium"/>
              </a:rPr>
              <a:t>。</a:t>
            </a:r>
          </a:p>
        </p:txBody>
      </p:sp>
      <p:sp>
        <p:nvSpPr>
          <p:cNvPr id="26" name="TextBox 26"/>
          <p:cNvSpPr txBox="1"/>
          <p:nvPr/>
        </p:nvSpPr>
        <p:spPr>
          <a:xfrm>
            <a:off x="2143303" y="7635115"/>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Atma Medium"/>
                <a:ea typeface="Atma Medium"/>
                <a:cs typeface="Atma Medium"/>
                <a:sym typeface="Atma Medium"/>
              </a:rPr>
              <a:t>此圖片僅為示意圖</a:t>
            </a:r>
          </a:p>
        </p:txBody>
      </p:sp>
      <p:sp>
        <p:nvSpPr>
          <p:cNvPr id="28" name="投影片編號版面配置區 1">
            <a:extLst>
              <a:ext uri="{FF2B5EF4-FFF2-40B4-BE49-F238E27FC236}">
                <a16:creationId xmlns:a16="http://schemas.microsoft.com/office/drawing/2014/main" id="{BBE59E7F-ECB8-9A2C-CB49-76FE7C95A0A2}"/>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32</a:t>
            </a:fld>
            <a:endParaRPr lang="en-US" sz="4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grpSp>
        <p:nvGrpSpPr>
          <p:cNvPr id="18" name="Group 18"/>
          <p:cNvGrpSpPr/>
          <p:nvPr/>
        </p:nvGrpSpPr>
        <p:grpSpPr>
          <a:xfrm>
            <a:off x="434924" y="1943090"/>
            <a:ext cx="6540595" cy="7315210"/>
            <a:chOff x="0" y="0"/>
            <a:chExt cx="1722626" cy="1926640"/>
          </a:xfrm>
        </p:grpSpPr>
        <p:sp>
          <p:nvSpPr>
            <p:cNvPr id="19" name="Freeform 19"/>
            <p:cNvSpPr/>
            <p:nvPr/>
          </p:nvSpPr>
          <p:spPr>
            <a:xfrm>
              <a:off x="0" y="0"/>
              <a:ext cx="1722626" cy="1926640"/>
            </a:xfrm>
            <a:custGeom>
              <a:avLst/>
              <a:gdLst/>
              <a:ahLst/>
              <a:cxnLst/>
              <a:rect l="l" t="t" r="r" b="b"/>
              <a:pathLst>
                <a:path w="1722626" h="1926640">
                  <a:moveTo>
                    <a:pt x="60367" y="0"/>
                  </a:moveTo>
                  <a:lnTo>
                    <a:pt x="1662259" y="0"/>
                  </a:lnTo>
                  <a:cubicBezTo>
                    <a:pt x="1695598" y="0"/>
                    <a:pt x="1722626" y="27027"/>
                    <a:pt x="1722626" y="60367"/>
                  </a:cubicBezTo>
                  <a:lnTo>
                    <a:pt x="1722626" y="1866272"/>
                  </a:lnTo>
                  <a:cubicBezTo>
                    <a:pt x="1722626" y="1882283"/>
                    <a:pt x="1716266" y="1897637"/>
                    <a:pt x="1704945" y="1908958"/>
                  </a:cubicBezTo>
                  <a:cubicBezTo>
                    <a:pt x="1693624" y="1920279"/>
                    <a:pt x="1678269" y="1926640"/>
                    <a:pt x="1662259" y="1926640"/>
                  </a:cubicBezTo>
                  <a:lnTo>
                    <a:pt x="60367" y="1926640"/>
                  </a:lnTo>
                  <a:cubicBezTo>
                    <a:pt x="27027" y="1926640"/>
                    <a:pt x="0" y="1899612"/>
                    <a:pt x="0" y="1866272"/>
                  </a:cubicBezTo>
                  <a:lnTo>
                    <a:pt x="0" y="60367"/>
                  </a:lnTo>
                  <a:cubicBezTo>
                    <a:pt x="0" y="44357"/>
                    <a:pt x="6360" y="29002"/>
                    <a:pt x="17681" y="17681"/>
                  </a:cubicBezTo>
                  <a:cubicBezTo>
                    <a:pt x="29002" y="6360"/>
                    <a:pt x="44357" y="0"/>
                    <a:pt x="60367" y="0"/>
                  </a:cubicBezTo>
                  <a:close/>
                </a:path>
              </a:pathLst>
            </a:custGeom>
            <a:solidFill>
              <a:srgbClr val="588157"/>
            </a:solidFill>
          </p:spPr>
          <p:txBody>
            <a:bodyPr/>
            <a:lstStyle/>
            <a:p>
              <a:endParaRPr lang="zh-TW" altLang="en-US"/>
            </a:p>
          </p:txBody>
        </p:sp>
        <p:sp>
          <p:nvSpPr>
            <p:cNvPr id="20" name="TextBox 20"/>
            <p:cNvSpPr txBox="1"/>
            <p:nvPr/>
          </p:nvSpPr>
          <p:spPr>
            <a:xfrm>
              <a:off x="0" y="-38100"/>
              <a:ext cx="1722626" cy="1964740"/>
            </a:xfrm>
            <a:prstGeom prst="rect">
              <a:avLst/>
            </a:prstGeom>
          </p:spPr>
          <p:txBody>
            <a:bodyPr lIns="50800" tIns="50800" rIns="50800" bIns="50800" rtlCol="0" anchor="ctr"/>
            <a:lstStyle/>
            <a:p>
              <a:pPr algn="ctr">
                <a:lnSpc>
                  <a:spcPts val="2120"/>
                </a:lnSpc>
              </a:pPr>
              <a:endParaRPr/>
            </a:p>
          </p:txBody>
        </p:sp>
      </p:grpSp>
      <p:sp>
        <p:nvSpPr>
          <p:cNvPr id="21" name="Freeform 21"/>
          <p:cNvSpPr/>
          <p:nvPr/>
        </p:nvSpPr>
        <p:spPr>
          <a:xfrm>
            <a:off x="563305" y="3833524"/>
            <a:ext cx="6283832" cy="3534342"/>
          </a:xfrm>
          <a:custGeom>
            <a:avLst/>
            <a:gdLst/>
            <a:ahLst/>
            <a:cxnLst/>
            <a:rect l="l" t="t" r="r" b="b"/>
            <a:pathLst>
              <a:path w="6283832" h="3534342">
                <a:moveTo>
                  <a:pt x="0" y="0"/>
                </a:moveTo>
                <a:lnTo>
                  <a:pt x="6283833" y="0"/>
                </a:lnTo>
                <a:lnTo>
                  <a:pt x="6283833" y="3534342"/>
                </a:lnTo>
                <a:lnTo>
                  <a:pt x="0" y="3534342"/>
                </a:lnTo>
                <a:lnTo>
                  <a:pt x="0" y="0"/>
                </a:lnTo>
                <a:close/>
              </a:path>
            </a:pathLst>
          </a:custGeom>
          <a:blipFill>
            <a:blip r:embed="rId9"/>
            <a:stretch>
              <a:fillRect l="-1352" t="-2394" r="-3891" b="-4261"/>
            </a:stretch>
          </a:blipFill>
        </p:spPr>
        <p:txBody>
          <a:bodyPr/>
          <a:lstStyle/>
          <a:p>
            <a:endParaRPr lang="zh-TW" altLang="en-US"/>
          </a:p>
        </p:txBody>
      </p:sp>
      <p:sp>
        <p:nvSpPr>
          <p:cNvPr id="22" name="TextBox 22"/>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en-US" sz="6396">
                <a:solidFill>
                  <a:srgbClr val="494F56"/>
                </a:solidFill>
                <a:latin typeface="Quicksand"/>
                <a:ea typeface="Quicksand"/>
                <a:cs typeface="Quicksand"/>
                <a:sym typeface="Quicksand"/>
              </a:rPr>
              <a:t>四. 系統功能介紹</a:t>
            </a:r>
          </a:p>
        </p:txBody>
      </p:sp>
      <p:sp>
        <p:nvSpPr>
          <p:cNvPr id="23" name="TextBox 23"/>
          <p:cNvSpPr txBox="1"/>
          <p:nvPr/>
        </p:nvSpPr>
        <p:spPr>
          <a:xfrm>
            <a:off x="6975519" y="204472"/>
            <a:ext cx="11312481"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功能-最近警局</a:t>
            </a:r>
          </a:p>
        </p:txBody>
      </p:sp>
      <p:sp>
        <p:nvSpPr>
          <p:cNvPr id="24" name="TextBox 24"/>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5" name="TextBox 25"/>
          <p:cNvSpPr txBox="1"/>
          <p:nvPr/>
        </p:nvSpPr>
        <p:spPr>
          <a:xfrm>
            <a:off x="7349416" y="2845827"/>
            <a:ext cx="9344298" cy="4771442"/>
          </a:xfrm>
          <a:prstGeom prst="rect">
            <a:avLst/>
          </a:prstGeom>
        </p:spPr>
        <p:txBody>
          <a:bodyPr lIns="0" tIns="0" rIns="0" bIns="0" rtlCol="0" anchor="t">
            <a:spAutoFit/>
          </a:bodyPr>
          <a:lstStyle/>
          <a:p>
            <a:pPr algn="l">
              <a:lnSpc>
                <a:spcPts val="6320"/>
              </a:lnSpc>
            </a:pPr>
            <a:r>
              <a:rPr lang="en-US" sz="4514" b="1" dirty="0" err="1">
                <a:solidFill>
                  <a:srgbClr val="494F56"/>
                </a:solidFill>
                <a:latin typeface="Atma Medium"/>
                <a:ea typeface="Atma Medium"/>
                <a:cs typeface="Atma Medium"/>
                <a:sym typeface="Atma Medium"/>
              </a:rPr>
              <a:t>下拉式選單維護（縣市／鄉鎮市區</a:t>
            </a:r>
            <a:r>
              <a:rPr lang="en-US" sz="4514" b="1" dirty="0">
                <a:solidFill>
                  <a:srgbClr val="494F56"/>
                </a:solidFill>
                <a:latin typeface="Atma Medium"/>
                <a:ea typeface="Atma Medium"/>
                <a:cs typeface="Atma Medium"/>
                <a:sym typeface="Atma Medium"/>
              </a:rPr>
              <a:t>）</a:t>
            </a:r>
          </a:p>
          <a:p>
            <a:pPr algn="l">
              <a:lnSpc>
                <a:spcPts val="6320"/>
              </a:lnSpc>
            </a:pPr>
            <a:r>
              <a:rPr lang="en-US" sz="4514" b="1" dirty="0" err="1">
                <a:solidFill>
                  <a:srgbClr val="494F56"/>
                </a:solidFill>
                <a:latin typeface="Atma Medium"/>
                <a:ea typeface="Atma Medium"/>
                <a:cs typeface="Atma Medium"/>
                <a:sym typeface="Atma Medium"/>
              </a:rPr>
              <a:t>功能介紹</a:t>
            </a:r>
            <a:r>
              <a:rPr lang="en-US" sz="4514" b="1" dirty="0">
                <a:solidFill>
                  <a:srgbClr val="494F56"/>
                </a:solidFill>
                <a:latin typeface="Atma Medium"/>
                <a:ea typeface="Atma Medium"/>
                <a:cs typeface="Atma Medium"/>
                <a:sym typeface="Atma Medium"/>
              </a:rPr>
              <a:t>：</a:t>
            </a:r>
          </a:p>
          <a:p>
            <a:pPr marL="974664" lvl="1" indent="-487332" algn="l">
              <a:lnSpc>
                <a:spcPts val="6320"/>
              </a:lnSpc>
              <a:buFont typeface="Arial"/>
              <a:buChar char="•"/>
            </a:pPr>
            <a:r>
              <a:rPr lang="en-US" sz="4514" b="1" dirty="0" err="1">
                <a:solidFill>
                  <a:srgbClr val="494F56"/>
                </a:solidFill>
                <a:latin typeface="Atma Medium"/>
                <a:ea typeface="Atma Medium"/>
                <a:cs typeface="Atma Medium"/>
                <a:sym typeface="Atma Medium"/>
              </a:rPr>
              <a:t>管理員可新增、修改、刪除下拉選單中的行政區資料</a:t>
            </a:r>
            <a:endParaRPr lang="en-US" sz="4514" b="1" dirty="0">
              <a:solidFill>
                <a:srgbClr val="494F56"/>
              </a:solidFill>
              <a:latin typeface="Atma Medium"/>
              <a:ea typeface="Atma Medium"/>
              <a:cs typeface="Atma Medium"/>
              <a:sym typeface="Atma Medium"/>
            </a:endParaRPr>
          </a:p>
          <a:p>
            <a:pPr marL="974664" lvl="1" indent="-487332" algn="l">
              <a:lnSpc>
                <a:spcPts val="6320"/>
              </a:lnSpc>
              <a:buFont typeface="Arial"/>
              <a:buChar char="•"/>
            </a:pPr>
            <a:r>
              <a:rPr lang="en-US" sz="4514" b="1" dirty="0" err="1">
                <a:solidFill>
                  <a:srgbClr val="494F56"/>
                </a:solidFill>
                <a:latin typeface="Atma Medium"/>
                <a:ea typeface="Atma Medium"/>
                <a:cs typeface="Atma Medium"/>
                <a:sym typeface="Atma Medium"/>
              </a:rPr>
              <a:t>可管理項目：全台灣各縣市名稱、各縣市下屬的鄉鎮市區</a:t>
            </a:r>
            <a:endParaRPr lang="en-US" sz="4514" b="1" dirty="0">
              <a:solidFill>
                <a:srgbClr val="494F56"/>
              </a:solidFill>
              <a:latin typeface="Atma Medium"/>
              <a:ea typeface="Atma Medium"/>
              <a:cs typeface="Atma Medium"/>
              <a:sym typeface="Atma Medium"/>
            </a:endParaRPr>
          </a:p>
        </p:txBody>
      </p:sp>
      <p:sp>
        <p:nvSpPr>
          <p:cNvPr id="26" name="TextBox 26"/>
          <p:cNvSpPr txBox="1"/>
          <p:nvPr/>
        </p:nvSpPr>
        <p:spPr>
          <a:xfrm>
            <a:off x="2028822" y="7560119"/>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Atma Medium"/>
                <a:ea typeface="Atma Medium"/>
                <a:cs typeface="Atma Medium"/>
                <a:sym typeface="Atma Medium"/>
              </a:rPr>
              <a:t>此圖片僅為示意圖</a:t>
            </a:r>
          </a:p>
        </p:txBody>
      </p:sp>
      <p:sp>
        <p:nvSpPr>
          <p:cNvPr id="28" name="投影片編號版面配置區 1">
            <a:extLst>
              <a:ext uri="{FF2B5EF4-FFF2-40B4-BE49-F238E27FC236}">
                <a16:creationId xmlns:a16="http://schemas.microsoft.com/office/drawing/2014/main" id="{F47F2830-9A8B-2A87-7945-5FAFD442C2CC}"/>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33</a:t>
            </a:fld>
            <a:endParaRPr lang="en-US" sz="4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298285" y="-138882"/>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8421" y="-338088"/>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209993" y="1028700"/>
            <a:ext cx="13601873" cy="8550417"/>
            <a:chOff x="0" y="0"/>
            <a:chExt cx="3582386" cy="2251962"/>
          </a:xfrm>
        </p:grpSpPr>
        <p:sp>
          <p:nvSpPr>
            <p:cNvPr id="14" name="Freeform 14"/>
            <p:cNvSpPr/>
            <p:nvPr/>
          </p:nvSpPr>
          <p:spPr>
            <a:xfrm>
              <a:off x="0" y="0"/>
              <a:ext cx="3582386" cy="2251962"/>
            </a:xfrm>
            <a:custGeom>
              <a:avLst/>
              <a:gdLst/>
              <a:ahLst/>
              <a:cxnLst/>
              <a:rect l="l" t="t" r="r" b="b"/>
              <a:pathLst>
                <a:path w="3582386" h="2251962">
                  <a:moveTo>
                    <a:pt x="29028" y="0"/>
                  </a:moveTo>
                  <a:lnTo>
                    <a:pt x="3553358" y="0"/>
                  </a:lnTo>
                  <a:cubicBezTo>
                    <a:pt x="3561057" y="0"/>
                    <a:pt x="3568440" y="3058"/>
                    <a:pt x="3573884" y="8502"/>
                  </a:cubicBezTo>
                  <a:cubicBezTo>
                    <a:pt x="3579328" y="13946"/>
                    <a:pt x="3582386" y="21329"/>
                    <a:pt x="3582386" y="29028"/>
                  </a:cubicBezTo>
                  <a:lnTo>
                    <a:pt x="3582386" y="2222933"/>
                  </a:lnTo>
                  <a:cubicBezTo>
                    <a:pt x="3582386" y="2238965"/>
                    <a:pt x="3569390" y="2251962"/>
                    <a:pt x="3553358" y="2251962"/>
                  </a:cubicBezTo>
                  <a:lnTo>
                    <a:pt x="29028" y="2251962"/>
                  </a:lnTo>
                  <a:cubicBezTo>
                    <a:pt x="12996" y="2251962"/>
                    <a:pt x="0" y="2238965"/>
                    <a:pt x="0" y="2222933"/>
                  </a:cubicBezTo>
                  <a:lnTo>
                    <a:pt x="0" y="29028"/>
                  </a:lnTo>
                  <a:cubicBezTo>
                    <a:pt x="0" y="12996"/>
                    <a:pt x="12996" y="0"/>
                    <a:pt x="29028" y="0"/>
                  </a:cubicBezTo>
                  <a:close/>
                </a:path>
              </a:pathLst>
            </a:custGeom>
            <a:solidFill>
              <a:srgbClr val="FFFFFF">
                <a:alpha val="85882"/>
              </a:srgbClr>
            </a:solidFill>
          </p:spPr>
          <p:txBody>
            <a:bodyPr/>
            <a:lstStyle/>
            <a:p>
              <a:endParaRPr lang="zh-TW" altLang="en-US"/>
            </a:p>
          </p:txBody>
        </p:sp>
        <p:sp>
          <p:nvSpPr>
            <p:cNvPr id="15" name="TextBox 15"/>
            <p:cNvSpPr txBox="1"/>
            <p:nvPr/>
          </p:nvSpPr>
          <p:spPr>
            <a:xfrm>
              <a:off x="0" y="-38100"/>
              <a:ext cx="3582386" cy="2290062"/>
            </a:xfrm>
            <a:prstGeom prst="rect">
              <a:avLst/>
            </a:prstGeom>
          </p:spPr>
          <p:txBody>
            <a:bodyPr lIns="50800" tIns="50800" rIns="50800" bIns="50800" rtlCol="0" anchor="ctr"/>
            <a:lstStyle/>
            <a:p>
              <a:pPr algn="ctr">
                <a:lnSpc>
                  <a:spcPts val="2120"/>
                </a:lnSpc>
              </a:pPr>
              <a:endParaRPr/>
            </a:p>
          </p:txBody>
        </p:sp>
      </p:grpSp>
      <p:sp>
        <p:nvSpPr>
          <p:cNvPr id="16" name="Freeform 16"/>
          <p:cNvSpPr/>
          <p:nvPr/>
        </p:nvSpPr>
        <p:spPr>
          <a:xfrm rot="5528538">
            <a:off x="9263391" y="-5652195"/>
            <a:ext cx="14112853" cy="13833742"/>
          </a:xfrm>
          <a:custGeom>
            <a:avLst/>
            <a:gdLst/>
            <a:ahLst/>
            <a:cxnLst/>
            <a:rect l="l" t="t" r="r" b="b"/>
            <a:pathLst>
              <a:path w="14112853" h="13833742">
                <a:moveTo>
                  <a:pt x="0" y="0"/>
                </a:moveTo>
                <a:lnTo>
                  <a:pt x="14112853" y="0"/>
                </a:lnTo>
                <a:lnTo>
                  <a:pt x="14112853" y="13833743"/>
                </a:lnTo>
                <a:lnTo>
                  <a:pt x="0" y="13833743"/>
                </a:lnTo>
                <a:lnTo>
                  <a:pt x="0" y="0"/>
                </a:lnTo>
                <a:close/>
              </a:path>
            </a:pathLst>
          </a:custGeom>
          <a:blipFill>
            <a:blip r:embed="rId6">
              <a:alphaModFix amt="39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7" name="Freeform 17"/>
          <p:cNvSpPr/>
          <p:nvPr/>
        </p:nvSpPr>
        <p:spPr>
          <a:xfrm>
            <a:off x="1742043" y="4510466"/>
            <a:ext cx="222293" cy="152400"/>
          </a:xfrm>
          <a:custGeom>
            <a:avLst/>
            <a:gdLst/>
            <a:ahLst/>
            <a:cxnLst/>
            <a:rect l="l" t="t" r="r" b="b"/>
            <a:pathLst>
              <a:path w="222293" h="152400">
                <a:moveTo>
                  <a:pt x="0" y="0"/>
                </a:moveTo>
                <a:lnTo>
                  <a:pt x="222293" y="0"/>
                </a:lnTo>
                <a:lnTo>
                  <a:pt x="222293" y="152400"/>
                </a:lnTo>
                <a:lnTo>
                  <a:pt x="0" y="152400"/>
                </a:lnTo>
                <a:lnTo>
                  <a:pt x="0" y="0"/>
                </a:lnTo>
                <a:close/>
              </a:path>
            </a:pathLst>
          </a:custGeom>
          <a:blipFill>
            <a:blip r:embed="rId8"/>
            <a:stretch>
              <a:fillRect l="-47519" t="-64966"/>
            </a:stretch>
          </a:blipFill>
        </p:spPr>
        <p:txBody>
          <a:bodyPr/>
          <a:lstStyle/>
          <a:p>
            <a:endParaRPr lang="zh-TW" altLang="en-US"/>
          </a:p>
        </p:txBody>
      </p:sp>
      <p:grpSp>
        <p:nvGrpSpPr>
          <p:cNvPr id="18" name="Group 18"/>
          <p:cNvGrpSpPr/>
          <p:nvPr/>
        </p:nvGrpSpPr>
        <p:grpSpPr>
          <a:xfrm>
            <a:off x="1028700" y="1943090"/>
            <a:ext cx="5582007" cy="7315210"/>
            <a:chOff x="0" y="0"/>
            <a:chExt cx="1470158" cy="1926640"/>
          </a:xfrm>
        </p:grpSpPr>
        <p:sp>
          <p:nvSpPr>
            <p:cNvPr id="19" name="Freeform 19"/>
            <p:cNvSpPr/>
            <p:nvPr/>
          </p:nvSpPr>
          <p:spPr>
            <a:xfrm>
              <a:off x="0" y="0"/>
              <a:ext cx="1470158" cy="1926640"/>
            </a:xfrm>
            <a:custGeom>
              <a:avLst/>
              <a:gdLst/>
              <a:ahLst/>
              <a:cxnLst/>
              <a:rect l="l" t="t" r="r" b="b"/>
              <a:pathLst>
                <a:path w="1470158" h="1926640">
                  <a:moveTo>
                    <a:pt x="70734" y="0"/>
                  </a:moveTo>
                  <a:lnTo>
                    <a:pt x="1399424" y="0"/>
                  </a:lnTo>
                  <a:cubicBezTo>
                    <a:pt x="1418184" y="0"/>
                    <a:pt x="1436175" y="7452"/>
                    <a:pt x="1449441" y="20718"/>
                  </a:cubicBezTo>
                  <a:cubicBezTo>
                    <a:pt x="1462706" y="33983"/>
                    <a:pt x="1470158" y="51974"/>
                    <a:pt x="1470158" y="70734"/>
                  </a:cubicBezTo>
                  <a:lnTo>
                    <a:pt x="1470158" y="1855906"/>
                  </a:lnTo>
                  <a:cubicBezTo>
                    <a:pt x="1470158" y="1894971"/>
                    <a:pt x="1438489" y="1926640"/>
                    <a:pt x="1399424" y="1926640"/>
                  </a:cubicBezTo>
                  <a:lnTo>
                    <a:pt x="70734" y="1926640"/>
                  </a:lnTo>
                  <a:cubicBezTo>
                    <a:pt x="31669" y="1926640"/>
                    <a:pt x="0" y="1894971"/>
                    <a:pt x="0" y="1855906"/>
                  </a:cubicBezTo>
                  <a:lnTo>
                    <a:pt x="0" y="70734"/>
                  </a:lnTo>
                  <a:cubicBezTo>
                    <a:pt x="0" y="31669"/>
                    <a:pt x="31669" y="0"/>
                    <a:pt x="70734" y="0"/>
                  </a:cubicBezTo>
                  <a:close/>
                </a:path>
              </a:pathLst>
            </a:custGeom>
            <a:solidFill>
              <a:srgbClr val="588157"/>
            </a:solidFill>
          </p:spPr>
          <p:txBody>
            <a:bodyPr/>
            <a:lstStyle/>
            <a:p>
              <a:endParaRPr lang="zh-TW" altLang="en-US"/>
            </a:p>
          </p:txBody>
        </p:sp>
        <p:sp>
          <p:nvSpPr>
            <p:cNvPr id="20" name="TextBox 20"/>
            <p:cNvSpPr txBox="1"/>
            <p:nvPr/>
          </p:nvSpPr>
          <p:spPr>
            <a:xfrm>
              <a:off x="0" y="-38100"/>
              <a:ext cx="1470158" cy="1964740"/>
            </a:xfrm>
            <a:prstGeom prst="rect">
              <a:avLst/>
            </a:prstGeom>
          </p:spPr>
          <p:txBody>
            <a:bodyPr lIns="50800" tIns="50800" rIns="50800" bIns="50800" rtlCol="0" anchor="ctr"/>
            <a:lstStyle/>
            <a:p>
              <a:pPr algn="ctr">
                <a:lnSpc>
                  <a:spcPts val="2120"/>
                </a:lnSpc>
              </a:pPr>
              <a:endParaRPr/>
            </a:p>
          </p:txBody>
        </p:sp>
      </p:grpSp>
      <p:sp>
        <p:nvSpPr>
          <p:cNvPr id="21" name="Freeform 21"/>
          <p:cNvSpPr/>
          <p:nvPr/>
        </p:nvSpPr>
        <p:spPr>
          <a:xfrm>
            <a:off x="1385455" y="3581701"/>
            <a:ext cx="4868497" cy="3444415"/>
          </a:xfrm>
          <a:custGeom>
            <a:avLst/>
            <a:gdLst/>
            <a:ahLst/>
            <a:cxnLst/>
            <a:rect l="l" t="t" r="r" b="b"/>
            <a:pathLst>
              <a:path w="4868497" h="3444415">
                <a:moveTo>
                  <a:pt x="0" y="0"/>
                </a:moveTo>
                <a:lnTo>
                  <a:pt x="4868497" y="0"/>
                </a:lnTo>
                <a:lnTo>
                  <a:pt x="4868497" y="3444415"/>
                </a:lnTo>
                <a:lnTo>
                  <a:pt x="0" y="3444415"/>
                </a:lnTo>
                <a:lnTo>
                  <a:pt x="0" y="0"/>
                </a:lnTo>
                <a:close/>
              </a:path>
            </a:pathLst>
          </a:custGeom>
          <a:blipFill>
            <a:blip r:embed="rId9"/>
            <a:stretch>
              <a:fillRect l="-4242" t="-1480" r="-3179" b="-880"/>
            </a:stretch>
          </a:blipFill>
        </p:spPr>
        <p:txBody>
          <a:bodyPr/>
          <a:lstStyle/>
          <a:p>
            <a:endParaRPr lang="zh-TW" altLang="en-US"/>
          </a:p>
        </p:txBody>
      </p:sp>
      <p:sp>
        <p:nvSpPr>
          <p:cNvPr id="22" name="TextBox 22"/>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en-US" sz="6396">
                <a:solidFill>
                  <a:srgbClr val="494F56"/>
                </a:solidFill>
                <a:latin typeface="Quicksand"/>
                <a:ea typeface="Quicksand"/>
                <a:cs typeface="Quicksand"/>
                <a:sym typeface="Quicksand"/>
              </a:rPr>
              <a:t>四. 系統功能介紹</a:t>
            </a:r>
          </a:p>
        </p:txBody>
      </p:sp>
      <p:sp>
        <p:nvSpPr>
          <p:cNvPr id="23" name="TextBox 23"/>
          <p:cNvSpPr txBox="1"/>
          <p:nvPr/>
        </p:nvSpPr>
        <p:spPr>
          <a:xfrm>
            <a:off x="6975519" y="204472"/>
            <a:ext cx="11312481" cy="1476965"/>
          </a:xfrm>
          <a:prstGeom prst="rect">
            <a:avLst/>
          </a:prstGeom>
        </p:spPr>
        <p:txBody>
          <a:bodyPr lIns="0" tIns="0" rIns="0" bIns="0" rtlCol="0" anchor="t">
            <a:spAutoFit/>
          </a:bodyPr>
          <a:lstStyle/>
          <a:p>
            <a:pPr algn="l">
              <a:lnSpc>
                <a:spcPts val="12040"/>
              </a:lnSpc>
            </a:pPr>
            <a:r>
              <a:rPr lang="en-US" sz="8600">
                <a:solidFill>
                  <a:srgbClr val="494F56"/>
                </a:solidFill>
                <a:latin typeface="Quicksand"/>
                <a:ea typeface="Quicksand"/>
                <a:cs typeface="Quicksand"/>
                <a:sym typeface="Quicksand"/>
              </a:rPr>
              <a:t>功能-最近警局</a:t>
            </a:r>
          </a:p>
        </p:txBody>
      </p:sp>
      <p:sp>
        <p:nvSpPr>
          <p:cNvPr id="24" name="TextBox 24"/>
          <p:cNvSpPr txBox="1"/>
          <p:nvPr/>
        </p:nvSpPr>
        <p:spPr>
          <a:xfrm>
            <a:off x="14761597" y="9501619"/>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5" name="TextBox 25"/>
          <p:cNvSpPr txBox="1"/>
          <p:nvPr/>
        </p:nvSpPr>
        <p:spPr>
          <a:xfrm>
            <a:off x="6975519" y="2714917"/>
            <a:ext cx="9344298" cy="4771442"/>
          </a:xfrm>
          <a:prstGeom prst="rect">
            <a:avLst/>
          </a:prstGeom>
        </p:spPr>
        <p:txBody>
          <a:bodyPr lIns="0" tIns="0" rIns="0" bIns="0" rtlCol="0" anchor="t">
            <a:spAutoFit/>
          </a:bodyPr>
          <a:lstStyle/>
          <a:p>
            <a:pPr algn="l">
              <a:lnSpc>
                <a:spcPts val="6320"/>
              </a:lnSpc>
            </a:pPr>
            <a:r>
              <a:rPr lang="en-US" sz="4514" b="1">
                <a:solidFill>
                  <a:srgbClr val="494F56"/>
                </a:solidFill>
                <a:latin typeface="Atma Medium"/>
                <a:ea typeface="Atma Medium"/>
                <a:cs typeface="Atma Medium"/>
                <a:sym typeface="Atma Medium"/>
              </a:rPr>
              <a:t>最近警局資料管理</a:t>
            </a:r>
          </a:p>
          <a:p>
            <a:pPr algn="l">
              <a:lnSpc>
                <a:spcPts val="6320"/>
              </a:lnSpc>
            </a:pPr>
            <a:r>
              <a:rPr lang="en-US" sz="4514" b="1">
                <a:solidFill>
                  <a:srgbClr val="494F56"/>
                </a:solidFill>
                <a:latin typeface="Atma Medium"/>
                <a:ea typeface="Atma Medium"/>
                <a:cs typeface="Atma Medium"/>
                <a:sym typeface="Atma Medium"/>
              </a:rPr>
              <a:t>功能介紹：</a:t>
            </a:r>
          </a:p>
          <a:p>
            <a:pPr marL="974664" lvl="1" indent="-487332" algn="l">
              <a:lnSpc>
                <a:spcPts val="6320"/>
              </a:lnSpc>
              <a:buFont typeface="Arial"/>
              <a:buChar char="•"/>
            </a:pPr>
            <a:r>
              <a:rPr lang="en-US" sz="4514" b="1">
                <a:solidFill>
                  <a:srgbClr val="494F56"/>
                </a:solidFill>
                <a:latin typeface="Atma Medium"/>
                <a:ea typeface="Atma Medium"/>
                <a:cs typeface="Atma Medium"/>
                <a:sym typeface="Atma Medium"/>
              </a:rPr>
              <a:t>管理員可新增、修改、刪除警局資料</a:t>
            </a:r>
          </a:p>
          <a:p>
            <a:pPr marL="974664" lvl="1" indent="-487332" algn="l">
              <a:lnSpc>
                <a:spcPts val="6320"/>
              </a:lnSpc>
              <a:buFont typeface="Arial"/>
              <a:buChar char="•"/>
            </a:pPr>
            <a:r>
              <a:rPr lang="en-US" sz="4514" b="1">
                <a:solidFill>
                  <a:srgbClr val="494F56"/>
                </a:solidFill>
                <a:latin typeface="Atma Medium"/>
                <a:ea typeface="Atma Medium"/>
                <a:cs typeface="Atma Medium"/>
                <a:sym typeface="Atma Medium"/>
              </a:rPr>
              <a:t>可管理內容包括：警局名稱、聯絡電話、地址資訊</a:t>
            </a:r>
          </a:p>
        </p:txBody>
      </p:sp>
      <p:sp>
        <p:nvSpPr>
          <p:cNvPr id="26" name="TextBox 26"/>
          <p:cNvSpPr txBox="1"/>
          <p:nvPr/>
        </p:nvSpPr>
        <p:spPr>
          <a:xfrm>
            <a:off x="2143303" y="7429208"/>
            <a:ext cx="3352800" cy="55435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Atma Medium"/>
                <a:ea typeface="Atma Medium"/>
                <a:cs typeface="Atma Medium"/>
                <a:sym typeface="Atma Medium"/>
              </a:rPr>
              <a:t>此圖片僅為示意圖</a:t>
            </a:r>
          </a:p>
        </p:txBody>
      </p:sp>
      <p:sp>
        <p:nvSpPr>
          <p:cNvPr id="28" name="投影片編號版面配置區 1">
            <a:extLst>
              <a:ext uri="{FF2B5EF4-FFF2-40B4-BE49-F238E27FC236}">
                <a16:creationId xmlns:a16="http://schemas.microsoft.com/office/drawing/2014/main" id="{C09F2CC8-E0F1-E416-70A6-06AF9D3EA4D5}"/>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34</a:t>
            </a:fld>
            <a:endParaRPr lang="en-US" sz="4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870903">
            <a:off x="9482394" y="-3401478"/>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1030102" y="-277765"/>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FFFCD9">
                <a:alpha val="50980"/>
              </a:srgbClr>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392879" y="-277765"/>
            <a:ext cx="20348204" cy="10564765"/>
            <a:chOff x="0" y="0"/>
            <a:chExt cx="5359198" cy="2782489"/>
          </a:xfrm>
        </p:grpSpPr>
        <p:sp>
          <p:nvSpPr>
            <p:cNvPr id="7" name="Freeform 7"/>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8" name="TextBox 8"/>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9" name="Freeform 9"/>
          <p:cNvSpPr/>
          <p:nvPr/>
        </p:nvSpPr>
        <p:spPr>
          <a:xfrm>
            <a:off x="-2844521" y="-1025851"/>
            <a:ext cx="22545800" cy="12338701"/>
          </a:xfrm>
          <a:custGeom>
            <a:avLst/>
            <a:gdLst/>
            <a:ahLst/>
            <a:cxnLst/>
            <a:rect l="l" t="t" r="r" b="b"/>
            <a:pathLst>
              <a:path w="22545800" h="12338701">
                <a:moveTo>
                  <a:pt x="0" y="0"/>
                </a:moveTo>
                <a:lnTo>
                  <a:pt x="22545800" y="0"/>
                </a:lnTo>
                <a:lnTo>
                  <a:pt x="22545800" y="12338702"/>
                </a:lnTo>
                <a:lnTo>
                  <a:pt x="0" y="12338702"/>
                </a:lnTo>
                <a:lnTo>
                  <a:pt x="0" y="0"/>
                </a:lnTo>
                <a:close/>
              </a:path>
            </a:pathLst>
          </a:custGeom>
          <a:blipFill>
            <a:blip r:embed="rId4">
              <a:alphaModFix amt="72000"/>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Freeform 10"/>
          <p:cNvSpPr/>
          <p:nvPr/>
        </p:nvSpPr>
        <p:spPr>
          <a:xfrm rot="-922393">
            <a:off x="-7310162" y="-343886"/>
            <a:ext cx="14620325" cy="17849231"/>
          </a:xfrm>
          <a:custGeom>
            <a:avLst/>
            <a:gdLst/>
            <a:ahLst/>
            <a:cxnLst/>
            <a:rect l="l" t="t" r="r" b="b"/>
            <a:pathLst>
              <a:path w="14620325" h="17849231">
                <a:moveTo>
                  <a:pt x="0" y="0"/>
                </a:moveTo>
                <a:lnTo>
                  <a:pt x="14620324" y="0"/>
                </a:lnTo>
                <a:lnTo>
                  <a:pt x="14620324" y="17849231"/>
                </a:lnTo>
                <a:lnTo>
                  <a:pt x="0" y="178492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TextBox 11"/>
          <p:cNvSpPr txBox="1"/>
          <p:nvPr/>
        </p:nvSpPr>
        <p:spPr>
          <a:xfrm>
            <a:off x="7770778" y="-190500"/>
            <a:ext cx="2746445" cy="1687080"/>
          </a:xfrm>
          <a:prstGeom prst="rect">
            <a:avLst/>
          </a:prstGeom>
        </p:spPr>
        <p:txBody>
          <a:bodyPr lIns="0" tIns="0" rIns="0" bIns="0" rtlCol="0" anchor="t">
            <a:spAutoFit/>
          </a:bodyPr>
          <a:lstStyle/>
          <a:p>
            <a:pPr algn="l">
              <a:lnSpc>
                <a:spcPts val="13801"/>
              </a:lnSpc>
            </a:pPr>
            <a:r>
              <a:rPr lang="en-US" sz="9858">
                <a:solidFill>
                  <a:srgbClr val="494F56"/>
                </a:solidFill>
                <a:latin typeface="Quicksand"/>
                <a:ea typeface="Quicksand"/>
                <a:cs typeface="Quicksand"/>
                <a:sym typeface="Quicksand"/>
              </a:rPr>
              <a:t>目錄</a:t>
            </a:r>
          </a:p>
        </p:txBody>
      </p:sp>
      <p:grpSp>
        <p:nvGrpSpPr>
          <p:cNvPr id="12" name="Group 12"/>
          <p:cNvGrpSpPr/>
          <p:nvPr/>
        </p:nvGrpSpPr>
        <p:grpSpPr>
          <a:xfrm rot="5400000">
            <a:off x="3474273" y="-4955840"/>
            <a:ext cx="11339454" cy="19920915"/>
            <a:chOff x="0" y="0"/>
            <a:chExt cx="2021507" cy="3551341"/>
          </a:xfrm>
        </p:grpSpPr>
        <p:sp>
          <p:nvSpPr>
            <p:cNvPr id="13" name="Freeform 13"/>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B3D1FE"/>
            </a:solidFill>
          </p:spPr>
          <p:txBody>
            <a:bodyPr/>
            <a:lstStyle/>
            <a:p>
              <a:endParaRPr lang="zh-TW" altLang="en-US"/>
            </a:p>
          </p:txBody>
        </p:sp>
        <p:sp>
          <p:nvSpPr>
            <p:cNvPr id="14" name="TextBox 14"/>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grpSp>
        <p:nvGrpSpPr>
          <p:cNvPr id="15" name="Group 15"/>
          <p:cNvGrpSpPr/>
          <p:nvPr/>
        </p:nvGrpSpPr>
        <p:grpSpPr>
          <a:xfrm>
            <a:off x="-6409755" y="7486008"/>
            <a:ext cx="28734743" cy="2800992"/>
            <a:chOff x="0" y="0"/>
            <a:chExt cx="38312990" cy="3734656"/>
          </a:xfrm>
        </p:grpSpPr>
        <p:sp>
          <p:nvSpPr>
            <p:cNvPr id="16" name="Freeform 16"/>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7" name="Freeform 17"/>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18" name="Group 18"/>
          <p:cNvGrpSpPr/>
          <p:nvPr/>
        </p:nvGrpSpPr>
        <p:grpSpPr>
          <a:xfrm rot="-10800000">
            <a:off x="-6596594" y="-277765"/>
            <a:ext cx="28734743" cy="2800992"/>
            <a:chOff x="0" y="0"/>
            <a:chExt cx="38312990" cy="3734656"/>
          </a:xfrm>
        </p:grpSpPr>
        <p:sp>
          <p:nvSpPr>
            <p:cNvPr id="19" name="Freeform 19"/>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1" name="TextBox 21"/>
          <p:cNvSpPr txBox="1"/>
          <p:nvPr/>
        </p:nvSpPr>
        <p:spPr>
          <a:xfrm>
            <a:off x="4244795" y="3952446"/>
            <a:ext cx="13014505" cy="1732426"/>
          </a:xfrm>
          <a:prstGeom prst="rect">
            <a:avLst/>
          </a:prstGeom>
        </p:spPr>
        <p:txBody>
          <a:bodyPr lIns="0" tIns="0" rIns="0" bIns="0" rtlCol="0" anchor="t">
            <a:spAutoFit/>
          </a:bodyPr>
          <a:lstStyle/>
          <a:p>
            <a:pPr algn="l">
              <a:lnSpc>
                <a:spcPts val="14287"/>
              </a:lnSpc>
              <a:spcBef>
                <a:spcPct val="0"/>
              </a:spcBef>
            </a:pPr>
            <a:r>
              <a:rPr lang="zh-TW" altLang="en-US" sz="10205" dirty="0">
                <a:solidFill>
                  <a:srgbClr val="FFFFFF"/>
                </a:solidFill>
                <a:latin typeface="Quicksand"/>
                <a:ea typeface="Quicksand"/>
                <a:cs typeface="Quicksand"/>
                <a:sym typeface="Quicksand"/>
              </a:rPr>
              <a:t>四</a:t>
            </a:r>
            <a:r>
              <a:rPr lang="en-US" sz="10205" dirty="0">
                <a:solidFill>
                  <a:srgbClr val="FFFFFF"/>
                </a:solidFill>
                <a:latin typeface="Quicksand"/>
                <a:ea typeface="Quicksand"/>
                <a:cs typeface="Quicksand"/>
                <a:sym typeface="Quicksand"/>
              </a:rPr>
              <a:t>. </a:t>
            </a:r>
            <a:r>
              <a:rPr lang="en-US" sz="10205" dirty="0" err="1">
                <a:solidFill>
                  <a:srgbClr val="FFFFFF"/>
                </a:solidFill>
                <a:latin typeface="Quicksand"/>
                <a:ea typeface="Quicksand"/>
                <a:cs typeface="Quicksand"/>
                <a:sym typeface="Quicksand"/>
              </a:rPr>
              <a:t>商業模式</a:t>
            </a:r>
            <a:endParaRPr lang="en-US" sz="10205" dirty="0">
              <a:solidFill>
                <a:srgbClr val="FFFFFF"/>
              </a:solidFill>
              <a:latin typeface="Quicksand"/>
              <a:ea typeface="Quicksand"/>
              <a:cs typeface="Quicksand"/>
              <a:sym typeface="Quicksand"/>
            </a:endParaRPr>
          </a:p>
        </p:txBody>
      </p:sp>
      <p:sp>
        <p:nvSpPr>
          <p:cNvPr id="23" name="投影片編號版面配置區 1">
            <a:extLst>
              <a:ext uri="{FF2B5EF4-FFF2-40B4-BE49-F238E27FC236}">
                <a16:creationId xmlns:a16="http://schemas.microsoft.com/office/drawing/2014/main" id="{8A9EAC41-CEFB-E1FA-D8CF-F6B15663EA1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solidFill>
                  <a:schemeClr val="bg1"/>
                </a:solidFill>
              </a:rPr>
              <a:pPr/>
              <a:t>35</a:t>
            </a:fld>
            <a:endParaRPr lang="en-US" sz="4400" dirty="0">
              <a:solidFill>
                <a:schemeClr val="bg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9144000" y="1907801"/>
            <a:ext cx="9677197" cy="8955806"/>
          </a:xfrm>
          <a:custGeom>
            <a:avLst/>
            <a:gdLst/>
            <a:ahLst/>
            <a:cxnLst/>
            <a:rect l="l" t="t" r="r" b="b"/>
            <a:pathLst>
              <a:path w="9677197" h="8955806">
                <a:moveTo>
                  <a:pt x="0" y="0"/>
                </a:moveTo>
                <a:lnTo>
                  <a:pt x="9677197" y="0"/>
                </a:lnTo>
                <a:lnTo>
                  <a:pt x="9677197" y="8955807"/>
                </a:lnTo>
                <a:lnTo>
                  <a:pt x="0" y="89558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1030102" y="298843"/>
            <a:ext cx="20348204" cy="10564765"/>
            <a:chOff x="0" y="0"/>
            <a:chExt cx="5359198" cy="2782489"/>
          </a:xfrm>
        </p:grpSpPr>
        <p:sp>
          <p:nvSpPr>
            <p:cNvPr id="4" name="Freeform 4"/>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8E8E8"/>
            </a:solidFill>
          </p:spPr>
          <p:txBody>
            <a:bodyPr/>
            <a:lstStyle/>
            <a:p>
              <a:endParaRPr lang="zh-TW" altLang="en-US"/>
            </a:p>
          </p:txBody>
        </p:sp>
        <p:sp>
          <p:nvSpPr>
            <p:cNvPr id="5" name="TextBox 5"/>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p:cNvGrpSpPr/>
          <p:nvPr/>
        </p:nvGrpSpPr>
        <p:grpSpPr>
          <a:xfrm>
            <a:off x="-510256" y="-342401"/>
            <a:ext cx="20772145" cy="10971802"/>
            <a:chOff x="0" y="0"/>
            <a:chExt cx="27696193" cy="14629069"/>
          </a:xfrm>
        </p:grpSpPr>
        <p:sp>
          <p:nvSpPr>
            <p:cNvPr id="7" name="Freeform 7"/>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sp>
          <p:nvSpPr>
            <p:cNvPr id="11" name="Freeform 11"/>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4">
                <a:alphaModFix amt="28500"/>
                <a:extLst>
                  <a:ext uri="{96DAC541-7B7A-43D3-8B79-37D633B846F1}">
                    <asvg:svgBlip xmlns:asvg="http://schemas.microsoft.com/office/drawing/2016/SVG/main" r:embed="rId5"/>
                  </a:ext>
                </a:extLst>
              </a:blip>
              <a:stretch>
                <a:fillRect r="-13607" b="-13702"/>
              </a:stretch>
            </a:blipFill>
            <a:ln cap="sq">
              <a:noFill/>
              <a:prstDash val="solid"/>
              <a:miter/>
            </a:ln>
          </p:spPr>
          <p:txBody>
            <a:bodyPr/>
            <a:lstStyle/>
            <a:p>
              <a:endParaRPr lang="zh-TW" altLang="en-US"/>
            </a:p>
          </p:txBody>
        </p:sp>
        <p:sp>
          <p:nvSpPr>
            <p:cNvPr id="12" name="Freeform 12"/>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4">
                <a:alphaModFix amt="28500"/>
                <a:extLst>
                  <a:ext uri="{96DAC541-7B7A-43D3-8B79-37D633B846F1}">
                    <asvg:svgBlip xmlns:asvg="http://schemas.microsoft.com/office/drawing/2016/SVG/main" r:embed="rId5"/>
                  </a:ext>
                </a:extLst>
              </a:blip>
              <a:stretch>
                <a:fillRect r="-14444" b="-87889"/>
              </a:stretch>
            </a:blipFill>
            <a:ln cap="sq">
              <a:noFill/>
              <a:prstDash val="solid"/>
              <a:miter/>
            </a:ln>
          </p:spPr>
          <p:txBody>
            <a:bodyPr/>
            <a:lstStyle/>
            <a:p>
              <a:endParaRPr lang="zh-TW" altLang="en-US"/>
            </a:p>
          </p:txBody>
        </p:sp>
      </p:grpSp>
      <p:grpSp>
        <p:nvGrpSpPr>
          <p:cNvPr id="13" name="Group 13"/>
          <p:cNvGrpSpPr/>
          <p:nvPr/>
        </p:nvGrpSpPr>
        <p:grpSpPr>
          <a:xfrm>
            <a:off x="4924968" y="-3175186"/>
            <a:ext cx="15327790" cy="15327790"/>
            <a:chOff x="0" y="0"/>
            <a:chExt cx="20437053" cy="20437053"/>
          </a:xfrm>
        </p:grpSpPr>
        <p:grpSp>
          <p:nvGrpSpPr>
            <p:cNvPr id="14" name="Group 14"/>
            <p:cNvGrpSpPr/>
            <p:nvPr/>
          </p:nvGrpSpPr>
          <p:grpSpPr>
            <a:xfrm rot="2623268">
              <a:off x="3309159" y="2914006"/>
              <a:ext cx="14129771" cy="14344600"/>
              <a:chOff x="0" y="0"/>
              <a:chExt cx="2791066" cy="2833501"/>
            </a:xfrm>
          </p:grpSpPr>
          <p:sp>
            <p:nvSpPr>
              <p:cNvPr id="15" name="Freeform 15"/>
              <p:cNvSpPr/>
              <p:nvPr/>
            </p:nvSpPr>
            <p:spPr>
              <a:xfrm>
                <a:off x="0" y="0"/>
                <a:ext cx="2791066" cy="2833501"/>
              </a:xfrm>
              <a:custGeom>
                <a:avLst/>
                <a:gdLst/>
                <a:ahLst/>
                <a:cxnLst/>
                <a:rect l="l" t="t" r="r" b="b"/>
                <a:pathLst>
                  <a:path w="2791066" h="2833501">
                    <a:moveTo>
                      <a:pt x="37258" y="0"/>
                    </a:moveTo>
                    <a:lnTo>
                      <a:pt x="2753808" y="0"/>
                    </a:lnTo>
                    <a:cubicBezTo>
                      <a:pt x="2774385" y="0"/>
                      <a:pt x="2791066" y="16681"/>
                      <a:pt x="2791066" y="37258"/>
                    </a:cubicBezTo>
                    <a:lnTo>
                      <a:pt x="2791066" y="2796243"/>
                    </a:lnTo>
                    <a:cubicBezTo>
                      <a:pt x="2791066" y="2816820"/>
                      <a:pt x="2774385" y="2833501"/>
                      <a:pt x="2753808" y="2833501"/>
                    </a:cubicBezTo>
                    <a:lnTo>
                      <a:pt x="37258" y="2833501"/>
                    </a:lnTo>
                    <a:cubicBezTo>
                      <a:pt x="16681" y="2833501"/>
                      <a:pt x="0" y="2816820"/>
                      <a:pt x="0" y="2796243"/>
                    </a:cubicBezTo>
                    <a:lnTo>
                      <a:pt x="0" y="37258"/>
                    </a:lnTo>
                    <a:cubicBezTo>
                      <a:pt x="0" y="16681"/>
                      <a:pt x="16681" y="0"/>
                      <a:pt x="37258" y="0"/>
                    </a:cubicBezTo>
                    <a:close/>
                  </a:path>
                </a:pathLst>
              </a:custGeom>
              <a:solidFill>
                <a:srgbClr val="FFFFFF">
                  <a:alpha val="85882"/>
                </a:srgbClr>
              </a:solidFill>
            </p:spPr>
            <p:txBody>
              <a:bodyPr/>
              <a:lstStyle/>
              <a:p>
                <a:endParaRPr lang="zh-TW" altLang="en-US"/>
              </a:p>
            </p:txBody>
          </p:sp>
          <p:sp>
            <p:nvSpPr>
              <p:cNvPr id="16" name="TextBox 16"/>
              <p:cNvSpPr txBox="1"/>
              <p:nvPr/>
            </p:nvSpPr>
            <p:spPr>
              <a:xfrm>
                <a:off x="0" y="-38100"/>
                <a:ext cx="2791066" cy="2871601"/>
              </a:xfrm>
              <a:prstGeom prst="rect">
                <a:avLst/>
              </a:prstGeom>
            </p:spPr>
            <p:txBody>
              <a:bodyPr lIns="50800" tIns="50800" rIns="50800" bIns="50800" rtlCol="0" anchor="ctr"/>
              <a:lstStyle/>
              <a:p>
                <a:pPr algn="ctr">
                  <a:lnSpc>
                    <a:spcPts val="2120"/>
                  </a:lnSpc>
                </a:pPr>
                <a:endParaRPr/>
              </a:p>
            </p:txBody>
          </p:sp>
        </p:grpSp>
        <p:sp>
          <p:nvSpPr>
            <p:cNvPr id="17" name="Freeform 17"/>
            <p:cNvSpPr/>
            <p:nvPr/>
          </p:nvSpPr>
          <p:spPr>
            <a:xfrm rot="8100000">
              <a:off x="2992937" y="2992937"/>
              <a:ext cx="14451179" cy="14451179"/>
            </a:xfrm>
            <a:custGeom>
              <a:avLst/>
              <a:gdLst/>
              <a:ahLst/>
              <a:cxnLst/>
              <a:rect l="l" t="t" r="r" b="b"/>
              <a:pathLst>
                <a:path w="14451179" h="14451179">
                  <a:moveTo>
                    <a:pt x="0" y="0"/>
                  </a:moveTo>
                  <a:lnTo>
                    <a:pt x="14451179" y="0"/>
                  </a:lnTo>
                  <a:lnTo>
                    <a:pt x="14451179" y="14451179"/>
                  </a:lnTo>
                  <a:lnTo>
                    <a:pt x="0" y="144511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grpSp>
      <p:sp>
        <p:nvSpPr>
          <p:cNvPr id="18" name="Freeform 18"/>
          <p:cNvSpPr/>
          <p:nvPr/>
        </p:nvSpPr>
        <p:spPr>
          <a:xfrm rot="9321692">
            <a:off x="822020" y="5229145"/>
            <a:ext cx="5153337" cy="5153337"/>
          </a:xfrm>
          <a:custGeom>
            <a:avLst/>
            <a:gdLst/>
            <a:ahLst/>
            <a:cxnLst/>
            <a:rect l="l" t="t" r="r" b="b"/>
            <a:pathLst>
              <a:path w="5153337" h="5153337">
                <a:moveTo>
                  <a:pt x="0" y="0"/>
                </a:moveTo>
                <a:lnTo>
                  <a:pt x="5153337" y="0"/>
                </a:lnTo>
                <a:lnTo>
                  <a:pt x="5153337" y="5153337"/>
                </a:lnTo>
                <a:lnTo>
                  <a:pt x="0" y="515333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9" name="Freeform 19"/>
          <p:cNvSpPr/>
          <p:nvPr/>
        </p:nvSpPr>
        <p:spPr>
          <a:xfrm>
            <a:off x="1028700" y="565096"/>
            <a:ext cx="5085795" cy="9418622"/>
          </a:xfrm>
          <a:custGeom>
            <a:avLst/>
            <a:gdLst/>
            <a:ahLst/>
            <a:cxnLst/>
            <a:rect l="l" t="t" r="r" b="b"/>
            <a:pathLst>
              <a:path w="5085795" h="9418622">
                <a:moveTo>
                  <a:pt x="0" y="0"/>
                </a:moveTo>
                <a:lnTo>
                  <a:pt x="5085795" y="0"/>
                </a:lnTo>
                <a:lnTo>
                  <a:pt x="5085795" y="9418622"/>
                </a:lnTo>
                <a:lnTo>
                  <a:pt x="0" y="9418622"/>
                </a:lnTo>
                <a:lnTo>
                  <a:pt x="0" y="0"/>
                </a:lnTo>
                <a:close/>
              </a:path>
            </a:pathLst>
          </a:custGeom>
          <a:blipFill>
            <a:blip r:embed="rId10"/>
            <a:stretch>
              <a:fillRect l="-192633" t="-18131" r="-2506"/>
            </a:stretch>
          </a:blipFill>
        </p:spPr>
        <p:txBody>
          <a:bodyPr/>
          <a:lstStyle/>
          <a:p>
            <a:endParaRPr lang="zh-TW" altLang="en-US"/>
          </a:p>
        </p:txBody>
      </p:sp>
      <p:sp>
        <p:nvSpPr>
          <p:cNvPr id="20" name="TextBox 20"/>
          <p:cNvSpPr txBox="1"/>
          <p:nvPr/>
        </p:nvSpPr>
        <p:spPr>
          <a:xfrm>
            <a:off x="9144000" y="660053"/>
            <a:ext cx="8290475" cy="1538522"/>
          </a:xfrm>
          <a:prstGeom prst="rect">
            <a:avLst/>
          </a:prstGeom>
        </p:spPr>
        <p:txBody>
          <a:bodyPr lIns="0" tIns="0" rIns="0" bIns="0" rtlCol="0" anchor="t">
            <a:spAutoFit/>
          </a:bodyPr>
          <a:lstStyle/>
          <a:p>
            <a:pPr algn="l">
              <a:lnSpc>
                <a:spcPts val="12607"/>
              </a:lnSpc>
            </a:pPr>
            <a:r>
              <a:rPr lang="en-US" sz="9005" b="1">
                <a:solidFill>
                  <a:srgbClr val="494F56"/>
                </a:solidFill>
                <a:latin typeface="Quicksand Bold"/>
                <a:ea typeface="Quicksand Bold"/>
                <a:cs typeface="Quicksand Bold"/>
                <a:sym typeface="Quicksand Bold"/>
              </a:rPr>
              <a:t>目標族群</a:t>
            </a:r>
          </a:p>
        </p:txBody>
      </p:sp>
      <p:sp>
        <p:nvSpPr>
          <p:cNvPr id="21" name="TextBox 21"/>
          <p:cNvSpPr txBox="1"/>
          <p:nvPr/>
        </p:nvSpPr>
        <p:spPr>
          <a:xfrm>
            <a:off x="9068351" y="2761064"/>
            <a:ext cx="7543249" cy="4669621"/>
          </a:xfrm>
          <a:prstGeom prst="rect">
            <a:avLst/>
          </a:prstGeom>
        </p:spPr>
        <p:txBody>
          <a:bodyPr wrap="square" lIns="0" tIns="0" rIns="0" bIns="0" rtlCol="0" anchor="t">
            <a:spAutoFit/>
          </a:bodyPr>
          <a:lstStyle/>
          <a:p>
            <a:pPr marL="949961" lvl="1" indent="-474980" algn="l">
              <a:lnSpc>
                <a:spcPts val="6160"/>
              </a:lnSpc>
              <a:buFont typeface="Arial"/>
              <a:buChar char="•"/>
            </a:pPr>
            <a:r>
              <a:rPr lang="en-US" sz="4400" dirty="0" err="1">
                <a:solidFill>
                  <a:srgbClr val="494F56"/>
                </a:solidFill>
                <a:latin typeface="Quicksand"/>
                <a:ea typeface="Quicksand"/>
                <a:cs typeface="Quicksand"/>
                <a:sym typeface="Quicksand"/>
              </a:rPr>
              <a:t>夜歸族</a:t>
            </a:r>
            <a:endParaRPr lang="en-US" sz="4400" dirty="0">
              <a:solidFill>
                <a:srgbClr val="494F56"/>
              </a:solidFill>
              <a:latin typeface="Quicksand"/>
              <a:ea typeface="Quicksand"/>
              <a:cs typeface="Quicksand"/>
              <a:sym typeface="Quicksand"/>
            </a:endParaRPr>
          </a:p>
          <a:p>
            <a:pPr marL="949961" lvl="1" indent="-474980" algn="l">
              <a:lnSpc>
                <a:spcPts val="6160"/>
              </a:lnSpc>
              <a:buFont typeface="Arial"/>
              <a:buChar char="•"/>
            </a:pPr>
            <a:r>
              <a:rPr lang="en-US" sz="4400" dirty="0" err="1">
                <a:solidFill>
                  <a:srgbClr val="494F56"/>
                </a:solidFill>
                <a:latin typeface="Quicksand"/>
                <a:ea typeface="Quicksand"/>
                <a:cs typeface="Quicksand"/>
                <a:sym typeface="Quicksand"/>
              </a:rPr>
              <a:t>獨居者</a:t>
            </a:r>
            <a:endParaRPr lang="en-US" sz="4400" dirty="0">
              <a:solidFill>
                <a:srgbClr val="494F56"/>
              </a:solidFill>
              <a:latin typeface="Quicksand"/>
              <a:ea typeface="Quicksand"/>
              <a:cs typeface="Quicksand"/>
              <a:sym typeface="Quicksand"/>
            </a:endParaRPr>
          </a:p>
          <a:p>
            <a:pPr marL="949961" lvl="1" indent="-474980" algn="l">
              <a:lnSpc>
                <a:spcPts val="6160"/>
              </a:lnSpc>
              <a:buFont typeface="Arial"/>
              <a:buChar char="•"/>
            </a:pPr>
            <a:r>
              <a:rPr lang="en-US" sz="4400" dirty="0" err="1">
                <a:solidFill>
                  <a:srgbClr val="494F56"/>
                </a:solidFill>
                <a:latin typeface="Quicksand"/>
                <a:ea typeface="Quicksand"/>
                <a:cs typeface="Quicksand"/>
                <a:sym typeface="Quicksand"/>
              </a:rPr>
              <a:t>女性</a:t>
            </a:r>
            <a:endParaRPr lang="en-US" sz="4400" dirty="0">
              <a:solidFill>
                <a:srgbClr val="494F56"/>
              </a:solidFill>
              <a:latin typeface="Quicksand"/>
              <a:ea typeface="Quicksand"/>
              <a:cs typeface="Quicksand"/>
              <a:sym typeface="Quicksand"/>
            </a:endParaRPr>
          </a:p>
          <a:p>
            <a:pPr marL="949961" lvl="1" indent="-474980" algn="l">
              <a:lnSpc>
                <a:spcPts val="6160"/>
              </a:lnSpc>
              <a:buFont typeface="Arial"/>
              <a:buChar char="•"/>
            </a:pPr>
            <a:r>
              <a:rPr lang="en-US" sz="4400" dirty="0" err="1">
                <a:solidFill>
                  <a:srgbClr val="494F56"/>
                </a:solidFill>
                <a:latin typeface="Quicksand"/>
                <a:ea typeface="Quicksand"/>
                <a:cs typeface="Quicksand"/>
                <a:sym typeface="Quicksand"/>
              </a:rPr>
              <a:t>夜間運動者</a:t>
            </a:r>
            <a:endParaRPr lang="en-US" sz="4400" dirty="0">
              <a:solidFill>
                <a:srgbClr val="494F56"/>
              </a:solidFill>
              <a:latin typeface="Quicksand"/>
              <a:ea typeface="Quicksand"/>
              <a:cs typeface="Quicksand"/>
              <a:sym typeface="Quicksand"/>
            </a:endParaRPr>
          </a:p>
          <a:p>
            <a:pPr marL="949961" lvl="1" indent="-474980" algn="l">
              <a:lnSpc>
                <a:spcPts val="6160"/>
              </a:lnSpc>
              <a:buFont typeface="Arial"/>
              <a:buChar char="•"/>
            </a:pPr>
            <a:r>
              <a:rPr lang="en-US" sz="4400" dirty="0" err="1">
                <a:solidFill>
                  <a:srgbClr val="494F56"/>
                </a:solidFill>
                <a:latin typeface="Quicksand"/>
                <a:ea typeface="Quicksand"/>
                <a:cs typeface="Quicksand"/>
                <a:sym typeface="Quicksand"/>
              </a:rPr>
              <a:t>學生</a:t>
            </a:r>
            <a:endParaRPr lang="en-US" sz="4400" dirty="0">
              <a:solidFill>
                <a:srgbClr val="494F56"/>
              </a:solidFill>
              <a:latin typeface="Quicksand"/>
              <a:ea typeface="Quicksand"/>
              <a:cs typeface="Quicksand"/>
              <a:sym typeface="Quicksand"/>
            </a:endParaRPr>
          </a:p>
          <a:p>
            <a:pPr marL="949961" lvl="1" indent="-474980" algn="l">
              <a:lnSpc>
                <a:spcPts val="6160"/>
              </a:lnSpc>
              <a:buFont typeface="Arial"/>
              <a:buChar char="•"/>
            </a:pPr>
            <a:r>
              <a:rPr lang="en-US" sz="4400" dirty="0" err="1">
                <a:solidFill>
                  <a:srgbClr val="494F56"/>
                </a:solidFill>
                <a:latin typeface="Quicksand"/>
                <a:ea typeface="Quicksand"/>
                <a:cs typeface="Quicksand"/>
                <a:sym typeface="Quicksand"/>
              </a:rPr>
              <a:t>商家（可付費投放廣告</a:t>
            </a:r>
            <a:r>
              <a:rPr lang="en-US" sz="4400" dirty="0">
                <a:solidFill>
                  <a:srgbClr val="494F56"/>
                </a:solidFill>
                <a:latin typeface="Quicksand"/>
                <a:ea typeface="Quicksand"/>
                <a:cs typeface="Quicksand"/>
                <a:sym typeface="Quicksand"/>
              </a:rPr>
              <a:t>）</a:t>
            </a:r>
          </a:p>
        </p:txBody>
      </p:sp>
      <p:sp>
        <p:nvSpPr>
          <p:cNvPr id="22" name="TextBox 22"/>
          <p:cNvSpPr txBox="1"/>
          <p:nvPr/>
        </p:nvSpPr>
        <p:spPr>
          <a:xfrm>
            <a:off x="15191677"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報告人:品臻</a:t>
            </a:r>
          </a:p>
        </p:txBody>
      </p:sp>
      <p:sp>
        <p:nvSpPr>
          <p:cNvPr id="24" name="投影片編號版面配置區 1">
            <a:extLst>
              <a:ext uri="{FF2B5EF4-FFF2-40B4-BE49-F238E27FC236}">
                <a16:creationId xmlns:a16="http://schemas.microsoft.com/office/drawing/2014/main" id="{07E7A026-C851-7CBC-6E3B-C23E2D7A740B}"/>
              </a:ext>
            </a:extLst>
          </p:cNvPr>
          <p:cNvSpPr>
            <a:spLocks noGrp="1"/>
          </p:cNvSpPr>
          <p:nvPr>
            <p:ph type="sldNum" sz="quarter" idx="12"/>
          </p:nvPr>
        </p:nvSpPr>
        <p:spPr>
          <a:xfrm>
            <a:off x="-1295400" y="9410700"/>
            <a:ext cx="2209800" cy="669925"/>
          </a:xfrm>
        </p:spPr>
        <p:txBody>
          <a:bodyPr/>
          <a:lstStyle/>
          <a:p>
            <a:fld id="{B6F15528-21DE-4FAA-801E-634DDDAF4B2B}" type="slidenum">
              <a:rPr lang="en-US" sz="4400" smtClean="0"/>
              <a:pPr/>
              <a:t>36</a:t>
            </a:fld>
            <a:endParaRPr lang="en-US" sz="4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grpSp>
        <p:nvGrpSpPr>
          <p:cNvPr id="9" name="Group 9"/>
          <p:cNvGrpSpPr/>
          <p:nvPr/>
        </p:nvGrpSpPr>
        <p:grpSpPr>
          <a:xfrm>
            <a:off x="1519917" y="1977384"/>
            <a:ext cx="7852684" cy="2865281"/>
            <a:chOff x="0" y="0"/>
            <a:chExt cx="2193094" cy="812800"/>
          </a:xfrm>
        </p:grpSpPr>
        <p:sp>
          <p:nvSpPr>
            <p:cNvPr id="10" name="Freeform 10"/>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11" name="TextBox 11"/>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12" name="TextBox 12"/>
          <p:cNvSpPr txBox="1"/>
          <p:nvPr/>
        </p:nvSpPr>
        <p:spPr>
          <a:xfrm>
            <a:off x="7514071" y="447675"/>
            <a:ext cx="3259858" cy="1038225"/>
          </a:xfrm>
          <a:prstGeom prst="rect">
            <a:avLst/>
          </a:prstGeom>
        </p:spPr>
        <p:txBody>
          <a:bodyPr lIns="0" tIns="0" rIns="0" bIns="0" rtlCol="0" anchor="t">
            <a:spAutoFit/>
          </a:bodyPr>
          <a:lstStyle/>
          <a:p>
            <a:pPr algn="l">
              <a:lnSpc>
                <a:spcPts val="8400"/>
              </a:lnSpc>
              <a:spcBef>
                <a:spcPct val="0"/>
              </a:spcBef>
            </a:pPr>
            <a:r>
              <a:rPr lang="en-US" sz="6000">
                <a:solidFill>
                  <a:srgbClr val="000000"/>
                </a:solidFill>
                <a:latin typeface="Quicksand"/>
                <a:ea typeface="Quicksand"/>
                <a:cs typeface="Quicksand"/>
                <a:sym typeface="Quicksand"/>
              </a:rPr>
              <a:t>產品定位</a:t>
            </a:r>
          </a:p>
        </p:txBody>
      </p:sp>
      <p:sp>
        <p:nvSpPr>
          <p:cNvPr id="13" name="TextBox 13"/>
          <p:cNvSpPr txBox="1"/>
          <p:nvPr/>
        </p:nvSpPr>
        <p:spPr>
          <a:xfrm>
            <a:off x="2219803" y="2903255"/>
            <a:ext cx="6217568" cy="2026196"/>
          </a:xfrm>
          <a:prstGeom prst="rect">
            <a:avLst/>
          </a:prstGeom>
        </p:spPr>
        <p:txBody>
          <a:bodyPr wrap="square" lIns="0" tIns="0" rIns="0" bIns="0" rtlCol="0" anchor="t">
            <a:spAutoFit/>
          </a:bodyPr>
          <a:lstStyle/>
          <a:p>
            <a:pPr algn="ctr">
              <a:lnSpc>
                <a:spcPts val="7897"/>
              </a:lnSpc>
              <a:spcBef>
                <a:spcPct val="0"/>
              </a:spcBef>
            </a:pPr>
            <a:r>
              <a:rPr lang="en-US" sz="5600" b="1" dirty="0" err="1">
                <a:solidFill>
                  <a:srgbClr val="FFFFFF"/>
                </a:solidFill>
                <a:latin typeface="Atma Medium"/>
                <a:ea typeface="Atma Medium"/>
                <a:cs typeface="Atma Medium"/>
                <a:sym typeface="Atma Medium"/>
              </a:rPr>
              <a:t>提供街頭安全防護</a:t>
            </a:r>
            <a:endParaRPr lang="en-US" sz="5600" b="1" dirty="0">
              <a:solidFill>
                <a:srgbClr val="FFFFFF"/>
              </a:solidFill>
              <a:latin typeface="Atma Medium"/>
              <a:ea typeface="Atma Medium"/>
              <a:cs typeface="Atma Medium"/>
              <a:sym typeface="Atma Medium"/>
            </a:endParaRPr>
          </a:p>
          <a:p>
            <a:pPr algn="ctr">
              <a:lnSpc>
                <a:spcPts val="7897"/>
              </a:lnSpc>
              <a:spcBef>
                <a:spcPct val="0"/>
              </a:spcBef>
            </a:pPr>
            <a:endParaRPr lang="en-US" sz="5600" b="1" dirty="0">
              <a:solidFill>
                <a:srgbClr val="FFFFFF"/>
              </a:solidFill>
              <a:latin typeface="Atma Medium"/>
              <a:ea typeface="Atma Medium"/>
              <a:cs typeface="Atma Medium"/>
              <a:sym typeface="Atma Medium"/>
            </a:endParaRPr>
          </a:p>
        </p:txBody>
      </p:sp>
      <p:grpSp>
        <p:nvGrpSpPr>
          <p:cNvPr id="14" name="Group 14"/>
          <p:cNvGrpSpPr/>
          <p:nvPr/>
        </p:nvGrpSpPr>
        <p:grpSpPr>
          <a:xfrm>
            <a:off x="1519917" y="6156008"/>
            <a:ext cx="7852685" cy="2903223"/>
            <a:chOff x="0" y="0"/>
            <a:chExt cx="2193094" cy="812800"/>
          </a:xfrm>
        </p:grpSpPr>
        <p:sp>
          <p:nvSpPr>
            <p:cNvPr id="15" name="Freeform 15"/>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16" name="TextBox 16"/>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17" name="TextBox 17"/>
          <p:cNvSpPr txBox="1"/>
          <p:nvPr/>
        </p:nvSpPr>
        <p:spPr>
          <a:xfrm>
            <a:off x="2204596" y="7235495"/>
            <a:ext cx="6483326" cy="840615"/>
          </a:xfrm>
          <a:prstGeom prst="rect">
            <a:avLst/>
          </a:prstGeom>
        </p:spPr>
        <p:txBody>
          <a:bodyPr wrap="square" lIns="0" tIns="0" rIns="0" bIns="0" rtlCol="0" anchor="t">
            <a:spAutoFit/>
          </a:bodyPr>
          <a:lstStyle/>
          <a:p>
            <a:pPr algn="ctr">
              <a:lnSpc>
                <a:spcPts val="6507"/>
              </a:lnSpc>
              <a:spcBef>
                <a:spcPct val="0"/>
              </a:spcBef>
            </a:pPr>
            <a:r>
              <a:rPr lang="en-US" sz="5600" b="1" dirty="0" err="1">
                <a:solidFill>
                  <a:srgbClr val="FFFFFF"/>
                </a:solidFill>
                <a:latin typeface="Atma Medium"/>
                <a:ea typeface="Atma Medium"/>
                <a:cs typeface="Atma Medium"/>
                <a:sym typeface="Atma Medium"/>
              </a:rPr>
              <a:t>即時求助機制的平台</a:t>
            </a:r>
            <a:endParaRPr lang="en-US" sz="5600" b="1" dirty="0">
              <a:solidFill>
                <a:srgbClr val="FFFFFF"/>
              </a:solidFill>
              <a:latin typeface="Atma Medium"/>
              <a:ea typeface="Atma Medium"/>
              <a:cs typeface="Atma Medium"/>
              <a:sym typeface="Atma Medium"/>
            </a:endParaRPr>
          </a:p>
        </p:txBody>
      </p:sp>
      <p:sp>
        <p:nvSpPr>
          <p:cNvPr id="18" name="Freeform 18"/>
          <p:cNvSpPr/>
          <p:nvPr/>
        </p:nvSpPr>
        <p:spPr>
          <a:xfrm rot="5400000">
            <a:off x="-5151489" y="-1897278"/>
            <a:ext cx="14888109" cy="10557022"/>
          </a:xfrm>
          <a:custGeom>
            <a:avLst/>
            <a:gdLst/>
            <a:ahLst/>
            <a:cxnLst/>
            <a:rect l="l" t="t" r="r" b="b"/>
            <a:pathLst>
              <a:path w="14888109" h="10557022">
                <a:moveTo>
                  <a:pt x="0" y="0"/>
                </a:moveTo>
                <a:lnTo>
                  <a:pt x="14888109" y="0"/>
                </a:lnTo>
                <a:lnTo>
                  <a:pt x="14888109" y="10557023"/>
                </a:lnTo>
                <a:lnTo>
                  <a:pt x="0" y="105570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9" name="TextBox 19"/>
          <p:cNvSpPr txBox="1"/>
          <p:nvPr/>
        </p:nvSpPr>
        <p:spPr>
          <a:xfrm>
            <a:off x="15191677"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1" name="投影片編號版面配置區 1">
            <a:extLst>
              <a:ext uri="{FF2B5EF4-FFF2-40B4-BE49-F238E27FC236}">
                <a16:creationId xmlns:a16="http://schemas.microsoft.com/office/drawing/2014/main" id="{9BE23384-2906-013A-C7F6-59641BEE0A66}"/>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37</a:t>
            </a:fld>
            <a:endParaRPr lang="en-US" sz="4400" dirty="0"/>
          </a:p>
        </p:txBody>
      </p:sp>
      <p:grpSp>
        <p:nvGrpSpPr>
          <p:cNvPr id="22" name="Group 9">
            <a:extLst>
              <a:ext uri="{FF2B5EF4-FFF2-40B4-BE49-F238E27FC236}">
                <a16:creationId xmlns:a16="http://schemas.microsoft.com/office/drawing/2014/main" id="{EC85FED1-7F1E-6051-1DA6-EFA7FCF232B5}"/>
              </a:ext>
            </a:extLst>
          </p:cNvPr>
          <p:cNvGrpSpPr/>
          <p:nvPr/>
        </p:nvGrpSpPr>
        <p:grpSpPr>
          <a:xfrm>
            <a:off x="9841377" y="1977385"/>
            <a:ext cx="7852684" cy="2865280"/>
            <a:chOff x="0" y="0"/>
            <a:chExt cx="2193094" cy="812800"/>
          </a:xfrm>
        </p:grpSpPr>
        <p:sp>
          <p:nvSpPr>
            <p:cNvPr id="23" name="Freeform 10">
              <a:extLst>
                <a:ext uri="{FF2B5EF4-FFF2-40B4-BE49-F238E27FC236}">
                  <a16:creationId xmlns:a16="http://schemas.microsoft.com/office/drawing/2014/main" id="{A7008F48-7BD5-6727-2645-A906944F1661}"/>
                </a:ext>
              </a:extLst>
            </p:cNvPr>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24" name="TextBox 11">
              <a:extLst>
                <a:ext uri="{FF2B5EF4-FFF2-40B4-BE49-F238E27FC236}">
                  <a16:creationId xmlns:a16="http://schemas.microsoft.com/office/drawing/2014/main" id="{05FC8B34-6D99-6DD5-C37D-4103044B3A55}"/>
                </a:ext>
              </a:extLst>
            </p:cNvPr>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25" name="TextBox 13">
            <a:extLst>
              <a:ext uri="{FF2B5EF4-FFF2-40B4-BE49-F238E27FC236}">
                <a16:creationId xmlns:a16="http://schemas.microsoft.com/office/drawing/2014/main" id="{BD0352A5-A4CB-7187-964A-D75C58857BE4}"/>
              </a:ext>
            </a:extLst>
          </p:cNvPr>
          <p:cNvSpPr txBox="1"/>
          <p:nvPr/>
        </p:nvSpPr>
        <p:spPr>
          <a:xfrm>
            <a:off x="10744200" y="2816469"/>
            <a:ext cx="6217568" cy="2026196"/>
          </a:xfrm>
          <a:prstGeom prst="rect">
            <a:avLst/>
          </a:prstGeom>
        </p:spPr>
        <p:txBody>
          <a:bodyPr wrap="square" lIns="0" tIns="0" rIns="0" bIns="0" rtlCol="0" anchor="t">
            <a:spAutoFit/>
          </a:bodyPr>
          <a:lstStyle/>
          <a:p>
            <a:pPr algn="ctr">
              <a:lnSpc>
                <a:spcPts val="7897"/>
              </a:lnSpc>
              <a:spcBef>
                <a:spcPct val="0"/>
              </a:spcBef>
            </a:pPr>
            <a:r>
              <a:rPr lang="zh-TW" altLang="en-US" sz="5640" b="1" dirty="0">
                <a:solidFill>
                  <a:srgbClr val="FFFFFF"/>
                </a:solidFill>
                <a:latin typeface="Atma Medium"/>
                <a:ea typeface="Atma Medium"/>
                <a:cs typeface="Atma Medium"/>
                <a:sym typeface="Atma Medium"/>
              </a:rPr>
              <a:t>經驗</a:t>
            </a:r>
            <a:r>
              <a:rPr lang="zh-TW" altLang="en-US" sz="6000" b="1" dirty="0">
                <a:solidFill>
                  <a:srgbClr val="FFFFFF"/>
                </a:solidFill>
                <a:latin typeface="Atma Medium"/>
                <a:ea typeface="Atma Medium"/>
                <a:cs typeface="Atma Medium"/>
                <a:sym typeface="Atma Medium"/>
              </a:rPr>
              <a:t>分享</a:t>
            </a:r>
            <a:endParaRPr lang="en-US" sz="5640" b="1" dirty="0">
              <a:solidFill>
                <a:srgbClr val="FFFFFF"/>
              </a:solidFill>
              <a:latin typeface="Atma Medium"/>
              <a:ea typeface="Atma Medium"/>
              <a:cs typeface="Atma Medium"/>
              <a:sym typeface="Atma Medium"/>
            </a:endParaRPr>
          </a:p>
          <a:p>
            <a:pPr algn="ctr">
              <a:lnSpc>
                <a:spcPts val="7897"/>
              </a:lnSpc>
              <a:spcBef>
                <a:spcPct val="0"/>
              </a:spcBef>
            </a:pPr>
            <a:endParaRPr lang="en-US" sz="5640" b="1" dirty="0">
              <a:solidFill>
                <a:srgbClr val="FFFFFF"/>
              </a:solidFill>
              <a:latin typeface="Atma Medium"/>
              <a:ea typeface="Atma Medium"/>
              <a:cs typeface="Atma Medium"/>
              <a:sym typeface="Atma Medium"/>
            </a:endParaRPr>
          </a:p>
        </p:txBody>
      </p:sp>
      <p:grpSp>
        <p:nvGrpSpPr>
          <p:cNvPr id="26" name="Group 9">
            <a:extLst>
              <a:ext uri="{FF2B5EF4-FFF2-40B4-BE49-F238E27FC236}">
                <a16:creationId xmlns:a16="http://schemas.microsoft.com/office/drawing/2014/main" id="{090C49D0-DE83-D9D3-B59A-DAD96D22D6DE}"/>
              </a:ext>
            </a:extLst>
          </p:cNvPr>
          <p:cNvGrpSpPr/>
          <p:nvPr/>
        </p:nvGrpSpPr>
        <p:grpSpPr>
          <a:xfrm>
            <a:off x="9806354" y="6156008"/>
            <a:ext cx="7852684" cy="2865280"/>
            <a:chOff x="0" y="0"/>
            <a:chExt cx="2193094" cy="812800"/>
          </a:xfrm>
        </p:grpSpPr>
        <p:sp>
          <p:nvSpPr>
            <p:cNvPr id="27" name="Freeform 10">
              <a:extLst>
                <a:ext uri="{FF2B5EF4-FFF2-40B4-BE49-F238E27FC236}">
                  <a16:creationId xmlns:a16="http://schemas.microsoft.com/office/drawing/2014/main" id="{B261D291-E8B9-3D59-B821-95FD6B156C6D}"/>
                </a:ext>
              </a:extLst>
            </p:cNvPr>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28" name="TextBox 11">
              <a:extLst>
                <a:ext uri="{FF2B5EF4-FFF2-40B4-BE49-F238E27FC236}">
                  <a16:creationId xmlns:a16="http://schemas.microsoft.com/office/drawing/2014/main" id="{C79536DE-1448-2525-CA98-70A4DF66DDCF}"/>
                </a:ext>
              </a:extLst>
            </p:cNvPr>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29" name="TextBox 13">
            <a:extLst>
              <a:ext uri="{FF2B5EF4-FFF2-40B4-BE49-F238E27FC236}">
                <a16:creationId xmlns:a16="http://schemas.microsoft.com/office/drawing/2014/main" id="{F1F42DA7-933F-6E2D-37D4-514C8D07593C}"/>
              </a:ext>
            </a:extLst>
          </p:cNvPr>
          <p:cNvSpPr txBox="1"/>
          <p:nvPr/>
        </p:nvSpPr>
        <p:spPr>
          <a:xfrm>
            <a:off x="10716986" y="7129402"/>
            <a:ext cx="6217568" cy="1013098"/>
          </a:xfrm>
          <a:prstGeom prst="rect">
            <a:avLst/>
          </a:prstGeom>
        </p:spPr>
        <p:txBody>
          <a:bodyPr wrap="square" lIns="0" tIns="0" rIns="0" bIns="0" rtlCol="0" anchor="t">
            <a:spAutoFit/>
          </a:bodyPr>
          <a:lstStyle/>
          <a:p>
            <a:pPr algn="ctr">
              <a:lnSpc>
                <a:spcPts val="7897"/>
              </a:lnSpc>
              <a:spcBef>
                <a:spcPct val="0"/>
              </a:spcBef>
            </a:pPr>
            <a:r>
              <a:rPr lang="zh-TW" altLang="en-US" sz="5640" b="1" dirty="0">
                <a:solidFill>
                  <a:srgbClr val="FFFFFF"/>
                </a:solidFill>
                <a:latin typeface="Atma Medium"/>
                <a:ea typeface="Atma Medium"/>
                <a:cs typeface="Atma Medium"/>
                <a:sym typeface="Atma Medium"/>
              </a:rPr>
              <a:t>紓壓</a:t>
            </a:r>
            <a:r>
              <a:rPr lang="en-US" altLang="zh-TW" sz="5640" b="1" dirty="0">
                <a:solidFill>
                  <a:srgbClr val="FFFFFF"/>
                </a:solidFill>
                <a:latin typeface="Atma Medium"/>
                <a:ea typeface="Atma Medium"/>
                <a:cs typeface="Atma Medium"/>
                <a:sym typeface="Atma Medium"/>
              </a:rPr>
              <a:t>;</a:t>
            </a:r>
            <a:r>
              <a:rPr lang="zh-TW" altLang="en-US" sz="5640" b="1" dirty="0">
                <a:solidFill>
                  <a:srgbClr val="FFFFFF"/>
                </a:solidFill>
                <a:latin typeface="Atma Medium"/>
                <a:ea typeface="Atma Medium"/>
                <a:cs typeface="Atma Medium"/>
                <a:sym typeface="Atma Medium"/>
              </a:rPr>
              <a:t>互相關懷</a:t>
            </a:r>
            <a:endParaRPr lang="en-US" sz="5640" b="1" dirty="0">
              <a:solidFill>
                <a:srgbClr val="FFFFFF"/>
              </a:solidFill>
              <a:latin typeface="Atma Medium"/>
              <a:ea typeface="Atma Medium"/>
              <a:cs typeface="Atma Medium"/>
              <a:sym typeface="Atma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9" name="Freeform 9"/>
          <p:cNvSpPr/>
          <p:nvPr/>
        </p:nvSpPr>
        <p:spPr>
          <a:xfrm rot="5127295">
            <a:off x="-5002242" y="-1668677"/>
            <a:ext cx="14888109" cy="10557022"/>
          </a:xfrm>
          <a:custGeom>
            <a:avLst/>
            <a:gdLst/>
            <a:ahLst/>
            <a:cxnLst/>
            <a:rect l="l" t="t" r="r" b="b"/>
            <a:pathLst>
              <a:path w="14888109" h="10557022">
                <a:moveTo>
                  <a:pt x="0" y="0"/>
                </a:moveTo>
                <a:lnTo>
                  <a:pt x="14888109" y="0"/>
                </a:lnTo>
                <a:lnTo>
                  <a:pt x="14888109" y="10557023"/>
                </a:lnTo>
                <a:lnTo>
                  <a:pt x="0" y="105570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10" name="Group 10"/>
          <p:cNvGrpSpPr/>
          <p:nvPr/>
        </p:nvGrpSpPr>
        <p:grpSpPr>
          <a:xfrm>
            <a:off x="2852689" y="3110777"/>
            <a:ext cx="13683617" cy="2901204"/>
            <a:chOff x="0" y="0"/>
            <a:chExt cx="3603915" cy="764103"/>
          </a:xfrm>
        </p:grpSpPr>
        <p:sp>
          <p:nvSpPr>
            <p:cNvPr id="11" name="Freeform 11"/>
            <p:cNvSpPr/>
            <p:nvPr/>
          </p:nvSpPr>
          <p:spPr>
            <a:xfrm>
              <a:off x="0" y="0"/>
              <a:ext cx="3603916" cy="764103"/>
            </a:xfrm>
            <a:custGeom>
              <a:avLst/>
              <a:gdLst/>
              <a:ahLst/>
              <a:cxnLst/>
              <a:rect l="l" t="t" r="r" b="b"/>
              <a:pathLst>
                <a:path w="3603916" h="764103">
                  <a:moveTo>
                    <a:pt x="28855" y="0"/>
                  </a:moveTo>
                  <a:lnTo>
                    <a:pt x="3575061" y="0"/>
                  </a:lnTo>
                  <a:cubicBezTo>
                    <a:pt x="3590997" y="0"/>
                    <a:pt x="3603916" y="12919"/>
                    <a:pt x="3603916" y="28855"/>
                  </a:cubicBezTo>
                  <a:lnTo>
                    <a:pt x="3603916" y="735248"/>
                  </a:lnTo>
                  <a:cubicBezTo>
                    <a:pt x="3603916" y="742901"/>
                    <a:pt x="3600876" y="750240"/>
                    <a:pt x="3595464" y="755652"/>
                  </a:cubicBezTo>
                  <a:cubicBezTo>
                    <a:pt x="3590053" y="761063"/>
                    <a:pt x="3582713" y="764103"/>
                    <a:pt x="3575061" y="764103"/>
                  </a:cubicBezTo>
                  <a:lnTo>
                    <a:pt x="28855" y="764103"/>
                  </a:lnTo>
                  <a:cubicBezTo>
                    <a:pt x="21202" y="764103"/>
                    <a:pt x="13863" y="761063"/>
                    <a:pt x="8451" y="755652"/>
                  </a:cubicBezTo>
                  <a:cubicBezTo>
                    <a:pt x="3040" y="750240"/>
                    <a:pt x="0" y="742901"/>
                    <a:pt x="0" y="735248"/>
                  </a:cubicBezTo>
                  <a:lnTo>
                    <a:pt x="0" y="28855"/>
                  </a:lnTo>
                  <a:cubicBezTo>
                    <a:pt x="0" y="12919"/>
                    <a:pt x="12919" y="0"/>
                    <a:pt x="28855" y="0"/>
                  </a:cubicBezTo>
                  <a:close/>
                </a:path>
              </a:pathLst>
            </a:custGeom>
            <a:solidFill>
              <a:srgbClr val="98C1D9"/>
            </a:solidFill>
          </p:spPr>
          <p:txBody>
            <a:bodyPr/>
            <a:lstStyle/>
            <a:p>
              <a:endParaRPr lang="zh-TW" altLang="en-US"/>
            </a:p>
          </p:txBody>
        </p:sp>
        <p:sp>
          <p:nvSpPr>
            <p:cNvPr id="12" name="TextBox 12"/>
            <p:cNvSpPr txBox="1"/>
            <p:nvPr/>
          </p:nvSpPr>
          <p:spPr>
            <a:xfrm>
              <a:off x="0" y="-38100"/>
              <a:ext cx="3603915" cy="802203"/>
            </a:xfrm>
            <a:prstGeom prst="rect">
              <a:avLst/>
            </a:prstGeom>
          </p:spPr>
          <p:txBody>
            <a:bodyPr lIns="50800" tIns="50800" rIns="50800" bIns="50800" rtlCol="0" anchor="ctr"/>
            <a:lstStyle/>
            <a:p>
              <a:pPr algn="ctr">
                <a:lnSpc>
                  <a:spcPts val="2120"/>
                </a:lnSpc>
              </a:pPr>
              <a:endParaRPr/>
            </a:p>
          </p:txBody>
        </p:sp>
      </p:grpSp>
      <p:grpSp>
        <p:nvGrpSpPr>
          <p:cNvPr id="13" name="Group 13"/>
          <p:cNvGrpSpPr/>
          <p:nvPr/>
        </p:nvGrpSpPr>
        <p:grpSpPr>
          <a:xfrm>
            <a:off x="2852689" y="1837289"/>
            <a:ext cx="13683617" cy="2901204"/>
            <a:chOff x="0" y="0"/>
            <a:chExt cx="3603915" cy="764103"/>
          </a:xfrm>
        </p:grpSpPr>
        <p:sp>
          <p:nvSpPr>
            <p:cNvPr id="14" name="Freeform 14"/>
            <p:cNvSpPr/>
            <p:nvPr/>
          </p:nvSpPr>
          <p:spPr>
            <a:xfrm>
              <a:off x="0" y="0"/>
              <a:ext cx="3603916" cy="764103"/>
            </a:xfrm>
            <a:custGeom>
              <a:avLst/>
              <a:gdLst/>
              <a:ahLst/>
              <a:cxnLst/>
              <a:rect l="l" t="t" r="r" b="b"/>
              <a:pathLst>
                <a:path w="3603916" h="764103">
                  <a:moveTo>
                    <a:pt x="28855" y="0"/>
                  </a:moveTo>
                  <a:lnTo>
                    <a:pt x="3575061" y="0"/>
                  </a:lnTo>
                  <a:cubicBezTo>
                    <a:pt x="3590997" y="0"/>
                    <a:pt x="3603916" y="12919"/>
                    <a:pt x="3603916" y="28855"/>
                  </a:cubicBezTo>
                  <a:lnTo>
                    <a:pt x="3603916" y="735248"/>
                  </a:lnTo>
                  <a:cubicBezTo>
                    <a:pt x="3603916" y="742901"/>
                    <a:pt x="3600876" y="750240"/>
                    <a:pt x="3595464" y="755652"/>
                  </a:cubicBezTo>
                  <a:cubicBezTo>
                    <a:pt x="3590053" y="761063"/>
                    <a:pt x="3582713" y="764103"/>
                    <a:pt x="3575061" y="764103"/>
                  </a:cubicBezTo>
                  <a:lnTo>
                    <a:pt x="28855" y="764103"/>
                  </a:lnTo>
                  <a:cubicBezTo>
                    <a:pt x="21202" y="764103"/>
                    <a:pt x="13863" y="761063"/>
                    <a:pt x="8451" y="755652"/>
                  </a:cubicBezTo>
                  <a:cubicBezTo>
                    <a:pt x="3040" y="750240"/>
                    <a:pt x="0" y="742901"/>
                    <a:pt x="0" y="735248"/>
                  </a:cubicBezTo>
                  <a:lnTo>
                    <a:pt x="0" y="28855"/>
                  </a:lnTo>
                  <a:cubicBezTo>
                    <a:pt x="0" y="12919"/>
                    <a:pt x="12919" y="0"/>
                    <a:pt x="28855" y="0"/>
                  </a:cubicBezTo>
                  <a:close/>
                </a:path>
              </a:pathLst>
            </a:custGeom>
            <a:solidFill>
              <a:srgbClr val="0093B9"/>
            </a:solidFill>
          </p:spPr>
          <p:txBody>
            <a:bodyPr/>
            <a:lstStyle/>
            <a:p>
              <a:endParaRPr lang="zh-TW" altLang="en-US"/>
            </a:p>
          </p:txBody>
        </p:sp>
        <p:sp>
          <p:nvSpPr>
            <p:cNvPr id="15" name="TextBox 15"/>
            <p:cNvSpPr txBox="1"/>
            <p:nvPr/>
          </p:nvSpPr>
          <p:spPr>
            <a:xfrm>
              <a:off x="0" y="-38100"/>
              <a:ext cx="3603915" cy="802203"/>
            </a:xfrm>
            <a:prstGeom prst="rect">
              <a:avLst/>
            </a:prstGeom>
          </p:spPr>
          <p:txBody>
            <a:bodyPr lIns="50800" tIns="50800" rIns="50800" bIns="50800" rtlCol="0" anchor="ctr"/>
            <a:lstStyle/>
            <a:p>
              <a:pPr algn="ctr">
                <a:lnSpc>
                  <a:spcPts val="2120"/>
                </a:lnSpc>
              </a:pPr>
              <a:endParaRPr/>
            </a:p>
          </p:txBody>
        </p:sp>
      </p:grpSp>
      <p:sp>
        <p:nvSpPr>
          <p:cNvPr id="16" name="TextBox 16"/>
          <p:cNvSpPr txBox="1"/>
          <p:nvPr/>
        </p:nvSpPr>
        <p:spPr>
          <a:xfrm>
            <a:off x="7514071" y="447675"/>
            <a:ext cx="3259858" cy="1038225"/>
          </a:xfrm>
          <a:prstGeom prst="rect">
            <a:avLst/>
          </a:prstGeom>
        </p:spPr>
        <p:txBody>
          <a:bodyPr lIns="0" tIns="0" rIns="0" bIns="0" rtlCol="0" anchor="t">
            <a:spAutoFit/>
          </a:bodyPr>
          <a:lstStyle/>
          <a:p>
            <a:pPr algn="l">
              <a:lnSpc>
                <a:spcPts val="8400"/>
              </a:lnSpc>
              <a:spcBef>
                <a:spcPct val="0"/>
              </a:spcBef>
            </a:pPr>
            <a:r>
              <a:rPr lang="en-US" sz="6000">
                <a:solidFill>
                  <a:srgbClr val="000000"/>
                </a:solidFill>
                <a:latin typeface="Quicksand"/>
                <a:ea typeface="Quicksand"/>
                <a:cs typeface="Quicksand"/>
                <a:sym typeface="Quicksand"/>
              </a:rPr>
              <a:t>獲利方式</a:t>
            </a:r>
          </a:p>
        </p:txBody>
      </p:sp>
      <p:sp>
        <p:nvSpPr>
          <p:cNvPr id="17" name="TextBox 17"/>
          <p:cNvSpPr txBox="1"/>
          <p:nvPr/>
        </p:nvSpPr>
        <p:spPr>
          <a:xfrm>
            <a:off x="2852685" y="1961794"/>
            <a:ext cx="4423880" cy="976806"/>
          </a:xfrm>
          <a:prstGeom prst="rect">
            <a:avLst/>
          </a:prstGeom>
        </p:spPr>
        <p:txBody>
          <a:bodyPr wrap="square" lIns="0" tIns="0" rIns="0" bIns="0" rtlCol="0" anchor="t">
            <a:spAutoFit/>
          </a:bodyPr>
          <a:lstStyle/>
          <a:p>
            <a:pPr algn="ctr">
              <a:lnSpc>
                <a:spcPts val="7897"/>
              </a:lnSpc>
              <a:spcBef>
                <a:spcPct val="0"/>
              </a:spcBef>
            </a:pPr>
            <a:r>
              <a:rPr lang="en-US" sz="5640" b="1" dirty="0">
                <a:solidFill>
                  <a:srgbClr val="FFFFFF"/>
                </a:solidFill>
                <a:latin typeface="Atma Medium"/>
                <a:ea typeface="Atma Medium"/>
                <a:cs typeface="Atma Medium"/>
                <a:sym typeface="Atma Medium"/>
              </a:rPr>
              <a:t> </a:t>
            </a:r>
            <a:r>
              <a:rPr lang="en-US" sz="5640" b="1" dirty="0" err="1">
                <a:solidFill>
                  <a:srgbClr val="FFFFFF"/>
                </a:solidFill>
                <a:latin typeface="Atma Medium"/>
                <a:ea typeface="Atma Medium"/>
                <a:cs typeface="Atma Medium"/>
                <a:sym typeface="Atma Medium"/>
              </a:rPr>
              <a:t>對象:商家</a:t>
            </a:r>
            <a:endParaRPr lang="en-US" sz="5640" b="1" dirty="0">
              <a:solidFill>
                <a:srgbClr val="FFFFFF"/>
              </a:solidFill>
              <a:latin typeface="Atma Medium"/>
              <a:ea typeface="Atma Medium"/>
              <a:cs typeface="Atma Medium"/>
              <a:sym typeface="Atma Medium"/>
            </a:endParaRPr>
          </a:p>
        </p:txBody>
      </p:sp>
      <p:grpSp>
        <p:nvGrpSpPr>
          <p:cNvPr id="18" name="Group 18"/>
          <p:cNvGrpSpPr/>
          <p:nvPr/>
        </p:nvGrpSpPr>
        <p:grpSpPr>
          <a:xfrm>
            <a:off x="2852689" y="6986683"/>
            <a:ext cx="13683617" cy="2901204"/>
            <a:chOff x="0" y="0"/>
            <a:chExt cx="3603915" cy="764103"/>
          </a:xfrm>
        </p:grpSpPr>
        <p:sp>
          <p:nvSpPr>
            <p:cNvPr id="19" name="Freeform 19"/>
            <p:cNvSpPr/>
            <p:nvPr/>
          </p:nvSpPr>
          <p:spPr>
            <a:xfrm>
              <a:off x="0" y="0"/>
              <a:ext cx="3603916" cy="764103"/>
            </a:xfrm>
            <a:custGeom>
              <a:avLst/>
              <a:gdLst/>
              <a:ahLst/>
              <a:cxnLst/>
              <a:rect l="l" t="t" r="r" b="b"/>
              <a:pathLst>
                <a:path w="3603916" h="764103">
                  <a:moveTo>
                    <a:pt x="28855" y="0"/>
                  </a:moveTo>
                  <a:lnTo>
                    <a:pt x="3575061" y="0"/>
                  </a:lnTo>
                  <a:cubicBezTo>
                    <a:pt x="3590997" y="0"/>
                    <a:pt x="3603916" y="12919"/>
                    <a:pt x="3603916" y="28855"/>
                  </a:cubicBezTo>
                  <a:lnTo>
                    <a:pt x="3603916" y="735248"/>
                  </a:lnTo>
                  <a:cubicBezTo>
                    <a:pt x="3603916" y="742901"/>
                    <a:pt x="3600876" y="750240"/>
                    <a:pt x="3595464" y="755652"/>
                  </a:cubicBezTo>
                  <a:cubicBezTo>
                    <a:pt x="3590053" y="761063"/>
                    <a:pt x="3582713" y="764103"/>
                    <a:pt x="3575061" y="764103"/>
                  </a:cubicBezTo>
                  <a:lnTo>
                    <a:pt x="28855" y="764103"/>
                  </a:lnTo>
                  <a:cubicBezTo>
                    <a:pt x="21202" y="764103"/>
                    <a:pt x="13863" y="761063"/>
                    <a:pt x="8451" y="755652"/>
                  </a:cubicBezTo>
                  <a:cubicBezTo>
                    <a:pt x="3040" y="750240"/>
                    <a:pt x="0" y="742901"/>
                    <a:pt x="0" y="735248"/>
                  </a:cubicBezTo>
                  <a:lnTo>
                    <a:pt x="0" y="28855"/>
                  </a:lnTo>
                  <a:cubicBezTo>
                    <a:pt x="0" y="12919"/>
                    <a:pt x="12919" y="0"/>
                    <a:pt x="28855" y="0"/>
                  </a:cubicBezTo>
                  <a:close/>
                </a:path>
              </a:pathLst>
            </a:custGeom>
            <a:solidFill>
              <a:srgbClr val="98C1D9"/>
            </a:solidFill>
          </p:spPr>
          <p:txBody>
            <a:bodyPr/>
            <a:lstStyle/>
            <a:p>
              <a:endParaRPr lang="zh-TW" altLang="en-US"/>
            </a:p>
          </p:txBody>
        </p:sp>
        <p:sp>
          <p:nvSpPr>
            <p:cNvPr id="20" name="TextBox 20"/>
            <p:cNvSpPr txBox="1"/>
            <p:nvPr/>
          </p:nvSpPr>
          <p:spPr>
            <a:xfrm>
              <a:off x="0" y="-38100"/>
              <a:ext cx="3603915" cy="802203"/>
            </a:xfrm>
            <a:prstGeom prst="rect">
              <a:avLst/>
            </a:prstGeom>
          </p:spPr>
          <p:txBody>
            <a:bodyPr lIns="50800" tIns="50800" rIns="50800" bIns="50800" rtlCol="0" anchor="ctr"/>
            <a:lstStyle/>
            <a:p>
              <a:pPr algn="ctr">
                <a:lnSpc>
                  <a:spcPts val="2120"/>
                </a:lnSpc>
              </a:pPr>
              <a:endParaRPr/>
            </a:p>
          </p:txBody>
        </p:sp>
      </p:grpSp>
      <p:sp>
        <p:nvSpPr>
          <p:cNvPr id="21" name="TextBox 21"/>
          <p:cNvSpPr txBox="1"/>
          <p:nvPr/>
        </p:nvSpPr>
        <p:spPr>
          <a:xfrm>
            <a:off x="15191677"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2" name="TextBox 22"/>
          <p:cNvSpPr txBox="1"/>
          <p:nvPr/>
        </p:nvSpPr>
        <p:spPr>
          <a:xfrm>
            <a:off x="3353121" y="9005650"/>
            <a:ext cx="11170573" cy="712470"/>
          </a:xfrm>
          <a:prstGeom prst="rect">
            <a:avLst/>
          </a:prstGeom>
        </p:spPr>
        <p:txBody>
          <a:bodyPr lIns="0" tIns="0" rIns="0" bIns="0" rtlCol="0" anchor="t">
            <a:spAutoFit/>
          </a:bodyPr>
          <a:lstStyle/>
          <a:p>
            <a:pPr algn="ctr">
              <a:lnSpc>
                <a:spcPts val="5880"/>
              </a:lnSpc>
              <a:spcBef>
                <a:spcPct val="0"/>
              </a:spcBef>
            </a:pPr>
            <a:r>
              <a:rPr lang="en-US" sz="4200" b="1" dirty="0">
                <a:solidFill>
                  <a:srgbClr val="FFFFFF"/>
                </a:solidFill>
                <a:latin typeface="Atma Medium"/>
                <a:ea typeface="Atma Medium"/>
                <a:cs typeface="Atma Medium"/>
                <a:sym typeface="Atma Medium"/>
              </a:rPr>
              <a:t>600/1個月</a:t>
            </a:r>
          </a:p>
        </p:txBody>
      </p:sp>
      <p:grpSp>
        <p:nvGrpSpPr>
          <p:cNvPr id="23" name="Group 23"/>
          <p:cNvGrpSpPr/>
          <p:nvPr/>
        </p:nvGrpSpPr>
        <p:grpSpPr>
          <a:xfrm>
            <a:off x="2852689" y="6180645"/>
            <a:ext cx="13683617" cy="2901204"/>
            <a:chOff x="0" y="0"/>
            <a:chExt cx="3603915" cy="764103"/>
          </a:xfrm>
        </p:grpSpPr>
        <p:sp>
          <p:nvSpPr>
            <p:cNvPr id="24" name="Freeform 24"/>
            <p:cNvSpPr/>
            <p:nvPr/>
          </p:nvSpPr>
          <p:spPr>
            <a:xfrm>
              <a:off x="0" y="0"/>
              <a:ext cx="3603916" cy="764103"/>
            </a:xfrm>
            <a:custGeom>
              <a:avLst/>
              <a:gdLst/>
              <a:ahLst/>
              <a:cxnLst/>
              <a:rect l="l" t="t" r="r" b="b"/>
              <a:pathLst>
                <a:path w="3603916" h="764103">
                  <a:moveTo>
                    <a:pt x="28855" y="0"/>
                  </a:moveTo>
                  <a:lnTo>
                    <a:pt x="3575061" y="0"/>
                  </a:lnTo>
                  <a:cubicBezTo>
                    <a:pt x="3590997" y="0"/>
                    <a:pt x="3603916" y="12919"/>
                    <a:pt x="3603916" y="28855"/>
                  </a:cubicBezTo>
                  <a:lnTo>
                    <a:pt x="3603916" y="735248"/>
                  </a:lnTo>
                  <a:cubicBezTo>
                    <a:pt x="3603916" y="742901"/>
                    <a:pt x="3600876" y="750240"/>
                    <a:pt x="3595464" y="755652"/>
                  </a:cubicBezTo>
                  <a:cubicBezTo>
                    <a:pt x="3590053" y="761063"/>
                    <a:pt x="3582713" y="764103"/>
                    <a:pt x="3575061" y="764103"/>
                  </a:cubicBezTo>
                  <a:lnTo>
                    <a:pt x="28855" y="764103"/>
                  </a:lnTo>
                  <a:cubicBezTo>
                    <a:pt x="21202" y="764103"/>
                    <a:pt x="13863" y="761063"/>
                    <a:pt x="8451" y="755652"/>
                  </a:cubicBezTo>
                  <a:cubicBezTo>
                    <a:pt x="3040" y="750240"/>
                    <a:pt x="0" y="742901"/>
                    <a:pt x="0" y="735248"/>
                  </a:cubicBezTo>
                  <a:lnTo>
                    <a:pt x="0" y="28855"/>
                  </a:lnTo>
                  <a:cubicBezTo>
                    <a:pt x="0" y="12919"/>
                    <a:pt x="12919" y="0"/>
                    <a:pt x="28855" y="0"/>
                  </a:cubicBezTo>
                  <a:close/>
                </a:path>
              </a:pathLst>
            </a:custGeom>
            <a:solidFill>
              <a:srgbClr val="0093B9"/>
            </a:solidFill>
          </p:spPr>
          <p:txBody>
            <a:bodyPr/>
            <a:lstStyle/>
            <a:p>
              <a:endParaRPr lang="zh-TW" altLang="en-US"/>
            </a:p>
          </p:txBody>
        </p:sp>
        <p:sp>
          <p:nvSpPr>
            <p:cNvPr id="25" name="TextBox 25"/>
            <p:cNvSpPr txBox="1"/>
            <p:nvPr/>
          </p:nvSpPr>
          <p:spPr>
            <a:xfrm>
              <a:off x="0" y="-38100"/>
              <a:ext cx="3603915" cy="802203"/>
            </a:xfrm>
            <a:prstGeom prst="rect">
              <a:avLst/>
            </a:prstGeom>
          </p:spPr>
          <p:txBody>
            <a:bodyPr lIns="50800" tIns="50800" rIns="50800" bIns="50800" rtlCol="0" anchor="ctr"/>
            <a:lstStyle/>
            <a:p>
              <a:pPr algn="ctr">
                <a:lnSpc>
                  <a:spcPts val="2120"/>
                </a:lnSpc>
              </a:pPr>
              <a:endParaRPr/>
            </a:p>
          </p:txBody>
        </p:sp>
      </p:grpSp>
      <p:sp>
        <p:nvSpPr>
          <p:cNvPr id="26" name="TextBox 26"/>
          <p:cNvSpPr txBox="1"/>
          <p:nvPr/>
        </p:nvSpPr>
        <p:spPr>
          <a:xfrm>
            <a:off x="2297749" y="6402106"/>
            <a:ext cx="5333233" cy="976806"/>
          </a:xfrm>
          <a:prstGeom prst="rect">
            <a:avLst/>
          </a:prstGeom>
        </p:spPr>
        <p:txBody>
          <a:bodyPr wrap="square" lIns="0" tIns="0" rIns="0" bIns="0" rtlCol="0" anchor="t">
            <a:spAutoFit/>
          </a:bodyPr>
          <a:lstStyle/>
          <a:p>
            <a:pPr algn="ctr">
              <a:lnSpc>
                <a:spcPts val="7897"/>
              </a:lnSpc>
              <a:spcBef>
                <a:spcPct val="0"/>
              </a:spcBef>
            </a:pPr>
            <a:r>
              <a:rPr lang="en-US" sz="5640" b="1" dirty="0">
                <a:solidFill>
                  <a:srgbClr val="FFFFFF"/>
                </a:solidFill>
                <a:latin typeface="Atma Medium"/>
                <a:ea typeface="Atma Medium"/>
                <a:cs typeface="Atma Medium"/>
                <a:sym typeface="Atma Medium"/>
              </a:rPr>
              <a:t> </a:t>
            </a:r>
            <a:r>
              <a:rPr lang="en-US" sz="5640" b="1" dirty="0" err="1">
                <a:solidFill>
                  <a:srgbClr val="FFFFFF"/>
                </a:solidFill>
                <a:latin typeface="Atma Medium"/>
                <a:ea typeface="Atma Medium"/>
                <a:cs typeface="Atma Medium"/>
                <a:sym typeface="Atma Medium"/>
              </a:rPr>
              <a:t>對象:企業</a:t>
            </a:r>
            <a:endParaRPr lang="en-US" sz="5640" b="1" dirty="0">
              <a:solidFill>
                <a:srgbClr val="FFFFFF"/>
              </a:solidFill>
              <a:latin typeface="Atma Medium"/>
              <a:ea typeface="Atma Medium"/>
              <a:cs typeface="Atma Medium"/>
              <a:sym typeface="Atma Medium"/>
            </a:endParaRPr>
          </a:p>
        </p:txBody>
      </p:sp>
      <p:sp>
        <p:nvSpPr>
          <p:cNvPr id="27" name="TextBox 27"/>
          <p:cNvSpPr txBox="1"/>
          <p:nvPr/>
        </p:nvSpPr>
        <p:spPr>
          <a:xfrm>
            <a:off x="4418041" y="3108367"/>
            <a:ext cx="11888759" cy="1485663"/>
          </a:xfrm>
          <a:prstGeom prst="rect">
            <a:avLst/>
          </a:prstGeom>
        </p:spPr>
        <p:txBody>
          <a:bodyPr wrap="square" lIns="0" tIns="0" rIns="0" bIns="0" rtlCol="0" anchor="t">
            <a:spAutoFit/>
          </a:bodyPr>
          <a:lstStyle/>
          <a:p>
            <a:pPr algn="ctr">
              <a:lnSpc>
                <a:spcPts val="5880"/>
              </a:lnSpc>
              <a:spcBef>
                <a:spcPct val="0"/>
              </a:spcBef>
            </a:pPr>
            <a:r>
              <a:rPr lang="en-US" sz="4200" b="1" dirty="0" err="1">
                <a:solidFill>
                  <a:srgbClr val="FFFFFF"/>
                </a:solidFill>
                <a:latin typeface="Atma Medium"/>
                <a:ea typeface="Atma Medium"/>
                <a:cs typeface="Atma Medium"/>
                <a:sym typeface="Atma Medium"/>
              </a:rPr>
              <a:t>向走入一定範圍內的使用者推播商家活動</a:t>
            </a:r>
            <a:r>
              <a:rPr lang="en-US" sz="4200" b="1" dirty="0">
                <a:solidFill>
                  <a:srgbClr val="FFFFFF"/>
                </a:solidFill>
                <a:latin typeface="Atma Medium"/>
                <a:ea typeface="Atma Medium"/>
                <a:cs typeface="Atma Medium"/>
                <a:sym typeface="Atma Medium"/>
              </a:rPr>
              <a:t>/</a:t>
            </a:r>
            <a:r>
              <a:rPr lang="en-US" sz="4200" b="1" dirty="0" err="1">
                <a:solidFill>
                  <a:srgbClr val="FFFFFF"/>
                </a:solidFill>
                <a:latin typeface="Atma Medium"/>
                <a:ea typeface="Atma Medium"/>
                <a:cs typeface="Atma Medium"/>
                <a:sym typeface="Atma Medium"/>
              </a:rPr>
              <a:t>訊息</a:t>
            </a:r>
            <a:endParaRPr lang="en-US" sz="4200" b="1" dirty="0">
              <a:solidFill>
                <a:srgbClr val="FFFFFF"/>
              </a:solidFill>
              <a:latin typeface="Atma Medium"/>
              <a:ea typeface="Atma Medium"/>
              <a:cs typeface="Atma Medium"/>
              <a:sym typeface="Atma Medium"/>
            </a:endParaRPr>
          </a:p>
          <a:p>
            <a:pPr algn="l">
              <a:lnSpc>
                <a:spcPts val="5880"/>
              </a:lnSpc>
              <a:spcBef>
                <a:spcPct val="0"/>
              </a:spcBef>
            </a:pPr>
            <a:r>
              <a:rPr lang="en-US" sz="4200" dirty="0" err="1">
                <a:solidFill>
                  <a:srgbClr val="FFFFFF"/>
                </a:solidFill>
                <a:latin typeface="Atma"/>
                <a:ea typeface="Atma"/>
                <a:cs typeface="Atma"/>
                <a:sym typeface="Atma"/>
              </a:rPr>
              <a:t>吸引使用者走入商家消費</a:t>
            </a:r>
            <a:endParaRPr lang="en-US" sz="4200" dirty="0">
              <a:solidFill>
                <a:srgbClr val="FFFFFF"/>
              </a:solidFill>
              <a:latin typeface="Atma"/>
              <a:ea typeface="Atma"/>
              <a:cs typeface="Atma"/>
              <a:sym typeface="Atma"/>
            </a:endParaRPr>
          </a:p>
        </p:txBody>
      </p:sp>
      <p:sp>
        <p:nvSpPr>
          <p:cNvPr id="28" name="TextBox 28"/>
          <p:cNvSpPr txBox="1"/>
          <p:nvPr/>
        </p:nvSpPr>
        <p:spPr>
          <a:xfrm>
            <a:off x="6403194" y="7335522"/>
            <a:ext cx="8741470" cy="1455420"/>
          </a:xfrm>
          <a:prstGeom prst="rect">
            <a:avLst/>
          </a:prstGeom>
        </p:spPr>
        <p:txBody>
          <a:bodyPr lIns="0" tIns="0" rIns="0" bIns="0" rtlCol="0" anchor="t">
            <a:spAutoFit/>
          </a:bodyPr>
          <a:lstStyle/>
          <a:p>
            <a:pPr algn="ctr">
              <a:lnSpc>
                <a:spcPts val="5880"/>
              </a:lnSpc>
            </a:pPr>
            <a:r>
              <a:rPr lang="en-US" sz="4200" dirty="0" err="1">
                <a:solidFill>
                  <a:srgbClr val="FFFFFF"/>
                </a:solidFill>
                <a:latin typeface="Atma"/>
                <a:ea typeface="Atma"/>
                <a:cs typeface="Atma"/>
                <a:sym typeface="Atma"/>
              </a:rPr>
              <a:t>將企業想散播之訊息</a:t>
            </a:r>
            <a:r>
              <a:rPr lang="en-US" sz="4200" dirty="0">
                <a:solidFill>
                  <a:srgbClr val="FFFFFF"/>
                </a:solidFill>
                <a:latin typeface="Atma"/>
                <a:ea typeface="Atma"/>
                <a:cs typeface="Atma"/>
                <a:sym typeface="Atma"/>
              </a:rPr>
              <a:t>/logo  </a:t>
            </a:r>
            <a:r>
              <a:rPr lang="en-US" sz="4200" dirty="0" err="1">
                <a:solidFill>
                  <a:srgbClr val="FFFFFF"/>
                </a:solidFill>
                <a:latin typeface="Atma"/>
                <a:ea typeface="Atma"/>
                <a:cs typeface="Atma"/>
                <a:sym typeface="Atma"/>
              </a:rPr>
              <a:t>嵌入系統中</a:t>
            </a:r>
            <a:endParaRPr lang="en-US" sz="4200" dirty="0">
              <a:solidFill>
                <a:srgbClr val="FFFFFF"/>
              </a:solidFill>
              <a:latin typeface="Atma"/>
              <a:ea typeface="Atma"/>
              <a:cs typeface="Atma"/>
              <a:sym typeface="Atma"/>
            </a:endParaRPr>
          </a:p>
          <a:p>
            <a:pPr algn="l">
              <a:lnSpc>
                <a:spcPts val="5880"/>
              </a:lnSpc>
              <a:spcBef>
                <a:spcPct val="0"/>
              </a:spcBef>
            </a:pPr>
            <a:r>
              <a:rPr lang="en-US" sz="4200" dirty="0" err="1">
                <a:solidFill>
                  <a:srgbClr val="FFFFFF"/>
                </a:solidFill>
                <a:latin typeface="Atma"/>
                <a:ea typeface="Atma"/>
                <a:cs typeface="Atma"/>
                <a:sym typeface="Atma"/>
              </a:rPr>
              <a:t>提升企業形象</a:t>
            </a:r>
            <a:endParaRPr lang="en-US" sz="4200" dirty="0">
              <a:solidFill>
                <a:srgbClr val="FFFFFF"/>
              </a:solidFill>
              <a:latin typeface="Atma"/>
              <a:ea typeface="Atma"/>
              <a:cs typeface="Atma"/>
              <a:sym typeface="Atma"/>
            </a:endParaRPr>
          </a:p>
        </p:txBody>
      </p:sp>
      <p:sp>
        <p:nvSpPr>
          <p:cNvPr id="29" name="TextBox 29"/>
          <p:cNvSpPr txBox="1"/>
          <p:nvPr/>
        </p:nvSpPr>
        <p:spPr>
          <a:xfrm>
            <a:off x="3090191" y="5014719"/>
            <a:ext cx="11170573" cy="712470"/>
          </a:xfrm>
          <a:prstGeom prst="rect">
            <a:avLst/>
          </a:prstGeom>
        </p:spPr>
        <p:txBody>
          <a:bodyPr lIns="0" tIns="0" rIns="0" bIns="0" rtlCol="0" anchor="t">
            <a:spAutoFit/>
          </a:bodyPr>
          <a:lstStyle/>
          <a:p>
            <a:pPr algn="ctr">
              <a:lnSpc>
                <a:spcPts val="5880"/>
              </a:lnSpc>
              <a:spcBef>
                <a:spcPct val="0"/>
              </a:spcBef>
            </a:pPr>
            <a:r>
              <a:rPr lang="en-US" sz="4200" b="1" dirty="0" err="1">
                <a:solidFill>
                  <a:srgbClr val="FFFFFF"/>
                </a:solidFill>
                <a:latin typeface="Atma Medium"/>
                <a:ea typeface="Atma Medium"/>
                <a:cs typeface="Atma Medium"/>
                <a:sym typeface="Atma Medium"/>
              </a:rPr>
              <a:t>以指定地點五公里內投放廣告</a:t>
            </a:r>
            <a:r>
              <a:rPr lang="en-US" sz="4200" b="1" dirty="0">
                <a:solidFill>
                  <a:srgbClr val="FFFFFF"/>
                </a:solidFill>
                <a:latin typeface="Atma Medium"/>
                <a:ea typeface="Atma Medium"/>
                <a:cs typeface="Atma Medium"/>
                <a:sym typeface="Atma Medium"/>
              </a:rPr>
              <a:t>   300/1個月</a:t>
            </a:r>
          </a:p>
        </p:txBody>
      </p:sp>
      <p:sp>
        <p:nvSpPr>
          <p:cNvPr id="31" name="投影片編號版面配置區 1">
            <a:extLst>
              <a:ext uri="{FF2B5EF4-FFF2-40B4-BE49-F238E27FC236}">
                <a16:creationId xmlns:a16="http://schemas.microsoft.com/office/drawing/2014/main" id="{67DABF26-ACD8-C864-8C3E-39B609554BEF}"/>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38</a:t>
            </a:fld>
            <a:endParaRPr lang="en-US" sz="4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9" name="TextBox 9"/>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en-US" sz="6396" b="1">
                <a:solidFill>
                  <a:srgbClr val="494F56"/>
                </a:solidFill>
                <a:latin typeface="Quicksand Bold"/>
                <a:ea typeface="Quicksand Bold"/>
                <a:cs typeface="Quicksand Bold"/>
                <a:sym typeface="Quicksand Bold"/>
              </a:rPr>
              <a:t>參考資料</a:t>
            </a:r>
          </a:p>
        </p:txBody>
      </p:sp>
      <p:sp>
        <p:nvSpPr>
          <p:cNvPr id="10" name="TextBox 10"/>
          <p:cNvSpPr txBox="1"/>
          <p:nvPr/>
        </p:nvSpPr>
        <p:spPr>
          <a:xfrm>
            <a:off x="1900876" y="1945655"/>
            <a:ext cx="11552211" cy="381454"/>
          </a:xfrm>
          <a:prstGeom prst="rect">
            <a:avLst/>
          </a:prstGeom>
        </p:spPr>
        <p:txBody>
          <a:bodyPr lIns="0" tIns="0" rIns="0" bIns="0" rtlCol="0" anchor="t">
            <a:spAutoFit/>
          </a:bodyPr>
          <a:lstStyle/>
          <a:p>
            <a:pPr algn="ctr">
              <a:lnSpc>
                <a:spcPts val="3101"/>
              </a:lnSpc>
              <a:spcBef>
                <a:spcPct val="0"/>
              </a:spcBef>
            </a:pPr>
            <a:r>
              <a:rPr lang="en-US" sz="2215" b="1" u="sng">
                <a:solidFill>
                  <a:srgbClr val="494F56"/>
                </a:solidFill>
                <a:latin typeface="Atma Medium"/>
                <a:ea typeface="Atma Medium"/>
                <a:cs typeface="Atma Medium"/>
                <a:sym typeface="Atma Medium"/>
                <a:hlinkClick r:id="rId4" tooltip="https://udn.com/news/story/7314/8766037?utm_source=yahoonews&amp;utm_medium=yahoo"/>
              </a:rPr>
              <a:t> 聯合報  </a:t>
            </a:r>
            <a:r>
              <a:rPr lang="en-US" sz="2215">
                <a:solidFill>
                  <a:srgbClr val="494F56"/>
                </a:solidFill>
                <a:latin typeface="Atma"/>
                <a:ea typeface="Atma"/>
                <a:cs typeface="Atma"/>
                <a:sym typeface="Atma"/>
              </a:rPr>
              <a:t> :</a:t>
            </a:r>
            <a:r>
              <a:rPr lang="en-US" sz="2215" b="1" u="sng">
                <a:solidFill>
                  <a:srgbClr val="494F56"/>
                </a:solidFill>
                <a:latin typeface="Atma Medium"/>
                <a:ea typeface="Atma Medium"/>
                <a:cs typeface="Atma Medium"/>
                <a:sym typeface="Atma Medium"/>
                <a:hlinkClick r:id="rId4" tooltip="https://udn.com/news/story/7314/8766037?utm_source=yahoonews&amp;utm_medium=yahoo"/>
              </a:rPr>
              <a:t>https://udn.com/news/story/7314/8766037?utm_source=yahoonews&amp;utm_medium=yahoo字</a:t>
            </a:r>
          </a:p>
        </p:txBody>
      </p:sp>
      <p:sp>
        <p:nvSpPr>
          <p:cNvPr id="11" name="TextBox 11"/>
          <p:cNvSpPr txBox="1"/>
          <p:nvPr/>
        </p:nvSpPr>
        <p:spPr>
          <a:xfrm>
            <a:off x="1900876" y="2805665"/>
            <a:ext cx="12284472" cy="381900"/>
          </a:xfrm>
          <a:prstGeom prst="rect">
            <a:avLst/>
          </a:prstGeom>
        </p:spPr>
        <p:txBody>
          <a:bodyPr lIns="0" tIns="0" rIns="0" bIns="0" rtlCol="0" anchor="t">
            <a:spAutoFit/>
          </a:bodyPr>
          <a:lstStyle/>
          <a:p>
            <a:pPr algn="ctr">
              <a:lnSpc>
                <a:spcPts val="3100"/>
              </a:lnSpc>
              <a:spcBef>
                <a:spcPct val="0"/>
              </a:spcBef>
            </a:pPr>
            <a:r>
              <a:rPr lang="en-US" sz="2214">
                <a:solidFill>
                  <a:srgbClr val="494F56"/>
                </a:solidFill>
                <a:latin typeface="Atma"/>
                <a:ea typeface="Atma"/>
                <a:cs typeface="Atma"/>
                <a:sym typeface="Atma"/>
              </a:rPr>
              <a:t>內政部警政署:  </a:t>
            </a:r>
            <a:r>
              <a:rPr lang="en-US" sz="2214" b="1" u="sng">
                <a:solidFill>
                  <a:srgbClr val="494F56"/>
                </a:solidFill>
                <a:latin typeface="Atma Medium"/>
                <a:ea typeface="Atma Medium"/>
                <a:cs typeface="Atma Medium"/>
                <a:sym typeface="Atma Medium"/>
                <a:hlinkClick r:id="rId5" tooltip="https://www.npa.gov.tw/ch/app/data/list?module=wg054&amp;id=2206"/>
              </a:rPr>
              <a:t>https://udn.com/news/story/7314/8766037?utm_source=yahoonews&amp;utm_medium=yahoo字</a:t>
            </a:r>
          </a:p>
        </p:txBody>
      </p:sp>
      <p:sp>
        <p:nvSpPr>
          <p:cNvPr id="12" name="TextBox 12"/>
          <p:cNvSpPr txBox="1"/>
          <p:nvPr/>
        </p:nvSpPr>
        <p:spPr>
          <a:xfrm>
            <a:off x="1937543" y="3663815"/>
            <a:ext cx="7206457" cy="381900"/>
          </a:xfrm>
          <a:prstGeom prst="rect">
            <a:avLst/>
          </a:prstGeom>
        </p:spPr>
        <p:txBody>
          <a:bodyPr lIns="0" tIns="0" rIns="0" bIns="0" rtlCol="0" anchor="t">
            <a:spAutoFit/>
          </a:bodyPr>
          <a:lstStyle/>
          <a:p>
            <a:pPr algn="ctr">
              <a:lnSpc>
                <a:spcPts val="3100"/>
              </a:lnSpc>
              <a:spcBef>
                <a:spcPct val="0"/>
              </a:spcBef>
            </a:pPr>
            <a:r>
              <a:rPr lang="en-US" sz="2214" u="sng">
                <a:solidFill>
                  <a:srgbClr val="494F56"/>
                </a:solidFill>
                <a:latin typeface="Atma"/>
                <a:ea typeface="Atma"/>
                <a:cs typeface="Atma"/>
                <a:sym typeface="Atma"/>
                <a:hlinkClick r:id="rId6" tooltip="https://www.youtube.com/watch?v=JgS_9FgAKXw"/>
              </a:rPr>
              <a:t>三立新聞網 :  https://www.youtube.com/watch?v=JgS_9FgAKXw </a:t>
            </a:r>
          </a:p>
        </p:txBody>
      </p:sp>
      <p:sp>
        <p:nvSpPr>
          <p:cNvPr id="13" name="TextBox 13"/>
          <p:cNvSpPr txBox="1"/>
          <p:nvPr/>
        </p:nvSpPr>
        <p:spPr>
          <a:xfrm>
            <a:off x="1900876" y="4521965"/>
            <a:ext cx="8023424" cy="381900"/>
          </a:xfrm>
          <a:prstGeom prst="rect">
            <a:avLst/>
          </a:prstGeom>
        </p:spPr>
        <p:txBody>
          <a:bodyPr lIns="0" tIns="0" rIns="0" bIns="0" rtlCol="0" anchor="t">
            <a:spAutoFit/>
          </a:bodyPr>
          <a:lstStyle/>
          <a:p>
            <a:pPr algn="ctr">
              <a:lnSpc>
                <a:spcPts val="3100"/>
              </a:lnSpc>
              <a:spcBef>
                <a:spcPct val="0"/>
              </a:spcBef>
            </a:pPr>
            <a:r>
              <a:rPr lang="en-US" sz="2214" u="sng">
                <a:solidFill>
                  <a:srgbClr val="494F56"/>
                </a:solidFill>
                <a:latin typeface="Atma"/>
                <a:ea typeface="Atma"/>
                <a:cs typeface="Atma"/>
                <a:sym typeface="Atma"/>
                <a:hlinkClick r:id="rId7" tooltip="https://www.nownews.com/news/6439951?utm_source=chatgpt.com"/>
              </a:rPr>
              <a:t>NOWnews今日新聞 :  https://www.youtube.com/watch?v=JgS_9FgAKXw </a:t>
            </a:r>
          </a:p>
        </p:txBody>
      </p:sp>
      <p:grpSp>
        <p:nvGrpSpPr>
          <p:cNvPr id="14" name="Group 14"/>
          <p:cNvGrpSpPr/>
          <p:nvPr/>
        </p:nvGrpSpPr>
        <p:grpSpPr>
          <a:xfrm rot="5400000">
            <a:off x="3474273" y="-4955840"/>
            <a:ext cx="11339454" cy="19920915"/>
            <a:chOff x="0" y="0"/>
            <a:chExt cx="2021507" cy="3551341"/>
          </a:xfrm>
        </p:grpSpPr>
        <p:sp>
          <p:nvSpPr>
            <p:cNvPr id="15" name="Freeform 15"/>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588157"/>
            </a:solidFill>
          </p:spPr>
          <p:txBody>
            <a:bodyPr/>
            <a:lstStyle/>
            <a:p>
              <a:endParaRPr lang="zh-TW" altLang="en-US"/>
            </a:p>
          </p:txBody>
        </p:sp>
        <p:sp>
          <p:nvSpPr>
            <p:cNvPr id="16" name="TextBox 16"/>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sp>
        <p:nvSpPr>
          <p:cNvPr id="17" name="TextBox 17"/>
          <p:cNvSpPr txBox="1"/>
          <p:nvPr/>
        </p:nvSpPr>
        <p:spPr>
          <a:xfrm>
            <a:off x="4244795" y="3952446"/>
            <a:ext cx="13014505" cy="1732426"/>
          </a:xfrm>
          <a:prstGeom prst="rect">
            <a:avLst/>
          </a:prstGeom>
        </p:spPr>
        <p:txBody>
          <a:bodyPr lIns="0" tIns="0" rIns="0" bIns="0" rtlCol="0" anchor="t">
            <a:spAutoFit/>
          </a:bodyPr>
          <a:lstStyle/>
          <a:p>
            <a:pPr algn="l">
              <a:lnSpc>
                <a:spcPts val="14287"/>
              </a:lnSpc>
              <a:spcBef>
                <a:spcPct val="0"/>
              </a:spcBef>
            </a:pPr>
            <a:r>
              <a:rPr lang="zh-TW" altLang="en-US" sz="10205" dirty="0">
                <a:solidFill>
                  <a:srgbClr val="FFFFFF"/>
                </a:solidFill>
                <a:latin typeface="Quicksand"/>
                <a:ea typeface="Quicksand"/>
                <a:cs typeface="Quicksand"/>
                <a:sym typeface="Quicksand"/>
              </a:rPr>
              <a:t>五</a:t>
            </a:r>
            <a:r>
              <a:rPr lang="en-US" sz="10205" dirty="0">
                <a:solidFill>
                  <a:srgbClr val="FFFFFF"/>
                </a:solidFill>
                <a:latin typeface="Quicksand"/>
                <a:ea typeface="Quicksand"/>
                <a:cs typeface="Quicksand"/>
                <a:sym typeface="Quicksand"/>
              </a:rPr>
              <a:t>. </a:t>
            </a:r>
            <a:r>
              <a:rPr lang="en-US" sz="10205" dirty="0" err="1">
                <a:solidFill>
                  <a:srgbClr val="FFFFFF"/>
                </a:solidFill>
                <a:latin typeface="Quicksand"/>
                <a:ea typeface="Quicksand"/>
                <a:cs typeface="Quicksand"/>
                <a:sym typeface="Quicksand"/>
              </a:rPr>
              <a:t>未來預期</a:t>
            </a:r>
            <a:endParaRPr lang="en-US" sz="10205" dirty="0">
              <a:solidFill>
                <a:srgbClr val="FFFFFF"/>
              </a:solidFill>
              <a:latin typeface="Quicksand"/>
              <a:ea typeface="Quicksand"/>
              <a:cs typeface="Quicksand"/>
              <a:sym typeface="Quicksand"/>
            </a:endParaRPr>
          </a:p>
        </p:txBody>
      </p:sp>
      <p:grpSp>
        <p:nvGrpSpPr>
          <p:cNvPr id="18" name="Group 18"/>
          <p:cNvGrpSpPr/>
          <p:nvPr/>
        </p:nvGrpSpPr>
        <p:grpSpPr>
          <a:xfrm rot="-10800000">
            <a:off x="-6596594" y="-277765"/>
            <a:ext cx="28734743" cy="2800992"/>
            <a:chOff x="0" y="0"/>
            <a:chExt cx="38312990" cy="3734656"/>
          </a:xfrm>
        </p:grpSpPr>
        <p:sp>
          <p:nvSpPr>
            <p:cNvPr id="19" name="Freeform 19"/>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21" name="Group 21"/>
          <p:cNvGrpSpPr/>
          <p:nvPr/>
        </p:nvGrpSpPr>
        <p:grpSpPr>
          <a:xfrm>
            <a:off x="-6409755" y="7486008"/>
            <a:ext cx="28734743" cy="2800992"/>
            <a:chOff x="0" y="0"/>
            <a:chExt cx="38312990" cy="3734656"/>
          </a:xfrm>
        </p:grpSpPr>
        <p:sp>
          <p:nvSpPr>
            <p:cNvPr id="22" name="Freeform 22"/>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3" name="Freeform 23"/>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4" name="投影片編號版面配置區 23">
            <a:extLst>
              <a:ext uri="{FF2B5EF4-FFF2-40B4-BE49-F238E27FC236}">
                <a16:creationId xmlns:a16="http://schemas.microsoft.com/office/drawing/2014/main" id="{0CD3C583-1AC8-EC28-BDA8-83A69FAD577E}"/>
              </a:ext>
            </a:extLst>
          </p:cNvPr>
          <p:cNvSpPr>
            <a:spLocks noGrp="1"/>
          </p:cNvSpPr>
          <p:nvPr>
            <p:ph type="sldNum" sz="quarter" idx="12"/>
          </p:nvPr>
        </p:nvSpPr>
        <p:spPr/>
        <p:txBody>
          <a:bodyPr/>
          <a:lstStyle/>
          <a:p>
            <a:fld id="{B6F15528-21DE-4FAA-801E-634DDDAF4B2B}" type="slidenum">
              <a:rPr lang="en-US" smtClean="0"/>
              <a:pPr/>
              <a:t>39</a:t>
            </a:fld>
            <a:endParaRPr lang="en-US" dirty="0"/>
          </a:p>
        </p:txBody>
      </p:sp>
      <p:sp>
        <p:nvSpPr>
          <p:cNvPr id="25" name="投影片編號版面配置區 1">
            <a:extLst>
              <a:ext uri="{FF2B5EF4-FFF2-40B4-BE49-F238E27FC236}">
                <a16:creationId xmlns:a16="http://schemas.microsoft.com/office/drawing/2014/main" id="{5F83F53E-16BF-D5B3-1FDB-93F12834238C}"/>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solidFill>
                  <a:schemeClr val="bg1"/>
                </a:solidFill>
              </a:rPr>
              <a:pPr/>
              <a:t>39</a:t>
            </a:fld>
            <a:endParaRPr lang="en-US" sz="4400" dirty="0">
              <a:solidFill>
                <a:schemeClr val="bg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510256" y="-342401"/>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9" name="Freeform 9"/>
          <p:cNvSpPr/>
          <p:nvPr/>
        </p:nvSpPr>
        <p:spPr>
          <a:xfrm rot="9862457">
            <a:off x="-4016482" y="-2860877"/>
            <a:ext cx="21704725" cy="15390623"/>
          </a:xfrm>
          <a:custGeom>
            <a:avLst/>
            <a:gdLst/>
            <a:ahLst/>
            <a:cxnLst/>
            <a:rect l="l" t="t" r="r" b="b"/>
            <a:pathLst>
              <a:path w="21704725" h="15390623">
                <a:moveTo>
                  <a:pt x="0" y="0"/>
                </a:moveTo>
                <a:lnTo>
                  <a:pt x="21704725" y="0"/>
                </a:lnTo>
                <a:lnTo>
                  <a:pt x="21704725" y="15390623"/>
                </a:lnTo>
                <a:lnTo>
                  <a:pt x="0" y="153906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TextBox 10"/>
          <p:cNvSpPr txBox="1"/>
          <p:nvPr/>
        </p:nvSpPr>
        <p:spPr>
          <a:xfrm>
            <a:off x="1028700" y="447675"/>
            <a:ext cx="3259858" cy="1038225"/>
          </a:xfrm>
          <a:prstGeom prst="rect">
            <a:avLst/>
          </a:prstGeom>
        </p:spPr>
        <p:txBody>
          <a:bodyPr lIns="0" tIns="0" rIns="0" bIns="0" rtlCol="0" anchor="t">
            <a:spAutoFit/>
          </a:bodyPr>
          <a:lstStyle/>
          <a:p>
            <a:pPr algn="l">
              <a:lnSpc>
                <a:spcPts val="8400"/>
              </a:lnSpc>
              <a:spcBef>
                <a:spcPct val="0"/>
              </a:spcBef>
            </a:pPr>
            <a:r>
              <a:rPr lang="en-US" sz="6000">
                <a:solidFill>
                  <a:srgbClr val="000000"/>
                </a:solidFill>
                <a:latin typeface="Quicksand"/>
                <a:ea typeface="Quicksand"/>
                <a:cs typeface="Quicksand"/>
                <a:sym typeface="Quicksand"/>
              </a:rPr>
              <a:t>未來預期</a:t>
            </a:r>
          </a:p>
        </p:txBody>
      </p:sp>
      <p:grpSp>
        <p:nvGrpSpPr>
          <p:cNvPr id="11" name="Group 11"/>
          <p:cNvGrpSpPr/>
          <p:nvPr/>
        </p:nvGrpSpPr>
        <p:grpSpPr>
          <a:xfrm>
            <a:off x="1028700" y="1485900"/>
            <a:ext cx="8115300" cy="3270257"/>
            <a:chOff x="0" y="0"/>
            <a:chExt cx="2137363" cy="861302"/>
          </a:xfrm>
        </p:grpSpPr>
        <p:sp>
          <p:nvSpPr>
            <p:cNvPr id="12" name="Freeform 12"/>
            <p:cNvSpPr/>
            <p:nvPr/>
          </p:nvSpPr>
          <p:spPr>
            <a:xfrm>
              <a:off x="0" y="0"/>
              <a:ext cx="2137363" cy="861302"/>
            </a:xfrm>
            <a:custGeom>
              <a:avLst/>
              <a:gdLst/>
              <a:ahLst/>
              <a:cxnLst/>
              <a:rect l="l" t="t" r="r" b="b"/>
              <a:pathLst>
                <a:path w="2137363" h="861302">
                  <a:moveTo>
                    <a:pt x="48654" y="0"/>
                  </a:moveTo>
                  <a:lnTo>
                    <a:pt x="2088710" y="0"/>
                  </a:lnTo>
                  <a:cubicBezTo>
                    <a:pt x="2115580" y="0"/>
                    <a:pt x="2137363" y="21783"/>
                    <a:pt x="2137363" y="48654"/>
                  </a:cubicBezTo>
                  <a:lnTo>
                    <a:pt x="2137363" y="812649"/>
                  </a:lnTo>
                  <a:cubicBezTo>
                    <a:pt x="2137363" y="839519"/>
                    <a:pt x="2115580" y="861302"/>
                    <a:pt x="2088710" y="861302"/>
                  </a:cubicBezTo>
                  <a:lnTo>
                    <a:pt x="48654" y="861302"/>
                  </a:lnTo>
                  <a:cubicBezTo>
                    <a:pt x="21783" y="861302"/>
                    <a:pt x="0" y="839519"/>
                    <a:pt x="0" y="812649"/>
                  </a:cubicBezTo>
                  <a:lnTo>
                    <a:pt x="0" y="48654"/>
                  </a:lnTo>
                  <a:cubicBezTo>
                    <a:pt x="0" y="21783"/>
                    <a:pt x="21783" y="0"/>
                    <a:pt x="48654" y="0"/>
                  </a:cubicBezTo>
                  <a:close/>
                </a:path>
              </a:pathLst>
            </a:custGeom>
            <a:solidFill>
              <a:srgbClr val="0093B9"/>
            </a:solidFill>
          </p:spPr>
          <p:txBody>
            <a:bodyPr/>
            <a:lstStyle/>
            <a:p>
              <a:endParaRPr lang="zh-TW" altLang="en-US"/>
            </a:p>
          </p:txBody>
        </p:sp>
        <p:sp>
          <p:nvSpPr>
            <p:cNvPr id="13" name="TextBox 13"/>
            <p:cNvSpPr txBox="1"/>
            <p:nvPr/>
          </p:nvSpPr>
          <p:spPr>
            <a:xfrm>
              <a:off x="0" y="-38100"/>
              <a:ext cx="2137363" cy="899402"/>
            </a:xfrm>
            <a:prstGeom prst="rect">
              <a:avLst/>
            </a:prstGeom>
          </p:spPr>
          <p:txBody>
            <a:bodyPr lIns="50800" tIns="50800" rIns="50800" bIns="50800" rtlCol="0" anchor="ctr"/>
            <a:lstStyle/>
            <a:p>
              <a:pPr algn="ctr">
                <a:lnSpc>
                  <a:spcPts val="2120"/>
                </a:lnSpc>
              </a:pPr>
              <a:endParaRPr/>
            </a:p>
          </p:txBody>
        </p:sp>
      </p:grpSp>
      <p:sp>
        <p:nvSpPr>
          <p:cNvPr id="14" name="TextBox 14"/>
          <p:cNvSpPr txBox="1"/>
          <p:nvPr/>
        </p:nvSpPr>
        <p:spPr>
          <a:xfrm>
            <a:off x="1413162" y="1855640"/>
            <a:ext cx="7020088" cy="705485"/>
          </a:xfrm>
          <a:prstGeom prst="rect">
            <a:avLst/>
          </a:prstGeom>
        </p:spPr>
        <p:txBody>
          <a:bodyPr lIns="0" tIns="0" rIns="0" bIns="0" rtlCol="0" anchor="t">
            <a:spAutoFit/>
          </a:bodyPr>
          <a:lstStyle/>
          <a:p>
            <a:pPr algn="l">
              <a:lnSpc>
                <a:spcPts val="5739"/>
              </a:lnSpc>
              <a:spcBef>
                <a:spcPct val="0"/>
              </a:spcBef>
            </a:pPr>
            <a:r>
              <a:rPr lang="en-US" sz="4099">
                <a:solidFill>
                  <a:srgbClr val="FDF9F1"/>
                </a:solidFill>
                <a:latin typeface="Quicksand"/>
                <a:ea typeface="Quicksand"/>
                <a:cs typeface="Quicksand"/>
                <a:sym typeface="Quicksand"/>
              </a:rPr>
              <a:t>持續優化功能，拓展使用場景</a:t>
            </a:r>
          </a:p>
        </p:txBody>
      </p:sp>
      <p:sp>
        <p:nvSpPr>
          <p:cNvPr id="15" name="TextBox 15"/>
          <p:cNvSpPr txBox="1"/>
          <p:nvPr/>
        </p:nvSpPr>
        <p:spPr>
          <a:xfrm>
            <a:off x="4725378" y="3054353"/>
            <a:ext cx="3707872" cy="1780081"/>
          </a:xfrm>
          <a:prstGeom prst="rect">
            <a:avLst/>
          </a:prstGeom>
        </p:spPr>
        <p:txBody>
          <a:bodyPr lIns="0" tIns="0" rIns="0" bIns="0" rtlCol="0" anchor="t">
            <a:spAutoFit/>
          </a:bodyPr>
          <a:lstStyle/>
          <a:p>
            <a:pPr algn="l">
              <a:lnSpc>
                <a:spcPts val="4785"/>
              </a:lnSpc>
              <a:spcBef>
                <a:spcPct val="0"/>
              </a:spcBef>
            </a:pPr>
            <a:r>
              <a:rPr lang="en-US" sz="3418" b="1" dirty="0" err="1">
                <a:solidFill>
                  <a:srgbClr val="FDF9F1"/>
                </a:solidFill>
                <a:latin typeface="Atma Medium"/>
                <a:ea typeface="Atma Medium"/>
                <a:cs typeface="Atma Medium"/>
                <a:sym typeface="Atma Medium"/>
              </a:rPr>
              <a:t>安全路徑推薦</a:t>
            </a:r>
            <a:endParaRPr lang="en-US" sz="3418" b="1" dirty="0">
              <a:solidFill>
                <a:srgbClr val="FDF9F1"/>
              </a:solidFill>
              <a:latin typeface="Atma Medium"/>
              <a:ea typeface="Atma Medium"/>
              <a:cs typeface="Atma Medium"/>
              <a:sym typeface="Atma Medium"/>
            </a:endParaRPr>
          </a:p>
          <a:p>
            <a:pPr algn="l">
              <a:lnSpc>
                <a:spcPts val="4785"/>
              </a:lnSpc>
              <a:spcBef>
                <a:spcPct val="0"/>
              </a:spcBef>
            </a:pPr>
            <a:r>
              <a:rPr lang="en-US" sz="3418" b="1" dirty="0" err="1">
                <a:solidFill>
                  <a:srgbClr val="FDF9F1"/>
                </a:solidFill>
                <a:latin typeface="Atma Medium"/>
                <a:ea typeface="Atma Medium"/>
                <a:cs typeface="Atma Medium"/>
                <a:sym typeface="Atma Medium"/>
              </a:rPr>
              <a:t>AI熱點預警系統</a:t>
            </a:r>
            <a:endParaRPr lang="en-US" sz="3418" b="1" dirty="0">
              <a:solidFill>
                <a:srgbClr val="FDF9F1"/>
              </a:solidFill>
              <a:latin typeface="Atma Medium"/>
              <a:ea typeface="Atma Medium"/>
              <a:cs typeface="Atma Medium"/>
              <a:sym typeface="Atma Medium"/>
            </a:endParaRPr>
          </a:p>
          <a:p>
            <a:pPr algn="l">
              <a:lnSpc>
                <a:spcPts val="4785"/>
              </a:lnSpc>
              <a:spcBef>
                <a:spcPct val="0"/>
              </a:spcBef>
            </a:pPr>
            <a:endParaRPr lang="en-US" sz="3418" b="1" dirty="0">
              <a:solidFill>
                <a:srgbClr val="FDF9F1"/>
              </a:solidFill>
              <a:latin typeface="Atma Medium"/>
              <a:ea typeface="Atma Medium"/>
              <a:cs typeface="Atma Medium"/>
              <a:sym typeface="Atma Medium"/>
            </a:endParaRPr>
          </a:p>
        </p:txBody>
      </p:sp>
      <p:grpSp>
        <p:nvGrpSpPr>
          <p:cNvPr id="16" name="Group 16"/>
          <p:cNvGrpSpPr/>
          <p:nvPr/>
        </p:nvGrpSpPr>
        <p:grpSpPr>
          <a:xfrm>
            <a:off x="9505591" y="1485900"/>
            <a:ext cx="8115300" cy="3270257"/>
            <a:chOff x="0" y="0"/>
            <a:chExt cx="2137363" cy="861302"/>
          </a:xfrm>
        </p:grpSpPr>
        <p:sp>
          <p:nvSpPr>
            <p:cNvPr id="17" name="Freeform 17"/>
            <p:cNvSpPr/>
            <p:nvPr/>
          </p:nvSpPr>
          <p:spPr>
            <a:xfrm>
              <a:off x="0" y="0"/>
              <a:ext cx="2137363" cy="861302"/>
            </a:xfrm>
            <a:custGeom>
              <a:avLst/>
              <a:gdLst/>
              <a:ahLst/>
              <a:cxnLst/>
              <a:rect l="l" t="t" r="r" b="b"/>
              <a:pathLst>
                <a:path w="2137363" h="861302">
                  <a:moveTo>
                    <a:pt x="48654" y="0"/>
                  </a:moveTo>
                  <a:lnTo>
                    <a:pt x="2088710" y="0"/>
                  </a:lnTo>
                  <a:cubicBezTo>
                    <a:pt x="2115580" y="0"/>
                    <a:pt x="2137363" y="21783"/>
                    <a:pt x="2137363" y="48654"/>
                  </a:cubicBezTo>
                  <a:lnTo>
                    <a:pt x="2137363" y="812649"/>
                  </a:lnTo>
                  <a:cubicBezTo>
                    <a:pt x="2137363" y="839519"/>
                    <a:pt x="2115580" y="861302"/>
                    <a:pt x="2088710" y="861302"/>
                  </a:cubicBezTo>
                  <a:lnTo>
                    <a:pt x="48654" y="861302"/>
                  </a:lnTo>
                  <a:cubicBezTo>
                    <a:pt x="21783" y="861302"/>
                    <a:pt x="0" y="839519"/>
                    <a:pt x="0" y="812649"/>
                  </a:cubicBezTo>
                  <a:lnTo>
                    <a:pt x="0" y="48654"/>
                  </a:lnTo>
                  <a:cubicBezTo>
                    <a:pt x="0" y="21783"/>
                    <a:pt x="21783" y="0"/>
                    <a:pt x="48654" y="0"/>
                  </a:cubicBezTo>
                  <a:close/>
                </a:path>
              </a:pathLst>
            </a:custGeom>
            <a:solidFill>
              <a:srgbClr val="0093B9"/>
            </a:solidFill>
          </p:spPr>
          <p:txBody>
            <a:bodyPr/>
            <a:lstStyle/>
            <a:p>
              <a:endParaRPr lang="zh-TW" altLang="en-US"/>
            </a:p>
          </p:txBody>
        </p:sp>
        <p:sp>
          <p:nvSpPr>
            <p:cNvPr id="18" name="TextBox 18"/>
            <p:cNvSpPr txBox="1"/>
            <p:nvPr/>
          </p:nvSpPr>
          <p:spPr>
            <a:xfrm>
              <a:off x="0" y="-38100"/>
              <a:ext cx="2137363" cy="899402"/>
            </a:xfrm>
            <a:prstGeom prst="rect">
              <a:avLst/>
            </a:prstGeom>
          </p:spPr>
          <p:txBody>
            <a:bodyPr lIns="50800" tIns="50800" rIns="50800" bIns="50800" rtlCol="0" anchor="ctr"/>
            <a:lstStyle/>
            <a:p>
              <a:pPr algn="ctr">
                <a:lnSpc>
                  <a:spcPts val="2120"/>
                </a:lnSpc>
              </a:pPr>
              <a:endParaRPr/>
            </a:p>
          </p:txBody>
        </p:sp>
      </p:grpSp>
      <p:sp>
        <p:nvSpPr>
          <p:cNvPr id="19" name="TextBox 19"/>
          <p:cNvSpPr txBox="1"/>
          <p:nvPr/>
        </p:nvSpPr>
        <p:spPr>
          <a:xfrm>
            <a:off x="10183930" y="1865165"/>
            <a:ext cx="6047211" cy="679450"/>
          </a:xfrm>
          <a:prstGeom prst="rect">
            <a:avLst/>
          </a:prstGeom>
        </p:spPr>
        <p:txBody>
          <a:bodyPr lIns="0" tIns="0" rIns="0" bIns="0" rtlCol="0" anchor="t">
            <a:spAutoFit/>
          </a:bodyPr>
          <a:lstStyle/>
          <a:p>
            <a:pPr algn="l">
              <a:lnSpc>
                <a:spcPts val="5599"/>
              </a:lnSpc>
              <a:spcBef>
                <a:spcPct val="0"/>
              </a:spcBef>
            </a:pPr>
            <a:r>
              <a:rPr lang="en-US" sz="3999">
                <a:solidFill>
                  <a:srgbClr val="FDF9F1"/>
                </a:solidFill>
                <a:latin typeface="Quicksand"/>
                <a:ea typeface="Quicksand"/>
                <a:cs typeface="Quicksand"/>
                <a:sym typeface="Quicksand"/>
              </a:rPr>
              <a:t>合作發展</a:t>
            </a:r>
          </a:p>
        </p:txBody>
      </p:sp>
      <p:sp>
        <p:nvSpPr>
          <p:cNvPr id="20" name="TextBox 20"/>
          <p:cNvSpPr txBox="1"/>
          <p:nvPr/>
        </p:nvSpPr>
        <p:spPr>
          <a:xfrm>
            <a:off x="12654348" y="2513500"/>
            <a:ext cx="4604952" cy="1957246"/>
          </a:xfrm>
          <a:prstGeom prst="rect">
            <a:avLst/>
          </a:prstGeom>
        </p:spPr>
        <p:txBody>
          <a:bodyPr lIns="0" tIns="0" rIns="0" bIns="0" rtlCol="0" anchor="t">
            <a:spAutoFit/>
          </a:bodyPr>
          <a:lstStyle/>
          <a:p>
            <a:pPr algn="l">
              <a:lnSpc>
                <a:spcPts val="3945"/>
              </a:lnSpc>
            </a:pPr>
            <a:r>
              <a:rPr lang="en-US" sz="2818" b="1">
                <a:solidFill>
                  <a:srgbClr val="FDF9F1"/>
                </a:solidFill>
                <a:latin typeface="Atma Medium"/>
                <a:ea typeface="Atma Medium"/>
                <a:cs typeface="Atma Medium"/>
                <a:sym typeface="Atma Medium"/>
              </a:rPr>
              <a:t>與超過50店家建立認證</a:t>
            </a:r>
          </a:p>
          <a:p>
            <a:pPr algn="l">
              <a:lnSpc>
                <a:spcPts val="3945"/>
              </a:lnSpc>
            </a:pPr>
            <a:r>
              <a:rPr lang="en-US" sz="2818" b="1">
                <a:solidFill>
                  <a:srgbClr val="FDF9F1"/>
                </a:solidFill>
                <a:latin typeface="Atma Medium"/>
                <a:ea typeface="Atma Medium"/>
                <a:cs typeface="Atma Medium"/>
                <a:sym typeface="Atma Medium"/>
              </a:rPr>
              <a:t>與政府、NGO 合作申請補助</a:t>
            </a:r>
          </a:p>
          <a:p>
            <a:pPr algn="l">
              <a:lnSpc>
                <a:spcPts val="3945"/>
              </a:lnSpc>
            </a:pPr>
            <a:r>
              <a:rPr lang="en-US" sz="2818" b="1">
                <a:solidFill>
                  <a:srgbClr val="FDF9F1"/>
                </a:solidFill>
                <a:latin typeface="Atma Medium"/>
                <a:ea typeface="Atma Medium"/>
                <a:cs typeface="Atma Medium"/>
                <a:sym typeface="Atma Medium"/>
              </a:rPr>
              <a:t>建立通報機制</a:t>
            </a:r>
          </a:p>
          <a:p>
            <a:pPr algn="l">
              <a:lnSpc>
                <a:spcPts val="3945"/>
              </a:lnSpc>
              <a:spcBef>
                <a:spcPct val="0"/>
              </a:spcBef>
            </a:pPr>
            <a:r>
              <a:rPr lang="en-US" sz="2818" b="1">
                <a:solidFill>
                  <a:srgbClr val="FDF9F1"/>
                </a:solidFill>
                <a:latin typeface="Atma Medium"/>
                <a:ea typeface="Atma Medium"/>
                <a:cs typeface="Atma Medium"/>
                <a:sym typeface="Atma Medium"/>
              </a:rPr>
              <a:t>企業 CSR 合作</a:t>
            </a:r>
          </a:p>
        </p:txBody>
      </p:sp>
      <p:grpSp>
        <p:nvGrpSpPr>
          <p:cNvPr id="21" name="Group 21"/>
          <p:cNvGrpSpPr/>
          <p:nvPr/>
        </p:nvGrpSpPr>
        <p:grpSpPr>
          <a:xfrm>
            <a:off x="2068630" y="5946782"/>
            <a:ext cx="14162511" cy="3631037"/>
            <a:chOff x="0" y="0"/>
            <a:chExt cx="3730044" cy="956322"/>
          </a:xfrm>
        </p:grpSpPr>
        <p:sp>
          <p:nvSpPr>
            <p:cNvPr id="22" name="Freeform 22"/>
            <p:cNvSpPr/>
            <p:nvPr/>
          </p:nvSpPr>
          <p:spPr>
            <a:xfrm>
              <a:off x="0" y="0"/>
              <a:ext cx="3730044" cy="956323"/>
            </a:xfrm>
            <a:custGeom>
              <a:avLst/>
              <a:gdLst/>
              <a:ahLst/>
              <a:cxnLst/>
              <a:rect l="l" t="t" r="r" b="b"/>
              <a:pathLst>
                <a:path w="3730044" h="956323">
                  <a:moveTo>
                    <a:pt x="27879" y="0"/>
                  </a:moveTo>
                  <a:lnTo>
                    <a:pt x="3702165" y="0"/>
                  </a:lnTo>
                  <a:cubicBezTo>
                    <a:pt x="3717562" y="0"/>
                    <a:pt x="3730044" y="12482"/>
                    <a:pt x="3730044" y="27879"/>
                  </a:cubicBezTo>
                  <a:lnTo>
                    <a:pt x="3730044" y="928443"/>
                  </a:lnTo>
                  <a:cubicBezTo>
                    <a:pt x="3730044" y="943841"/>
                    <a:pt x="3717562" y="956323"/>
                    <a:pt x="3702165" y="956323"/>
                  </a:cubicBezTo>
                  <a:lnTo>
                    <a:pt x="27879" y="956323"/>
                  </a:lnTo>
                  <a:cubicBezTo>
                    <a:pt x="12482" y="956323"/>
                    <a:pt x="0" y="943841"/>
                    <a:pt x="0" y="928443"/>
                  </a:cubicBezTo>
                  <a:lnTo>
                    <a:pt x="0" y="27879"/>
                  </a:lnTo>
                  <a:cubicBezTo>
                    <a:pt x="0" y="12482"/>
                    <a:pt x="12482" y="0"/>
                    <a:pt x="27879" y="0"/>
                  </a:cubicBezTo>
                  <a:close/>
                </a:path>
              </a:pathLst>
            </a:custGeom>
            <a:solidFill>
              <a:srgbClr val="0093B9"/>
            </a:solidFill>
          </p:spPr>
          <p:txBody>
            <a:bodyPr/>
            <a:lstStyle/>
            <a:p>
              <a:endParaRPr lang="zh-TW" altLang="en-US"/>
            </a:p>
          </p:txBody>
        </p:sp>
        <p:sp>
          <p:nvSpPr>
            <p:cNvPr id="23" name="TextBox 23"/>
            <p:cNvSpPr txBox="1"/>
            <p:nvPr/>
          </p:nvSpPr>
          <p:spPr>
            <a:xfrm>
              <a:off x="0" y="-38100"/>
              <a:ext cx="3730044" cy="994422"/>
            </a:xfrm>
            <a:prstGeom prst="rect">
              <a:avLst/>
            </a:prstGeom>
          </p:spPr>
          <p:txBody>
            <a:bodyPr lIns="50800" tIns="50800" rIns="50800" bIns="50800" rtlCol="0" anchor="ctr"/>
            <a:lstStyle/>
            <a:p>
              <a:pPr algn="ctr">
                <a:lnSpc>
                  <a:spcPts val="2120"/>
                </a:lnSpc>
              </a:pPr>
              <a:endParaRPr/>
            </a:p>
          </p:txBody>
        </p:sp>
      </p:grpSp>
      <p:sp>
        <p:nvSpPr>
          <p:cNvPr id="24" name="TextBox 24"/>
          <p:cNvSpPr txBox="1"/>
          <p:nvPr/>
        </p:nvSpPr>
        <p:spPr>
          <a:xfrm>
            <a:off x="2386039" y="6308732"/>
            <a:ext cx="2700311" cy="705485"/>
          </a:xfrm>
          <a:prstGeom prst="rect">
            <a:avLst/>
          </a:prstGeom>
        </p:spPr>
        <p:txBody>
          <a:bodyPr lIns="0" tIns="0" rIns="0" bIns="0" rtlCol="0" anchor="t">
            <a:spAutoFit/>
          </a:bodyPr>
          <a:lstStyle/>
          <a:p>
            <a:pPr algn="l">
              <a:lnSpc>
                <a:spcPts val="5739"/>
              </a:lnSpc>
              <a:spcBef>
                <a:spcPct val="0"/>
              </a:spcBef>
            </a:pPr>
            <a:r>
              <a:rPr lang="en-US" sz="4099">
                <a:solidFill>
                  <a:srgbClr val="FDF9F1"/>
                </a:solidFill>
                <a:latin typeface="Quicksand"/>
                <a:ea typeface="Quicksand"/>
                <a:cs typeface="Quicksand"/>
                <a:sym typeface="Quicksand"/>
              </a:rPr>
              <a:t>社會影響力</a:t>
            </a:r>
          </a:p>
        </p:txBody>
      </p:sp>
      <p:sp>
        <p:nvSpPr>
          <p:cNvPr id="25" name="TextBox 25"/>
          <p:cNvSpPr txBox="1"/>
          <p:nvPr/>
        </p:nvSpPr>
        <p:spPr>
          <a:xfrm>
            <a:off x="6134474" y="6346832"/>
            <a:ext cx="9623758" cy="3181526"/>
          </a:xfrm>
          <a:prstGeom prst="rect">
            <a:avLst/>
          </a:prstGeom>
        </p:spPr>
        <p:txBody>
          <a:bodyPr lIns="0" tIns="0" rIns="0" bIns="0" rtlCol="0" anchor="t">
            <a:spAutoFit/>
          </a:bodyPr>
          <a:lstStyle/>
          <a:p>
            <a:pPr algn="l">
              <a:lnSpc>
                <a:spcPts val="3665"/>
              </a:lnSpc>
            </a:pPr>
            <a:r>
              <a:rPr lang="en-US" sz="2618" b="1" dirty="0" err="1">
                <a:solidFill>
                  <a:srgbClr val="FDF9F1"/>
                </a:solidFill>
                <a:latin typeface="Atma Medium"/>
                <a:ea typeface="Atma Medium"/>
                <a:cs typeface="Atma Medium"/>
                <a:sym typeface="Atma Medium"/>
              </a:rPr>
              <a:t>建立群眾參與的安全資料庫，推動「群眾通報、群眾保護」的公共安全文化</a:t>
            </a:r>
            <a:endParaRPr lang="en-US" sz="2618" b="1" dirty="0">
              <a:solidFill>
                <a:srgbClr val="FDF9F1"/>
              </a:solidFill>
              <a:latin typeface="Atma Medium"/>
              <a:ea typeface="Atma Medium"/>
              <a:cs typeface="Atma Medium"/>
              <a:sym typeface="Atma Medium"/>
            </a:endParaRPr>
          </a:p>
          <a:p>
            <a:pPr algn="l">
              <a:lnSpc>
                <a:spcPts val="3665"/>
              </a:lnSpc>
            </a:pPr>
            <a:endParaRPr lang="en-US" sz="2618" b="1" dirty="0">
              <a:solidFill>
                <a:srgbClr val="FDF9F1"/>
              </a:solidFill>
              <a:latin typeface="Atma Medium"/>
              <a:ea typeface="Atma Medium"/>
              <a:cs typeface="Atma Medium"/>
              <a:sym typeface="Atma Medium"/>
            </a:endParaRPr>
          </a:p>
          <a:p>
            <a:pPr algn="l">
              <a:lnSpc>
                <a:spcPts val="3665"/>
              </a:lnSpc>
            </a:pPr>
            <a:r>
              <a:rPr lang="en-US" sz="2618" b="1" dirty="0" err="1">
                <a:solidFill>
                  <a:srgbClr val="FDF9F1"/>
                </a:solidFill>
                <a:latin typeface="Atma Medium"/>
                <a:ea typeface="Atma Medium"/>
                <a:cs typeface="Atma Medium"/>
                <a:sym typeface="Atma Medium"/>
              </a:rPr>
              <a:t>提升社會對「騷擾</a:t>
            </a:r>
            <a:r>
              <a:rPr lang="en-US" sz="2618" b="1" dirty="0">
                <a:solidFill>
                  <a:srgbClr val="FDF9F1"/>
                </a:solidFill>
                <a:latin typeface="Atma Medium"/>
                <a:ea typeface="Atma Medium"/>
                <a:cs typeface="Atma Medium"/>
                <a:sym typeface="Atma Medium"/>
              </a:rPr>
              <a:t>/</a:t>
            </a:r>
            <a:r>
              <a:rPr lang="en-US" sz="2618" b="1" dirty="0" err="1">
                <a:solidFill>
                  <a:srgbClr val="FDF9F1"/>
                </a:solidFill>
                <a:latin typeface="Atma Medium"/>
                <a:ea typeface="Atma Medium"/>
                <a:cs typeface="Atma Medium"/>
                <a:sym typeface="Atma Medium"/>
              </a:rPr>
              <a:t>跟蹤」議題的敏感度與處理效率</a:t>
            </a:r>
            <a:endParaRPr lang="en-US" sz="2618" b="1" dirty="0">
              <a:solidFill>
                <a:srgbClr val="FDF9F1"/>
              </a:solidFill>
              <a:latin typeface="Atma Medium"/>
              <a:ea typeface="Atma Medium"/>
              <a:cs typeface="Atma Medium"/>
              <a:sym typeface="Atma Medium"/>
            </a:endParaRPr>
          </a:p>
          <a:p>
            <a:pPr algn="l">
              <a:lnSpc>
                <a:spcPts val="3665"/>
              </a:lnSpc>
            </a:pPr>
            <a:endParaRPr lang="en-US" sz="2618" b="1" dirty="0">
              <a:solidFill>
                <a:srgbClr val="FDF9F1"/>
              </a:solidFill>
              <a:latin typeface="Atma Medium"/>
              <a:ea typeface="Atma Medium"/>
              <a:cs typeface="Atma Medium"/>
              <a:sym typeface="Atma Medium"/>
            </a:endParaRPr>
          </a:p>
          <a:p>
            <a:pPr algn="l">
              <a:lnSpc>
                <a:spcPts val="3665"/>
              </a:lnSpc>
            </a:pPr>
            <a:r>
              <a:rPr lang="en-US" sz="2618" b="1" dirty="0" err="1">
                <a:solidFill>
                  <a:srgbClr val="FDF9F1"/>
                </a:solidFill>
                <a:latin typeface="Atma Medium"/>
                <a:ea typeface="Atma Medium"/>
                <a:cs typeface="Atma Medium"/>
                <a:sym typeface="Atma Medium"/>
              </a:rPr>
              <a:t>長遠成為智慧城市安全一環，納入政府政策平台或警政合作方案</a:t>
            </a:r>
            <a:endParaRPr lang="en-US" sz="2618" b="1" dirty="0">
              <a:solidFill>
                <a:srgbClr val="FDF9F1"/>
              </a:solidFill>
              <a:latin typeface="Atma Medium"/>
              <a:ea typeface="Atma Medium"/>
              <a:cs typeface="Atma Medium"/>
              <a:sym typeface="Atma Medium"/>
            </a:endParaRPr>
          </a:p>
          <a:p>
            <a:pPr algn="l">
              <a:lnSpc>
                <a:spcPts val="3665"/>
              </a:lnSpc>
            </a:pPr>
            <a:endParaRPr lang="en-US" sz="2618" b="1" dirty="0">
              <a:solidFill>
                <a:srgbClr val="FDF9F1"/>
              </a:solidFill>
              <a:latin typeface="Atma Medium"/>
              <a:ea typeface="Atma Medium"/>
              <a:cs typeface="Atma Medium"/>
              <a:sym typeface="Atma Medium"/>
            </a:endParaRPr>
          </a:p>
        </p:txBody>
      </p:sp>
      <p:sp>
        <p:nvSpPr>
          <p:cNvPr id="26" name="TextBox 26"/>
          <p:cNvSpPr txBox="1"/>
          <p:nvPr/>
        </p:nvSpPr>
        <p:spPr>
          <a:xfrm>
            <a:off x="15191677" y="9604236"/>
            <a:ext cx="5718589" cy="682764"/>
          </a:xfrm>
          <a:prstGeom prst="rect">
            <a:avLst/>
          </a:prstGeom>
        </p:spPr>
        <p:txBody>
          <a:bodyPr lIns="0" tIns="0" rIns="0" bIns="0" rtlCol="0" anchor="t">
            <a:spAutoFit/>
          </a:bodyPr>
          <a:lstStyle/>
          <a:p>
            <a:pPr algn="l">
              <a:lnSpc>
                <a:spcPts val="5593"/>
              </a:lnSpc>
            </a:pPr>
            <a:r>
              <a:rPr lang="en-US" sz="3995">
                <a:solidFill>
                  <a:srgbClr val="494F56"/>
                </a:solidFill>
                <a:latin typeface="Quicksand"/>
                <a:ea typeface="Quicksand"/>
                <a:cs typeface="Quicksand"/>
                <a:sym typeface="Quicksand"/>
              </a:rPr>
              <a:t>報告人:想想</a:t>
            </a:r>
          </a:p>
        </p:txBody>
      </p:sp>
      <p:sp>
        <p:nvSpPr>
          <p:cNvPr id="27" name="投影片編號版面配置區 26">
            <a:extLst>
              <a:ext uri="{FF2B5EF4-FFF2-40B4-BE49-F238E27FC236}">
                <a16:creationId xmlns:a16="http://schemas.microsoft.com/office/drawing/2014/main" id="{099452CA-6BF9-68A5-0CE2-A4F902417854}"/>
              </a:ext>
            </a:extLst>
          </p:cNvPr>
          <p:cNvSpPr>
            <a:spLocks noGrp="1"/>
          </p:cNvSpPr>
          <p:nvPr>
            <p:ph type="sldNum" sz="quarter" idx="12"/>
          </p:nvPr>
        </p:nvSpPr>
        <p:spPr/>
        <p:txBody>
          <a:bodyPr/>
          <a:lstStyle/>
          <a:p>
            <a:fld id="{B6F15528-21DE-4FAA-801E-634DDDAF4B2B}" type="slidenum">
              <a:rPr lang="en-US" smtClean="0"/>
              <a:pPr/>
              <a:t>40</a:t>
            </a:fld>
            <a:endParaRPr lang="en-US"/>
          </a:p>
        </p:txBody>
      </p:sp>
      <p:sp>
        <p:nvSpPr>
          <p:cNvPr id="28" name="投影片編號版面配置區 1">
            <a:extLst>
              <a:ext uri="{FF2B5EF4-FFF2-40B4-BE49-F238E27FC236}">
                <a16:creationId xmlns:a16="http://schemas.microsoft.com/office/drawing/2014/main" id="{BE771676-71BA-45F6-F986-90D86D5DC43D}"/>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40</a:t>
            </a:fld>
            <a:endParaRPr lang="en-US" sz="4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B85E7-0CFF-BE65-2C26-023B324FE8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F0FF94-7B6D-CDB3-6F1B-90E839D483D8}"/>
              </a:ext>
            </a:extLst>
          </p:cNvPr>
          <p:cNvSpPr/>
          <p:nvPr/>
        </p:nvSpPr>
        <p:spPr>
          <a:xfrm rot="-8870903">
            <a:off x="9482394" y="-3401478"/>
            <a:ext cx="14620325" cy="17849231"/>
          </a:xfrm>
          <a:custGeom>
            <a:avLst/>
            <a:gdLst/>
            <a:ahLst/>
            <a:cxnLst/>
            <a:rect l="l" t="t" r="r" b="b"/>
            <a:pathLst>
              <a:path w="14620325" h="17849231">
                <a:moveTo>
                  <a:pt x="0" y="0"/>
                </a:moveTo>
                <a:lnTo>
                  <a:pt x="14620325" y="0"/>
                </a:lnTo>
                <a:lnTo>
                  <a:pt x="14620325" y="17849230"/>
                </a:lnTo>
                <a:lnTo>
                  <a:pt x="0" y="1784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a:extLst>
              <a:ext uri="{FF2B5EF4-FFF2-40B4-BE49-F238E27FC236}">
                <a16:creationId xmlns:a16="http://schemas.microsoft.com/office/drawing/2014/main" id="{3876F169-8FB7-CFD4-2633-B13E573D4ECD}"/>
              </a:ext>
            </a:extLst>
          </p:cNvPr>
          <p:cNvGrpSpPr/>
          <p:nvPr/>
        </p:nvGrpSpPr>
        <p:grpSpPr>
          <a:xfrm>
            <a:off x="-1030102" y="-277765"/>
            <a:ext cx="20348204" cy="10564765"/>
            <a:chOff x="0" y="0"/>
            <a:chExt cx="5359198" cy="2782489"/>
          </a:xfrm>
        </p:grpSpPr>
        <p:sp>
          <p:nvSpPr>
            <p:cNvPr id="4" name="Freeform 4">
              <a:extLst>
                <a:ext uri="{FF2B5EF4-FFF2-40B4-BE49-F238E27FC236}">
                  <a16:creationId xmlns:a16="http://schemas.microsoft.com/office/drawing/2014/main" id="{740B0FEB-129D-8E83-5022-88695FD43D5C}"/>
                </a:ext>
              </a:extLst>
            </p:cNvPr>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FFFCD9">
                <a:alpha val="50980"/>
              </a:srgbClr>
            </a:solidFill>
          </p:spPr>
          <p:txBody>
            <a:bodyPr/>
            <a:lstStyle/>
            <a:p>
              <a:endParaRPr lang="zh-TW" altLang="en-US"/>
            </a:p>
          </p:txBody>
        </p:sp>
        <p:sp>
          <p:nvSpPr>
            <p:cNvPr id="5" name="TextBox 5">
              <a:extLst>
                <a:ext uri="{FF2B5EF4-FFF2-40B4-BE49-F238E27FC236}">
                  <a16:creationId xmlns:a16="http://schemas.microsoft.com/office/drawing/2014/main" id="{09BAAA79-B003-8BE2-04CA-06B81E88FF58}"/>
                </a:ext>
              </a:extLst>
            </p:cNvPr>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grpSp>
        <p:nvGrpSpPr>
          <p:cNvPr id="6" name="Group 6">
            <a:extLst>
              <a:ext uri="{FF2B5EF4-FFF2-40B4-BE49-F238E27FC236}">
                <a16:creationId xmlns:a16="http://schemas.microsoft.com/office/drawing/2014/main" id="{294B2A7C-4889-AC26-49B7-4A15E9175CD4}"/>
              </a:ext>
            </a:extLst>
          </p:cNvPr>
          <p:cNvGrpSpPr/>
          <p:nvPr/>
        </p:nvGrpSpPr>
        <p:grpSpPr>
          <a:xfrm>
            <a:off x="-392879" y="-277765"/>
            <a:ext cx="20348204" cy="10564765"/>
            <a:chOff x="0" y="0"/>
            <a:chExt cx="5359198" cy="2782489"/>
          </a:xfrm>
        </p:grpSpPr>
        <p:sp>
          <p:nvSpPr>
            <p:cNvPr id="7" name="Freeform 7">
              <a:extLst>
                <a:ext uri="{FF2B5EF4-FFF2-40B4-BE49-F238E27FC236}">
                  <a16:creationId xmlns:a16="http://schemas.microsoft.com/office/drawing/2014/main" id="{BE9885FC-0D27-42ED-6C86-6297C3C38396}"/>
                </a:ext>
              </a:extLst>
            </p:cNvPr>
            <p:cNvSpPr/>
            <p:nvPr/>
          </p:nvSpPr>
          <p:spPr>
            <a:xfrm>
              <a:off x="0" y="0"/>
              <a:ext cx="5359198" cy="2782489"/>
            </a:xfrm>
            <a:custGeom>
              <a:avLst/>
              <a:gdLst/>
              <a:ahLst/>
              <a:cxnLst/>
              <a:rect l="l" t="t" r="r" b="b"/>
              <a:pathLst>
                <a:path w="5359198" h="2782489">
                  <a:moveTo>
                    <a:pt x="0" y="0"/>
                  </a:moveTo>
                  <a:lnTo>
                    <a:pt x="5359198" y="0"/>
                  </a:lnTo>
                  <a:lnTo>
                    <a:pt x="5359198" y="2782489"/>
                  </a:lnTo>
                  <a:lnTo>
                    <a:pt x="0" y="2782489"/>
                  </a:lnTo>
                  <a:close/>
                </a:path>
              </a:pathLst>
            </a:custGeom>
            <a:solidFill>
              <a:srgbClr val="ECEAE6"/>
            </a:solidFill>
          </p:spPr>
          <p:txBody>
            <a:bodyPr/>
            <a:lstStyle/>
            <a:p>
              <a:endParaRPr lang="zh-TW" altLang="en-US"/>
            </a:p>
          </p:txBody>
        </p:sp>
        <p:sp>
          <p:nvSpPr>
            <p:cNvPr id="8" name="TextBox 8">
              <a:extLst>
                <a:ext uri="{FF2B5EF4-FFF2-40B4-BE49-F238E27FC236}">
                  <a16:creationId xmlns:a16="http://schemas.microsoft.com/office/drawing/2014/main" id="{3D1C47FD-0C9E-FC06-A703-52FBD46F25F3}"/>
                </a:ext>
              </a:extLst>
            </p:cNvPr>
            <p:cNvSpPr txBox="1"/>
            <p:nvPr/>
          </p:nvSpPr>
          <p:spPr>
            <a:xfrm>
              <a:off x="0" y="-38100"/>
              <a:ext cx="5359198" cy="2820589"/>
            </a:xfrm>
            <a:prstGeom prst="rect">
              <a:avLst/>
            </a:prstGeom>
          </p:spPr>
          <p:txBody>
            <a:bodyPr lIns="50800" tIns="50800" rIns="50800" bIns="50800" rtlCol="0" anchor="ctr"/>
            <a:lstStyle/>
            <a:p>
              <a:pPr algn="ctr">
                <a:lnSpc>
                  <a:spcPts val="2120"/>
                </a:lnSpc>
              </a:pPr>
              <a:endParaRPr/>
            </a:p>
          </p:txBody>
        </p:sp>
      </p:grpSp>
      <p:sp>
        <p:nvSpPr>
          <p:cNvPr id="9" name="Freeform 9">
            <a:extLst>
              <a:ext uri="{FF2B5EF4-FFF2-40B4-BE49-F238E27FC236}">
                <a16:creationId xmlns:a16="http://schemas.microsoft.com/office/drawing/2014/main" id="{B1B24D28-5837-5F86-31D2-1D140FBEA61B}"/>
              </a:ext>
            </a:extLst>
          </p:cNvPr>
          <p:cNvSpPr/>
          <p:nvPr/>
        </p:nvSpPr>
        <p:spPr>
          <a:xfrm>
            <a:off x="-2844521" y="-1025851"/>
            <a:ext cx="22545800" cy="12338701"/>
          </a:xfrm>
          <a:custGeom>
            <a:avLst/>
            <a:gdLst/>
            <a:ahLst/>
            <a:cxnLst/>
            <a:rect l="l" t="t" r="r" b="b"/>
            <a:pathLst>
              <a:path w="22545800" h="12338701">
                <a:moveTo>
                  <a:pt x="0" y="0"/>
                </a:moveTo>
                <a:lnTo>
                  <a:pt x="22545800" y="0"/>
                </a:lnTo>
                <a:lnTo>
                  <a:pt x="22545800" y="12338702"/>
                </a:lnTo>
                <a:lnTo>
                  <a:pt x="0" y="12338702"/>
                </a:lnTo>
                <a:lnTo>
                  <a:pt x="0" y="0"/>
                </a:lnTo>
                <a:close/>
              </a:path>
            </a:pathLst>
          </a:custGeom>
          <a:blipFill>
            <a:blip r:embed="rId4">
              <a:alphaModFix amt="72000"/>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Freeform 10">
            <a:extLst>
              <a:ext uri="{FF2B5EF4-FFF2-40B4-BE49-F238E27FC236}">
                <a16:creationId xmlns:a16="http://schemas.microsoft.com/office/drawing/2014/main" id="{B97E6623-FD1E-264F-6F2E-028ECEF5A259}"/>
              </a:ext>
            </a:extLst>
          </p:cNvPr>
          <p:cNvSpPr/>
          <p:nvPr/>
        </p:nvSpPr>
        <p:spPr>
          <a:xfrm rot="-922393">
            <a:off x="-7310162" y="-343886"/>
            <a:ext cx="14620325" cy="17849231"/>
          </a:xfrm>
          <a:custGeom>
            <a:avLst/>
            <a:gdLst/>
            <a:ahLst/>
            <a:cxnLst/>
            <a:rect l="l" t="t" r="r" b="b"/>
            <a:pathLst>
              <a:path w="14620325" h="17849231">
                <a:moveTo>
                  <a:pt x="0" y="0"/>
                </a:moveTo>
                <a:lnTo>
                  <a:pt x="14620324" y="0"/>
                </a:lnTo>
                <a:lnTo>
                  <a:pt x="14620324" y="17849231"/>
                </a:lnTo>
                <a:lnTo>
                  <a:pt x="0" y="178492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TextBox 11">
            <a:extLst>
              <a:ext uri="{FF2B5EF4-FFF2-40B4-BE49-F238E27FC236}">
                <a16:creationId xmlns:a16="http://schemas.microsoft.com/office/drawing/2014/main" id="{5A93A5E1-60E8-8955-C399-DFCF9D760B22}"/>
              </a:ext>
            </a:extLst>
          </p:cNvPr>
          <p:cNvSpPr txBox="1"/>
          <p:nvPr/>
        </p:nvSpPr>
        <p:spPr>
          <a:xfrm>
            <a:off x="7770778" y="-190500"/>
            <a:ext cx="2746445" cy="1687080"/>
          </a:xfrm>
          <a:prstGeom prst="rect">
            <a:avLst/>
          </a:prstGeom>
        </p:spPr>
        <p:txBody>
          <a:bodyPr lIns="0" tIns="0" rIns="0" bIns="0" rtlCol="0" anchor="t">
            <a:spAutoFit/>
          </a:bodyPr>
          <a:lstStyle/>
          <a:p>
            <a:pPr algn="l">
              <a:lnSpc>
                <a:spcPts val="13801"/>
              </a:lnSpc>
            </a:pPr>
            <a:r>
              <a:rPr lang="en-US" sz="9858">
                <a:solidFill>
                  <a:srgbClr val="494F56"/>
                </a:solidFill>
                <a:latin typeface="Quicksand"/>
                <a:ea typeface="Quicksand"/>
                <a:cs typeface="Quicksand"/>
                <a:sym typeface="Quicksand"/>
              </a:rPr>
              <a:t>目錄</a:t>
            </a:r>
          </a:p>
        </p:txBody>
      </p:sp>
      <p:grpSp>
        <p:nvGrpSpPr>
          <p:cNvPr id="12" name="Group 12">
            <a:extLst>
              <a:ext uri="{FF2B5EF4-FFF2-40B4-BE49-F238E27FC236}">
                <a16:creationId xmlns:a16="http://schemas.microsoft.com/office/drawing/2014/main" id="{E1C428E5-FFB7-4654-EE85-24E424CB34EC}"/>
              </a:ext>
            </a:extLst>
          </p:cNvPr>
          <p:cNvGrpSpPr/>
          <p:nvPr/>
        </p:nvGrpSpPr>
        <p:grpSpPr>
          <a:xfrm rot="5400000">
            <a:off x="2942595" y="-4406514"/>
            <a:ext cx="11339454" cy="19920915"/>
            <a:chOff x="0" y="0"/>
            <a:chExt cx="2021507" cy="3551341"/>
          </a:xfrm>
        </p:grpSpPr>
        <p:sp>
          <p:nvSpPr>
            <p:cNvPr id="13" name="Freeform 13">
              <a:extLst>
                <a:ext uri="{FF2B5EF4-FFF2-40B4-BE49-F238E27FC236}">
                  <a16:creationId xmlns:a16="http://schemas.microsoft.com/office/drawing/2014/main" id="{1B15711E-E5CA-7F14-6835-0FB82E1F9694}"/>
                </a:ext>
              </a:extLst>
            </p:cNvPr>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B3D1FE"/>
            </a:solidFill>
          </p:spPr>
          <p:txBody>
            <a:bodyPr/>
            <a:lstStyle/>
            <a:p>
              <a:endParaRPr lang="zh-TW" altLang="en-US" dirty="0"/>
            </a:p>
          </p:txBody>
        </p:sp>
        <p:sp>
          <p:nvSpPr>
            <p:cNvPr id="14" name="TextBox 14">
              <a:extLst>
                <a:ext uri="{FF2B5EF4-FFF2-40B4-BE49-F238E27FC236}">
                  <a16:creationId xmlns:a16="http://schemas.microsoft.com/office/drawing/2014/main" id="{72CBD774-1F59-1FAA-F5FA-66B3725877F8}"/>
                </a:ext>
              </a:extLst>
            </p:cNvPr>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grpSp>
        <p:nvGrpSpPr>
          <p:cNvPr id="15" name="Group 15">
            <a:extLst>
              <a:ext uri="{FF2B5EF4-FFF2-40B4-BE49-F238E27FC236}">
                <a16:creationId xmlns:a16="http://schemas.microsoft.com/office/drawing/2014/main" id="{E98DD7A0-0FE6-20B8-8840-97E3BEBC5CA6}"/>
              </a:ext>
            </a:extLst>
          </p:cNvPr>
          <p:cNvGrpSpPr/>
          <p:nvPr/>
        </p:nvGrpSpPr>
        <p:grpSpPr>
          <a:xfrm>
            <a:off x="-6409755" y="7486008"/>
            <a:ext cx="28734743" cy="2800992"/>
            <a:chOff x="0" y="0"/>
            <a:chExt cx="38312990" cy="3734656"/>
          </a:xfrm>
        </p:grpSpPr>
        <p:sp>
          <p:nvSpPr>
            <p:cNvPr id="16" name="Freeform 16">
              <a:extLst>
                <a:ext uri="{FF2B5EF4-FFF2-40B4-BE49-F238E27FC236}">
                  <a16:creationId xmlns:a16="http://schemas.microsoft.com/office/drawing/2014/main" id="{9603339F-DE0F-83D5-D918-A66279AB76C6}"/>
                </a:ext>
              </a:extLst>
            </p:cNvPr>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7" name="Freeform 17">
              <a:extLst>
                <a:ext uri="{FF2B5EF4-FFF2-40B4-BE49-F238E27FC236}">
                  <a16:creationId xmlns:a16="http://schemas.microsoft.com/office/drawing/2014/main" id="{9BD5E4C8-46C5-71AA-0DFD-04927446A97A}"/>
                </a:ext>
              </a:extLst>
            </p:cNvPr>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18" name="Group 18">
            <a:extLst>
              <a:ext uri="{FF2B5EF4-FFF2-40B4-BE49-F238E27FC236}">
                <a16:creationId xmlns:a16="http://schemas.microsoft.com/office/drawing/2014/main" id="{8DBCB6D6-8A8F-E8C8-D1C2-12D788427346}"/>
              </a:ext>
            </a:extLst>
          </p:cNvPr>
          <p:cNvGrpSpPr/>
          <p:nvPr/>
        </p:nvGrpSpPr>
        <p:grpSpPr>
          <a:xfrm rot="-10800000">
            <a:off x="-6596594" y="-277765"/>
            <a:ext cx="28734743" cy="2800992"/>
            <a:chOff x="0" y="0"/>
            <a:chExt cx="38312990" cy="3734656"/>
          </a:xfrm>
        </p:grpSpPr>
        <p:sp>
          <p:nvSpPr>
            <p:cNvPr id="19" name="Freeform 19">
              <a:extLst>
                <a:ext uri="{FF2B5EF4-FFF2-40B4-BE49-F238E27FC236}">
                  <a16:creationId xmlns:a16="http://schemas.microsoft.com/office/drawing/2014/main" id="{0FD7A5A9-D565-8B35-8D9A-16E42360B2B8}"/>
                </a:ext>
              </a:extLst>
            </p:cNvPr>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a:extLst>
                <a:ext uri="{FF2B5EF4-FFF2-40B4-BE49-F238E27FC236}">
                  <a16:creationId xmlns:a16="http://schemas.microsoft.com/office/drawing/2014/main" id="{85A01BC8-E347-E304-036C-E4EBBA029404}"/>
                </a:ext>
              </a:extLst>
            </p:cNvPr>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1" name="TextBox 21">
            <a:extLst>
              <a:ext uri="{FF2B5EF4-FFF2-40B4-BE49-F238E27FC236}">
                <a16:creationId xmlns:a16="http://schemas.microsoft.com/office/drawing/2014/main" id="{F48ED756-6B7E-48A3-0853-F03134041152}"/>
              </a:ext>
            </a:extLst>
          </p:cNvPr>
          <p:cNvSpPr txBox="1"/>
          <p:nvPr/>
        </p:nvSpPr>
        <p:spPr>
          <a:xfrm>
            <a:off x="4244795" y="3952446"/>
            <a:ext cx="13014505" cy="1689245"/>
          </a:xfrm>
          <a:prstGeom prst="rect">
            <a:avLst/>
          </a:prstGeom>
        </p:spPr>
        <p:txBody>
          <a:bodyPr lIns="0" tIns="0" rIns="0" bIns="0" rtlCol="0" anchor="t">
            <a:spAutoFit/>
          </a:bodyPr>
          <a:lstStyle/>
          <a:p>
            <a:pPr algn="l">
              <a:lnSpc>
                <a:spcPts val="14287"/>
              </a:lnSpc>
              <a:spcBef>
                <a:spcPct val="0"/>
              </a:spcBef>
            </a:pPr>
            <a:r>
              <a:rPr lang="zh-TW" altLang="en-US" sz="10205" dirty="0">
                <a:solidFill>
                  <a:srgbClr val="FFFFFF"/>
                </a:solidFill>
                <a:latin typeface="Quicksand"/>
                <a:ea typeface="Quicksand"/>
                <a:cs typeface="Quicksand"/>
                <a:sym typeface="Quicksand"/>
              </a:rPr>
              <a:t>六</a:t>
            </a:r>
            <a:r>
              <a:rPr lang="en-US" sz="10205" dirty="0">
                <a:solidFill>
                  <a:srgbClr val="FFFFFF"/>
                </a:solidFill>
                <a:latin typeface="Quicksand"/>
                <a:ea typeface="Quicksand"/>
                <a:cs typeface="Quicksand"/>
                <a:sym typeface="Quicksand"/>
              </a:rPr>
              <a:t>. </a:t>
            </a:r>
            <a:r>
              <a:rPr lang="en-US" sz="10205" dirty="0" err="1">
                <a:solidFill>
                  <a:srgbClr val="FFFFFF"/>
                </a:solidFill>
                <a:latin typeface="Quicksand"/>
                <a:ea typeface="Quicksand"/>
                <a:cs typeface="Quicksand"/>
                <a:sym typeface="Quicksand"/>
              </a:rPr>
              <a:t>Github</a:t>
            </a:r>
            <a:r>
              <a:rPr lang="zh-TW" altLang="en-US" sz="10205" dirty="0">
                <a:solidFill>
                  <a:srgbClr val="FFFFFF"/>
                </a:solidFill>
                <a:latin typeface="Quicksand"/>
                <a:ea typeface="Quicksand"/>
                <a:cs typeface="Quicksand"/>
                <a:sym typeface="Quicksand"/>
              </a:rPr>
              <a:t>活動紀錄</a:t>
            </a:r>
            <a:endParaRPr lang="en-US" sz="10205" dirty="0">
              <a:solidFill>
                <a:srgbClr val="FFFFFF"/>
              </a:solidFill>
              <a:latin typeface="Quicksand"/>
              <a:ea typeface="Quicksand"/>
              <a:cs typeface="Quicksand"/>
              <a:sym typeface="Quicksand"/>
            </a:endParaRPr>
          </a:p>
        </p:txBody>
      </p:sp>
      <p:sp>
        <p:nvSpPr>
          <p:cNvPr id="23" name="投影片編號版面配置區 1">
            <a:extLst>
              <a:ext uri="{FF2B5EF4-FFF2-40B4-BE49-F238E27FC236}">
                <a16:creationId xmlns:a16="http://schemas.microsoft.com/office/drawing/2014/main" id="{08C75D17-951D-29DC-D71D-0D0130FCD4D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solidFill>
                  <a:schemeClr val="bg1"/>
                </a:solidFill>
              </a:rPr>
              <a:pPr/>
              <a:t>41</a:t>
            </a:fld>
            <a:endParaRPr lang="en-US" sz="4400" dirty="0">
              <a:solidFill>
                <a:schemeClr val="bg1"/>
              </a:solidFill>
            </a:endParaRPr>
          </a:p>
        </p:txBody>
      </p:sp>
    </p:spTree>
    <p:extLst>
      <p:ext uri="{BB962C8B-B14F-4D97-AF65-F5344CB8AC3E}">
        <p14:creationId xmlns:p14="http://schemas.microsoft.com/office/powerpoint/2010/main" val="39524660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rot="-5096997">
            <a:off x="5876373" y="-8503717"/>
            <a:ext cx="20322237" cy="19085106"/>
          </a:xfrm>
          <a:custGeom>
            <a:avLst/>
            <a:gdLst/>
            <a:ahLst/>
            <a:cxnLst/>
            <a:rect l="l" t="t" r="r" b="b"/>
            <a:pathLst>
              <a:path w="20322237" h="19085106">
                <a:moveTo>
                  <a:pt x="0" y="0"/>
                </a:moveTo>
                <a:lnTo>
                  <a:pt x="20322237" y="0"/>
                </a:lnTo>
                <a:lnTo>
                  <a:pt x="20322237" y="19085106"/>
                </a:lnTo>
                <a:lnTo>
                  <a:pt x="0" y="190851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rot="4240771">
            <a:off x="-2892344" y="3676233"/>
            <a:ext cx="16654833" cy="11476694"/>
          </a:xfrm>
          <a:custGeom>
            <a:avLst/>
            <a:gdLst/>
            <a:ahLst/>
            <a:cxnLst/>
            <a:rect l="l" t="t" r="r" b="b"/>
            <a:pathLst>
              <a:path w="16654833" h="11476694">
                <a:moveTo>
                  <a:pt x="0" y="0"/>
                </a:moveTo>
                <a:lnTo>
                  <a:pt x="16654833" y="0"/>
                </a:lnTo>
                <a:lnTo>
                  <a:pt x="16654833" y="11476694"/>
                </a:lnTo>
                <a:lnTo>
                  <a:pt x="0" y="11476694"/>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4" name="Group 4"/>
          <p:cNvGrpSpPr/>
          <p:nvPr/>
        </p:nvGrpSpPr>
        <p:grpSpPr>
          <a:xfrm>
            <a:off x="-2007391" y="0"/>
            <a:ext cx="20772145" cy="10971802"/>
            <a:chOff x="0" y="0"/>
            <a:chExt cx="27696193" cy="14629069"/>
          </a:xfrm>
        </p:grpSpPr>
        <p:sp>
          <p:nvSpPr>
            <p:cNvPr id="5" name="Freeform 5"/>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grpSp>
      <p:sp>
        <p:nvSpPr>
          <p:cNvPr id="11" name="Freeform 11"/>
          <p:cNvSpPr/>
          <p:nvPr/>
        </p:nvSpPr>
        <p:spPr>
          <a:xfrm rot="-8526383">
            <a:off x="10524505" y="4112778"/>
            <a:ext cx="12762971" cy="13033246"/>
          </a:xfrm>
          <a:custGeom>
            <a:avLst/>
            <a:gdLst/>
            <a:ahLst/>
            <a:cxnLst/>
            <a:rect l="l" t="t" r="r" b="b"/>
            <a:pathLst>
              <a:path w="12762971" h="13033246">
                <a:moveTo>
                  <a:pt x="0" y="0"/>
                </a:moveTo>
                <a:lnTo>
                  <a:pt x="12762972" y="0"/>
                </a:lnTo>
                <a:lnTo>
                  <a:pt x="12762972" y="13033246"/>
                </a:lnTo>
                <a:lnTo>
                  <a:pt x="0" y="1303324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2" name="Freeform 12"/>
          <p:cNvSpPr/>
          <p:nvPr/>
        </p:nvSpPr>
        <p:spPr>
          <a:xfrm rot="5127295">
            <a:off x="-5608990" y="-469229"/>
            <a:ext cx="11217980" cy="7954568"/>
          </a:xfrm>
          <a:custGeom>
            <a:avLst/>
            <a:gdLst/>
            <a:ahLst/>
            <a:cxnLst/>
            <a:rect l="l" t="t" r="r" b="b"/>
            <a:pathLst>
              <a:path w="11217980" h="7954568">
                <a:moveTo>
                  <a:pt x="0" y="0"/>
                </a:moveTo>
                <a:lnTo>
                  <a:pt x="11217980" y="0"/>
                </a:lnTo>
                <a:lnTo>
                  <a:pt x="11217980" y="7954568"/>
                </a:lnTo>
                <a:lnTo>
                  <a:pt x="0" y="795456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13" name="Freeform 13"/>
          <p:cNvSpPr/>
          <p:nvPr/>
        </p:nvSpPr>
        <p:spPr>
          <a:xfrm>
            <a:off x="2602377" y="1567300"/>
            <a:ext cx="13718513" cy="2846592"/>
          </a:xfrm>
          <a:custGeom>
            <a:avLst/>
            <a:gdLst/>
            <a:ahLst/>
            <a:cxnLst/>
            <a:rect l="l" t="t" r="r" b="b"/>
            <a:pathLst>
              <a:path w="13718513" h="2846592">
                <a:moveTo>
                  <a:pt x="0" y="0"/>
                </a:moveTo>
                <a:lnTo>
                  <a:pt x="13718513" y="0"/>
                </a:lnTo>
                <a:lnTo>
                  <a:pt x="13718513" y="2846592"/>
                </a:lnTo>
                <a:lnTo>
                  <a:pt x="0" y="2846592"/>
                </a:lnTo>
                <a:lnTo>
                  <a:pt x="0" y="0"/>
                </a:lnTo>
                <a:close/>
              </a:path>
            </a:pathLst>
          </a:custGeom>
          <a:blipFill>
            <a:blip r:embed="rId12"/>
            <a:stretch>
              <a:fillRect/>
            </a:stretch>
          </a:blipFill>
        </p:spPr>
        <p:txBody>
          <a:bodyPr/>
          <a:lstStyle/>
          <a:p>
            <a:endParaRPr lang="zh-TW" altLang="en-US"/>
          </a:p>
        </p:txBody>
      </p:sp>
      <p:sp>
        <p:nvSpPr>
          <p:cNvPr id="14" name="Freeform 14"/>
          <p:cNvSpPr/>
          <p:nvPr/>
        </p:nvSpPr>
        <p:spPr>
          <a:xfrm>
            <a:off x="2602376" y="5743546"/>
            <a:ext cx="13718513" cy="3123664"/>
          </a:xfrm>
          <a:custGeom>
            <a:avLst/>
            <a:gdLst/>
            <a:ahLst/>
            <a:cxnLst/>
            <a:rect l="l" t="t" r="r" b="b"/>
            <a:pathLst>
              <a:path w="13718513" h="3123664">
                <a:moveTo>
                  <a:pt x="0" y="0"/>
                </a:moveTo>
                <a:lnTo>
                  <a:pt x="13718513" y="0"/>
                </a:lnTo>
                <a:lnTo>
                  <a:pt x="13718513" y="3123664"/>
                </a:lnTo>
                <a:lnTo>
                  <a:pt x="0" y="3123664"/>
                </a:lnTo>
                <a:lnTo>
                  <a:pt x="0" y="0"/>
                </a:lnTo>
                <a:close/>
              </a:path>
            </a:pathLst>
          </a:custGeom>
          <a:blipFill>
            <a:blip r:embed="rId13"/>
            <a:stretch>
              <a:fillRect t="-1054" b="-1054"/>
            </a:stretch>
          </a:blipFill>
          <a:ln cap="sq">
            <a:noFill/>
            <a:prstDash val="solid"/>
            <a:miter/>
          </a:ln>
        </p:spPr>
        <p:txBody>
          <a:bodyPr/>
          <a:lstStyle/>
          <a:p>
            <a:endParaRPr lang="zh-TW" altLang="en-US"/>
          </a:p>
        </p:txBody>
      </p:sp>
      <p:sp>
        <p:nvSpPr>
          <p:cNvPr id="15" name="TextBox 15"/>
          <p:cNvSpPr txBox="1"/>
          <p:nvPr/>
        </p:nvSpPr>
        <p:spPr>
          <a:xfrm>
            <a:off x="7381666" y="557287"/>
            <a:ext cx="4159936" cy="838564"/>
          </a:xfrm>
          <a:prstGeom prst="rect">
            <a:avLst/>
          </a:prstGeom>
        </p:spPr>
        <p:txBody>
          <a:bodyPr lIns="0" tIns="0" rIns="0" bIns="0" rtlCol="0" anchor="t">
            <a:spAutoFit/>
          </a:bodyPr>
          <a:lstStyle/>
          <a:p>
            <a:pPr algn="l">
              <a:lnSpc>
                <a:spcPts val="6900"/>
              </a:lnSpc>
              <a:spcBef>
                <a:spcPct val="0"/>
              </a:spcBef>
            </a:pPr>
            <a:r>
              <a:rPr lang="en-US" sz="4928">
                <a:solidFill>
                  <a:srgbClr val="000000"/>
                </a:solidFill>
                <a:latin typeface="Quicksand"/>
                <a:ea typeface="Quicksand"/>
                <a:cs typeface="Quicksand"/>
                <a:sym typeface="Quicksand"/>
              </a:rPr>
              <a:t>GITHUB 紀錄</a:t>
            </a:r>
          </a:p>
        </p:txBody>
      </p:sp>
      <p:sp>
        <p:nvSpPr>
          <p:cNvPr id="16" name="TextBox 16"/>
          <p:cNvSpPr txBox="1"/>
          <p:nvPr/>
        </p:nvSpPr>
        <p:spPr>
          <a:xfrm>
            <a:off x="2664914" y="4518667"/>
            <a:ext cx="5540317" cy="547371"/>
          </a:xfrm>
          <a:prstGeom prst="rect">
            <a:avLst/>
          </a:prstGeom>
        </p:spPr>
        <p:txBody>
          <a:bodyPr lIns="0" tIns="0" rIns="0" bIns="0" rtlCol="0" anchor="t">
            <a:spAutoFit/>
          </a:bodyPr>
          <a:lstStyle/>
          <a:p>
            <a:pPr algn="l">
              <a:lnSpc>
                <a:spcPts val="4479"/>
              </a:lnSpc>
              <a:spcBef>
                <a:spcPct val="0"/>
              </a:spcBef>
            </a:pPr>
            <a:r>
              <a:rPr lang="en-US" sz="3199">
                <a:solidFill>
                  <a:srgbClr val="000000"/>
                </a:solidFill>
                <a:latin typeface="Quicksand"/>
                <a:ea typeface="Quicksand"/>
                <a:cs typeface="Quicksand"/>
                <a:sym typeface="Quicksand"/>
              </a:rPr>
              <a:t>11056001-吳想想</a:t>
            </a:r>
          </a:p>
        </p:txBody>
      </p:sp>
      <p:sp>
        <p:nvSpPr>
          <p:cNvPr id="17" name="TextBox 17"/>
          <p:cNvSpPr txBox="1"/>
          <p:nvPr/>
        </p:nvSpPr>
        <p:spPr>
          <a:xfrm>
            <a:off x="2602377" y="9191625"/>
            <a:ext cx="5540317" cy="547371"/>
          </a:xfrm>
          <a:prstGeom prst="rect">
            <a:avLst/>
          </a:prstGeom>
        </p:spPr>
        <p:txBody>
          <a:bodyPr lIns="0" tIns="0" rIns="0" bIns="0" rtlCol="0" anchor="t">
            <a:spAutoFit/>
          </a:bodyPr>
          <a:lstStyle/>
          <a:p>
            <a:pPr algn="l">
              <a:lnSpc>
                <a:spcPts val="4479"/>
              </a:lnSpc>
              <a:spcBef>
                <a:spcPct val="0"/>
              </a:spcBef>
            </a:pPr>
            <a:r>
              <a:rPr lang="en-US" sz="3199">
                <a:solidFill>
                  <a:srgbClr val="000000"/>
                </a:solidFill>
                <a:latin typeface="Quicksand"/>
                <a:ea typeface="Quicksand"/>
                <a:cs typeface="Quicksand"/>
                <a:sym typeface="Quicksand"/>
              </a:rPr>
              <a:t>11056035-陳雨琦</a:t>
            </a:r>
          </a:p>
        </p:txBody>
      </p:sp>
      <p:sp>
        <p:nvSpPr>
          <p:cNvPr id="18" name="投影片編號版面配置區 17">
            <a:extLst>
              <a:ext uri="{FF2B5EF4-FFF2-40B4-BE49-F238E27FC236}">
                <a16:creationId xmlns:a16="http://schemas.microsoft.com/office/drawing/2014/main" id="{5B8A19F6-B2BE-943D-737E-E7AFAF8B970D}"/>
              </a:ext>
            </a:extLst>
          </p:cNvPr>
          <p:cNvSpPr>
            <a:spLocks noGrp="1"/>
          </p:cNvSpPr>
          <p:nvPr>
            <p:ph type="sldNum" sz="quarter" idx="12"/>
          </p:nvPr>
        </p:nvSpPr>
        <p:spPr>
          <a:xfrm>
            <a:off x="-4725937" y="2019300"/>
            <a:ext cx="2133600" cy="365125"/>
          </a:xfrm>
        </p:spPr>
        <p:txBody>
          <a:bodyPr/>
          <a:lstStyle/>
          <a:p>
            <a:endParaRPr lang="en-US" dirty="0"/>
          </a:p>
        </p:txBody>
      </p:sp>
      <p:sp>
        <p:nvSpPr>
          <p:cNvPr id="19" name="投影片編號版面配置區 1">
            <a:extLst>
              <a:ext uri="{FF2B5EF4-FFF2-40B4-BE49-F238E27FC236}">
                <a16:creationId xmlns:a16="http://schemas.microsoft.com/office/drawing/2014/main" id="{15F8858A-9BAE-6EA9-D61B-0C324BB2E055}"/>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42</a:t>
            </a:fld>
            <a:endParaRPr lang="en-US" sz="4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rot="-5096997">
            <a:off x="5876373" y="-8503717"/>
            <a:ext cx="20322237" cy="19085106"/>
          </a:xfrm>
          <a:custGeom>
            <a:avLst/>
            <a:gdLst/>
            <a:ahLst/>
            <a:cxnLst/>
            <a:rect l="l" t="t" r="r" b="b"/>
            <a:pathLst>
              <a:path w="20322237" h="19085106">
                <a:moveTo>
                  <a:pt x="0" y="0"/>
                </a:moveTo>
                <a:lnTo>
                  <a:pt x="20322237" y="0"/>
                </a:lnTo>
                <a:lnTo>
                  <a:pt x="20322237" y="19085106"/>
                </a:lnTo>
                <a:lnTo>
                  <a:pt x="0" y="190851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rot="4240771">
            <a:off x="-2892344" y="3676233"/>
            <a:ext cx="16654833" cy="11476694"/>
          </a:xfrm>
          <a:custGeom>
            <a:avLst/>
            <a:gdLst/>
            <a:ahLst/>
            <a:cxnLst/>
            <a:rect l="l" t="t" r="r" b="b"/>
            <a:pathLst>
              <a:path w="16654833" h="11476694">
                <a:moveTo>
                  <a:pt x="0" y="0"/>
                </a:moveTo>
                <a:lnTo>
                  <a:pt x="16654833" y="0"/>
                </a:lnTo>
                <a:lnTo>
                  <a:pt x="16654833" y="11476694"/>
                </a:lnTo>
                <a:lnTo>
                  <a:pt x="0" y="11476694"/>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4" name="Group 4"/>
          <p:cNvGrpSpPr/>
          <p:nvPr/>
        </p:nvGrpSpPr>
        <p:grpSpPr>
          <a:xfrm>
            <a:off x="-2007391" y="0"/>
            <a:ext cx="20772145" cy="10971802"/>
            <a:chOff x="0" y="0"/>
            <a:chExt cx="27696193" cy="14629069"/>
          </a:xfrm>
        </p:grpSpPr>
        <p:sp>
          <p:nvSpPr>
            <p:cNvPr id="5" name="Freeform 5"/>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grpSp>
      <p:sp>
        <p:nvSpPr>
          <p:cNvPr id="11" name="Freeform 11"/>
          <p:cNvSpPr/>
          <p:nvPr/>
        </p:nvSpPr>
        <p:spPr>
          <a:xfrm rot="-8526383">
            <a:off x="10524505" y="4112778"/>
            <a:ext cx="12762971" cy="13033246"/>
          </a:xfrm>
          <a:custGeom>
            <a:avLst/>
            <a:gdLst/>
            <a:ahLst/>
            <a:cxnLst/>
            <a:rect l="l" t="t" r="r" b="b"/>
            <a:pathLst>
              <a:path w="12762971" h="13033246">
                <a:moveTo>
                  <a:pt x="0" y="0"/>
                </a:moveTo>
                <a:lnTo>
                  <a:pt x="12762972" y="0"/>
                </a:lnTo>
                <a:lnTo>
                  <a:pt x="12762972" y="13033246"/>
                </a:lnTo>
                <a:lnTo>
                  <a:pt x="0" y="1303324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2" name="Freeform 12"/>
          <p:cNvSpPr/>
          <p:nvPr/>
        </p:nvSpPr>
        <p:spPr>
          <a:xfrm rot="5127295">
            <a:off x="-5608990" y="-469229"/>
            <a:ext cx="11217980" cy="7954568"/>
          </a:xfrm>
          <a:custGeom>
            <a:avLst/>
            <a:gdLst/>
            <a:ahLst/>
            <a:cxnLst/>
            <a:rect l="l" t="t" r="r" b="b"/>
            <a:pathLst>
              <a:path w="11217980" h="7954568">
                <a:moveTo>
                  <a:pt x="0" y="0"/>
                </a:moveTo>
                <a:lnTo>
                  <a:pt x="11217980" y="0"/>
                </a:lnTo>
                <a:lnTo>
                  <a:pt x="11217980" y="7954568"/>
                </a:lnTo>
                <a:lnTo>
                  <a:pt x="0" y="795456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13" name="Freeform 13"/>
          <p:cNvSpPr/>
          <p:nvPr/>
        </p:nvSpPr>
        <p:spPr>
          <a:xfrm>
            <a:off x="2661857" y="5729934"/>
            <a:ext cx="12964286" cy="2787321"/>
          </a:xfrm>
          <a:custGeom>
            <a:avLst/>
            <a:gdLst/>
            <a:ahLst/>
            <a:cxnLst/>
            <a:rect l="l" t="t" r="r" b="b"/>
            <a:pathLst>
              <a:path w="12964286" h="2787321">
                <a:moveTo>
                  <a:pt x="0" y="0"/>
                </a:moveTo>
                <a:lnTo>
                  <a:pt x="12964286" y="0"/>
                </a:lnTo>
                <a:lnTo>
                  <a:pt x="12964286" y="2787321"/>
                </a:lnTo>
                <a:lnTo>
                  <a:pt x="0" y="2787321"/>
                </a:lnTo>
                <a:lnTo>
                  <a:pt x="0" y="0"/>
                </a:lnTo>
                <a:close/>
              </a:path>
            </a:pathLst>
          </a:custGeom>
          <a:blipFill>
            <a:blip r:embed="rId12"/>
            <a:stretch>
              <a:fillRect/>
            </a:stretch>
          </a:blipFill>
        </p:spPr>
        <p:txBody>
          <a:bodyPr/>
          <a:lstStyle/>
          <a:p>
            <a:endParaRPr lang="zh-TW" altLang="en-US"/>
          </a:p>
        </p:txBody>
      </p:sp>
      <p:sp>
        <p:nvSpPr>
          <p:cNvPr id="14" name="Freeform 14"/>
          <p:cNvSpPr/>
          <p:nvPr/>
        </p:nvSpPr>
        <p:spPr>
          <a:xfrm>
            <a:off x="2661857" y="1567300"/>
            <a:ext cx="13074598" cy="2924201"/>
          </a:xfrm>
          <a:custGeom>
            <a:avLst/>
            <a:gdLst/>
            <a:ahLst/>
            <a:cxnLst/>
            <a:rect l="l" t="t" r="r" b="b"/>
            <a:pathLst>
              <a:path w="13074598" h="2924201">
                <a:moveTo>
                  <a:pt x="0" y="0"/>
                </a:moveTo>
                <a:lnTo>
                  <a:pt x="13074598" y="0"/>
                </a:lnTo>
                <a:lnTo>
                  <a:pt x="13074598" y="2924201"/>
                </a:lnTo>
                <a:lnTo>
                  <a:pt x="0" y="2924201"/>
                </a:lnTo>
                <a:lnTo>
                  <a:pt x="0" y="0"/>
                </a:lnTo>
                <a:close/>
              </a:path>
            </a:pathLst>
          </a:custGeom>
          <a:blipFill>
            <a:blip r:embed="rId13"/>
            <a:stretch>
              <a:fillRect t="-15691"/>
            </a:stretch>
          </a:blipFill>
        </p:spPr>
        <p:txBody>
          <a:bodyPr/>
          <a:lstStyle/>
          <a:p>
            <a:endParaRPr lang="zh-TW" altLang="en-US"/>
          </a:p>
        </p:txBody>
      </p:sp>
      <p:sp>
        <p:nvSpPr>
          <p:cNvPr id="15" name="TextBox 15"/>
          <p:cNvSpPr txBox="1"/>
          <p:nvPr/>
        </p:nvSpPr>
        <p:spPr>
          <a:xfrm>
            <a:off x="6298713" y="561793"/>
            <a:ext cx="4159936" cy="838564"/>
          </a:xfrm>
          <a:prstGeom prst="rect">
            <a:avLst/>
          </a:prstGeom>
        </p:spPr>
        <p:txBody>
          <a:bodyPr lIns="0" tIns="0" rIns="0" bIns="0" rtlCol="0" anchor="t">
            <a:spAutoFit/>
          </a:bodyPr>
          <a:lstStyle/>
          <a:p>
            <a:pPr algn="l">
              <a:lnSpc>
                <a:spcPts val="6900"/>
              </a:lnSpc>
              <a:spcBef>
                <a:spcPct val="0"/>
              </a:spcBef>
            </a:pPr>
            <a:r>
              <a:rPr lang="en-US" sz="4928">
                <a:solidFill>
                  <a:srgbClr val="000000"/>
                </a:solidFill>
                <a:latin typeface="Quicksand"/>
                <a:ea typeface="Quicksand"/>
                <a:cs typeface="Quicksand"/>
                <a:sym typeface="Quicksand"/>
              </a:rPr>
              <a:t>GITHUB 紀錄</a:t>
            </a:r>
          </a:p>
        </p:txBody>
      </p:sp>
      <p:sp>
        <p:nvSpPr>
          <p:cNvPr id="16" name="TextBox 16"/>
          <p:cNvSpPr txBox="1"/>
          <p:nvPr/>
        </p:nvSpPr>
        <p:spPr>
          <a:xfrm>
            <a:off x="2661857" y="8710929"/>
            <a:ext cx="5540317" cy="547335"/>
          </a:xfrm>
          <a:prstGeom prst="rect">
            <a:avLst/>
          </a:prstGeom>
        </p:spPr>
        <p:txBody>
          <a:bodyPr lIns="0" tIns="0" rIns="0" bIns="0" rtlCol="0" anchor="t">
            <a:spAutoFit/>
          </a:bodyPr>
          <a:lstStyle/>
          <a:p>
            <a:pPr algn="l">
              <a:lnSpc>
                <a:spcPts val="4479"/>
              </a:lnSpc>
              <a:spcBef>
                <a:spcPct val="0"/>
              </a:spcBef>
            </a:pPr>
            <a:r>
              <a:rPr lang="en-US" sz="3199">
                <a:solidFill>
                  <a:srgbClr val="000000"/>
                </a:solidFill>
                <a:latin typeface="Quicksand"/>
                <a:ea typeface="Quicksand"/>
                <a:cs typeface="Quicksand"/>
                <a:sym typeface="Quicksand"/>
              </a:rPr>
              <a:t>11056045-黃思璇</a:t>
            </a:r>
          </a:p>
        </p:txBody>
      </p:sp>
      <p:sp>
        <p:nvSpPr>
          <p:cNvPr id="17" name="TextBox 17"/>
          <p:cNvSpPr txBox="1"/>
          <p:nvPr/>
        </p:nvSpPr>
        <p:spPr>
          <a:xfrm>
            <a:off x="2661857" y="4596129"/>
            <a:ext cx="5540317" cy="547335"/>
          </a:xfrm>
          <a:prstGeom prst="rect">
            <a:avLst/>
          </a:prstGeom>
        </p:spPr>
        <p:txBody>
          <a:bodyPr lIns="0" tIns="0" rIns="0" bIns="0" rtlCol="0" anchor="t">
            <a:spAutoFit/>
          </a:bodyPr>
          <a:lstStyle/>
          <a:p>
            <a:pPr algn="l">
              <a:lnSpc>
                <a:spcPts val="4479"/>
              </a:lnSpc>
              <a:spcBef>
                <a:spcPct val="0"/>
              </a:spcBef>
            </a:pPr>
            <a:r>
              <a:rPr lang="en-US" sz="3199">
                <a:solidFill>
                  <a:srgbClr val="000000"/>
                </a:solidFill>
                <a:latin typeface="Quicksand"/>
                <a:ea typeface="Quicksand"/>
                <a:cs typeface="Quicksand"/>
                <a:sym typeface="Quicksand"/>
              </a:rPr>
              <a:t>11056042-李品臻</a:t>
            </a:r>
          </a:p>
        </p:txBody>
      </p:sp>
      <p:sp>
        <p:nvSpPr>
          <p:cNvPr id="19" name="投影片編號版面配置區 1">
            <a:extLst>
              <a:ext uri="{FF2B5EF4-FFF2-40B4-BE49-F238E27FC236}">
                <a16:creationId xmlns:a16="http://schemas.microsoft.com/office/drawing/2014/main" id="{018F7FF2-E224-31AA-C611-0A33EF612B4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43</a:t>
            </a:fld>
            <a:endParaRPr lang="en-US" sz="4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1C69DC9C-90BC-B253-32CF-6AFA37897E5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412BF26-E440-E877-5230-B43845A80B6D}"/>
              </a:ext>
            </a:extLst>
          </p:cNvPr>
          <p:cNvGrpSpPr/>
          <p:nvPr/>
        </p:nvGrpSpPr>
        <p:grpSpPr>
          <a:xfrm>
            <a:off x="-510256" y="-342401"/>
            <a:ext cx="20772145" cy="10971802"/>
            <a:chOff x="0" y="0"/>
            <a:chExt cx="27696193" cy="14629069"/>
          </a:xfrm>
        </p:grpSpPr>
        <p:sp>
          <p:nvSpPr>
            <p:cNvPr id="3" name="Freeform 3">
              <a:extLst>
                <a:ext uri="{FF2B5EF4-FFF2-40B4-BE49-F238E27FC236}">
                  <a16:creationId xmlns:a16="http://schemas.microsoft.com/office/drawing/2014/main" id="{5483EFF3-D53E-6EF2-09E0-A96DB2F13A8F}"/>
                </a:ext>
              </a:extLst>
            </p:cNvPr>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a:extLst>
                <a:ext uri="{FF2B5EF4-FFF2-40B4-BE49-F238E27FC236}">
                  <a16:creationId xmlns:a16="http://schemas.microsoft.com/office/drawing/2014/main" id="{724AAC69-658A-9DA2-B96C-7677C205CD90}"/>
                </a:ext>
              </a:extLst>
            </p:cNvPr>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a:extLst>
                <a:ext uri="{FF2B5EF4-FFF2-40B4-BE49-F238E27FC236}">
                  <a16:creationId xmlns:a16="http://schemas.microsoft.com/office/drawing/2014/main" id="{5E365C65-5E91-ACA3-321A-DA00E6FEE37B}"/>
                </a:ext>
              </a:extLst>
            </p:cNvPr>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a:extLst>
                <a:ext uri="{FF2B5EF4-FFF2-40B4-BE49-F238E27FC236}">
                  <a16:creationId xmlns:a16="http://schemas.microsoft.com/office/drawing/2014/main" id="{87DE1A76-7166-C88C-A304-39BABDA5D3C7}"/>
                </a:ext>
              </a:extLst>
            </p:cNvPr>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a:extLst>
                <a:ext uri="{FF2B5EF4-FFF2-40B4-BE49-F238E27FC236}">
                  <a16:creationId xmlns:a16="http://schemas.microsoft.com/office/drawing/2014/main" id="{342A2E82-DD01-A55E-022B-4AAB46EC1D18}"/>
                </a:ext>
              </a:extLst>
            </p:cNvPr>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a:extLst>
                <a:ext uri="{FF2B5EF4-FFF2-40B4-BE49-F238E27FC236}">
                  <a16:creationId xmlns:a16="http://schemas.microsoft.com/office/drawing/2014/main" id="{CAB3F071-E582-2D12-E459-08100B0B875A}"/>
                </a:ext>
              </a:extLst>
            </p:cNvPr>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9" name="TextBox 9">
            <a:extLst>
              <a:ext uri="{FF2B5EF4-FFF2-40B4-BE49-F238E27FC236}">
                <a16:creationId xmlns:a16="http://schemas.microsoft.com/office/drawing/2014/main" id="{1A73D053-0769-9B7D-8BF2-A2E1A1564065}"/>
              </a:ext>
            </a:extLst>
          </p:cNvPr>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en-US" sz="6396" b="1">
                <a:solidFill>
                  <a:srgbClr val="494F56"/>
                </a:solidFill>
                <a:latin typeface="Quicksand Bold"/>
                <a:ea typeface="Quicksand Bold"/>
                <a:cs typeface="Quicksand Bold"/>
                <a:sym typeface="Quicksand Bold"/>
              </a:rPr>
              <a:t>參考資料</a:t>
            </a:r>
          </a:p>
        </p:txBody>
      </p:sp>
      <p:sp>
        <p:nvSpPr>
          <p:cNvPr id="10" name="TextBox 10">
            <a:extLst>
              <a:ext uri="{FF2B5EF4-FFF2-40B4-BE49-F238E27FC236}">
                <a16:creationId xmlns:a16="http://schemas.microsoft.com/office/drawing/2014/main" id="{D03FDB54-6A3C-8FC1-68D1-A326DB36927E}"/>
              </a:ext>
            </a:extLst>
          </p:cNvPr>
          <p:cNvSpPr txBox="1"/>
          <p:nvPr/>
        </p:nvSpPr>
        <p:spPr>
          <a:xfrm>
            <a:off x="1900876" y="1945655"/>
            <a:ext cx="11552211" cy="381454"/>
          </a:xfrm>
          <a:prstGeom prst="rect">
            <a:avLst/>
          </a:prstGeom>
        </p:spPr>
        <p:txBody>
          <a:bodyPr lIns="0" tIns="0" rIns="0" bIns="0" rtlCol="0" anchor="t">
            <a:spAutoFit/>
          </a:bodyPr>
          <a:lstStyle/>
          <a:p>
            <a:pPr algn="ctr">
              <a:lnSpc>
                <a:spcPts val="3101"/>
              </a:lnSpc>
              <a:spcBef>
                <a:spcPct val="0"/>
              </a:spcBef>
            </a:pPr>
            <a:r>
              <a:rPr lang="en-US" sz="2215" b="1" u="sng">
                <a:solidFill>
                  <a:srgbClr val="494F56"/>
                </a:solidFill>
                <a:latin typeface="Atma Medium"/>
                <a:ea typeface="Atma Medium"/>
                <a:cs typeface="Atma Medium"/>
                <a:sym typeface="Atma Medium"/>
                <a:hlinkClick r:id="rId4" tooltip="https://udn.com/news/story/7314/8766037?utm_source=yahoonews&amp;utm_medium=yahoo"/>
              </a:rPr>
              <a:t> 聯合報  </a:t>
            </a:r>
            <a:r>
              <a:rPr lang="en-US" sz="2215">
                <a:solidFill>
                  <a:srgbClr val="494F56"/>
                </a:solidFill>
                <a:latin typeface="Atma"/>
                <a:ea typeface="Atma"/>
                <a:cs typeface="Atma"/>
                <a:sym typeface="Atma"/>
              </a:rPr>
              <a:t> :</a:t>
            </a:r>
            <a:r>
              <a:rPr lang="en-US" sz="2215" b="1" u="sng">
                <a:solidFill>
                  <a:srgbClr val="494F56"/>
                </a:solidFill>
                <a:latin typeface="Atma Medium"/>
                <a:ea typeface="Atma Medium"/>
                <a:cs typeface="Atma Medium"/>
                <a:sym typeface="Atma Medium"/>
                <a:hlinkClick r:id="rId4" tooltip="https://udn.com/news/story/7314/8766037?utm_source=yahoonews&amp;utm_medium=yahoo"/>
              </a:rPr>
              <a:t>https://udn.com/news/story/7314/8766037?utm_source=yahoonews&amp;utm_medium=yahoo字</a:t>
            </a:r>
          </a:p>
        </p:txBody>
      </p:sp>
      <p:sp>
        <p:nvSpPr>
          <p:cNvPr id="11" name="TextBox 11">
            <a:extLst>
              <a:ext uri="{FF2B5EF4-FFF2-40B4-BE49-F238E27FC236}">
                <a16:creationId xmlns:a16="http://schemas.microsoft.com/office/drawing/2014/main" id="{7EA3EFC7-F7DB-09F3-16A3-6AE3B89D49BC}"/>
              </a:ext>
            </a:extLst>
          </p:cNvPr>
          <p:cNvSpPr txBox="1"/>
          <p:nvPr/>
        </p:nvSpPr>
        <p:spPr>
          <a:xfrm>
            <a:off x="1900876" y="2805665"/>
            <a:ext cx="12284472" cy="381900"/>
          </a:xfrm>
          <a:prstGeom prst="rect">
            <a:avLst/>
          </a:prstGeom>
        </p:spPr>
        <p:txBody>
          <a:bodyPr lIns="0" tIns="0" rIns="0" bIns="0" rtlCol="0" anchor="t">
            <a:spAutoFit/>
          </a:bodyPr>
          <a:lstStyle/>
          <a:p>
            <a:pPr algn="ctr">
              <a:lnSpc>
                <a:spcPts val="3100"/>
              </a:lnSpc>
              <a:spcBef>
                <a:spcPct val="0"/>
              </a:spcBef>
            </a:pPr>
            <a:r>
              <a:rPr lang="en-US" sz="2214">
                <a:solidFill>
                  <a:srgbClr val="494F56"/>
                </a:solidFill>
                <a:latin typeface="Atma"/>
                <a:ea typeface="Atma"/>
                <a:cs typeface="Atma"/>
                <a:sym typeface="Atma"/>
              </a:rPr>
              <a:t>內政部警政署:  </a:t>
            </a:r>
            <a:r>
              <a:rPr lang="en-US" sz="2214" b="1" u="sng">
                <a:solidFill>
                  <a:srgbClr val="494F56"/>
                </a:solidFill>
                <a:latin typeface="Atma Medium"/>
                <a:ea typeface="Atma Medium"/>
                <a:cs typeface="Atma Medium"/>
                <a:sym typeface="Atma Medium"/>
                <a:hlinkClick r:id="rId5" tooltip="https://www.npa.gov.tw/ch/app/data/list?module=wg054&amp;id=2206"/>
              </a:rPr>
              <a:t>https://udn.com/news/story/7314/8766037?utm_source=yahoonews&amp;utm_medium=yahoo字</a:t>
            </a:r>
          </a:p>
        </p:txBody>
      </p:sp>
      <p:sp>
        <p:nvSpPr>
          <p:cNvPr id="12" name="TextBox 12">
            <a:extLst>
              <a:ext uri="{FF2B5EF4-FFF2-40B4-BE49-F238E27FC236}">
                <a16:creationId xmlns:a16="http://schemas.microsoft.com/office/drawing/2014/main" id="{C8A57C56-850A-8193-6171-40A0F4DDAAB3}"/>
              </a:ext>
            </a:extLst>
          </p:cNvPr>
          <p:cNvSpPr txBox="1"/>
          <p:nvPr/>
        </p:nvSpPr>
        <p:spPr>
          <a:xfrm>
            <a:off x="1937543" y="3663815"/>
            <a:ext cx="7206457" cy="381900"/>
          </a:xfrm>
          <a:prstGeom prst="rect">
            <a:avLst/>
          </a:prstGeom>
        </p:spPr>
        <p:txBody>
          <a:bodyPr lIns="0" tIns="0" rIns="0" bIns="0" rtlCol="0" anchor="t">
            <a:spAutoFit/>
          </a:bodyPr>
          <a:lstStyle/>
          <a:p>
            <a:pPr algn="ctr">
              <a:lnSpc>
                <a:spcPts val="3100"/>
              </a:lnSpc>
              <a:spcBef>
                <a:spcPct val="0"/>
              </a:spcBef>
            </a:pPr>
            <a:r>
              <a:rPr lang="en-US" sz="2214" u="sng">
                <a:solidFill>
                  <a:srgbClr val="494F56"/>
                </a:solidFill>
                <a:latin typeface="Atma"/>
                <a:ea typeface="Atma"/>
                <a:cs typeface="Atma"/>
                <a:sym typeface="Atma"/>
                <a:hlinkClick r:id="rId6" tooltip="https://www.youtube.com/watch?v=JgS_9FgAKXw"/>
              </a:rPr>
              <a:t>三立新聞網 :  https://www.youtube.com/watch?v=JgS_9FgAKXw </a:t>
            </a:r>
          </a:p>
        </p:txBody>
      </p:sp>
      <p:sp>
        <p:nvSpPr>
          <p:cNvPr id="13" name="TextBox 13">
            <a:extLst>
              <a:ext uri="{FF2B5EF4-FFF2-40B4-BE49-F238E27FC236}">
                <a16:creationId xmlns:a16="http://schemas.microsoft.com/office/drawing/2014/main" id="{71B3B35A-900D-7612-80E5-8658B117F490}"/>
              </a:ext>
            </a:extLst>
          </p:cNvPr>
          <p:cNvSpPr txBox="1"/>
          <p:nvPr/>
        </p:nvSpPr>
        <p:spPr>
          <a:xfrm>
            <a:off x="1900876" y="4521965"/>
            <a:ext cx="8023424" cy="381900"/>
          </a:xfrm>
          <a:prstGeom prst="rect">
            <a:avLst/>
          </a:prstGeom>
        </p:spPr>
        <p:txBody>
          <a:bodyPr lIns="0" tIns="0" rIns="0" bIns="0" rtlCol="0" anchor="t">
            <a:spAutoFit/>
          </a:bodyPr>
          <a:lstStyle/>
          <a:p>
            <a:pPr algn="ctr">
              <a:lnSpc>
                <a:spcPts val="3100"/>
              </a:lnSpc>
              <a:spcBef>
                <a:spcPct val="0"/>
              </a:spcBef>
            </a:pPr>
            <a:r>
              <a:rPr lang="en-US" sz="2214" u="sng">
                <a:solidFill>
                  <a:srgbClr val="494F56"/>
                </a:solidFill>
                <a:latin typeface="Atma"/>
                <a:ea typeface="Atma"/>
                <a:cs typeface="Atma"/>
                <a:sym typeface="Atma"/>
                <a:hlinkClick r:id="rId7" tooltip="https://www.nownews.com/news/6439951?utm_source=chatgpt.com"/>
              </a:rPr>
              <a:t>NOWnews今日新聞 :  https://www.youtube.com/watch?v=JgS_9FgAKXw </a:t>
            </a:r>
          </a:p>
        </p:txBody>
      </p:sp>
      <p:grpSp>
        <p:nvGrpSpPr>
          <p:cNvPr id="14" name="Group 14">
            <a:extLst>
              <a:ext uri="{FF2B5EF4-FFF2-40B4-BE49-F238E27FC236}">
                <a16:creationId xmlns:a16="http://schemas.microsoft.com/office/drawing/2014/main" id="{249B2BD6-B365-09F7-62AB-D17600A7AB7B}"/>
              </a:ext>
            </a:extLst>
          </p:cNvPr>
          <p:cNvGrpSpPr/>
          <p:nvPr/>
        </p:nvGrpSpPr>
        <p:grpSpPr>
          <a:xfrm rot="5400000">
            <a:off x="3474273" y="-4955840"/>
            <a:ext cx="11339454" cy="19920915"/>
            <a:chOff x="0" y="0"/>
            <a:chExt cx="2021507" cy="3551341"/>
          </a:xfrm>
        </p:grpSpPr>
        <p:sp>
          <p:nvSpPr>
            <p:cNvPr id="15" name="Freeform 15">
              <a:extLst>
                <a:ext uri="{FF2B5EF4-FFF2-40B4-BE49-F238E27FC236}">
                  <a16:creationId xmlns:a16="http://schemas.microsoft.com/office/drawing/2014/main" id="{01BBB64B-5A4F-A361-DE40-C987929ADC19}"/>
                </a:ext>
              </a:extLst>
            </p:cNvPr>
            <p:cNvSpPr/>
            <p:nvPr/>
          </p:nvSpPr>
          <p:spPr>
            <a:xfrm>
              <a:off x="0" y="0"/>
              <a:ext cx="2021507" cy="3551341"/>
            </a:xfrm>
            <a:custGeom>
              <a:avLst/>
              <a:gdLst/>
              <a:ahLst/>
              <a:cxnLst/>
              <a:rect l="l" t="t" r="r" b="b"/>
              <a:pathLst>
                <a:path w="2021507" h="3551341">
                  <a:moveTo>
                    <a:pt x="34820" y="0"/>
                  </a:moveTo>
                  <a:lnTo>
                    <a:pt x="1986687" y="0"/>
                  </a:lnTo>
                  <a:cubicBezTo>
                    <a:pt x="2005918" y="0"/>
                    <a:pt x="2021507" y="15589"/>
                    <a:pt x="2021507" y="34820"/>
                  </a:cubicBezTo>
                  <a:lnTo>
                    <a:pt x="2021507" y="3516521"/>
                  </a:lnTo>
                  <a:cubicBezTo>
                    <a:pt x="2021507" y="3535752"/>
                    <a:pt x="2005918" y="3551341"/>
                    <a:pt x="1986687" y="3551341"/>
                  </a:cubicBezTo>
                  <a:lnTo>
                    <a:pt x="34820" y="3551341"/>
                  </a:lnTo>
                  <a:cubicBezTo>
                    <a:pt x="15589" y="3551341"/>
                    <a:pt x="0" y="3535752"/>
                    <a:pt x="0" y="3516521"/>
                  </a:cubicBezTo>
                  <a:lnTo>
                    <a:pt x="0" y="34820"/>
                  </a:lnTo>
                  <a:cubicBezTo>
                    <a:pt x="0" y="15589"/>
                    <a:pt x="15589" y="0"/>
                    <a:pt x="34820" y="0"/>
                  </a:cubicBezTo>
                  <a:close/>
                </a:path>
              </a:pathLst>
            </a:custGeom>
            <a:solidFill>
              <a:srgbClr val="588157"/>
            </a:solidFill>
          </p:spPr>
          <p:txBody>
            <a:bodyPr/>
            <a:lstStyle/>
            <a:p>
              <a:endParaRPr lang="zh-TW" altLang="en-US"/>
            </a:p>
          </p:txBody>
        </p:sp>
        <p:sp>
          <p:nvSpPr>
            <p:cNvPr id="16" name="TextBox 16">
              <a:extLst>
                <a:ext uri="{FF2B5EF4-FFF2-40B4-BE49-F238E27FC236}">
                  <a16:creationId xmlns:a16="http://schemas.microsoft.com/office/drawing/2014/main" id="{D243579A-601C-55FC-112B-489EB1892F4B}"/>
                </a:ext>
              </a:extLst>
            </p:cNvPr>
            <p:cNvSpPr txBox="1"/>
            <p:nvPr/>
          </p:nvSpPr>
          <p:spPr>
            <a:xfrm>
              <a:off x="0" y="-38100"/>
              <a:ext cx="2021507" cy="3589441"/>
            </a:xfrm>
            <a:prstGeom prst="rect">
              <a:avLst/>
            </a:prstGeom>
          </p:spPr>
          <p:txBody>
            <a:bodyPr lIns="75051" tIns="75051" rIns="75051" bIns="75051" rtlCol="0" anchor="ctr"/>
            <a:lstStyle/>
            <a:p>
              <a:pPr algn="ctr">
                <a:lnSpc>
                  <a:spcPts val="2120"/>
                </a:lnSpc>
              </a:pPr>
              <a:endParaRPr/>
            </a:p>
          </p:txBody>
        </p:sp>
      </p:grpSp>
      <p:sp>
        <p:nvSpPr>
          <p:cNvPr id="17" name="TextBox 17">
            <a:extLst>
              <a:ext uri="{FF2B5EF4-FFF2-40B4-BE49-F238E27FC236}">
                <a16:creationId xmlns:a16="http://schemas.microsoft.com/office/drawing/2014/main" id="{FA711F21-51A2-146B-41F3-BF77AC3DA948}"/>
              </a:ext>
            </a:extLst>
          </p:cNvPr>
          <p:cNvSpPr txBox="1"/>
          <p:nvPr/>
        </p:nvSpPr>
        <p:spPr>
          <a:xfrm>
            <a:off x="4244795" y="3952446"/>
            <a:ext cx="13014505" cy="1732426"/>
          </a:xfrm>
          <a:prstGeom prst="rect">
            <a:avLst/>
          </a:prstGeom>
        </p:spPr>
        <p:txBody>
          <a:bodyPr lIns="0" tIns="0" rIns="0" bIns="0" rtlCol="0" anchor="t">
            <a:spAutoFit/>
          </a:bodyPr>
          <a:lstStyle/>
          <a:p>
            <a:pPr algn="l">
              <a:lnSpc>
                <a:spcPts val="14287"/>
              </a:lnSpc>
              <a:spcBef>
                <a:spcPct val="0"/>
              </a:spcBef>
            </a:pPr>
            <a:r>
              <a:rPr lang="zh-TW" altLang="en-US" sz="10205" dirty="0">
                <a:solidFill>
                  <a:srgbClr val="FFFFFF"/>
                </a:solidFill>
                <a:latin typeface="Quicksand"/>
                <a:ea typeface="Quicksand"/>
                <a:cs typeface="Quicksand"/>
                <a:sym typeface="Quicksand"/>
              </a:rPr>
              <a:t>七</a:t>
            </a:r>
            <a:r>
              <a:rPr lang="en-US" sz="10205" dirty="0">
                <a:solidFill>
                  <a:srgbClr val="FFFFFF"/>
                </a:solidFill>
                <a:latin typeface="Quicksand"/>
                <a:ea typeface="Quicksand"/>
                <a:cs typeface="Quicksand"/>
                <a:sym typeface="Quicksand"/>
              </a:rPr>
              <a:t>. </a:t>
            </a:r>
            <a:r>
              <a:rPr lang="zh-TW" altLang="en-US" sz="10205" dirty="0">
                <a:solidFill>
                  <a:srgbClr val="FFFFFF"/>
                </a:solidFill>
                <a:latin typeface="Quicksand"/>
                <a:ea typeface="Quicksand"/>
                <a:cs typeface="Quicksand"/>
                <a:sym typeface="Quicksand"/>
              </a:rPr>
              <a:t>專案組織分工</a:t>
            </a:r>
            <a:endParaRPr lang="en-US" sz="10205" dirty="0">
              <a:solidFill>
                <a:srgbClr val="FFFFFF"/>
              </a:solidFill>
              <a:latin typeface="Quicksand"/>
              <a:ea typeface="Quicksand"/>
              <a:cs typeface="Quicksand"/>
              <a:sym typeface="Quicksand"/>
            </a:endParaRPr>
          </a:p>
        </p:txBody>
      </p:sp>
      <p:grpSp>
        <p:nvGrpSpPr>
          <p:cNvPr id="18" name="Group 18">
            <a:extLst>
              <a:ext uri="{FF2B5EF4-FFF2-40B4-BE49-F238E27FC236}">
                <a16:creationId xmlns:a16="http://schemas.microsoft.com/office/drawing/2014/main" id="{0E58C60D-A44A-1257-F1A7-30EAF0B41F7A}"/>
              </a:ext>
            </a:extLst>
          </p:cNvPr>
          <p:cNvGrpSpPr/>
          <p:nvPr/>
        </p:nvGrpSpPr>
        <p:grpSpPr>
          <a:xfrm rot="-10800000">
            <a:off x="-6596594" y="-277765"/>
            <a:ext cx="28734743" cy="2800992"/>
            <a:chOff x="0" y="0"/>
            <a:chExt cx="38312990" cy="3734656"/>
          </a:xfrm>
        </p:grpSpPr>
        <p:sp>
          <p:nvSpPr>
            <p:cNvPr id="19" name="Freeform 19">
              <a:extLst>
                <a:ext uri="{FF2B5EF4-FFF2-40B4-BE49-F238E27FC236}">
                  <a16:creationId xmlns:a16="http://schemas.microsoft.com/office/drawing/2014/main" id="{90CBE166-4FA4-8148-DE04-3A002D881C7D}"/>
                </a:ext>
              </a:extLst>
            </p:cNvPr>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0" name="Freeform 20">
              <a:extLst>
                <a:ext uri="{FF2B5EF4-FFF2-40B4-BE49-F238E27FC236}">
                  <a16:creationId xmlns:a16="http://schemas.microsoft.com/office/drawing/2014/main" id="{A9F34D0C-3E0F-9F07-9F3C-2BA36C88830F}"/>
                </a:ext>
              </a:extLst>
            </p:cNvPr>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grpSp>
        <p:nvGrpSpPr>
          <p:cNvPr id="21" name="Group 21">
            <a:extLst>
              <a:ext uri="{FF2B5EF4-FFF2-40B4-BE49-F238E27FC236}">
                <a16:creationId xmlns:a16="http://schemas.microsoft.com/office/drawing/2014/main" id="{EF7B7BF3-C847-E2E3-21C7-4C7413D6B9FE}"/>
              </a:ext>
            </a:extLst>
          </p:cNvPr>
          <p:cNvGrpSpPr/>
          <p:nvPr/>
        </p:nvGrpSpPr>
        <p:grpSpPr>
          <a:xfrm>
            <a:off x="-6409755" y="7486008"/>
            <a:ext cx="28734743" cy="2800992"/>
            <a:chOff x="0" y="0"/>
            <a:chExt cx="38312990" cy="3734656"/>
          </a:xfrm>
        </p:grpSpPr>
        <p:sp>
          <p:nvSpPr>
            <p:cNvPr id="22" name="Freeform 22">
              <a:extLst>
                <a:ext uri="{FF2B5EF4-FFF2-40B4-BE49-F238E27FC236}">
                  <a16:creationId xmlns:a16="http://schemas.microsoft.com/office/drawing/2014/main" id="{9E376764-B92E-E5CD-880C-806FC87F266D}"/>
                </a:ext>
              </a:extLst>
            </p:cNvPr>
            <p:cNvSpPr/>
            <p:nvPr/>
          </p:nvSpPr>
          <p:spPr>
            <a:xfrm>
              <a:off x="15386582" y="769209"/>
              <a:ext cx="22926408" cy="2965446"/>
            </a:xfrm>
            <a:custGeom>
              <a:avLst/>
              <a:gdLst/>
              <a:ahLst/>
              <a:cxnLst/>
              <a:rect l="l" t="t" r="r" b="b"/>
              <a:pathLst>
                <a:path w="22926408" h="2965446">
                  <a:moveTo>
                    <a:pt x="0" y="0"/>
                  </a:moveTo>
                  <a:lnTo>
                    <a:pt x="22926408" y="0"/>
                  </a:lnTo>
                  <a:lnTo>
                    <a:pt x="22926408" y="2965447"/>
                  </a:lnTo>
                  <a:lnTo>
                    <a:pt x="0" y="29654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3" name="Freeform 23">
              <a:extLst>
                <a:ext uri="{FF2B5EF4-FFF2-40B4-BE49-F238E27FC236}">
                  <a16:creationId xmlns:a16="http://schemas.microsoft.com/office/drawing/2014/main" id="{F76448C3-5564-1277-B057-75D37BC3C12D}"/>
                </a:ext>
              </a:extLst>
            </p:cNvPr>
            <p:cNvSpPr/>
            <p:nvPr/>
          </p:nvSpPr>
          <p:spPr>
            <a:xfrm rot="-10800000">
              <a:off x="0" y="0"/>
              <a:ext cx="22569304" cy="2919256"/>
            </a:xfrm>
            <a:custGeom>
              <a:avLst/>
              <a:gdLst/>
              <a:ahLst/>
              <a:cxnLst/>
              <a:rect l="l" t="t" r="r" b="b"/>
              <a:pathLst>
                <a:path w="22569304" h="2919256">
                  <a:moveTo>
                    <a:pt x="0" y="0"/>
                  </a:moveTo>
                  <a:lnTo>
                    <a:pt x="22569304" y="0"/>
                  </a:lnTo>
                  <a:lnTo>
                    <a:pt x="22569304" y="2919256"/>
                  </a:lnTo>
                  <a:lnTo>
                    <a:pt x="0" y="2919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sp>
        <p:nvSpPr>
          <p:cNvPr id="24" name="投影片編號版面配置區 23">
            <a:extLst>
              <a:ext uri="{FF2B5EF4-FFF2-40B4-BE49-F238E27FC236}">
                <a16:creationId xmlns:a16="http://schemas.microsoft.com/office/drawing/2014/main" id="{78EA82AA-41B8-BB0B-1FE1-BBACE216F386}"/>
              </a:ext>
            </a:extLst>
          </p:cNvPr>
          <p:cNvSpPr>
            <a:spLocks noGrp="1"/>
          </p:cNvSpPr>
          <p:nvPr>
            <p:ph type="sldNum" sz="quarter" idx="12"/>
          </p:nvPr>
        </p:nvSpPr>
        <p:spPr>
          <a:xfrm>
            <a:off x="-4256329" y="3649277"/>
            <a:ext cx="2133600" cy="365125"/>
          </a:xfrm>
        </p:spPr>
        <p:txBody>
          <a:bodyPr/>
          <a:lstStyle/>
          <a:p>
            <a:endParaRPr lang="en-US" dirty="0"/>
          </a:p>
        </p:txBody>
      </p:sp>
      <p:sp>
        <p:nvSpPr>
          <p:cNvPr id="25" name="投影片編號版面配置區 1">
            <a:extLst>
              <a:ext uri="{FF2B5EF4-FFF2-40B4-BE49-F238E27FC236}">
                <a16:creationId xmlns:a16="http://schemas.microsoft.com/office/drawing/2014/main" id="{16C2E38B-D8F7-98F5-9F2F-AF694E38114E}"/>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solidFill>
                  <a:schemeClr val="bg1"/>
                </a:solidFill>
              </a:rPr>
              <a:pPr/>
              <a:t>44</a:t>
            </a:fld>
            <a:endParaRPr lang="en-US" sz="4400" dirty="0">
              <a:solidFill>
                <a:schemeClr val="bg1"/>
              </a:solidFill>
            </a:endParaRPr>
          </a:p>
        </p:txBody>
      </p:sp>
    </p:spTree>
    <p:extLst>
      <p:ext uri="{BB962C8B-B14F-4D97-AF65-F5344CB8AC3E}">
        <p14:creationId xmlns:p14="http://schemas.microsoft.com/office/powerpoint/2010/main" val="25860965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716520" y="0"/>
            <a:ext cx="20772145" cy="10971802"/>
            <a:chOff x="0" y="0"/>
            <a:chExt cx="27696193" cy="14629069"/>
          </a:xfrm>
        </p:grpSpPr>
        <p:sp>
          <p:nvSpPr>
            <p:cNvPr id="3" name="Freeform 3"/>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9" name="Freeform 9"/>
          <p:cNvSpPr/>
          <p:nvPr/>
        </p:nvSpPr>
        <p:spPr>
          <a:xfrm>
            <a:off x="4105169" y="743314"/>
            <a:ext cx="10143395" cy="9249616"/>
          </a:xfrm>
          <a:custGeom>
            <a:avLst/>
            <a:gdLst/>
            <a:ahLst/>
            <a:cxnLst/>
            <a:rect l="l" t="t" r="r" b="b"/>
            <a:pathLst>
              <a:path w="10143395" h="9249616">
                <a:moveTo>
                  <a:pt x="0" y="0"/>
                </a:moveTo>
                <a:lnTo>
                  <a:pt x="10143395" y="0"/>
                </a:lnTo>
                <a:lnTo>
                  <a:pt x="10143395" y="9249615"/>
                </a:lnTo>
                <a:lnTo>
                  <a:pt x="0" y="9249615"/>
                </a:lnTo>
                <a:lnTo>
                  <a:pt x="0" y="0"/>
                </a:lnTo>
                <a:close/>
              </a:path>
            </a:pathLst>
          </a:custGeom>
          <a:blipFill>
            <a:blip r:embed="rId4"/>
            <a:stretch>
              <a:fillRect l="-1139" r="-1139" b="-325"/>
            </a:stretch>
          </a:blipFill>
        </p:spPr>
        <p:txBody>
          <a:bodyPr/>
          <a:lstStyle/>
          <a:p>
            <a:endParaRPr lang="zh-TW" altLang="en-US"/>
          </a:p>
        </p:txBody>
      </p:sp>
      <p:sp>
        <p:nvSpPr>
          <p:cNvPr id="10" name="TextBox 10"/>
          <p:cNvSpPr txBox="1"/>
          <p:nvPr/>
        </p:nvSpPr>
        <p:spPr>
          <a:xfrm>
            <a:off x="6868708" y="-95250"/>
            <a:ext cx="4550584" cy="838564"/>
          </a:xfrm>
          <a:prstGeom prst="rect">
            <a:avLst/>
          </a:prstGeom>
        </p:spPr>
        <p:txBody>
          <a:bodyPr lIns="0" tIns="0" rIns="0" bIns="0" rtlCol="0" anchor="t">
            <a:spAutoFit/>
          </a:bodyPr>
          <a:lstStyle/>
          <a:p>
            <a:pPr algn="l">
              <a:lnSpc>
                <a:spcPts val="6900"/>
              </a:lnSpc>
              <a:spcBef>
                <a:spcPct val="0"/>
              </a:spcBef>
            </a:pPr>
            <a:r>
              <a:rPr lang="en-US" sz="4928">
                <a:solidFill>
                  <a:srgbClr val="000000"/>
                </a:solidFill>
                <a:latin typeface="Quicksand"/>
                <a:ea typeface="Quicksand"/>
                <a:cs typeface="Quicksand"/>
                <a:sym typeface="Quicksand"/>
              </a:rPr>
              <a:t>專案組織與分工</a:t>
            </a:r>
          </a:p>
        </p:txBody>
      </p:sp>
      <p:grpSp>
        <p:nvGrpSpPr>
          <p:cNvPr id="11" name="Group 11"/>
          <p:cNvGrpSpPr/>
          <p:nvPr/>
        </p:nvGrpSpPr>
        <p:grpSpPr>
          <a:xfrm rot="-5400000">
            <a:off x="-9286888" y="2994687"/>
            <a:ext cx="22859459" cy="2228284"/>
            <a:chOff x="0" y="0"/>
            <a:chExt cx="30479278" cy="2971045"/>
          </a:xfrm>
        </p:grpSpPr>
        <p:sp>
          <p:nvSpPr>
            <p:cNvPr id="12" name="Freeform 12"/>
            <p:cNvSpPr/>
            <p:nvPr/>
          </p:nvSpPr>
          <p:spPr>
            <a:xfrm>
              <a:off x="12240546" y="611932"/>
              <a:ext cx="18238732" cy="2359113"/>
            </a:xfrm>
            <a:custGeom>
              <a:avLst/>
              <a:gdLst/>
              <a:ahLst/>
              <a:cxnLst/>
              <a:rect l="l" t="t" r="r" b="b"/>
              <a:pathLst>
                <a:path w="18238732" h="2359113">
                  <a:moveTo>
                    <a:pt x="0" y="0"/>
                  </a:moveTo>
                  <a:lnTo>
                    <a:pt x="18238732" y="0"/>
                  </a:lnTo>
                  <a:lnTo>
                    <a:pt x="18238732" y="2359113"/>
                  </a:lnTo>
                  <a:lnTo>
                    <a:pt x="0" y="235911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13" name="Freeform 13"/>
            <p:cNvSpPr/>
            <p:nvPr/>
          </p:nvSpPr>
          <p:spPr>
            <a:xfrm rot="-10800000">
              <a:off x="0" y="0"/>
              <a:ext cx="17954644" cy="2322367"/>
            </a:xfrm>
            <a:custGeom>
              <a:avLst/>
              <a:gdLst/>
              <a:ahLst/>
              <a:cxnLst/>
              <a:rect l="l" t="t" r="r" b="b"/>
              <a:pathLst>
                <a:path w="17954644" h="2322367">
                  <a:moveTo>
                    <a:pt x="0" y="0"/>
                  </a:moveTo>
                  <a:lnTo>
                    <a:pt x="17954644" y="0"/>
                  </a:lnTo>
                  <a:lnTo>
                    <a:pt x="17954644" y="2322367"/>
                  </a:lnTo>
                  <a:lnTo>
                    <a:pt x="0" y="232236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grpSp>
      <p:grpSp>
        <p:nvGrpSpPr>
          <p:cNvPr id="14" name="Group 14"/>
          <p:cNvGrpSpPr/>
          <p:nvPr/>
        </p:nvGrpSpPr>
        <p:grpSpPr>
          <a:xfrm rot="5400000">
            <a:off x="4780701" y="3672947"/>
            <a:ext cx="22859459" cy="2228284"/>
            <a:chOff x="0" y="0"/>
            <a:chExt cx="30479278" cy="2971045"/>
          </a:xfrm>
        </p:grpSpPr>
        <p:sp>
          <p:nvSpPr>
            <p:cNvPr id="15" name="Freeform 15"/>
            <p:cNvSpPr/>
            <p:nvPr/>
          </p:nvSpPr>
          <p:spPr>
            <a:xfrm>
              <a:off x="12240546" y="611932"/>
              <a:ext cx="18238732" cy="2359113"/>
            </a:xfrm>
            <a:custGeom>
              <a:avLst/>
              <a:gdLst/>
              <a:ahLst/>
              <a:cxnLst/>
              <a:rect l="l" t="t" r="r" b="b"/>
              <a:pathLst>
                <a:path w="18238732" h="2359113">
                  <a:moveTo>
                    <a:pt x="0" y="0"/>
                  </a:moveTo>
                  <a:lnTo>
                    <a:pt x="18238732" y="0"/>
                  </a:lnTo>
                  <a:lnTo>
                    <a:pt x="18238732" y="2359113"/>
                  </a:lnTo>
                  <a:lnTo>
                    <a:pt x="0" y="235911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16" name="Freeform 16"/>
            <p:cNvSpPr/>
            <p:nvPr/>
          </p:nvSpPr>
          <p:spPr>
            <a:xfrm rot="-10800000">
              <a:off x="0" y="0"/>
              <a:ext cx="17954644" cy="2322367"/>
            </a:xfrm>
            <a:custGeom>
              <a:avLst/>
              <a:gdLst/>
              <a:ahLst/>
              <a:cxnLst/>
              <a:rect l="l" t="t" r="r" b="b"/>
              <a:pathLst>
                <a:path w="17954644" h="2322367">
                  <a:moveTo>
                    <a:pt x="0" y="0"/>
                  </a:moveTo>
                  <a:lnTo>
                    <a:pt x="17954644" y="0"/>
                  </a:lnTo>
                  <a:lnTo>
                    <a:pt x="17954644" y="2322367"/>
                  </a:lnTo>
                  <a:lnTo>
                    <a:pt x="0" y="232236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grpSp>
      <p:sp>
        <p:nvSpPr>
          <p:cNvPr id="17" name="投影片編號版面配置區 16">
            <a:extLst>
              <a:ext uri="{FF2B5EF4-FFF2-40B4-BE49-F238E27FC236}">
                <a16:creationId xmlns:a16="http://schemas.microsoft.com/office/drawing/2014/main" id="{5E86DBBF-D8F0-D339-6D7B-B6F8E4441391}"/>
              </a:ext>
            </a:extLst>
          </p:cNvPr>
          <p:cNvSpPr>
            <a:spLocks noGrp="1"/>
          </p:cNvSpPr>
          <p:nvPr>
            <p:ph type="sldNum" sz="quarter" idx="12"/>
          </p:nvPr>
        </p:nvSpPr>
        <p:spPr>
          <a:xfrm>
            <a:off x="-3703146" y="4533900"/>
            <a:ext cx="2133600" cy="365125"/>
          </a:xfrm>
        </p:spPr>
        <p:txBody>
          <a:bodyPr/>
          <a:lstStyle/>
          <a:p>
            <a:endParaRPr lang="en-US" dirty="0"/>
          </a:p>
        </p:txBody>
      </p:sp>
      <p:sp>
        <p:nvSpPr>
          <p:cNvPr id="18" name="投影片編號版面配置區 1">
            <a:extLst>
              <a:ext uri="{FF2B5EF4-FFF2-40B4-BE49-F238E27FC236}">
                <a16:creationId xmlns:a16="http://schemas.microsoft.com/office/drawing/2014/main" id="{9CC5D0DA-7C21-4C51-C4CA-E68822D97120}"/>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45</a:t>
            </a:fld>
            <a:endParaRPr lang="en-US" sz="4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4" name="Group 4"/>
          <p:cNvGrpSpPr/>
          <p:nvPr/>
        </p:nvGrpSpPr>
        <p:grpSpPr>
          <a:xfrm>
            <a:off x="-2007391" y="0"/>
            <a:ext cx="20772145" cy="10971802"/>
            <a:chOff x="0" y="0"/>
            <a:chExt cx="27696193" cy="14629069"/>
          </a:xfrm>
        </p:grpSpPr>
        <p:sp>
          <p:nvSpPr>
            <p:cNvPr id="5" name="Freeform 5"/>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2" name="Freeform 2"/>
          <p:cNvSpPr/>
          <p:nvPr/>
        </p:nvSpPr>
        <p:spPr>
          <a:xfrm rot="-5096997">
            <a:off x="5876373" y="-8503717"/>
            <a:ext cx="20322237" cy="19085106"/>
          </a:xfrm>
          <a:custGeom>
            <a:avLst/>
            <a:gdLst/>
            <a:ahLst/>
            <a:cxnLst/>
            <a:rect l="l" t="t" r="r" b="b"/>
            <a:pathLst>
              <a:path w="20322237" h="19085106">
                <a:moveTo>
                  <a:pt x="0" y="0"/>
                </a:moveTo>
                <a:lnTo>
                  <a:pt x="20322237" y="0"/>
                </a:lnTo>
                <a:lnTo>
                  <a:pt x="20322237" y="19085106"/>
                </a:lnTo>
                <a:lnTo>
                  <a:pt x="0" y="190851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3" name="Freeform 3"/>
          <p:cNvSpPr/>
          <p:nvPr/>
        </p:nvSpPr>
        <p:spPr>
          <a:xfrm rot="4240771">
            <a:off x="-2892344" y="3676233"/>
            <a:ext cx="16654833" cy="11476694"/>
          </a:xfrm>
          <a:custGeom>
            <a:avLst/>
            <a:gdLst/>
            <a:ahLst/>
            <a:cxnLst/>
            <a:rect l="l" t="t" r="r" b="b"/>
            <a:pathLst>
              <a:path w="16654833" h="11476694">
                <a:moveTo>
                  <a:pt x="0" y="0"/>
                </a:moveTo>
                <a:lnTo>
                  <a:pt x="16654833" y="0"/>
                </a:lnTo>
                <a:lnTo>
                  <a:pt x="16654833" y="11476694"/>
                </a:lnTo>
                <a:lnTo>
                  <a:pt x="0" y="11476694"/>
                </a:lnTo>
                <a:lnTo>
                  <a:pt x="0" y="0"/>
                </a:lnTo>
                <a:close/>
              </a:path>
            </a:pathLst>
          </a:custGeom>
          <a:blipFill>
            <a:blip r:embed="rId6">
              <a:alphaModFix amt="35000"/>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Freeform 11"/>
          <p:cNvSpPr/>
          <p:nvPr/>
        </p:nvSpPr>
        <p:spPr>
          <a:xfrm rot="-8526383">
            <a:off x="10524505" y="4112778"/>
            <a:ext cx="12762971" cy="13033246"/>
          </a:xfrm>
          <a:custGeom>
            <a:avLst/>
            <a:gdLst/>
            <a:ahLst/>
            <a:cxnLst/>
            <a:rect l="l" t="t" r="r" b="b"/>
            <a:pathLst>
              <a:path w="12762971" h="13033246">
                <a:moveTo>
                  <a:pt x="0" y="0"/>
                </a:moveTo>
                <a:lnTo>
                  <a:pt x="12762972" y="0"/>
                </a:lnTo>
                <a:lnTo>
                  <a:pt x="12762972" y="13033246"/>
                </a:lnTo>
                <a:lnTo>
                  <a:pt x="0" y="1303324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2" name="Freeform 12"/>
          <p:cNvSpPr/>
          <p:nvPr/>
        </p:nvSpPr>
        <p:spPr>
          <a:xfrm rot="5127295">
            <a:off x="-5608990" y="-469229"/>
            <a:ext cx="11217980" cy="7954568"/>
          </a:xfrm>
          <a:custGeom>
            <a:avLst/>
            <a:gdLst/>
            <a:ahLst/>
            <a:cxnLst/>
            <a:rect l="l" t="t" r="r" b="b"/>
            <a:pathLst>
              <a:path w="11217980" h="7954568">
                <a:moveTo>
                  <a:pt x="0" y="0"/>
                </a:moveTo>
                <a:lnTo>
                  <a:pt x="11217980" y="0"/>
                </a:lnTo>
                <a:lnTo>
                  <a:pt x="11217980" y="7954568"/>
                </a:lnTo>
                <a:lnTo>
                  <a:pt x="0" y="795456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13" name="Freeform 13"/>
          <p:cNvSpPr/>
          <p:nvPr/>
        </p:nvSpPr>
        <p:spPr>
          <a:xfrm>
            <a:off x="3562249" y="3273549"/>
            <a:ext cx="11163501" cy="2934659"/>
          </a:xfrm>
          <a:custGeom>
            <a:avLst/>
            <a:gdLst/>
            <a:ahLst/>
            <a:cxnLst/>
            <a:rect l="l" t="t" r="r" b="b"/>
            <a:pathLst>
              <a:path w="11163501" h="2934659">
                <a:moveTo>
                  <a:pt x="0" y="0"/>
                </a:moveTo>
                <a:lnTo>
                  <a:pt x="11163502" y="0"/>
                </a:lnTo>
                <a:lnTo>
                  <a:pt x="11163502" y="2934659"/>
                </a:lnTo>
                <a:lnTo>
                  <a:pt x="0" y="2934659"/>
                </a:lnTo>
                <a:lnTo>
                  <a:pt x="0" y="0"/>
                </a:lnTo>
                <a:close/>
              </a:path>
            </a:pathLst>
          </a:custGeom>
          <a:blipFill>
            <a:blip r:embed="rId12"/>
            <a:stretch>
              <a:fillRect/>
            </a:stretch>
          </a:blipFill>
        </p:spPr>
        <p:txBody>
          <a:bodyPr/>
          <a:lstStyle/>
          <a:p>
            <a:endParaRPr lang="zh-TW" altLang="en-US"/>
          </a:p>
        </p:txBody>
      </p:sp>
      <p:sp>
        <p:nvSpPr>
          <p:cNvPr id="14" name="Freeform 14"/>
          <p:cNvSpPr/>
          <p:nvPr/>
        </p:nvSpPr>
        <p:spPr>
          <a:xfrm>
            <a:off x="3562249" y="6076713"/>
            <a:ext cx="11163501" cy="3668238"/>
          </a:xfrm>
          <a:custGeom>
            <a:avLst/>
            <a:gdLst/>
            <a:ahLst/>
            <a:cxnLst/>
            <a:rect l="l" t="t" r="r" b="b"/>
            <a:pathLst>
              <a:path w="11163501" h="3668238">
                <a:moveTo>
                  <a:pt x="0" y="0"/>
                </a:moveTo>
                <a:lnTo>
                  <a:pt x="11163502" y="0"/>
                </a:lnTo>
                <a:lnTo>
                  <a:pt x="11163502" y="3668238"/>
                </a:lnTo>
                <a:lnTo>
                  <a:pt x="0" y="3668238"/>
                </a:lnTo>
                <a:lnTo>
                  <a:pt x="0" y="0"/>
                </a:lnTo>
                <a:close/>
              </a:path>
            </a:pathLst>
          </a:custGeom>
          <a:blipFill>
            <a:blip r:embed="rId13"/>
            <a:stretch>
              <a:fillRect r="-29"/>
            </a:stretch>
          </a:blipFill>
        </p:spPr>
        <p:txBody>
          <a:bodyPr/>
          <a:lstStyle/>
          <a:p>
            <a:endParaRPr lang="zh-TW" altLang="en-US"/>
          </a:p>
        </p:txBody>
      </p:sp>
      <p:sp>
        <p:nvSpPr>
          <p:cNvPr id="15" name="Freeform 15"/>
          <p:cNvSpPr/>
          <p:nvPr/>
        </p:nvSpPr>
        <p:spPr>
          <a:xfrm>
            <a:off x="3562249" y="1169052"/>
            <a:ext cx="11163501" cy="2104497"/>
          </a:xfrm>
          <a:custGeom>
            <a:avLst/>
            <a:gdLst/>
            <a:ahLst/>
            <a:cxnLst/>
            <a:rect l="l" t="t" r="r" b="b"/>
            <a:pathLst>
              <a:path w="11163501" h="2104497">
                <a:moveTo>
                  <a:pt x="0" y="0"/>
                </a:moveTo>
                <a:lnTo>
                  <a:pt x="11163502" y="0"/>
                </a:lnTo>
                <a:lnTo>
                  <a:pt x="11163502" y="2104497"/>
                </a:lnTo>
                <a:lnTo>
                  <a:pt x="0" y="2104497"/>
                </a:lnTo>
                <a:lnTo>
                  <a:pt x="0" y="0"/>
                </a:lnTo>
                <a:close/>
              </a:path>
            </a:pathLst>
          </a:custGeom>
          <a:blipFill>
            <a:blip r:embed="rId14"/>
            <a:stretch>
              <a:fillRect l="-58"/>
            </a:stretch>
          </a:blipFill>
        </p:spPr>
        <p:txBody>
          <a:bodyPr/>
          <a:lstStyle/>
          <a:p>
            <a:endParaRPr lang="zh-TW" altLang="en-US"/>
          </a:p>
        </p:txBody>
      </p:sp>
      <p:sp>
        <p:nvSpPr>
          <p:cNvPr id="16" name="TextBox 16"/>
          <p:cNvSpPr txBox="1"/>
          <p:nvPr/>
        </p:nvSpPr>
        <p:spPr>
          <a:xfrm>
            <a:off x="6868708" y="190136"/>
            <a:ext cx="4550584" cy="838564"/>
          </a:xfrm>
          <a:prstGeom prst="rect">
            <a:avLst/>
          </a:prstGeom>
        </p:spPr>
        <p:txBody>
          <a:bodyPr lIns="0" tIns="0" rIns="0" bIns="0" rtlCol="0" anchor="t">
            <a:spAutoFit/>
          </a:bodyPr>
          <a:lstStyle/>
          <a:p>
            <a:pPr algn="l">
              <a:lnSpc>
                <a:spcPts val="6900"/>
              </a:lnSpc>
              <a:spcBef>
                <a:spcPct val="0"/>
              </a:spcBef>
            </a:pPr>
            <a:r>
              <a:rPr lang="en-US" sz="4928">
                <a:solidFill>
                  <a:srgbClr val="000000"/>
                </a:solidFill>
                <a:latin typeface="Quicksand"/>
                <a:ea typeface="Quicksand"/>
                <a:cs typeface="Quicksand"/>
                <a:sym typeface="Quicksand"/>
              </a:rPr>
              <a:t>專案組織與分工</a:t>
            </a:r>
          </a:p>
        </p:txBody>
      </p:sp>
      <p:sp>
        <p:nvSpPr>
          <p:cNvPr id="17" name="投影片編號版面配置區 16">
            <a:extLst>
              <a:ext uri="{FF2B5EF4-FFF2-40B4-BE49-F238E27FC236}">
                <a16:creationId xmlns:a16="http://schemas.microsoft.com/office/drawing/2014/main" id="{D80A4477-80CD-4FEE-9DB6-8050139E0C35}"/>
              </a:ext>
            </a:extLst>
          </p:cNvPr>
          <p:cNvSpPr>
            <a:spLocks noGrp="1"/>
          </p:cNvSpPr>
          <p:nvPr>
            <p:ph type="sldNum" sz="quarter" idx="12"/>
          </p:nvPr>
        </p:nvSpPr>
        <p:spPr>
          <a:xfrm>
            <a:off x="-3881005" y="5211103"/>
            <a:ext cx="2133600" cy="365125"/>
          </a:xfrm>
        </p:spPr>
        <p:txBody>
          <a:bodyPr/>
          <a:lstStyle/>
          <a:p>
            <a:endParaRPr lang="en-US" dirty="0"/>
          </a:p>
        </p:txBody>
      </p:sp>
      <p:sp>
        <p:nvSpPr>
          <p:cNvPr id="18" name="投影片編號版面配置區 1">
            <a:extLst>
              <a:ext uri="{FF2B5EF4-FFF2-40B4-BE49-F238E27FC236}">
                <a16:creationId xmlns:a16="http://schemas.microsoft.com/office/drawing/2014/main" id="{530CD9C1-DE40-DA21-41D3-5AE983B52C75}"/>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46</a:t>
            </a:fld>
            <a:endParaRPr lang="en-US" sz="4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707A643A-03CF-E62F-A7BD-2FEC9758A8B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F41B77B-5390-65BC-6FEA-86B27E115970}"/>
              </a:ext>
            </a:extLst>
          </p:cNvPr>
          <p:cNvGrpSpPr/>
          <p:nvPr/>
        </p:nvGrpSpPr>
        <p:grpSpPr>
          <a:xfrm>
            <a:off x="-510256" y="-342401"/>
            <a:ext cx="20772145" cy="10971802"/>
            <a:chOff x="0" y="0"/>
            <a:chExt cx="27696193" cy="14629069"/>
          </a:xfrm>
        </p:grpSpPr>
        <p:sp>
          <p:nvSpPr>
            <p:cNvPr id="3" name="Freeform 3">
              <a:extLst>
                <a:ext uri="{FF2B5EF4-FFF2-40B4-BE49-F238E27FC236}">
                  <a16:creationId xmlns:a16="http://schemas.microsoft.com/office/drawing/2014/main" id="{0B763042-C00E-E338-E9F2-07312C058C1E}"/>
                </a:ext>
              </a:extLst>
            </p:cNvPr>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4" name="Freeform 4">
              <a:extLst>
                <a:ext uri="{FF2B5EF4-FFF2-40B4-BE49-F238E27FC236}">
                  <a16:creationId xmlns:a16="http://schemas.microsoft.com/office/drawing/2014/main" id="{669EE0FD-F59F-B144-4253-DC0AC02F5317}"/>
                </a:ext>
              </a:extLst>
            </p:cNvPr>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5" name="Freeform 5">
              <a:extLst>
                <a:ext uri="{FF2B5EF4-FFF2-40B4-BE49-F238E27FC236}">
                  <a16:creationId xmlns:a16="http://schemas.microsoft.com/office/drawing/2014/main" id="{AE42E744-FA46-2AED-9528-8C031B073E07}"/>
                </a:ext>
              </a:extLst>
            </p:cNvPr>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6" name="Freeform 6">
              <a:extLst>
                <a:ext uri="{FF2B5EF4-FFF2-40B4-BE49-F238E27FC236}">
                  <a16:creationId xmlns:a16="http://schemas.microsoft.com/office/drawing/2014/main" id="{6E39D77B-02E4-EA59-CD66-80DBA0DD9750}"/>
                </a:ext>
              </a:extLst>
            </p:cNvPr>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sp>
          <p:nvSpPr>
            <p:cNvPr id="7" name="Freeform 7">
              <a:extLst>
                <a:ext uri="{FF2B5EF4-FFF2-40B4-BE49-F238E27FC236}">
                  <a16:creationId xmlns:a16="http://schemas.microsoft.com/office/drawing/2014/main" id="{F941452C-A198-5DBB-8FDA-8B91B642E8D4}"/>
                </a:ext>
              </a:extLst>
            </p:cNvPr>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2">
                <a:alphaModFix amt="28500"/>
                <a:extLst>
                  <a:ext uri="{96DAC541-7B7A-43D3-8B79-37D633B846F1}">
                    <asvg:svgBlip xmlns:asvg="http://schemas.microsoft.com/office/drawing/2016/SVG/main" r:embed="rId3"/>
                  </a:ext>
                </a:extLst>
              </a:blip>
              <a:stretch>
                <a:fillRect r="-13607" b="-13702"/>
              </a:stretch>
            </a:blipFill>
            <a:ln cap="sq">
              <a:noFill/>
              <a:prstDash val="solid"/>
              <a:miter/>
            </a:ln>
          </p:spPr>
          <p:txBody>
            <a:bodyPr/>
            <a:lstStyle/>
            <a:p>
              <a:endParaRPr lang="zh-TW" altLang="en-US"/>
            </a:p>
          </p:txBody>
        </p:sp>
        <p:sp>
          <p:nvSpPr>
            <p:cNvPr id="8" name="Freeform 8">
              <a:extLst>
                <a:ext uri="{FF2B5EF4-FFF2-40B4-BE49-F238E27FC236}">
                  <a16:creationId xmlns:a16="http://schemas.microsoft.com/office/drawing/2014/main" id="{EAFBE20C-F4B8-EB93-6D6C-976F51946028}"/>
                </a:ext>
              </a:extLst>
            </p:cNvPr>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2">
                <a:alphaModFix amt="28500"/>
                <a:extLst>
                  <a:ext uri="{96DAC541-7B7A-43D3-8B79-37D633B846F1}">
                    <asvg:svgBlip xmlns:asvg="http://schemas.microsoft.com/office/drawing/2016/SVG/main" r:embed="rId3"/>
                  </a:ext>
                </a:extLst>
              </a:blip>
              <a:stretch>
                <a:fillRect r="-14444" b="-87889"/>
              </a:stretch>
            </a:blipFill>
            <a:ln cap="sq">
              <a:noFill/>
              <a:prstDash val="solid"/>
              <a:miter/>
            </a:ln>
          </p:spPr>
          <p:txBody>
            <a:bodyPr/>
            <a:lstStyle/>
            <a:p>
              <a:endParaRPr lang="zh-TW" altLang="en-US"/>
            </a:p>
          </p:txBody>
        </p:sp>
      </p:grpSp>
      <p:sp>
        <p:nvSpPr>
          <p:cNvPr id="9" name="TextBox 9">
            <a:extLst>
              <a:ext uri="{FF2B5EF4-FFF2-40B4-BE49-F238E27FC236}">
                <a16:creationId xmlns:a16="http://schemas.microsoft.com/office/drawing/2014/main" id="{048676F3-BDAA-52A3-5383-23D643CED607}"/>
              </a:ext>
            </a:extLst>
          </p:cNvPr>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en-US" sz="6396" b="1" dirty="0" err="1">
                <a:solidFill>
                  <a:srgbClr val="494F56"/>
                </a:solidFill>
                <a:latin typeface="Quicksand Bold"/>
                <a:ea typeface="Quicksand Bold"/>
                <a:cs typeface="Quicksand Bold"/>
                <a:sym typeface="Quicksand Bold"/>
              </a:rPr>
              <a:t>參考資料</a:t>
            </a:r>
            <a:endParaRPr lang="en-US" sz="6396" b="1" dirty="0">
              <a:solidFill>
                <a:srgbClr val="494F56"/>
              </a:solidFill>
              <a:latin typeface="Quicksand Bold"/>
              <a:ea typeface="Quicksand Bold"/>
              <a:cs typeface="Quicksand Bold"/>
              <a:sym typeface="Quicksand Bold"/>
            </a:endParaRPr>
          </a:p>
        </p:txBody>
      </p:sp>
      <p:sp>
        <p:nvSpPr>
          <p:cNvPr id="10" name="TextBox 10">
            <a:extLst>
              <a:ext uri="{FF2B5EF4-FFF2-40B4-BE49-F238E27FC236}">
                <a16:creationId xmlns:a16="http://schemas.microsoft.com/office/drawing/2014/main" id="{1766E8CB-FB7B-B954-89BA-CA5ED0F89D5B}"/>
              </a:ext>
            </a:extLst>
          </p:cNvPr>
          <p:cNvSpPr txBox="1"/>
          <p:nvPr/>
        </p:nvSpPr>
        <p:spPr>
          <a:xfrm>
            <a:off x="1900876" y="1943734"/>
            <a:ext cx="12272324" cy="383375"/>
          </a:xfrm>
          <a:prstGeom prst="rect">
            <a:avLst/>
          </a:prstGeom>
        </p:spPr>
        <p:txBody>
          <a:bodyPr wrap="square" lIns="0" tIns="0" rIns="0" bIns="0" rtlCol="0" anchor="t">
            <a:spAutoFit/>
          </a:bodyPr>
          <a:lstStyle/>
          <a:p>
            <a:pPr algn="ctr">
              <a:lnSpc>
                <a:spcPts val="3101"/>
              </a:lnSpc>
              <a:spcBef>
                <a:spcPct val="0"/>
              </a:spcBef>
            </a:pPr>
            <a:r>
              <a:rPr lang="en-US" sz="2215" b="1" u="sng" dirty="0">
                <a:solidFill>
                  <a:srgbClr val="494F56"/>
                </a:solidFill>
                <a:latin typeface="Atma Medium"/>
                <a:ea typeface="Atma Medium"/>
                <a:cs typeface="Atma Medium"/>
                <a:sym typeface="Atma Medium"/>
                <a:hlinkClick r:id="rId4" tooltip="https://udn.com/news/story/7314/8766037?utm_source=yahoonews&amp;utm_medium=yahoo"/>
              </a:rPr>
              <a:t> </a:t>
            </a:r>
            <a:r>
              <a:rPr lang="en-US" sz="2215" b="1" u="sng" dirty="0" err="1">
                <a:solidFill>
                  <a:srgbClr val="494F56"/>
                </a:solidFill>
                <a:latin typeface="Atma Medium"/>
                <a:ea typeface="Atma Medium"/>
                <a:cs typeface="Atma Medium"/>
                <a:sym typeface="Atma Medium"/>
                <a:hlinkClick r:id="rId4" tooltip="https://udn.com/news/story/7314/8766037?utm_source=yahoonews&amp;utm_medium=yahoo"/>
              </a:rPr>
              <a:t>聯合報</a:t>
            </a:r>
            <a:r>
              <a:rPr lang="en-US" sz="2215" b="1" u="sng" dirty="0">
                <a:solidFill>
                  <a:srgbClr val="494F56"/>
                </a:solidFill>
                <a:latin typeface="Atma Medium"/>
                <a:ea typeface="Atma Medium"/>
                <a:cs typeface="Atma Medium"/>
                <a:sym typeface="Atma Medium"/>
                <a:hlinkClick r:id="rId4" tooltip="https://udn.com/news/story/7314/8766037?utm_source=yahoonews&amp;utm_medium=yahoo"/>
              </a:rPr>
              <a:t>  </a:t>
            </a:r>
            <a:r>
              <a:rPr lang="en-US" sz="2215" dirty="0">
                <a:solidFill>
                  <a:srgbClr val="494F56"/>
                </a:solidFill>
                <a:latin typeface="Atma"/>
                <a:ea typeface="Atma"/>
                <a:cs typeface="Atma"/>
                <a:sym typeface="Atma"/>
              </a:rPr>
              <a:t> :</a:t>
            </a:r>
            <a:r>
              <a:rPr lang="en-US" sz="2215" b="1" u="sng" dirty="0">
                <a:solidFill>
                  <a:srgbClr val="494F56"/>
                </a:solidFill>
                <a:latin typeface="Atma Medium"/>
                <a:ea typeface="Atma Medium"/>
                <a:cs typeface="Atma Medium"/>
                <a:sym typeface="Atma Medium"/>
                <a:hlinkClick r:id="rId4" tooltip="https://udn.com/news/story/7314/8766037?utm_source=yahoonews&amp;utm_medium=yahoo"/>
              </a:rPr>
              <a:t>https://udn.com/news/story/7314/8766037?utm_source=</a:t>
            </a:r>
            <a:r>
              <a:rPr lang="en-US" sz="2215" b="1" u="sng" dirty="0" err="1">
                <a:solidFill>
                  <a:srgbClr val="494F56"/>
                </a:solidFill>
                <a:latin typeface="Atma Medium"/>
                <a:ea typeface="Atma Medium"/>
                <a:cs typeface="Atma Medium"/>
                <a:sym typeface="Atma Medium"/>
                <a:hlinkClick r:id="rId4" tooltip="https://udn.com/news/story/7314/8766037?utm_source=yahoonews&amp;utm_medium=yahoo"/>
              </a:rPr>
              <a:t>yahoonews&amp;utm_medium</a:t>
            </a:r>
            <a:r>
              <a:rPr lang="en-US" sz="2215" b="1" u="sng" dirty="0">
                <a:solidFill>
                  <a:srgbClr val="494F56"/>
                </a:solidFill>
                <a:latin typeface="Atma Medium"/>
                <a:ea typeface="Atma Medium"/>
                <a:cs typeface="Atma Medium"/>
                <a:sym typeface="Atma Medium"/>
                <a:hlinkClick r:id="rId4" tooltip="https://udn.com/news/story/7314/8766037?utm_source=yahoonews&amp;utm_medium=yahoo"/>
              </a:rPr>
              <a:t>=</a:t>
            </a:r>
            <a:r>
              <a:rPr lang="en-US" sz="2215" b="1" u="sng" dirty="0" err="1">
                <a:solidFill>
                  <a:srgbClr val="494F56"/>
                </a:solidFill>
                <a:latin typeface="Atma Medium"/>
                <a:ea typeface="Atma Medium"/>
                <a:cs typeface="Atma Medium"/>
                <a:sym typeface="Atma Medium"/>
                <a:hlinkClick r:id="rId4" tooltip="https://udn.com/news/story/7314/8766037?utm_source=yahoonews&amp;utm_medium=yahoo"/>
              </a:rPr>
              <a:t>yahoo字</a:t>
            </a:r>
            <a:endParaRPr lang="en-US" sz="2215" b="1" u="sng" dirty="0">
              <a:solidFill>
                <a:srgbClr val="494F56"/>
              </a:solidFill>
              <a:latin typeface="Atma Medium"/>
              <a:ea typeface="Atma Medium"/>
              <a:cs typeface="Atma Medium"/>
              <a:sym typeface="Atma Medium"/>
              <a:hlinkClick r:id="rId4" tooltip="https://udn.com/news/story/7314/8766037?utm_source=yahoonews&amp;utm_medium=yahoo"/>
            </a:endParaRPr>
          </a:p>
        </p:txBody>
      </p:sp>
      <p:sp>
        <p:nvSpPr>
          <p:cNvPr id="11" name="TextBox 11">
            <a:extLst>
              <a:ext uri="{FF2B5EF4-FFF2-40B4-BE49-F238E27FC236}">
                <a16:creationId xmlns:a16="http://schemas.microsoft.com/office/drawing/2014/main" id="{EB8F16E8-9C8C-3171-A99F-C67D624EDA3E}"/>
              </a:ext>
            </a:extLst>
          </p:cNvPr>
          <p:cNvSpPr txBox="1"/>
          <p:nvPr/>
        </p:nvSpPr>
        <p:spPr>
          <a:xfrm>
            <a:off x="1900876" y="2786754"/>
            <a:ext cx="12653324" cy="383375"/>
          </a:xfrm>
          <a:prstGeom prst="rect">
            <a:avLst/>
          </a:prstGeom>
        </p:spPr>
        <p:txBody>
          <a:bodyPr wrap="square" lIns="0" tIns="0" rIns="0" bIns="0" rtlCol="0" anchor="t">
            <a:spAutoFit/>
          </a:bodyPr>
          <a:lstStyle/>
          <a:p>
            <a:pPr algn="ctr">
              <a:lnSpc>
                <a:spcPts val="3100"/>
              </a:lnSpc>
              <a:spcBef>
                <a:spcPct val="0"/>
              </a:spcBef>
            </a:pPr>
            <a:r>
              <a:rPr lang="en-US" sz="2214" dirty="0" err="1">
                <a:solidFill>
                  <a:srgbClr val="494F56"/>
                </a:solidFill>
                <a:latin typeface="Atma"/>
                <a:ea typeface="Atma"/>
                <a:cs typeface="Atma"/>
                <a:sym typeface="Atma"/>
              </a:rPr>
              <a:t>內政部警政署</a:t>
            </a:r>
            <a:r>
              <a:rPr lang="en-US" sz="2214" dirty="0">
                <a:solidFill>
                  <a:srgbClr val="494F56"/>
                </a:solidFill>
                <a:latin typeface="Atma"/>
                <a:ea typeface="Atma"/>
                <a:cs typeface="Atma"/>
                <a:sym typeface="Atma"/>
              </a:rPr>
              <a:t>:  </a:t>
            </a:r>
            <a:r>
              <a:rPr lang="en-US" sz="2214" b="1" u="sng" dirty="0">
                <a:solidFill>
                  <a:srgbClr val="494F56"/>
                </a:solidFill>
                <a:latin typeface="Atma Medium"/>
                <a:ea typeface="Atma Medium"/>
                <a:cs typeface="Atma Medium"/>
                <a:sym typeface="Atma Medium"/>
                <a:hlinkClick r:id="rId5" tooltip="https://www.npa.gov.tw/ch/app/data/list?module=wg054&amp;id=2206"/>
              </a:rPr>
              <a:t>https://udn.com/news/story/7314/8766037?utm_source=yahoonews&amp;utm_medium=yahoo字</a:t>
            </a:r>
          </a:p>
        </p:txBody>
      </p:sp>
      <p:sp>
        <p:nvSpPr>
          <p:cNvPr id="12" name="TextBox 12">
            <a:extLst>
              <a:ext uri="{FF2B5EF4-FFF2-40B4-BE49-F238E27FC236}">
                <a16:creationId xmlns:a16="http://schemas.microsoft.com/office/drawing/2014/main" id="{C1920DFA-3A87-7053-D48B-68D4F502C31D}"/>
              </a:ext>
            </a:extLst>
          </p:cNvPr>
          <p:cNvSpPr txBox="1"/>
          <p:nvPr/>
        </p:nvSpPr>
        <p:spPr>
          <a:xfrm>
            <a:off x="1937543" y="3663815"/>
            <a:ext cx="7206457" cy="381900"/>
          </a:xfrm>
          <a:prstGeom prst="rect">
            <a:avLst/>
          </a:prstGeom>
        </p:spPr>
        <p:txBody>
          <a:bodyPr lIns="0" tIns="0" rIns="0" bIns="0" rtlCol="0" anchor="t">
            <a:spAutoFit/>
          </a:bodyPr>
          <a:lstStyle/>
          <a:p>
            <a:pPr algn="ctr">
              <a:lnSpc>
                <a:spcPts val="3100"/>
              </a:lnSpc>
              <a:spcBef>
                <a:spcPct val="0"/>
              </a:spcBef>
            </a:pPr>
            <a:r>
              <a:rPr lang="en-US" sz="2214" u="sng">
                <a:solidFill>
                  <a:srgbClr val="494F56"/>
                </a:solidFill>
                <a:latin typeface="Atma"/>
                <a:ea typeface="Atma"/>
                <a:cs typeface="Atma"/>
                <a:sym typeface="Atma"/>
                <a:hlinkClick r:id="rId6" tooltip="https://www.youtube.com/watch?v=JgS_9FgAKXw"/>
              </a:rPr>
              <a:t>三立新聞網 :  https://www.youtube.com/watch?v=JgS_9FgAKXw </a:t>
            </a:r>
          </a:p>
        </p:txBody>
      </p:sp>
      <p:sp>
        <p:nvSpPr>
          <p:cNvPr id="13" name="TextBox 13">
            <a:extLst>
              <a:ext uri="{FF2B5EF4-FFF2-40B4-BE49-F238E27FC236}">
                <a16:creationId xmlns:a16="http://schemas.microsoft.com/office/drawing/2014/main" id="{20C37A7A-BDE2-3883-27E8-46F6BC5D5640}"/>
              </a:ext>
            </a:extLst>
          </p:cNvPr>
          <p:cNvSpPr txBox="1"/>
          <p:nvPr/>
        </p:nvSpPr>
        <p:spPr>
          <a:xfrm>
            <a:off x="1900876" y="4521965"/>
            <a:ext cx="8023424" cy="381900"/>
          </a:xfrm>
          <a:prstGeom prst="rect">
            <a:avLst/>
          </a:prstGeom>
        </p:spPr>
        <p:txBody>
          <a:bodyPr lIns="0" tIns="0" rIns="0" bIns="0" rtlCol="0" anchor="t">
            <a:spAutoFit/>
          </a:bodyPr>
          <a:lstStyle/>
          <a:p>
            <a:pPr algn="ctr">
              <a:lnSpc>
                <a:spcPts val="3100"/>
              </a:lnSpc>
              <a:spcBef>
                <a:spcPct val="0"/>
              </a:spcBef>
            </a:pPr>
            <a:r>
              <a:rPr lang="en-US" sz="2214" u="sng">
                <a:solidFill>
                  <a:srgbClr val="494F56"/>
                </a:solidFill>
                <a:latin typeface="Atma"/>
                <a:ea typeface="Atma"/>
                <a:cs typeface="Atma"/>
                <a:sym typeface="Atma"/>
                <a:hlinkClick r:id="rId7" tooltip="https://www.nownews.com/news/6439951?utm_source=chatgpt.com"/>
              </a:rPr>
              <a:t>NOWnews今日新聞 :  https://www.youtube.com/watch?v=JgS_9FgAKXw </a:t>
            </a:r>
          </a:p>
        </p:txBody>
      </p:sp>
      <p:sp>
        <p:nvSpPr>
          <p:cNvPr id="25" name="投影片編號版面配置區 1">
            <a:extLst>
              <a:ext uri="{FF2B5EF4-FFF2-40B4-BE49-F238E27FC236}">
                <a16:creationId xmlns:a16="http://schemas.microsoft.com/office/drawing/2014/main" id="{093409A3-6035-BDAB-44A5-B1C734A36CF8}"/>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4400" dirty="0">
              <a:solidFill>
                <a:schemeClr val="tx1"/>
              </a:solidFill>
            </a:endParaRPr>
          </a:p>
        </p:txBody>
      </p:sp>
      <p:sp>
        <p:nvSpPr>
          <p:cNvPr id="26" name="投影片編號版面配置區 1">
            <a:extLst>
              <a:ext uri="{FF2B5EF4-FFF2-40B4-BE49-F238E27FC236}">
                <a16:creationId xmlns:a16="http://schemas.microsoft.com/office/drawing/2014/main" id="{3B70D7A5-CE3B-24C5-0BC1-3348F7E8921A}"/>
              </a:ext>
            </a:extLst>
          </p:cNvPr>
          <p:cNvSpPr txBox="1">
            <a:spLocks/>
          </p:cNvSpPr>
          <p:nvPr/>
        </p:nvSpPr>
        <p:spPr>
          <a:xfrm>
            <a:off x="-1143000" y="95631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47</a:t>
            </a:fld>
            <a:endParaRPr lang="en-US" sz="4400" dirty="0"/>
          </a:p>
        </p:txBody>
      </p:sp>
    </p:spTree>
    <p:extLst>
      <p:ext uri="{BB962C8B-B14F-4D97-AF65-F5344CB8AC3E}">
        <p14:creationId xmlns:p14="http://schemas.microsoft.com/office/powerpoint/2010/main" val="20347817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rot="-5096997">
            <a:off x="3444272" y="-7608699"/>
            <a:ext cx="20322237" cy="19085106"/>
          </a:xfrm>
          <a:custGeom>
            <a:avLst/>
            <a:gdLst/>
            <a:ahLst/>
            <a:cxnLst/>
            <a:rect l="l" t="t" r="r" b="b"/>
            <a:pathLst>
              <a:path w="20322237" h="19085106">
                <a:moveTo>
                  <a:pt x="0" y="0"/>
                </a:moveTo>
                <a:lnTo>
                  <a:pt x="20322237" y="0"/>
                </a:lnTo>
                <a:lnTo>
                  <a:pt x="20322237" y="19085106"/>
                </a:lnTo>
                <a:lnTo>
                  <a:pt x="0" y="190851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rot="4240771">
            <a:off x="-2892344" y="3676233"/>
            <a:ext cx="16654833" cy="11476694"/>
          </a:xfrm>
          <a:custGeom>
            <a:avLst/>
            <a:gdLst/>
            <a:ahLst/>
            <a:cxnLst/>
            <a:rect l="l" t="t" r="r" b="b"/>
            <a:pathLst>
              <a:path w="16654833" h="11476694">
                <a:moveTo>
                  <a:pt x="0" y="0"/>
                </a:moveTo>
                <a:lnTo>
                  <a:pt x="16654833" y="0"/>
                </a:lnTo>
                <a:lnTo>
                  <a:pt x="16654833" y="11476694"/>
                </a:lnTo>
                <a:lnTo>
                  <a:pt x="0" y="11476694"/>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4" name="Group 4"/>
          <p:cNvGrpSpPr/>
          <p:nvPr/>
        </p:nvGrpSpPr>
        <p:grpSpPr>
          <a:xfrm>
            <a:off x="-510256" y="-342401"/>
            <a:ext cx="20772145" cy="10971802"/>
            <a:chOff x="0" y="0"/>
            <a:chExt cx="27696193" cy="14629069"/>
          </a:xfrm>
        </p:grpSpPr>
        <p:sp>
          <p:nvSpPr>
            <p:cNvPr id="5" name="Freeform 5"/>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grpSp>
      <p:sp>
        <p:nvSpPr>
          <p:cNvPr id="11" name="TextBox 11"/>
          <p:cNvSpPr txBox="1"/>
          <p:nvPr/>
        </p:nvSpPr>
        <p:spPr>
          <a:xfrm>
            <a:off x="1028700" y="2739938"/>
            <a:ext cx="17579168" cy="4559474"/>
          </a:xfrm>
          <a:prstGeom prst="rect">
            <a:avLst/>
          </a:prstGeom>
        </p:spPr>
        <p:txBody>
          <a:bodyPr lIns="0" tIns="0" rIns="0" bIns="0" rtlCol="0" anchor="t">
            <a:spAutoFit/>
          </a:bodyPr>
          <a:lstStyle/>
          <a:p>
            <a:pPr algn="ctr">
              <a:lnSpc>
                <a:spcPts val="18295"/>
              </a:lnSpc>
              <a:spcBef>
                <a:spcPct val="0"/>
              </a:spcBef>
            </a:pPr>
            <a:r>
              <a:rPr lang="en-US" sz="13067" b="1" dirty="0" err="1">
                <a:solidFill>
                  <a:srgbClr val="000000"/>
                </a:solidFill>
                <a:latin typeface="Atma Medium"/>
                <a:ea typeface="Atma Medium"/>
                <a:cs typeface="Atma Medium"/>
                <a:sym typeface="Atma Medium"/>
              </a:rPr>
              <a:t>謝謝各位評審們的聆聽</a:t>
            </a:r>
            <a:endParaRPr lang="en-US" sz="13067" b="1" dirty="0">
              <a:solidFill>
                <a:srgbClr val="000000"/>
              </a:solidFill>
              <a:latin typeface="Atma Medium"/>
              <a:ea typeface="Atma Medium"/>
              <a:cs typeface="Atma Medium"/>
              <a:sym typeface="Atma Medium"/>
            </a:endParaRPr>
          </a:p>
          <a:p>
            <a:pPr algn="ctr">
              <a:lnSpc>
                <a:spcPts val="18295"/>
              </a:lnSpc>
              <a:spcBef>
                <a:spcPct val="0"/>
              </a:spcBef>
            </a:pPr>
            <a:r>
              <a:rPr lang="en-US" sz="13067" b="1" dirty="0" err="1">
                <a:solidFill>
                  <a:srgbClr val="000000"/>
                </a:solidFill>
                <a:latin typeface="Atma Medium"/>
                <a:ea typeface="Atma Medium"/>
                <a:cs typeface="Atma Medium"/>
                <a:sym typeface="Atma Medium"/>
              </a:rPr>
              <a:t>再麻煩評審點評</a:t>
            </a:r>
            <a:endParaRPr lang="en-US" sz="13067" b="1" dirty="0">
              <a:solidFill>
                <a:srgbClr val="000000"/>
              </a:solidFill>
              <a:latin typeface="Atma Medium"/>
              <a:ea typeface="Atma Medium"/>
              <a:cs typeface="Atma Medium"/>
              <a:sym typeface="Atma Medium"/>
            </a:endParaRPr>
          </a:p>
        </p:txBody>
      </p:sp>
      <p:sp>
        <p:nvSpPr>
          <p:cNvPr id="12" name="Freeform 12"/>
          <p:cNvSpPr/>
          <p:nvPr/>
        </p:nvSpPr>
        <p:spPr>
          <a:xfrm rot="-8526383">
            <a:off x="8585398" y="3338671"/>
            <a:ext cx="12762971" cy="13033246"/>
          </a:xfrm>
          <a:custGeom>
            <a:avLst/>
            <a:gdLst/>
            <a:ahLst/>
            <a:cxnLst/>
            <a:rect l="l" t="t" r="r" b="b"/>
            <a:pathLst>
              <a:path w="12762971" h="13033246">
                <a:moveTo>
                  <a:pt x="0" y="0"/>
                </a:moveTo>
                <a:lnTo>
                  <a:pt x="12762971" y="0"/>
                </a:lnTo>
                <a:lnTo>
                  <a:pt x="12762971" y="13033246"/>
                </a:lnTo>
                <a:lnTo>
                  <a:pt x="0" y="1303324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3" name="Freeform 13"/>
          <p:cNvSpPr/>
          <p:nvPr/>
        </p:nvSpPr>
        <p:spPr>
          <a:xfrm rot="5127295">
            <a:off x="-4413133" y="-1327956"/>
            <a:ext cx="13182807" cy="9347809"/>
          </a:xfrm>
          <a:custGeom>
            <a:avLst/>
            <a:gdLst/>
            <a:ahLst/>
            <a:cxnLst/>
            <a:rect l="l" t="t" r="r" b="b"/>
            <a:pathLst>
              <a:path w="13182807" h="9347809">
                <a:moveTo>
                  <a:pt x="0" y="0"/>
                </a:moveTo>
                <a:lnTo>
                  <a:pt x="13182807" y="0"/>
                </a:lnTo>
                <a:lnTo>
                  <a:pt x="13182807" y="9347808"/>
                </a:lnTo>
                <a:lnTo>
                  <a:pt x="0" y="934780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14" name="投影片編號版面配置區 13">
            <a:extLst>
              <a:ext uri="{FF2B5EF4-FFF2-40B4-BE49-F238E27FC236}">
                <a16:creationId xmlns:a16="http://schemas.microsoft.com/office/drawing/2014/main" id="{C6667998-E953-CA80-CA94-3DD6E4121E93}"/>
              </a:ext>
            </a:extLst>
          </p:cNvPr>
          <p:cNvSpPr>
            <a:spLocks noGrp="1"/>
          </p:cNvSpPr>
          <p:nvPr>
            <p:ph type="sldNum" sz="quarter" idx="12"/>
          </p:nvPr>
        </p:nvSpPr>
        <p:spPr>
          <a:xfrm>
            <a:off x="-3451059" y="5524500"/>
            <a:ext cx="2133600" cy="365125"/>
          </a:xfrm>
        </p:spPr>
        <p:txBody>
          <a:bodyPr/>
          <a:lstStyle/>
          <a:p>
            <a:endParaRPr lang="en-US" dirty="0"/>
          </a:p>
        </p:txBody>
      </p:sp>
      <p:sp>
        <p:nvSpPr>
          <p:cNvPr id="15" name="投影片編號版面配置區 1">
            <a:extLst>
              <a:ext uri="{FF2B5EF4-FFF2-40B4-BE49-F238E27FC236}">
                <a16:creationId xmlns:a16="http://schemas.microsoft.com/office/drawing/2014/main" id="{B827F082-03BF-DB90-0337-3D2B0B427B4A}"/>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48</a:t>
            </a:fld>
            <a:endParaRPr lang="en-US" sz="4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rot="-5096997">
            <a:off x="3444272" y="-7608699"/>
            <a:ext cx="20322237" cy="19085106"/>
          </a:xfrm>
          <a:custGeom>
            <a:avLst/>
            <a:gdLst/>
            <a:ahLst/>
            <a:cxnLst/>
            <a:rect l="l" t="t" r="r" b="b"/>
            <a:pathLst>
              <a:path w="20322237" h="19085106">
                <a:moveTo>
                  <a:pt x="0" y="0"/>
                </a:moveTo>
                <a:lnTo>
                  <a:pt x="20322237" y="0"/>
                </a:lnTo>
                <a:lnTo>
                  <a:pt x="20322237" y="19085106"/>
                </a:lnTo>
                <a:lnTo>
                  <a:pt x="0" y="190851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rot="4240771">
            <a:off x="-2892344" y="3676233"/>
            <a:ext cx="16654833" cy="11476694"/>
          </a:xfrm>
          <a:custGeom>
            <a:avLst/>
            <a:gdLst/>
            <a:ahLst/>
            <a:cxnLst/>
            <a:rect l="l" t="t" r="r" b="b"/>
            <a:pathLst>
              <a:path w="16654833" h="11476694">
                <a:moveTo>
                  <a:pt x="0" y="0"/>
                </a:moveTo>
                <a:lnTo>
                  <a:pt x="16654833" y="0"/>
                </a:lnTo>
                <a:lnTo>
                  <a:pt x="16654833" y="11476694"/>
                </a:lnTo>
                <a:lnTo>
                  <a:pt x="0" y="11476694"/>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p:spPr>
        <p:txBody>
          <a:bodyPr/>
          <a:lstStyle/>
          <a:p>
            <a:endParaRPr lang="zh-TW" altLang="en-US"/>
          </a:p>
        </p:txBody>
      </p:sp>
      <p:grpSp>
        <p:nvGrpSpPr>
          <p:cNvPr id="4" name="Group 4"/>
          <p:cNvGrpSpPr/>
          <p:nvPr/>
        </p:nvGrpSpPr>
        <p:grpSpPr>
          <a:xfrm>
            <a:off x="-510256" y="-342401"/>
            <a:ext cx="20772145" cy="10971802"/>
            <a:chOff x="0" y="0"/>
            <a:chExt cx="27696193" cy="14629069"/>
          </a:xfrm>
        </p:grpSpPr>
        <p:sp>
          <p:nvSpPr>
            <p:cNvPr id="5" name="Freeform 5"/>
            <p:cNvSpPr/>
            <p:nvPr/>
          </p:nvSpPr>
          <p:spPr>
            <a:xfrm>
              <a:off x="38929" y="153762"/>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6" name="Freeform 6"/>
            <p:cNvSpPr/>
            <p:nvPr/>
          </p:nvSpPr>
          <p:spPr>
            <a:xfrm>
              <a:off x="0" y="9024432"/>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7" name="Freeform 7"/>
            <p:cNvSpPr/>
            <p:nvPr/>
          </p:nvSpPr>
          <p:spPr>
            <a:xfrm>
              <a:off x="9247641" y="66987"/>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8" name="Freeform 8"/>
            <p:cNvSpPr/>
            <p:nvPr/>
          </p:nvSpPr>
          <p:spPr>
            <a:xfrm>
              <a:off x="9208712" y="8937657"/>
              <a:ext cx="9201444" cy="5604637"/>
            </a:xfrm>
            <a:custGeom>
              <a:avLst/>
              <a:gdLst/>
              <a:ahLst/>
              <a:cxnLst/>
              <a:rect l="l" t="t" r="r" b="b"/>
              <a:pathLst>
                <a:path w="9201444" h="5604637">
                  <a:moveTo>
                    <a:pt x="0" y="0"/>
                  </a:moveTo>
                  <a:lnTo>
                    <a:pt x="9201444" y="0"/>
                  </a:lnTo>
                  <a:lnTo>
                    <a:pt x="9201444" y="5604637"/>
                  </a:lnTo>
                  <a:lnTo>
                    <a:pt x="0" y="5604637"/>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sp>
          <p:nvSpPr>
            <p:cNvPr id="9" name="Freeform 9"/>
            <p:cNvSpPr/>
            <p:nvPr/>
          </p:nvSpPr>
          <p:spPr>
            <a:xfrm>
              <a:off x="18533678" y="0"/>
              <a:ext cx="9162515" cy="9154873"/>
            </a:xfrm>
            <a:custGeom>
              <a:avLst/>
              <a:gdLst/>
              <a:ahLst/>
              <a:cxnLst/>
              <a:rect l="l" t="t" r="r" b="b"/>
              <a:pathLst>
                <a:path w="9162515" h="9154873">
                  <a:moveTo>
                    <a:pt x="0" y="0"/>
                  </a:moveTo>
                  <a:lnTo>
                    <a:pt x="9162515" y="0"/>
                  </a:lnTo>
                  <a:lnTo>
                    <a:pt x="9162515" y="9154873"/>
                  </a:lnTo>
                  <a:lnTo>
                    <a:pt x="0" y="9154873"/>
                  </a:lnTo>
                  <a:lnTo>
                    <a:pt x="0" y="0"/>
                  </a:lnTo>
                  <a:close/>
                </a:path>
              </a:pathLst>
            </a:custGeom>
            <a:blipFill>
              <a:blip r:embed="rId6">
                <a:alphaModFix amt="28500"/>
                <a:extLst>
                  <a:ext uri="{96DAC541-7B7A-43D3-8B79-37D633B846F1}">
                    <asvg:svgBlip xmlns:asvg="http://schemas.microsoft.com/office/drawing/2016/SVG/main" r:embed="rId7"/>
                  </a:ext>
                </a:extLst>
              </a:blip>
              <a:stretch>
                <a:fillRect r="-13607" b="-13702"/>
              </a:stretch>
            </a:blipFill>
            <a:ln cap="sq">
              <a:noFill/>
              <a:prstDash val="solid"/>
              <a:miter/>
            </a:ln>
          </p:spPr>
          <p:txBody>
            <a:bodyPr/>
            <a:lstStyle/>
            <a:p>
              <a:endParaRPr lang="zh-TW" altLang="en-US"/>
            </a:p>
          </p:txBody>
        </p:sp>
        <p:sp>
          <p:nvSpPr>
            <p:cNvPr id="10" name="Freeform 10"/>
            <p:cNvSpPr/>
            <p:nvPr/>
          </p:nvSpPr>
          <p:spPr>
            <a:xfrm>
              <a:off x="18494750" y="8870671"/>
              <a:ext cx="9201444" cy="5604637"/>
            </a:xfrm>
            <a:custGeom>
              <a:avLst/>
              <a:gdLst/>
              <a:ahLst/>
              <a:cxnLst/>
              <a:rect l="l" t="t" r="r" b="b"/>
              <a:pathLst>
                <a:path w="9201444" h="5604637">
                  <a:moveTo>
                    <a:pt x="0" y="0"/>
                  </a:moveTo>
                  <a:lnTo>
                    <a:pt x="9201443" y="0"/>
                  </a:lnTo>
                  <a:lnTo>
                    <a:pt x="9201443" y="5604636"/>
                  </a:lnTo>
                  <a:lnTo>
                    <a:pt x="0" y="5604636"/>
                  </a:lnTo>
                  <a:lnTo>
                    <a:pt x="0" y="0"/>
                  </a:lnTo>
                  <a:close/>
                </a:path>
              </a:pathLst>
            </a:custGeom>
            <a:blipFill>
              <a:blip r:embed="rId6">
                <a:alphaModFix amt="28500"/>
                <a:extLst>
                  <a:ext uri="{96DAC541-7B7A-43D3-8B79-37D633B846F1}">
                    <asvg:svgBlip xmlns:asvg="http://schemas.microsoft.com/office/drawing/2016/SVG/main" r:embed="rId7"/>
                  </a:ext>
                </a:extLst>
              </a:blip>
              <a:stretch>
                <a:fillRect r="-14444" b="-87889"/>
              </a:stretch>
            </a:blipFill>
            <a:ln cap="sq">
              <a:noFill/>
              <a:prstDash val="solid"/>
              <a:miter/>
            </a:ln>
          </p:spPr>
          <p:txBody>
            <a:bodyPr/>
            <a:lstStyle/>
            <a:p>
              <a:endParaRPr lang="zh-TW" altLang="en-US"/>
            </a:p>
          </p:txBody>
        </p:sp>
      </p:grpSp>
      <p:sp>
        <p:nvSpPr>
          <p:cNvPr id="11" name="TextBox 11"/>
          <p:cNvSpPr txBox="1"/>
          <p:nvPr/>
        </p:nvSpPr>
        <p:spPr>
          <a:xfrm>
            <a:off x="-2213972" y="3129762"/>
            <a:ext cx="22715944" cy="2680335"/>
          </a:xfrm>
          <a:prstGeom prst="rect">
            <a:avLst/>
          </a:prstGeom>
        </p:spPr>
        <p:txBody>
          <a:bodyPr lIns="0" tIns="0" rIns="0" bIns="0" rtlCol="0" anchor="t">
            <a:spAutoFit/>
          </a:bodyPr>
          <a:lstStyle/>
          <a:p>
            <a:pPr algn="ctr">
              <a:lnSpc>
                <a:spcPts val="21839"/>
              </a:lnSpc>
              <a:spcBef>
                <a:spcPct val="0"/>
              </a:spcBef>
            </a:pPr>
            <a:r>
              <a:rPr lang="zh-TW" altLang="en-US" sz="15600" dirty="0">
                <a:solidFill>
                  <a:srgbClr val="000000"/>
                </a:solidFill>
                <a:latin typeface="Atma"/>
                <a:ea typeface="Atma"/>
                <a:cs typeface="Atma"/>
                <a:sym typeface="Atma"/>
              </a:rPr>
              <a:t>  </a:t>
            </a:r>
            <a:r>
              <a:rPr lang="en-US" sz="15600" dirty="0" err="1">
                <a:solidFill>
                  <a:srgbClr val="000000"/>
                </a:solidFill>
                <a:latin typeface="Atma"/>
                <a:ea typeface="Atma"/>
                <a:cs typeface="Atma"/>
                <a:sym typeface="Atma"/>
              </a:rPr>
              <a:t>問題補充</a:t>
            </a:r>
            <a:endParaRPr lang="en-US" sz="15600" dirty="0">
              <a:solidFill>
                <a:srgbClr val="000000"/>
              </a:solidFill>
              <a:latin typeface="Atma"/>
              <a:ea typeface="Atma"/>
              <a:cs typeface="Atma"/>
              <a:sym typeface="Atma"/>
            </a:endParaRPr>
          </a:p>
        </p:txBody>
      </p:sp>
      <p:sp>
        <p:nvSpPr>
          <p:cNvPr id="12" name="Freeform 12"/>
          <p:cNvSpPr/>
          <p:nvPr/>
        </p:nvSpPr>
        <p:spPr>
          <a:xfrm rot="-8526383">
            <a:off x="8344280" y="3274578"/>
            <a:ext cx="12762971" cy="13033246"/>
          </a:xfrm>
          <a:custGeom>
            <a:avLst/>
            <a:gdLst/>
            <a:ahLst/>
            <a:cxnLst/>
            <a:rect l="l" t="t" r="r" b="b"/>
            <a:pathLst>
              <a:path w="12762971" h="13033246">
                <a:moveTo>
                  <a:pt x="0" y="0"/>
                </a:moveTo>
                <a:lnTo>
                  <a:pt x="12762972" y="0"/>
                </a:lnTo>
                <a:lnTo>
                  <a:pt x="12762972" y="13033246"/>
                </a:lnTo>
                <a:lnTo>
                  <a:pt x="0" y="1303324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3" name="Freeform 13"/>
          <p:cNvSpPr/>
          <p:nvPr/>
        </p:nvSpPr>
        <p:spPr>
          <a:xfrm rot="5127295">
            <a:off x="-3804245" y="-1524000"/>
            <a:ext cx="13182807" cy="9347809"/>
          </a:xfrm>
          <a:custGeom>
            <a:avLst/>
            <a:gdLst/>
            <a:ahLst/>
            <a:cxnLst/>
            <a:rect l="l" t="t" r="r" b="b"/>
            <a:pathLst>
              <a:path w="13182807" h="9347809">
                <a:moveTo>
                  <a:pt x="0" y="0"/>
                </a:moveTo>
                <a:lnTo>
                  <a:pt x="13182807" y="0"/>
                </a:lnTo>
                <a:lnTo>
                  <a:pt x="13182807" y="9347809"/>
                </a:lnTo>
                <a:lnTo>
                  <a:pt x="0" y="934780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15" name="投影片編號版面配置區 1">
            <a:extLst>
              <a:ext uri="{FF2B5EF4-FFF2-40B4-BE49-F238E27FC236}">
                <a16:creationId xmlns:a16="http://schemas.microsoft.com/office/drawing/2014/main" id="{3308F2AC-6D7B-09EF-2E8B-2E71513DE7A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49</a:t>
            </a:fld>
            <a:endParaRPr lang="en-US" sz="4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3" name="投影片編號版面配置區 1">
            <a:extLst>
              <a:ext uri="{FF2B5EF4-FFF2-40B4-BE49-F238E27FC236}">
                <a16:creationId xmlns:a16="http://schemas.microsoft.com/office/drawing/2014/main" id="{77C7B63F-E594-C68A-1943-69A3EDEA98A4}"/>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50</a:t>
            </a:fld>
            <a:endParaRPr lang="en-US" sz="4400" dirty="0"/>
          </a:p>
        </p:txBody>
      </p:sp>
      <p:sp>
        <p:nvSpPr>
          <p:cNvPr id="5" name="文字方塊 4">
            <a:extLst>
              <a:ext uri="{FF2B5EF4-FFF2-40B4-BE49-F238E27FC236}">
                <a16:creationId xmlns:a16="http://schemas.microsoft.com/office/drawing/2014/main" id="{8C954188-1827-0C30-6ADC-EDB13E6775A4}"/>
              </a:ext>
            </a:extLst>
          </p:cNvPr>
          <p:cNvSpPr txBox="1"/>
          <p:nvPr/>
        </p:nvSpPr>
        <p:spPr>
          <a:xfrm>
            <a:off x="2720516" y="7978676"/>
            <a:ext cx="14084300" cy="2308324"/>
          </a:xfrm>
          <a:prstGeom prst="rect">
            <a:avLst/>
          </a:prstGeom>
          <a:noFill/>
        </p:spPr>
        <p:txBody>
          <a:bodyPr wrap="square">
            <a:spAutoFit/>
          </a:bodyPr>
          <a:lstStyle/>
          <a:p>
            <a:r>
              <a:rPr lang="zh-TW" altLang="en-US" sz="3600" dirty="0">
                <a:effectLst/>
                <a:latin typeface="Aptos" panose="020B0004020202020204" pitchFamily="34" charset="0"/>
                <a:ea typeface="新細明體" panose="02020500000000000000" pitchFamily="18" charset="-120"/>
                <a:cs typeface="Times New Roman" panose="02020603050405020304" pitchFamily="18" charset="0"/>
              </a:rPr>
              <a:t>我們在前期收集資料時有詢問過</a:t>
            </a:r>
            <a:r>
              <a:rPr lang="zh-TW" altLang="zh-TW" sz="3600" dirty="0">
                <a:effectLst/>
                <a:latin typeface="Aptos" panose="020B0004020202020204" pitchFamily="34" charset="0"/>
                <a:ea typeface="新細明體" panose="02020500000000000000" pitchFamily="18" charset="-120"/>
                <a:cs typeface="Times New Roman" panose="02020603050405020304" pitchFamily="18" charset="0"/>
              </a:rPr>
              <a:t>萬華分局</a:t>
            </a:r>
            <a:r>
              <a:rPr lang="en-US" altLang="zh-TW" sz="3600" dirty="0">
                <a:effectLst/>
                <a:latin typeface="Aptos" panose="020B0004020202020204" pitchFamily="34" charset="0"/>
                <a:ea typeface="新細明體" panose="02020500000000000000" pitchFamily="18" charset="-120"/>
                <a:cs typeface="Times New Roman" panose="02020603050405020304" pitchFamily="18" charset="0"/>
              </a:rPr>
              <a:t> </a:t>
            </a:r>
            <a:r>
              <a:rPr lang="zh-TW" altLang="en-US" sz="3600" dirty="0">
                <a:effectLst/>
                <a:latin typeface="Aptos" panose="020B0004020202020204" pitchFamily="34" charset="0"/>
                <a:ea typeface="新細明體" panose="02020500000000000000" pitchFamily="18" charset="-120"/>
                <a:cs typeface="Times New Roman" panose="02020603050405020304" pitchFamily="18" charset="0"/>
              </a:rPr>
              <a:t>的蔡警官</a:t>
            </a:r>
            <a:r>
              <a:rPr lang="en-US" altLang="zh-TW" sz="3600" dirty="0">
                <a:effectLst/>
                <a:latin typeface="Aptos" panose="020B0004020202020204" pitchFamily="34" charset="0"/>
                <a:ea typeface="新細明體" panose="02020500000000000000" pitchFamily="18" charset="-120"/>
                <a:cs typeface="Times New Roman" panose="02020603050405020304" pitchFamily="18" charset="0"/>
              </a:rPr>
              <a:t>,</a:t>
            </a:r>
            <a:r>
              <a:rPr lang="zh-TW" altLang="en-US" sz="3600" dirty="0">
                <a:effectLst/>
                <a:latin typeface="Aptos" panose="020B0004020202020204" pitchFamily="34" charset="0"/>
                <a:ea typeface="新細明體" panose="02020500000000000000" pitchFamily="18" charset="-120"/>
                <a:cs typeface="Times New Roman" panose="02020603050405020304" pitchFamily="18" charset="0"/>
              </a:rPr>
              <a:t>關於事件分布圖在以前是有開放民眾查閱但因為有商家抗議影響生意所以後來只剩土城區的分布圖還開放</a:t>
            </a:r>
            <a:endParaRPr lang="en-US" altLang="zh-TW" sz="3600" dirty="0">
              <a:effectLst/>
              <a:latin typeface="Aptos" panose="020B0004020202020204" pitchFamily="34" charset="0"/>
              <a:ea typeface="新細明體" panose="02020500000000000000" pitchFamily="18" charset="-120"/>
              <a:cs typeface="Times New Roman" panose="02020603050405020304" pitchFamily="18" charset="0"/>
            </a:endParaRPr>
          </a:p>
          <a:p>
            <a:endParaRPr lang="zh-TW" altLang="en-US" sz="3600" dirty="0"/>
          </a:p>
        </p:txBody>
      </p:sp>
      <p:sp>
        <p:nvSpPr>
          <p:cNvPr id="6" name="TextBox 9">
            <a:extLst>
              <a:ext uri="{FF2B5EF4-FFF2-40B4-BE49-F238E27FC236}">
                <a16:creationId xmlns:a16="http://schemas.microsoft.com/office/drawing/2014/main" id="{FD4BBDA9-3541-B37B-E42F-97A0ECC3D2EB}"/>
              </a:ext>
            </a:extLst>
          </p:cNvPr>
          <p:cNvSpPr txBox="1"/>
          <p:nvPr/>
        </p:nvSpPr>
        <p:spPr>
          <a:xfrm>
            <a:off x="434924" y="-133350"/>
            <a:ext cx="7825881" cy="1104352"/>
          </a:xfrm>
          <a:prstGeom prst="rect">
            <a:avLst/>
          </a:prstGeom>
        </p:spPr>
        <p:txBody>
          <a:bodyPr lIns="0" tIns="0" rIns="0" bIns="0" rtlCol="0" anchor="t">
            <a:spAutoFit/>
          </a:bodyPr>
          <a:lstStyle/>
          <a:p>
            <a:pPr algn="l">
              <a:lnSpc>
                <a:spcPts val="8955"/>
              </a:lnSpc>
            </a:pPr>
            <a:r>
              <a:rPr lang="zh-TW" altLang="en-US" sz="6396" b="1" dirty="0">
                <a:solidFill>
                  <a:srgbClr val="494F56"/>
                </a:solidFill>
                <a:latin typeface="Quicksand Bold"/>
                <a:ea typeface="Quicksand Bold"/>
                <a:cs typeface="Quicksand Bold"/>
                <a:sym typeface="Quicksand Bold"/>
              </a:rPr>
              <a:t>猜想沒存在原因</a:t>
            </a:r>
            <a:endParaRPr lang="en-US" sz="6396" b="1" dirty="0">
              <a:solidFill>
                <a:srgbClr val="494F56"/>
              </a:solidFill>
              <a:latin typeface="Quicksand Bold"/>
              <a:ea typeface="Quicksand Bold"/>
              <a:cs typeface="Quicksand Bold"/>
              <a:sym typeface="Quicksand Bold"/>
            </a:endParaRPr>
          </a:p>
        </p:txBody>
      </p:sp>
      <p:grpSp>
        <p:nvGrpSpPr>
          <p:cNvPr id="7" name="Group 9">
            <a:extLst>
              <a:ext uri="{FF2B5EF4-FFF2-40B4-BE49-F238E27FC236}">
                <a16:creationId xmlns:a16="http://schemas.microsoft.com/office/drawing/2014/main" id="{7E0B7B60-7301-F7B6-9AA7-03242031890F}"/>
              </a:ext>
            </a:extLst>
          </p:cNvPr>
          <p:cNvGrpSpPr/>
          <p:nvPr/>
        </p:nvGrpSpPr>
        <p:grpSpPr>
          <a:xfrm>
            <a:off x="2514600" y="1604032"/>
            <a:ext cx="6629400" cy="2865280"/>
            <a:chOff x="0" y="0"/>
            <a:chExt cx="2193094" cy="812800"/>
          </a:xfrm>
        </p:grpSpPr>
        <p:sp>
          <p:nvSpPr>
            <p:cNvPr id="8" name="Freeform 10">
              <a:extLst>
                <a:ext uri="{FF2B5EF4-FFF2-40B4-BE49-F238E27FC236}">
                  <a16:creationId xmlns:a16="http://schemas.microsoft.com/office/drawing/2014/main" id="{D0E8FC0A-2217-76A1-D531-BE83C6B46EDA}"/>
                </a:ext>
              </a:extLst>
            </p:cNvPr>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9" name="TextBox 11">
              <a:extLst>
                <a:ext uri="{FF2B5EF4-FFF2-40B4-BE49-F238E27FC236}">
                  <a16:creationId xmlns:a16="http://schemas.microsoft.com/office/drawing/2014/main" id="{DFBFBA3A-678B-8B39-6716-FE5A7E56889F}"/>
                </a:ext>
              </a:extLst>
            </p:cNvPr>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10" name="TextBox 13">
            <a:extLst>
              <a:ext uri="{FF2B5EF4-FFF2-40B4-BE49-F238E27FC236}">
                <a16:creationId xmlns:a16="http://schemas.microsoft.com/office/drawing/2014/main" id="{3FE59312-8C96-6511-252E-AC9D8286CD60}"/>
              </a:ext>
            </a:extLst>
          </p:cNvPr>
          <p:cNvSpPr txBox="1"/>
          <p:nvPr/>
        </p:nvSpPr>
        <p:spPr>
          <a:xfrm>
            <a:off x="2720516" y="2443116"/>
            <a:ext cx="6217568" cy="2026196"/>
          </a:xfrm>
          <a:prstGeom prst="rect">
            <a:avLst/>
          </a:prstGeom>
        </p:spPr>
        <p:txBody>
          <a:bodyPr wrap="square" lIns="0" tIns="0" rIns="0" bIns="0" rtlCol="0" anchor="t">
            <a:spAutoFit/>
          </a:bodyPr>
          <a:lstStyle/>
          <a:p>
            <a:pPr algn="ctr">
              <a:lnSpc>
                <a:spcPts val="7897"/>
              </a:lnSpc>
              <a:spcBef>
                <a:spcPct val="0"/>
              </a:spcBef>
            </a:pPr>
            <a:r>
              <a:rPr lang="zh-TW" altLang="en-US" sz="5640" b="1" dirty="0">
                <a:solidFill>
                  <a:srgbClr val="FFFFFF"/>
                </a:solidFill>
                <a:latin typeface="Atma Medium"/>
                <a:ea typeface="Atma Medium"/>
                <a:cs typeface="Atma Medium"/>
                <a:sym typeface="Atma Medium"/>
              </a:rPr>
              <a:t>資料收集不易</a:t>
            </a:r>
            <a:endParaRPr lang="en-US" sz="5640" b="1" dirty="0">
              <a:solidFill>
                <a:srgbClr val="FFFFFF"/>
              </a:solidFill>
              <a:latin typeface="Atma Medium"/>
              <a:ea typeface="Atma Medium"/>
              <a:cs typeface="Atma Medium"/>
              <a:sym typeface="Atma Medium"/>
            </a:endParaRPr>
          </a:p>
          <a:p>
            <a:pPr algn="ctr">
              <a:lnSpc>
                <a:spcPts val="7897"/>
              </a:lnSpc>
              <a:spcBef>
                <a:spcPct val="0"/>
              </a:spcBef>
            </a:pPr>
            <a:endParaRPr lang="en-US" sz="5640" b="1" dirty="0">
              <a:solidFill>
                <a:srgbClr val="FFFFFF"/>
              </a:solidFill>
              <a:latin typeface="Atma Medium"/>
              <a:ea typeface="Atma Medium"/>
              <a:cs typeface="Atma Medium"/>
              <a:sym typeface="Atma Medium"/>
            </a:endParaRPr>
          </a:p>
        </p:txBody>
      </p:sp>
      <p:grpSp>
        <p:nvGrpSpPr>
          <p:cNvPr id="11" name="Group 9">
            <a:extLst>
              <a:ext uri="{FF2B5EF4-FFF2-40B4-BE49-F238E27FC236}">
                <a16:creationId xmlns:a16="http://schemas.microsoft.com/office/drawing/2014/main" id="{767A696F-6946-8218-8458-82A77047DB25}"/>
              </a:ext>
            </a:extLst>
          </p:cNvPr>
          <p:cNvGrpSpPr/>
          <p:nvPr/>
        </p:nvGrpSpPr>
        <p:grpSpPr>
          <a:xfrm>
            <a:off x="9982200" y="1604032"/>
            <a:ext cx="6629400" cy="2865280"/>
            <a:chOff x="0" y="0"/>
            <a:chExt cx="2193094" cy="812800"/>
          </a:xfrm>
        </p:grpSpPr>
        <p:sp>
          <p:nvSpPr>
            <p:cNvPr id="12" name="Freeform 10">
              <a:extLst>
                <a:ext uri="{FF2B5EF4-FFF2-40B4-BE49-F238E27FC236}">
                  <a16:creationId xmlns:a16="http://schemas.microsoft.com/office/drawing/2014/main" id="{DD035BD6-3A4F-717D-9C33-609794216D6B}"/>
                </a:ext>
              </a:extLst>
            </p:cNvPr>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13" name="TextBox 11">
              <a:extLst>
                <a:ext uri="{FF2B5EF4-FFF2-40B4-BE49-F238E27FC236}">
                  <a16:creationId xmlns:a16="http://schemas.microsoft.com/office/drawing/2014/main" id="{6E49BFD0-16E2-0B36-F97E-4302C2B0B762}"/>
                </a:ext>
              </a:extLst>
            </p:cNvPr>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17" name="TextBox 13">
            <a:extLst>
              <a:ext uri="{FF2B5EF4-FFF2-40B4-BE49-F238E27FC236}">
                <a16:creationId xmlns:a16="http://schemas.microsoft.com/office/drawing/2014/main" id="{EBEBA823-5EDA-7B38-EBB4-87D097CCF249}"/>
              </a:ext>
            </a:extLst>
          </p:cNvPr>
          <p:cNvSpPr txBox="1"/>
          <p:nvPr/>
        </p:nvSpPr>
        <p:spPr>
          <a:xfrm>
            <a:off x="9954986" y="2454002"/>
            <a:ext cx="6217568" cy="2026196"/>
          </a:xfrm>
          <a:prstGeom prst="rect">
            <a:avLst/>
          </a:prstGeom>
        </p:spPr>
        <p:txBody>
          <a:bodyPr wrap="square" lIns="0" tIns="0" rIns="0" bIns="0" rtlCol="0" anchor="t">
            <a:spAutoFit/>
          </a:bodyPr>
          <a:lstStyle/>
          <a:p>
            <a:pPr algn="ctr">
              <a:lnSpc>
                <a:spcPts val="7897"/>
              </a:lnSpc>
              <a:spcBef>
                <a:spcPct val="0"/>
              </a:spcBef>
            </a:pPr>
            <a:r>
              <a:rPr lang="zh-TW" altLang="en-US" sz="5640" b="1" dirty="0">
                <a:solidFill>
                  <a:srgbClr val="FFFFFF"/>
                </a:solidFill>
                <a:latin typeface="Atma Medium"/>
                <a:ea typeface="Atma Medium"/>
                <a:cs typeface="Atma Medium"/>
                <a:sym typeface="Atma Medium"/>
              </a:rPr>
              <a:t>利益少</a:t>
            </a:r>
            <a:endParaRPr lang="en-US" sz="5640" b="1" dirty="0">
              <a:solidFill>
                <a:srgbClr val="FFFFFF"/>
              </a:solidFill>
              <a:latin typeface="Atma Medium"/>
              <a:ea typeface="Atma Medium"/>
              <a:cs typeface="Atma Medium"/>
              <a:sym typeface="Atma Medium"/>
            </a:endParaRPr>
          </a:p>
          <a:p>
            <a:pPr algn="ctr">
              <a:lnSpc>
                <a:spcPts val="7897"/>
              </a:lnSpc>
              <a:spcBef>
                <a:spcPct val="0"/>
              </a:spcBef>
            </a:pPr>
            <a:endParaRPr lang="en-US" sz="5640" b="1" dirty="0">
              <a:solidFill>
                <a:srgbClr val="FFFFFF"/>
              </a:solidFill>
              <a:latin typeface="Atma Medium"/>
              <a:ea typeface="Atma Medium"/>
              <a:cs typeface="Atma Medium"/>
              <a:sym typeface="Atma Medium"/>
            </a:endParaRPr>
          </a:p>
        </p:txBody>
      </p:sp>
      <p:grpSp>
        <p:nvGrpSpPr>
          <p:cNvPr id="18" name="Group 9">
            <a:extLst>
              <a:ext uri="{FF2B5EF4-FFF2-40B4-BE49-F238E27FC236}">
                <a16:creationId xmlns:a16="http://schemas.microsoft.com/office/drawing/2014/main" id="{764FF253-551B-5662-864F-CA5F0B6BF038}"/>
              </a:ext>
            </a:extLst>
          </p:cNvPr>
          <p:cNvGrpSpPr/>
          <p:nvPr/>
        </p:nvGrpSpPr>
        <p:grpSpPr>
          <a:xfrm>
            <a:off x="2514600" y="4813125"/>
            <a:ext cx="6629400" cy="2865280"/>
            <a:chOff x="0" y="0"/>
            <a:chExt cx="2193094" cy="812800"/>
          </a:xfrm>
        </p:grpSpPr>
        <p:sp>
          <p:nvSpPr>
            <p:cNvPr id="19" name="Freeform 10">
              <a:extLst>
                <a:ext uri="{FF2B5EF4-FFF2-40B4-BE49-F238E27FC236}">
                  <a16:creationId xmlns:a16="http://schemas.microsoft.com/office/drawing/2014/main" id="{A136BCFB-8EAF-8A0C-246C-BE8D782C71E3}"/>
                </a:ext>
              </a:extLst>
            </p:cNvPr>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20" name="TextBox 11">
              <a:extLst>
                <a:ext uri="{FF2B5EF4-FFF2-40B4-BE49-F238E27FC236}">
                  <a16:creationId xmlns:a16="http://schemas.microsoft.com/office/drawing/2014/main" id="{8E39F486-6FF1-DBCE-A9C1-A4DBDD9D810D}"/>
                </a:ext>
              </a:extLst>
            </p:cNvPr>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21" name="TextBox 13">
            <a:extLst>
              <a:ext uri="{FF2B5EF4-FFF2-40B4-BE49-F238E27FC236}">
                <a16:creationId xmlns:a16="http://schemas.microsoft.com/office/drawing/2014/main" id="{AED5B414-5153-9B37-4CAA-CA498160E3D9}"/>
              </a:ext>
            </a:extLst>
          </p:cNvPr>
          <p:cNvSpPr txBox="1"/>
          <p:nvPr/>
        </p:nvSpPr>
        <p:spPr>
          <a:xfrm>
            <a:off x="2720516" y="5652209"/>
            <a:ext cx="6217568" cy="976806"/>
          </a:xfrm>
          <a:prstGeom prst="rect">
            <a:avLst/>
          </a:prstGeom>
        </p:spPr>
        <p:txBody>
          <a:bodyPr wrap="square" lIns="0" tIns="0" rIns="0" bIns="0" rtlCol="0" anchor="t">
            <a:spAutoFit/>
          </a:bodyPr>
          <a:lstStyle/>
          <a:p>
            <a:pPr algn="ctr">
              <a:lnSpc>
                <a:spcPts val="7897"/>
              </a:lnSpc>
              <a:spcBef>
                <a:spcPct val="0"/>
              </a:spcBef>
            </a:pPr>
            <a:r>
              <a:rPr lang="zh-TW" altLang="zh-TW" sz="5640" b="1" dirty="0">
                <a:solidFill>
                  <a:srgbClr val="FFFFFF"/>
                </a:solidFill>
                <a:latin typeface="Atma Medium"/>
                <a:cs typeface="Atma Medium"/>
              </a:rPr>
              <a:t>關注度與文化</a:t>
            </a:r>
            <a:endParaRPr lang="en-US" sz="5640" b="1" dirty="0">
              <a:solidFill>
                <a:srgbClr val="FFFFFF"/>
              </a:solidFill>
              <a:latin typeface="Atma Medium"/>
              <a:cs typeface="Atma Medium"/>
              <a:sym typeface="Atma Medium"/>
            </a:endParaRPr>
          </a:p>
        </p:txBody>
      </p:sp>
      <p:grpSp>
        <p:nvGrpSpPr>
          <p:cNvPr id="22" name="Group 9">
            <a:extLst>
              <a:ext uri="{FF2B5EF4-FFF2-40B4-BE49-F238E27FC236}">
                <a16:creationId xmlns:a16="http://schemas.microsoft.com/office/drawing/2014/main" id="{9D1B4145-EF25-4C4C-A647-A310600BC111}"/>
              </a:ext>
            </a:extLst>
          </p:cNvPr>
          <p:cNvGrpSpPr/>
          <p:nvPr/>
        </p:nvGrpSpPr>
        <p:grpSpPr>
          <a:xfrm>
            <a:off x="9982200" y="4813125"/>
            <a:ext cx="6629400" cy="2865280"/>
            <a:chOff x="0" y="0"/>
            <a:chExt cx="2193094" cy="812800"/>
          </a:xfrm>
        </p:grpSpPr>
        <p:sp>
          <p:nvSpPr>
            <p:cNvPr id="23" name="Freeform 10">
              <a:extLst>
                <a:ext uri="{FF2B5EF4-FFF2-40B4-BE49-F238E27FC236}">
                  <a16:creationId xmlns:a16="http://schemas.microsoft.com/office/drawing/2014/main" id="{B8DEA4D5-D49F-F52C-5ED4-7AD388C19962}"/>
                </a:ext>
              </a:extLst>
            </p:cNvPr>
            <p:cNvSpPr/>
            <p:nvPr/>
          </p:nvSpPr>
          <p:spPr>
            <a:xfrm>
              <a:off x="0" y="0"/>
              <a:ext cx="2193094" cy="812800"/>
            </a:xfrm>
            <a:custGeom>
              <a:avLst/>
              <a:gdLst/>
              <a:ahLst/>
              <a:cxnLst/>
              <a:rect l="l" t="t" r="r" b="b"/>
              <a:pathLst>
                <a:path w="2193094" h="812800">
                  <a:moveTo>
                    <a:pt x="47417" y="0"/>
                  </a:moveTo>
                  <a:lnTo>
                    <a:pt x="2145677" y="0"/>
                  </a:lnTo>
                  <a:cubicBezTo>
                    <a:pt x="2171864" y="0"/>
                    <a:pt x="2193094" y="21229"/>
                    <a:pt x="2193094" y="47417"/>
                  </a:cubicBezTo>
                  <a:lnTo>
                    <a:pt x="2193094" y="765383"/>
                  </a:lnTo>
                  <a:cubicBezTo>
                    <a:pt x="2193094" y="791571"/>
                    <a:pt x="2171864" y="812800"/>
                    <a:pt x="2145677" y="812800"/>
                  </a:cubicBezTo>
                  <a:lnTo>
                    <a:pt x="47417" y="812800"/>
                  </a:lnTo>
                  <a:cubicBezTo>
                    <a:pt x="21229" y="812800"/>
                    <a:pt x="0" y="791571"/>
                    <a:pt x="0" y="765383"/>
                  </a:cubicBezTo>
                  <a:lnTo>
                    <a:pt x="0" y="47417"/>
                  </a:lnTo>
                  <a:cubicBezTo>
                    <a:pt x="0" y="21229"/>
                    <a:pt x="21229" y="0"/>
                    <a:pt x="47417" y="0"/>
                  </a:cubicBezTo>
                  <a:close/>
                </a:path>
              </a:pathLst>
            </a:custGeom>
            <a:solidFill>
              <a:srgbClr val="0093B9"/>
            </a:solidFill>
          </p:spPr>
          <p:txBody>
            <a:bodyPr/>
            <a:lstStyle/>
            <a:p>
              <a:endParaRPr lang="zh-TW" altLang="en-US"/>
            </a:p>
          </p:txBody>
        </p:sp>
        <p:sp>
          <p:nvSpPr>
            <p:cNvPr id="24" name="TextBox 11">
              <a:extLst>
                <a:ext uri="{FF2B5EF4-FFF2-40B4-BE49-F238E27FC236}">
                  <a16:creationId xmlns:a16="http://schemas.microsoft.com/office/drawing/2014/main" id="{7CB43FEA-3C9C-CEB3-FC30-0A36B64B7DA1}"/>
                </a:ext>
              </a:extLst>
            </p:cNvPr>
            <p:cNvSpPr txBox="1"/>
            <p:nvPr/>
          </p:nvSpPr>
          <p:spPr>
            <a:xfrm>
              <a:off x="0" y="-38100"/>
              <a:ext cx="2193094" cy="850900"/>
            </a:xfrm>
            <a:prstGeom prst="rect">
              <a:avLst/>
            </a:prstGeom>
          </p:spPr>
          <p:txBody>
            <a:bodyPr lIns="50800" tIns="50800" rIns="50800" bIns="50800" rtlCol="0" anchor="ctr"/>
            <a:lstStyle/>
            <a:p>
              <a:pPr algn="ctr">
                <a:lnSpc>
                  <a:spcPts val="2120"/>
                </a:lnSpc>
              </a:pPr>
              <a:endParaRPr/>
            </a:p>
          </p:txBody>
        </p:sp>
      </p:grpSp>
      <p:sp>
        <p:nvSpPr>
          <p:cNvPr id="25" name="TextBox 13">
            <a:extLst>
              <a:ext uri="{FF2B5EF4-FFF2-40B4-BE49-F238E27FC236}">
                <a16:creationId xmlns:a16="http://schemas.microsoft.com/office/drawing/2014/main" id="{D2FE6F27-14C3-034D-85CB-36AA24182613}"/>
              </a:ext>
            </a:extLst>
          </p:cNvPr>
          <p:cNvSpPr txBox="1"/>
          <p:nvPr/>
        </p:nvSpPr>
        <p:spPr>
          <a:xfrm>
            <a:off x="10188116" y="5652209"/>
            <a:ext cx="6217568" cy="976806"/>
          </a:xfrm>
          <a:prstGeom prst="rect">
            <a:avLst/>
          </a:prstGeom>
        </p:spPr>
        <p:txBody>
          <a:bodyPr wrap="square" lIns="0" tIns="0" rIns="0" bIns="0" rtlCol="0" anchor="t">
            <a:spAutoFit/>
          </a:bodyPr>
          <a:lstStyle/>
          <a:p>
            <a:pPr algn="ctr">
              <a:lnSpc>
                <a:spcPts val="7897"/>
              </a:lnSpc>
              <a:spcBef>
                <a:spcPct val="0"/>
              </a:spcBef>
            </a:pPr>
            <a:r>
              <a:rPr lang="zh-TW" altLang="zh-TW" sz="5640" b="1" dirty="0">
                <a:solidFill>
                  <a:srgbClr val="FFFFFF"/>
                </a:solidFill>
                <a:latin typeface="Atma Medium"/>
                <a:cs typeface="Atma Medium"/>
              </a:rPr>
              <a:t>關注度與文化</a:t>
            </a:r>
            <a:endParaRPr lang="en-US" sz="5640" b="1" dirty="0">
              <a:solidFill>
                <a:srgbClr val="FFFFFF"/>
              </a:solidFill>
              <a:latin typeface="Atma Medium"/>
              <a:cs typeface="Atma Medium"/>
              <a:sym typeface="Atma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EAF2A0AC-B720-BD48-3E79-1F050BDE696D}"/>
            </a:ext>
          </a:extLst>
        </p:cNvPr>
        <p:cNvGrpSpPr/>
        <p:nvPr/>
      </p:nvGrpSpPr>
      <p:grpSpPr>
        <a:xfrm>
          <a:off x="0" y="0"/>
          <a:ext cx="0" cy="0"/>
          <a:chOff x="0" y="0"/>
          <a:chExt cx="0" cy="0"/>
        </a:xfrm>
      </p:grpSpPr>
      <p:pic>
        <p:nvPicPr>
          <p:cNvPr id="4" name="圖片 3">
            <a:extLst>
              <a:ext uri="{FF2B5EF4-FFF2-40B4-BE49-F238E27FC236}">
                <a16:creationId xmlns:a16="http://schemas.microsoft.com/office/drawing/2014/main" id="{E2D93E62-7BA5-2EB0-290F-9AF3F948874B}"/>
              </a:ext>
            </a:extLst>
          </p:cNvPr>
          <p:cNvPicPr>
            <a:picLocks noChangeAspect="1"/>
          </p:cNvPicPr>
          <p:nvPr/>
        </p:nvPicPr>
        <p:blipFill>
          <a:blip r:embed="rId2"/>
          <a:stretch>
            <a:fillRect/>
          </a:stretch>
        </p:blipFill>
        <p:spPr>
          <a:xfrm>
            <a:off x="33796" y="57029"/>
            <a:ext cx="18254204" cy="10371707"/>
          </a:xfrm>
          <a:prstGeom prst="rect">
            <a:avLst/>
          </a:prstGeom>
        </p:spPr>
      </p:pic>
      <p:sp>
        <p:nvSpPr>
          <p:cNvPr id="3" name="投影片編號版面配置區 1">
            <a:extLst>
              <a:ext uri="{FF2B5EF4-FFF2-40B4-BE49-F238E27FC236}">
                <a16:creationId xmlns:a16="http://schemas.microsoft.com/office/drawing/2014/main" id="{BB6BAFBB-7BF6-64AF-A697-1ADB05C6DD73}"/>
              </a:ext>
            </a:extLst>
          </p:cNvPr>
          <p:cNvSpPr txBox="1">
            <a:spLocks/>
          </p:cNvSpPr>
          <p:nvPr/>
        </p:nvSpPr>
        <p:spPr>
          <a:xfrm>
            <a:off x="-1295400" y="9410700"/>
            <a:ext cx="2209800" cy="6699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4400" smtClean="0"/>
              <a:pPr/>
              <a:t>51</a:t>
            </a:fld>
            <a:endParaRPr lang="en-US" sz="4400" dirty="0"/>
          </a:p>
        </p:txBody>
      </p:sp>
      <p:sp>
        <p:nvSpPr>
          <p:cNvPr id="6" name="TextBox 9">
            <a:extLst>
              <a:ext uri="{FF2B5EF4-FFF2-40B4-BE49-F238E27FC236}">
                <a16:creationId xmlns:a16="http://schemas.microsoft.com/office/drawing/2014/main" id="{E98DDFA9-1DB6-EE63-E9F1-10EF9DC9FCB8}"/>
              </a:ext>
            </a:extLst>
          </p:cNvPr>
          <p:cNvSpPr txBox="1"/>
          <p:nvPr/>
        </p:nvSpPr>
        <p:spPr>
          <a:xfrm>
            <a:off x="434925" y="-266700"/>
            <a:ext cx="7261276" cy="1062342"/>
          </a:xfrm>
          <a:prstGeom prst="rect">
            <a:avLst/>
          </a:prstGeom>
        </p:spPr>
        <p:txBody>
          <a:bodyPr wrap="square" lIns="0" tIns="0" rIns="0" bIns="0" rtlCol="0" anchor="t">
            <a:spAutoFit/>
          </a:bodyPr>
          <a:lstStyle/>
          <a:p>
            <a:pPr algn="l">
              <a:lnSpc>
                <a:spcPts val="8955"/>
              </a:lnSpc>
            </a:pPr>
            <a:r>
              <a:rPr lang="zh-TW" altLang="en-US" sz="5400" b="1" dirty="0">
                <a:solidFill>
                  <a:srgbClr val="494F56"/>
                </a:solidFill>
                <a:latin typeface="Quicksand Bold"/>
                <a:ea typeface="Quicksand Bold"/>
                <a:cs typeface="Quicksand Bold"/>
                <a:sym typeface="Quicksand Bold"/>
              </a:rPr>
              <a:t>資料表關聯圖</a:t>
            </a:r>
            <a:endParaRPr lang="en-US" sz="5400" b="1" dirty="0">
              <a:solidFill>
                <a:srgbClr val="494F56"/>
              </a:solidFill>
              <a:latin typeface="Quicksand Bold"/>
              <a:ea typeface="Quicksand Bold"/>
              <a:cs typeface="Quicksand Bold"/>
              <a:sym typeface="Quicksand Bold"/>
            </a:endParaRPr>
          </a:p>
        </p:txBody>
      </p:sp>
    </p:spTree>
    <p:extLst>
      <p:ext uri="{BB962C8B-B14F-4D97-AF65-F5344CB8AC3E}">
        <p14:creationId xmlns:p14="http://schemas.microsoft.com/office/powerpoint/2010/main" val="3751039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1144</Words>
  <Application>Microsoft Office PowerPoint</Application>
  <PresentationFormat>自訂</PresentationFormat>
  <Paragraphs>354</Paragraphs>
  <Slides>51</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51</vt:i4>
      </vt:variant>
    </vt:vector>
  </HeadingPairs>
  <TitlesOfParts>
    <vt:vector size="60" baseType="lpstr">
      <vt:lpstr>Atma</vt:lpstr>
      <vt:lpstr>Calibri</vt:lpstr>
      <vt:lpstr>Quicksand Bold</vt:lpstr>
      <vt:lpstr>Aptos</vt:lpstr>
      <vt:lpstr>Quicksand</vt:lpstr>
      <vt:lpstr>Noot</vt:lpstr>
      <vt:lpstr>Arial</vt:lpstr>
      <vt:lpstr>Atma Medium</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初審文件</dc:title>
  <dc:creator>Sunny Wu</dc:creator>
  <cp:lastModifiedBy>Sunny Wu</cp:lastModifiedBy>
  <cp:revision>9</cp:revision>
  <dcterms:created xsi:type="dcterms:W3CDTF">2006-08-16T00:00:00Z</dcterms:created>
  <dcterms:modified xsi:type="dcterms:W3CDTF">2025-06-01T23:36:57Z</dcterms:modified>
  <dc:identifier>DAGniwVeG2U</dc:identifier>
</cp:coreProperties>
</file>