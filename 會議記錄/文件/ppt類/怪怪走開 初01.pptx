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Noot" charset="-79"/>
      <p:regular r:id="rId19"/>
    </p:embeddedFont>
    <p:embeddedFont>
      <p:font typeface="Quicksand" panose="02020500000000000000" charset="0"/>
      <p:regular r:id="rId20"/>
    </p:embeddedFont>
    <p:embeddedFont>
      <p:font typeface="Quicksand Bold" panose="020205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17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6.sv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2.svg"/><Relationship Id="rId10" Type="http://schemas.openxmlformats.org/officeDocument/2006/relationships/image" Target="../media/image41.svg"/><Relationship Id="rId4" Type="http://schemas.openxmlformats.org/officeDocument/2006/relationships/image" Target="../media/image1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svg"/><Relationship Id="rId7" Type="http://schemas.openxmlformats.org/officeDocument/2006/relationships/image" Target="../media/image54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5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sv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svg"/><Relationship Id="rId7" Type="http://schemas.openxmlformats.org/officeDocument/2006/relationships/image" Target="../media/image6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9" Type="http://schemas.openxmlformats.org/officeDocument/2006/relationships/image" Target="../media/image6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1236" y="-40735"/>
            <a:ext cx="21425453" cy="11138325"/>
            <a:chOff x="0" y="0"/>
            <a:chExt cx="5642918" cy="2933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42918" cy="2933551"/>
            </a:xfrm>
            <a:custGeom>
              <a:avLst/>
              <a:gdLst/>
              <a:ahLst/>
              <a:cxnLst/>
              <a:rect l="l" t="t" r="r" b="b"/>
              <a:pathLst>
                <a:path w="5642918" h="2933551">
                  <a:moveTo>
                    <a:pt x="0" y="0"/>
                  </a:moveTo>
                  <a:lnTo>
                    <a:pt x="5642918" y="0"/>
                  </a:lnTo>
                  <a:lnTo>
                    <a:pt x="5642918" y="2933551"/>
                  </a:lnTo>
                  <a:lnTo>
                    <a:pt x="0" y="2933551"/>
                  </a:lnTo>
                  <a:close/>
                </a:path>
              </a:pathLst>
            </a:custGeom>
            <a:solidFill>
              <a:srgbClr val="ECEAE6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642918" cy="2971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496443" y="-71472"/>
            <a:ext cx="22500660" cy="11884799"/>
            <a:chOff x="0" y="0"/>
            <a:chExt cx="30000880" cy="15846399"/>
          </a:xfrm>
        </p:grpSpPr>
        <p:sp>
          <p:nvSpPr>
            <p:cNvPr id="6" name="Freeform 6"/>
            <p:cNvSpPr/>
            <p:nvPr/>
          </p:nvSpPr>
          <p:spPr>
            <a:xfrm>
              <a:off x="42168" y="166557"/>
              <a:ext cx="9924956" cy="9916679"/>
            </a:xfrm>
            <a:custGeom>
              <a:avLst/>
              <a:gdLst/>
              <a:ahLst/>
              <a:cxnLst/>
              <a:rect l="l" t="t" r="r" b="b"/>
              <a:pathLst>
                <a:path w="9924956" h="9916679">
                  <a:moveTo>
                    <a:pt x="0" y="0"/>
                  </a:moveTo>
                  <a:lnTo>
                    <a:pt x="9924956" y="0"/>
                  </a:lnTo>
                  <a:lnTo>
                    <a:pt x="9924956" y="9916678"/>
                  </a:lnTo>
                  <a:lnTo>
                    <a:pt x="0" y="9916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775383"/>
              <a:ext cx="9967124" cy="6071016"/>
            </a:xfrm>
            <a:custGeom>
              <a:avLst/>
              <a:gdLst/>
              <a:ahLst/>
              <a:cxnLst/>
              <a:rect l="l" t="t" r="r" b="b"/>
              <a:pathLst>
                <a:path w="9967124" h="6071016">
                  <a:moveTo>
                    <a:pt x="0" y="0"/>
                  </a:moveTo>
                  <a:lnTo>
                    <a:pt x="9967124" y="0"/>
                  </a:lnTo>
                  <a:lnTo>
                    <a:pt x="9967124" y="6071016"/>
                  </a:lnTo>
                  <a:lnTo>
                    <a:pt x="0" y="607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017166" y="72561"/>
              <a:ext cx="9924956" cy="9916679"/>
            </a:xfrm>
            <a:custGeom>
              <a:avLst/>
              <a:gdLst/>
              <a:ahLst/>
              <a:cxnLst/>
              <a:rect l="l" t="t" r="r" b="b"/>
              <a:pathLst>
                <a:path w="9924956" h="9916679">
                  <a:moveTo>
                    <a:pt x="0" y="0"/>
                  </a:moveTo>
                  <a:lnTo>
                    <a:pt x="9924956" y="0"/>
                  </a:lnTo>
                  <a:lnTo>
                    <a:pt x="9924956" y="9916679"/>
                  </a:lnTo>
                  <a:lnTo>
                    <a:pt x="0" y="9916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9974997" y="9681388"/>
              <a:ext cx="9967124" cy="6071016"/>
            </a:xfrm>
            <a:custGeom>
              <a:avLst/>
              <a:gdLst/>
              <a:ahLst/>
              <a:cxnLst/>
              <a:rect l="l" t="t" r="r" b="b"/>
              <a:pathLst>
                <a:path w="9967124" h="6071016">
                  <a:moveTo>
                    <a:pt x="0" y="0"/>
                  </a:moveTo>
                  <a:lnTo>
                    <a:pt x="9967125" y="0"/>
                  </a:lnTo>
                  <a:lnTo>
                    <a:pt x="9967125" y="6071016"/>
                  </a:lnTo>
                  <a:lnTo>
                    <a:pt x="0" y="607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075923" y="0"/>
              <a:ext cx="9924956" cy="9916679"/>
            </a:xfrm>
            <a:custGeom>
              <a:avLst/>
              <a:gdLst/>
              <a:ahLst/>
              <a:cxnLst/>
              <a:rect l="l" t="t" r="r" b="b"/>
              <a:pathLst>
                <a:path w="9924956" h="9916679">
                  <a:moveTo>
                    <a:pt x="0" y="0"/>
                  </a:moveTo>
                  <a:lnTo>
                    <a:pt x="9924957" y="0"/>
                  </a:lnTo>
                  <a:lnTo>
                    <a:pt x="9924957" y="9916679"/>
                  </a:lnTo>
                  <a:lnTo>
                    <a:pt x="0" y="9916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0033755" y="9608827"/>
              <a:ext cx="9967124" cy="6071016"/>
            </a:xfrm>
            <a:custGeom>
              <a:avLst/>
              <a:gdLst/>
              <a:ahLst/>
              <a:cxnLst/>
              <a:rect l="l" t="t" r="r" b="b"/>
              <a:pathLst>
                <a:path w="9967124" h="6071016">
                  <a:moveTo>
                    <a:pt x="0" y="0"/>
                  </a:moveTo>
                  <a:lnTo>
                    <a:pt x="9967125" y="0"/>
                  </a:lnTo>
                  <a:lnTo>
                    <a:pt x="9967125" y="6071016"/>
                  </a:lnTo>
                  <a:lnTo>
                    <a:pt x="0" y="607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6403573" y="-6114974"/>
            <a:ext cx="6647232" cy="6544610"/>
          </a:xfrm>
          <a:custGeom>
            <a:avLst/>
            <a:gdLst/>
            <a:ahLst/>
            <a:cxnLst/>
            <a:rect l="l" t="t" r="r" b="b"/>
            <a:pathLst>
              <a:path w="6647232" h="6544610">
                <a:moveTo>
                  <a:pt x="0" y="0"/>
                </a:moveTo>
                <a:lnTo>
                  <a:pt x="6647232" y="0"/>
                </a:lnTo>
                <a:lnTo>
                  <a:pt x="6647232" y="6544610"/>
                </a:lnTo>
                <a:lnTo>
                  <a:pt x="0" y="654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5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2083" b="-1384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6792052" y="619601"/>
            <a:ext cx="6636719" cy="6472691"/>
          </a:xfrm>
          <a:custGeom>
            <a:avLst/>
            <a:gdLst/>
            <a:ahLst/>
            <a:cxnLst/>
            <a:rect l="l" t="t" r="r" b="b"/>
            <a:pathLst>
              <a:path w="6636719" h="6472691">
                <a:moveTo>
                  <a:pt x="0" y="0"/>
                </a:moveTo>
                <a:lnTo>
                  <a:pt x="6636719" y="0"/>
                </a:lnTo>
                <a:lnTo>
                  <a:pt x="6636719" y="6472691"/>
                </a:lnTo>
                <a:lnTo>
                  <a:pt x="0" y="6472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85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34" r="-12261" b="-1387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489246">
            <a:off x="-1325099" y="-1603819"/>
            <a:ext cx="10953089" cy="10136586"/>
          </a:xfrm>
          <a:custGeom>
            <a:avLst/>
            <a:gdLst/>
            <a:ahLst/>
            <a:cxnLst/>
            <a:rect l="l" t="t" r="r" b="b"/>
            <a:pathLst>
              <a:path w="10953089" h="10136586">
                <a:moveTo>
                  <a:pt x="0" y="0"/>
                </a:moveTo>
                <a:lnTo>
                  <a:pt x="10953089" y="0"/>
                </a:lnTo>
                <a:lnTo>
                  <a:pt x="10953089" y="10136586"/>
                </a:lnTo>
                <a:lnTo>
                  <a:pt x="0" y="10136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>
            <a:off x="10904717" y="575429"/>
            <a:ext cx="6841267" cy="6983793"/>
          </a:xfrm>
          <a:custGeom>
            <a:avLst/>
            <a:gdLst/>
            <a:ahLst/>
            <a:cxnLst/>
            <a:rect l="l" t="t" r="r" b="b"/>
            <a:pathLst>
              <a:path w="6841267" h="6983793">
                <a:moveTo>
                  <a:pt x="0" y="0"/>
                </a:moveTo>
                <a:lnTo>
                  <a:pt x="6841267" y="0"/>
                </a:lnTo>
                <a:lnTo>
                  <a:pt x="6841267" y="6983793"/>
                </a:lnTo>
                <a:lnTo>
                  <a:pt x="0" y="69837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943659">
            <a:off x="14423715" y="5189849"/>
            <a:ext cx="9477027" cy="8649941"/>
          </a:xfrm>
          <a:custGeom>
            <a:avLst/>
            <a:gdLst/>
            <a:ahLst/>
            <a:cxnLst/>
            <a:rect l="l" t="t" r="r" b="b"/>
            <a:pathLst>
              <a:path w="9477027" h="8649941">
                <a:moveTo>
                  <a:pt x="0" y="0"/>
                </a:moveTo>
                <a:lnTo>
                  <a:pt x="9477027" y="0"/>
                </a:lnTo>
                <a:lnTo>
                  <a:pt x="9477027" y="8649941"/>
                </a:lnTo>
                <a:lnTo>
                  <a:pt x="0" y="86499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5003348">
            <a:off x="-166105" y="1217192"/>
            <a:ext cx="11428530" cy="10732810"/>
          </a:xfrm>
          <a:custGeom>
            <a:avLst/>
            <a:gdLst/>
            <a:ahLst/>
            <a:cxnLst/>
            <a:rect l="l" t="t" r="r" b="b"/>
            <a:pathLst>
              <a:path w="11428530" h="10732810">
                <a:moveTo>
                  <a:pt x="0" y="0"/>
                </a:moveTo>
                <a:lnTo>
                  <a:pt x="11428530" y="0"/>
                </a:lnTo>
                <a:lnTo>
                  <a:pt x="11428530" y="10732810"/>
                </a:lnTo>
                <a:lnTo>
                  <a:pt x="0" y="107328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276980" y="1288086"/>
            <a:ext cx="12866678" cy="4968227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16"/>
              </a:lnSpc>
              <a:spcBef>
                <a:spcPct val="0"/>
              </a:spcBef>
            </a:pPr>
            <a:r>
              <a:rPr lang="en-US" sz="14226" dirty="0" err="1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Noot"/>
                <a:ea typeface="Noot"/>
                <a:cs typeface="Noot"/>
                <a:sym typeface="Noot"/>
              </a:rPr>
              <a:t>怪怪走開</a:t>
            </a:r>
            <a:r>
              <a:rPr lang="en-US" sz="14226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Noot"/>
                <a:ea typeface="Noot"/>
                <a:cs typeface="Noot"/>
                <a:sym typeface="Noot"/>
              </a:rPr>
              <a:t>,</a:t>
            </a:r>
          </a:p>
          <a:p>
            <a:pPr algn="l">
              <a:lnSpc>
                <a:spcPts val="19916"/>
              </a:lnSpc>
              <a:spcBef>
                <a:spcPct val="0"/>
              </a:spcBef>
            </a:pPr>
            <a:r>
              <a:rPr lang="en-US" sz="14226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Noot"/>
                <a:ea typeface="Noot"/>
                <a:cs typeface="Noot"/>
                <a:sym typeface="Noot"/>
              </a:rPr>
              <a:t>       </a:t>
            </a:r>
            <a:r>
              <a:rPr lang="en-US" sz="14226" dirty="0" err="1">
                <a:ln>
                  <a:solidFill>
                    <a:schemeClr val="tx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Noot"/>
                <a:ea typeface="Noot"/>
                <a:cs typeface="Noot"/>
                <a:sym typeface="Noot"/>
              </a:rPr>
              <a:t>護您安全</a:t>
            </a:r>
            <a:endParaRPr lang="en-US" sz="14226" dirty="0">
              <a:ln>
                <a:solidFill>
                  <a:schemeClr val="tx1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latin typeface="Noot"/>
              <a:ea typeface="Noot"/>
              <a:cs typeface="Noot"/>
              <a:sym typeface="Noo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66224" y="7387772"/>
            <a:ext cx="8115300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團隊:名稱不隊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870903">
            <a:off x="9482394" y="-3401478"/>
            <a:ext cx="14620325" cy="17849231"/>
          </a:xfrm>
          <a:custGeom>
            <a:avLst/>
            <a:gdLst/>
            <a:ahLst/>
            <a:cxnLst/>
            <a:rect l="l" t="t" r="r" b="b"/>
            <a:pathLst>
              <a:path w="14620325" h="17849231">
                <a:moveTo>
                  <a:pt x="0" y="0"/>
                </a:moveTo>
                <a:lnTo>
                  <a:pt x="14620325" y="0"/>
                </a:lnTo>
                <a:lnTo>
                  <a:pt x="14620325" y="17849230"/>
                </a:lnTo>
                <a:lnTo>
                  <a:pt x="0" y="1784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1030102" y="-277765"/>
            <a:ext cx="20348204" cy="10564765"/>
            <a:chOff x="0" y="0"/>
            <a:chExt cx="5359198" cy="27824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FFCD9">
                <a:alpha val="50980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ECEAE6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128900" y="-277765"/>
            <a:ext cx="22545800" cy="12338701"/>
          </a:xfrm>
          <a:custGeom>
            <a:avLst/>
            <a:gdLst/>
            <a:ahLst/>
            <a:cxnLst/>
            <a:rect l="l" t="t" r="r" b="b"/>
            <a:pathLst>
              <a:path w="22545800" h="12338701">
                <a:moveTo>
                  <a:pt x="0" y="0"/>
                </a:moveTo>
                <a:lnTo>
                  <a:pt x="22545800" y="0"/>
                </a:lnTo>
                <a:lnTo>
                  <a:pt x="22545800" y="12338702"/>
                </a:lnTo>
                <a:lnTo>
                  <a:pt x="0" y="12338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922393">
            <a:off x="-6281462" y="-648686"/>
            <a:ext cx="14620325" cy="17849231"/>
          </a:xfrm>
          <a:custGeom>
            <a:avLst/>
            <a:gdLst/>
            <a:ahLst/>
            <a:cxnLst/>
            <a:rect l="l" t="t" r="r" b="b"/>
            <a:pathLst>
              <a:path w="14620325" h="17849231">
                <a:moveTo>
                  <a:pt x="0" y="0"/>
                </a:moveTo>
                <a:lnTo>
                  <a:pt x="14620324" y="0"/>
                </a:lnTo>
                <a:lnTo>
                  <a:pt x="14620324" y="17849231"/>
                </a:lnTo>
                <a:lnTo>
                  <a:pt x="0" y="17849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850256" y="2724819"/>
            <a:ext cx="15861934" cy="4981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66"/>
              </a:lnSpc>
            </a:pPr>
            <a:r>
              <a:rPr lang="en-US" sz="7119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一. 產品(服務)介紹,解決什麼問題</a:t>
            </a:r>
          </a:p>
          <a:p>
            <a:pPr algn="l">
              <a:lnSpc>
                <a:spcPts val="9966"/>
              </a:lnSpc>
            </a:pPr>
            <a:r>
              <a:rPr lang="en-US" sz="7119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二. 該產品(服務)主要的 使用對象</a:t>
            </a:r>
          </a:p>
          <a:p>
            <a:pPr algn="l">
              <a:lnSpc>
                <a:spcPts val="9966"/>
              </a:lnSpc>
            </a:pPr>
            <a:r>
              <a:rPr lang="en-US" sz="7119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三. 如何推廣讓更多人認識該產品(服務)</a:t>
            </a:r>
          </a:p>
          <a:p>
            <a:pPr algn="l">
              <a:lnSpc>
                <a:spcPts val="9966"/>
              </a:lnSpc>
            </a:pPr>
            <a:r>
              <a:rPr lang="en-US" sz="7119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四. 未來執行商業模式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037268" y="375922"/>
            <a:ext cx="8664010" cy="1120658"/>
          </a:xfrm>
          <a:custGeom>
            <a:avLst/>
            <a:gdLst/>
            <a:ahLst/>
            <a:cxnLst/>
            <a:rect l="l" t="t" r="r" b="b"/>
            <a:pathLst>
              <a:path w="8664010" h="1120658">
                <a:moveTo>
                  <a:pt x="0" y="0"/>
                </a:moveTo>
                <a:lnTo>
                  <a:pt x="8664011" y="0"/>
                </a:lnTo>
                <a:lnTo>
                  <a:pt x="8664011" y="1120658"/>
                </a:lnTo>
                <a:lnTo>
                  <a:pt x="0" y="11206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10800000">
            <a:off x="-1413279" y="375922"/>
            <a:ext cx="8664010" cy="1120658"/>
          </a:xfrm>
          <a:custGeom>
            <a:avLst/>
            <a:gdLst/>
            <a:ahLst/>
            <a:cxnLst/>
            <a:rect l="l" t="t" r="r" b="b"/>
            <a:pathLst>
              <a:path w="8664010" h="1120658">
                <a:moveTo>
                  <a:pt x="0" y="0"/>
                </a:moveTo>
                <a:lnTo>
                  <a:pt x="8664011" y="0"/>
                </a:lnTo>
                <a:lnTo>
                  <a:pt x="8664011" y="1120658"/>
                </a:lnTo>
                <a:lnTo>
                  <a:pt x="0" y="11206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946057" y="19574"/>
            <a:ext cx="2395887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目錄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870903">
            <a:off x="9482394" y="-3401478"/>
            <a:ext cx="14620325" cy="17849231"/>
          </a:xfrm>
          <a:custGeom>
            <a:avLst/>
            <a:gdLst/>
            <a:ahLst/>
            <a:cxnLst/>
            <a:rect l="l" t="t" r="r" b="b"/>
            <a:pathLst>
              <a:path w="14620325" h="17849231">
                <a:moveTo>
                  <a:pt x="0" y="0"/>
                </a:moveTo>
                <a:lnTo>
                  <a:pt x="14620325" y="0"/>
                </a:lnTo>
                <a:lnTo>
                  <a:pt x="14620325" y="17849230"/>
                </a:lnTo>
                <a:lnTo>
                  <a:pt x="0" y="1784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DF9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257800" y="-1518916"/>
            <a:ext cx="22545800" cy="12338701"/>
          </a:xfrm>
          <a:custGeom>
            <a:avLst/>
            <a:gdLst/>
            <a:ahLst/>
            <a:cxnLst/>
            <a:rect l="l" t="t" r="r" b="b"/>
            <a:pathLst>
              <a:path w="22545800" h="12338701">
                <a:moveTo>
                  <a:pt x="0" y="0"/>
                </a:moveTo>
                <a:lnTo>
                  <a:pt x="22545800" y="0"/>
                </a:lnTo>
                <a:lnTo>
                  <a:pt x="22545800" y="12338701"/>
                </a:lnTo>
                <a:lnTo>
                  <a:pt x="0" y="12338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-5327509" y="0"/>
            <a:ext cx="15542417" cy="3104058"/>
            <a:chOff x="0" y="0"/>
            <a:chExt cx="20723223" cy="4138744"/>
          </a:xfrm>
        </p:grpSpPr>
        <p:sp>
          <p:nvSpPr>
            <p:cNvPr id="8" name="Freeform 8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6985394" y="7182942"/>
            <a:ext cx="15542417" cy="3104058"/>
            <a:chOff x="0" y="0"/>
            <a:chExt cx="20723223" cy="4138744"/>
          </a:xfrm>
        </p:grpSpPr>
        <p:sp>
          <p:nvSpPr>
            <p:cNvPr id="11" name="Freeform 11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3072999"/>
            <a:ext cx="16227852" cy="419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5"/>
              </a:lnSpc>
            </a:pPr>
            <a:r>
              <a:rPr lang="en-US" sz="12032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一. 產品(服務)介紹,</a:t>
            </a:r>
          </a:p>
          <a:p>
            <a:pPr algn="l">
              <a:lnSpc>
                <a:spcPts val="16845"/>
              </a:lnSpc>
            </a:pPr>
            <a:r>
              <a:rPr lang="en-US" sz="12032" b="1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     </a:t>
            </a:r>
            <a:r>
              <a:rPr lang="en-US" sz="12032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解決什麼問題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907801"/>
            <a:ext cx="9677197" cy="8955806"/>
          </a:xfrm>
          <a:custGeom>
            <a:avLst/>
            <a:gdLst/>
            <a:ahLst/>
            <a:cxnLst/>
            <a:rect l="l" t="t" r="r" b="b"/>
            <a:pathLst>
              <a:path w="9677197" h="8955806">
                <a:moveTo>
                  <a:pt x="0" y="0"/>
                </a:moveTo>
                <a:lnTo>
                  <a:pt x="9677197" y="0"/>
                </a:lnTo>
                <a:lnTo>
                  <a:pt x="9677197" y="8955807"/>
                </a:lnTo>
                <a:lnTo>
                  <a:pt x="0" y="8955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298285" y="-138882"/>
            <a:ext cx="20348204" cy="10564765"/>
            <a:chOff x="0" y="0"/>
            <a:chExt cx="5359198" cy="27824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946028">
            <a:off x="-284865" y="-6158891"/>
            <a:ext cx="15945596" cy="16423366"/>
          </a:xfrm>
          <a:custGeom>
            <a:avLst/>
            <a:gdLst/>
            <a:ahLst/>
            <a:cxnLst/>
            <a:rect l="l" t="t" r="r" b="b"/>
            <a:pathLst>
              <a:path w="15945596" h="16423366">
                <a:moveTo>
                  <a:pt x="0" y="0"/>
                </a:moveTo>
                <a:lnTo>
                  <a:pt x="15945596" y="0"/>
                </a:lnTo>
                <a:lnTo>
                  <a:pt x="15945596" y="16423367"/>
                </a:lnTo>
                <a:lnTo>
                  <a:pt x="0" y="16423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-419799" y="0"/>
            <a:ext cx="19666570" cy="10387839"/>
            <a:chOff x="0" y="0"/>
            <a:chExt cx="26222094" cy="13850453"/>
          </a:xfrm>
        </p:grpSpPr>
        <p:sp>
          <p:nvSpPr>
            <p:cNvPr id="8" name="Freeform 8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85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85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85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85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85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85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77632" y="3015286"/>
            <a:ext cx="13693110" cy="663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7"/>
              </a:lnSpc>
            </a:pPr>
            <a:r>
              <a:rPr lang="en-US" sz="5362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意旨提供全台街頭怪異事件統計,警示,庇護,來提供有效防護及即時求助。</a:t>
            </a:r>
          </a:p>
          <a:p>
            <a:pPr algn="l">
              <a:lnSpc>
                <a:spcPts val="7507"/>
              </a:lnSpc>
            </a:pPr>
            <a:endParaRPr lang="en-US" sz="5362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7507"/>
              </a:lnSpc>
            </a:pPr>
            <a:r>
              <a:rPr lang="en-US" sz="5362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結合各項功能，協助使用者預防危險，提升個人與社區的安全意識與應變能力</a:t>
            </a:r>
            <a:r>
              <a:rPr lang="en-US" sz="5362" b="1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解決獨行讓人害怕的問題。</a:t>
            </a:r>
          </a:p>
          <a:p>
            <a:pPr algn="l">
              <a:lnSpc>
                <a:spcPts val="7507"/>
              </a:lnSpc>
            </a:pPr>
            <a:endParaRPr lang="en-US" sz="5362" b="1">
              <a:solidFill>
                <a:srgbClr val="494F56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16" name="TextBox 16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8" name="Freeform 18"/>
          <p:cNvSpPr/>
          <p:nvPr/>
        </p:nvSpPr>
        <p:spPr>
          <a:xfrm rot="-4955460">
            <a:off x="-3420430" y="721049"/>
            <a:ext cx="14260633" cy="14260633"/>
          </a:xfrm>
          <a:custGeom>
            <a:avLst/>
            <a:gdLst/>
            <a:ahLst/>
            <a:cxnLst/>
            <a:rect l="l" t="t" r="r" b="b"/>
            <a:pathLst>
              <a:path w="14260633" h="14260633">
                <a:moveTo>
                  <a:pt x="0" y="0"/>
                </a:moveTo>
                <a:lnTo>
                  <a:pt x="14260633" y="0"/>
                </a:lnTo>
                <a:lnTo>
                  <a:pt x="14260633" y="14260633"/>
                </a:lnTo>
                <a:lnTo>
                  <a:pt x="0" y="142606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1347908"/>
            <a:ext cx="14702760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產品宗旨及想解決的問題: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4885510">
            <a:off x="13049010" y="185158"/>
            <a:ext cx="7392249" cy="5864996"/>
          </a:xfrm>
          <a:custGeom>
            <a:avLst/>
            <a:gdLst/>
            <a:ahLst/>
            <a:cxnLst/>
            <a:rect l="l" t="t" r="r" b="b"/>
            <a:pathLst>
              <a:path w="7392249" h="5864996">
                <a:moveTo>
                  <a:pt x="0" y="0"/>
                </a:moveTo>
                <a:lnTo>
                  <a:pt x="7392249" y="0"/>
                </a:lnTo>
                <a:lnTo>
                  <a:pt x="7392249" y="5864996"/>
                </a:lnTo>
                <a:lnTo>
                  <a:pt x="0" y="586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677829" y="1458202"/>
            <a:ext cx="7761321" cy="7761321"/>
          </a:xfrm>
          <a:custGeom>
            <a:avLst/>
            <a:gdLst/>
            <a:ahLst/>
            <a:cxnLst/>
            <a:rect l="l" t="t" r="r" b="b"/>
            <a:pathLst>
              <a:path w="7761321" h="7761321">
                <a:moveTo>
                  <a:pt x="0" y="0"/>
                </a:moveTo>
                <a:lnTo>
                  <a:pt x="7761321" y="0"/>
                </a:lnTo>
                <a:lnTo>
                  <a:pt x="7761321" y="7761321"/>
                </a:lnTo>
                <a:lnTo>
                  <a:pt x="0" y="7761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23825" cap="sq">
            <a:solidFill>
              <a:srgbClr val="FEEDAA"/>
            </a:solidFill>
            <a:prstDash val="lgDash"/>
            <a:miter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2830830" y="3518535"/>
            <a:ext cx="182880" cy="189548"/>
            <a:chOff x="0" y="0"/>
            <a:chExt cx="243840" cy="252730"/>
          </a:xfrm>
        </p:grpSpPr>
        <p:sp>
          <p:nvSpPr>
            <p:cNvPr id="8" name="Freeform 8"/>
            <p:cNvSpPr/>
            <p:nvPr/>
          </p:nvSpPr>
          <p:spPr>
            <a:xfrm>
              <a:off x="44450" y="49530"/>
              <a:ext cx="148590" cy="154940"/>
            </a:xfrm>
            <a:custGeom>
              <a:avLst/>
              <a:gdLst/>
              <a:ahLst/>
              <a:cxnLst/>
              <a:rect l="l" t="t" r="r" b="b"/>
              <a:pathLst>
                <a:path w="148590" h="154940">
                  <a:moveTo>
                    <a:pt x="148590" y="53340"/>
                  </a:moveTo>
                  <a:cubicBezTo>
                    <a:pt x="129540" y="134620"/>
                    <a:pt x="118110" y="140970"/>
                    <a:pt x="106680" y="146050"/>
                  </a:cubicBezTo>
                  <a:cubicBezTo>
                    <a:pt x="96520" y="151130"/>
                    <a:pt x="83820" y="154940"/>
                    <a:pt x="71120" y="152400"/>
                  </a:cubicBezTo>
                  <a:cubicBezTo>
                    <a:pt x="53340" y="149860"/>
                    <a:pt x="21590" y="133350"/>
                    <a:pt x="10160" y="115570"/>
                  </a:cubicBezTo>
                  <a:cubicBezTo>
                    <a:pt x="0" y="97790"/>
                    <a:pt x="1270" y="63500"/>
                    <a:pt x="6350" y="45720"/>
                  </a:cubicBezTo>
                  <a:cubicBezTo>
                    <a:pt x="10160" y="33020"/>
                    <a:pt x="19050" y="24130"/>
                    <a:pt x="29210" y="16510"/>
                  </a:cubicBezTo>
                  <a:cubicBezTo>
                    <a:pt x="38100" y="8890"/>
                    <a:pt x="48260" y="2540"/>
                    <a:pt x="62230" y="1270"/>
                  </a:cubicBezTo>
                  <a:cubicBezTo>
                    <a:pt x="80010" y="0"/>
                    <a:pt x="129540" y="22860"/>
                    <a:pt x="129540" y="22860"/>
                  </a:cubicBezTo>
                </a:path>
              </a:pathLst>
            </a:custGeom>
            <a:solidFill>
              <a:srgbClr val="F3F0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43175" y="4571047"/>
            <a:ext cx="453390" cy="1403032"/>
            <a:chOff x="0" y="0"/>
            <a:chExt cx="604520" cy="1870710"/>
          </a:xfrm>
        </p:grpSpPr>
        <p:sp>
          <p:nvSpPr>
            <p:cNvPr id="10" name="Freeform 10"/>
            <p:cNvSpPr/>
            <p:nvPr/>
          </p:nvSpPr>
          <p:spPr>
            <a:xfrm>
              <a:off x="30480" y="49530"/>
              <a:ext cx="529590" cy="1775460"/>
            </a:xfrm>
            <a:custGeom>
              <a:avLst/>
              <a:gdLst/>
              <a:ahLst/>
              <a:cxnLst/>
              <a:rect l="l" t="t" r="r" b="b"/>
              <a:pathLst>
                <a:path w="529590" h="1775460">
                  <a:moveTo>
                    <a:pt x="177800" y="78740"/>
                  </a:moveTo>
                  <a:cubicBezTo>
                    <a:pt x="191770" y="1355090"/>
                    <a:pt x="243840" y="1626870"/>
                    <a:pt x="232410" y="1703070"/>
                  </a:cubicBezTo>
                  <a:cubicBezTo>
                    <a:pt x="228600" y="1723390"/>
                    <a:pt x="226060" y="1728470"/>
                    <a:pt x="217170" y="1738630"/>
                  </a:cubicBezTo>
                  <a:cubicBezTo>
                    <a:pt x="205740" y="1752600"/>
                    <a:pt x="184150" y="1766570"/>
                    <a:pt x="167640" y="1770380"/>
                  </a:cubicBezTo>
                  <a:cubicBezTo>
                    <a:pt x="154940" y="1774190"/>
                    <a:pt x="140970" y="1774190"/>
                    <a:pt x="128270" y="1769110"/>
                  </a:cubicBezTo>
                  <a:cubicBezTo>
                    <a:pt x="113030" y="1764030"/>
                    <a:pt x="91440" y="1747520"/>
                    <a:pt x="81280" y="1734820"/>
                  </a:cubicBezTo>
                  <a:cubicBezTo>
                    <a:pt x="73660" y="1723390"/>
                    <a:pt x="68580" y="1711960"/>
                    <a:pt x="68580" y="1696720"/>
                  </a:cubicBezTo>
                  <a:cubicBezTo>
                    <a:pt x="69850" y="1677670"/>
                    <a:pt x="86360" y="1662430"/>
                    <a:pt x="99060" y="1625600"/>
                  </a:cubicBezTo>
                  <a:cubicBezTo>
                    <a:pt x="132080" y="1524000"/>
                    <a:pt x="199390" y="1207770"/>
                    <a:pt x="252730" y="1023620"/>
                  </a:cubicBezTo>
                  <a:cubicBezTo>
                    <a:pt x="297180" y="866140"/>
                    <a:pt x="355600" y="596900"/>
                    <a:pt x="392430" y="588010"/>
                  </a:cubicBezTo>
                  <a:cubicBezTo>
                    <a:pt x="405130" y="585470"/>
                    <a:pt x="429260" y="619760"/>
                    <a:pt x="426720" y="624840"/>
                  </a:cubicBezTo>
                  <a:cubicBezTo>
                    <a:pt x="422910" y="631190"/>
                    <a:pt x="373380" y="622300"/>
                    <a:pt x="356870" y="610870"/>
                  </a:cubicBezTo>
                  <a:cubicBezTo>
                    <a:pt x="344170" y="601980"/>
                    <a:pt x="335280" y="584200"/>
                    <a:pt x="332740" y="570230"/>
                  </a:cubicBezTo>
                  <a:cubicBezTo>
                    <a:pt x="328930" y="554990"/>
                    <a:pt x="328930" y="535940"/>
                    <a:pt x="336550" y="521970"/>
                  </a:cubicBezTo>
                  <a:cubicBezTo>
                    <a:pt x="346710" y="505460"/>
                    <a:pt x="372110" y="482600"/>
                    <a:pt x="392430" y="478790"/>
                  </a:cubicBezTo>
                  <a:cubicBezTo>
                    <a:pt x="412750" y="474980"/>
                    <a:pt x="445770" y="485140"/>
                    <a:pt x="459740" y="500380"/>
                  </a:cubicBezTo>
                  <a:cubicBezTo>
                    <a:pt x="473710" y="515620"/>
                    <a:pt x="481330" y="548640"/>
                    <a:pt x="478790" y="567690"/>
                  </a:cubicBezTo>
                  <a:cubicBezTo>
                    <a:pt x="477520" y="584200"/>
                    <a:pt x="466090" y="599440"/>
                    <a:pt x="454660" y="609600"/>
                  </a:cubicBezTo>
                  <a:cubicBezTo>
                    <a:pt x="443230" y="619760"/>
                    <a:pt x="426720" y="628650"/>
                    <a:pt x="410210" y="627380"/>
                  </a:cubicBezTo>
                  <a:cubicBezTo>
                    <a:pt x="391160" y="627380"/>
                    <a:pt x="359410" y="613410"/>
                    <a:pt x="346710" y="599440"/>
                  </a:cubicBezTo>
                  <a:cubicBezTo>
                    <a:pt x="335280" y="586740"/>
                    <a:pt x="330200" y="568960"/>
                    <a:pt x="330200" y="553720"/>
                  </a:cubicBezTo>
                  <a:cubicBezTo>
                    <a:pt x="330200" y="538480"/>
                    <a:pt x="336550" y="520700"/>
                    <a:pt x="345440" y="508000"/>
                  </a:cubicBezTo>
                  <a:cubicBezTo>
                    <a:pt x="354330" y="495300"/>
                    <a:pt x="367030" y="485140"/>
                    <a:pt x="384810" y="480060"/>
                  </a:cubicBezTo>
                  <a:cubicBezTo>
                    <a:pt x="412750" y="473710"/>
                    <a:pt x="478790" y="469900"/>
                    <a:pt x="502920" y="494030"/>
                  </a:cubicBezTo>
                  <a:cubicBezTo>
                    <a:pt x="529590" y="520700"/>
                    <a:pt x="528320" y="586740"/>
                    <a:pt x="521970" y="650240"/>
                  </a:cubicBezTo>
                  <a:cubicBezTo>
                    <a:pt x="510540" y="755650"/>
                    <a:pt x="414020" y="951230"/>
                    <a:pt x="381000" y="1060450"/>
                  </a:cubicBezTo>
                  <a:cubicBezTo>
                    <a:pt x="359410" y="1131570"/>
                    <a:pt x="349250" y="1167130"/>
                    <a:pt x="334010" y="1236980"/>
                  </a:cubicBezTo>
                  <a:cubicBezTo>
                    <a:pt x="311150" y="1338580"/>
                    <a:pt x="294640" y="1526540"/>
                    <a:pt x="270510" y="1612900"/>
                  </a:cubicBezTo>
                  <a:cubicBezTo>
                    <a:pt x="256540" y="1661160"/>
                    <a:pt x="246380" y="1694180"/>
                    <a:pt x="227330" y="1722120"/>
                  </a:cubicBezTo>
                  <a:cubicBezTo>
                    <a:pt x="210820" y="1743710"/>
                    <a:pt x="189230" y="1765300"/>
                    <a:pt x="167640" y="1770380"/>
                  </a:cubicBezTo>
                  <a:cubicBezTo>
                    <a:pt x="149860" y="1775460"/>
                    <a:pt x="125730" y="1769110"/>
                    <a:pt x="110490" y="1761490"/>
                  </a:cubicBezTo>
                  <a:cubicBezTo>
                    <a:pt x="97790" y="1755140"/>
                    <a:pt x="90170" y="1748790"/>
                    <a:pt x="81280" y="1734820"/>
                  </a:cubicBezTo>
                  <a:cubicBezTo>
                    <a:pt x="66040" y="1704340"/>
                    <a:pt x="60960" y="1642110"/>
                    <a:pt x="52070" y="1574800"/>
                  </a:cubicBezTo>
                  <a:cubicBezTo>
                    <a:pt x="38100" y="1465580"/>
                    <a:pt x="26670" y="1315720"/>
                    <a:pt x="20320" y="1136650"/>
                  </a:cubicBezTo>
                  <a:cubicBezTo>
                    <a:pt x="10160" y="861060"/>
                    <a:pt x="0" y="205740"/>
                    <a:pt x="22860" y="78740"/>
                  </a:cubicBezTo>
                  <a:cubicBezTo>
                    <a:pt x="27940" y="49530"/>
                    <a:pt x="31750" y="40640"/>
                    <a:pt x="43180" y="27940"/>
                  </a:cubicBezTo>
                  <a:cubicBezTo>
                    <a:pt x="54610" y="13970"/>
                    <a:pt x="73660" y="2540"/>
                    <a:pt x="91440" y="1270"/>
                  </a:cubicBezTo>
                  <a:cubicBezTo>
                    <a:pt x="111760" y="0"/>
                    <a:pt x="144780" y="12700"/>
                    <a:pt x="158750" y="27940"/>
                  </a:cubicBezTo>
                  <a:cubicBezTo>
                    <a:pt x="171450" y="39370"/>
                    <a:pt x="177800" y="78740"/>
                    <a:pt x="177800" y="78740"/>
                  </a:cubicBezTo>
                </a:path>
              </a:pathLst>
            </a:custGeom>
            <a:solidFill>
              <a:srgbClr val="F3F0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74595" y="4689158"/>
            <a:ext cx="490538" cy="1325880"/>
            <a:chOff x="0" y="0"/>
            <a:chExt cx="654050" cy="1767840"/>
          </a:xfrm>
        </p:grpSpPr>
        <p:sp>
          <p:nvSpPr>
            <p:cNvPr id="12" name="Freeform 12"/>
            <p:cNvSpPr/>
            <p:nvPr/>
          </p:nvSpPr>
          <p:spPr>
            <a:xfrm>
              <a:off x="40640" y="50800"/>
              <a:ext cx="577850" cy="1668780"/>
            </a:xfrm>
            <a:custGeom>
              <a:avLst/>
              <a:gdLst/>
              <a:ahLst/>
              <a:cxnLst/>
              <a:rect l="l" t="t" r="r" b="b"/>
              <a:pathLst>
                <a:path w="577850" h="1668780">
                  <a:moveTo>
                    <a:pt x="339090" y="80010"/>
                  </a:moveTo>
                  <a:cubicBezTo>
                    <a:pt x="325120" y="952500"/>
                    <a:pt x="341630" y="982980"/>
                    <a:pt x="347980" y="1043940"/>
                  </a:cubicBezTo>
                  <a:cubicBezTo>
                    <a:pt x="354330" y="1115060"/>
                    <a:pt x="373380" y="1228090"/>
                    <a:pt x="356870" y="1276350"/>
                  </a:cubicBezTo>
                  <a:cubicBezTo>
                    <a:pt x="347980" y="1303020"/>
                    <a:pt x="328930" y="1320800"/>
                    <a:pt x="311150" y="1328420"/>
                  </a:cubicBezTo>
                  <a:cubicBezTo>
                    <a:pt x="294640" y="1336040"/>
                    <a:pt x="271780" y="1333500"/>
                    <a:pt x="256540" y="1328420"/>
                  </a:cubicBezTo>
                  <a:cubicBezTo>
                    <a:pt x="245110" y="1324610"/>
                    <a:pt x="234950" y="1316990"/>
                    <a:pt x="227330" y="1308100"/>
                  </a:cubicBezTo>
                  <a:cubicBezTo>
                    <a:pt x="219710" y="1299210"/>
                    <a:pt x="215900" y="1292860"/>
                    <a:pt x="210820" y="1276350"/>
                  </a:cubicBezTo>
                  <a:cubicBezTo>
                    <a:pt x="199390" y="1240790"/>
                    <a:pt x="190500" y="1173480"/>
                    <a:pt x="184150" y="1090930"/>
                  </a:cubicBezTo>
                  <a:cubicBezTo>
                    <a:pt x="172720" y="923290"/>
                    <a:pt x="143510" y="433070"/>
                    <a:pt x="181610" y="332740"/>
                  </a:cubicBezTo>
                  <a:cubicBezTo>
                    <a:pt x="193040" y="303530"/>
                    <a:pt x="208280" y="290830"/>
                    <a:pt x="224790" y="283210"/>
                  </a:cubicBezTo>
                  <a:cubicBezTo>
                    <a:pt x="240030" y="276860"/>
                    <a:pt x="261620" y="279400"/>
                    <a:pt x="274320" y="283210"/>
                  </a:cubicBezTo>
                  <a:cubicBezTo>
                    <a:pt x="285750" y="287020"/>
                    <a:pt x="294640" y="293370"/>
                    <a:pt x="302260" y="302260"/>
                  </a:cubicBezTo>
                  <a:cubicBezTo>
                    <a:pt x="311150" y="313690"/>
                    <a:pt x="316230" y="325120"/>
                    <a:pt x="320040" y="349250"/>
                  </a:cubicBezTo>
                  <a:cubicBezTo>
                    <a:pt x="334010" y="427990"/>
                    <a:pt x="316230" y="701040"/>
                    <a:pt x="320040" y="857250"/>
                  </a:cubicBezTo>
                  <a:cubicBezTo>
                    <a:pt x="322580" y="991870"/>
                    <a:pt x="328930" y="1158240"/>
                    <a:pt x="339090" y="1233170"/>
                  </a:cubicBezTo>
                  <a:cubicBezTo>
                    <a:pt x="342900" y="1264920"/>
                    <a:pt x="356870" y="1281430"/>
                    <a:pt x="353060" y="1301750"/>
                  </a:cubicBezTo>
                  <a:cubicBezTo>
                    <a:pt x="350520" y="1318260"/>
                    <a:pt x="340360" y="1336040"/>
                    <a:pt x="327660" y="1347470"/>
                  </a:cubicBezTo>
                  <a:cubicBezTo>
                    <a:pt x="314960" y="1357630"/>
                    <a:pt x="293370" y="1363980"/>
                    <a:pt x="276860" y="1363980"/>
                  </a:cubicBezTo>
                  <a:cubicBezTo>
                    <a:pt x="261620" y="1362710"/>
                    <a:pt x="240030" y="1352550"/>
                    <a:pt x="228600" y="1342390"/>
                  </a:cubicBezTo>
                  <a:cubicBezTo>
                    <a:pt x="219710" y="1334770"/>
                    <a:pt x="215900" y="1329690"/>
                    <a:pt x="210820" y="1313180"/>
                  </a:cubicBezTo>
                  <a:cubicBezTo>
                    <a:pt x="193040" y="1257300"/>
                    <a:pt x="191770" y="1060450"/>
                    <a:pt x="187960" y="923290"/>
                  </a:cubicBezTo>
                  <a:cubicBezTo>
                    <a:pt x="184150" y="773430"/>
                    <a:pt x="173990" y="532130"/>
                    <a:pt x="191770" y="449580"/>
                  </a:cubicBezTo>
                  <a:cubicBezTo>
                    <a:pt x="198120" y="417830"/>
                    <a:pt x="203200" y="402590"/>
                    <a:pt x="218440" y="388620"/>
                  </a:cubicBezTo>
                  <a:cubicBezTo>
                    <a:pt x="233680" y="374650"/>
                    <a:pt x="259080" y="360680"/>
                    <a:pt x="279400" y="363220"/>
                  </a:cubicBezTo>
                  <a:cubicBezTo>
                    <a:pt x="298450" y="364490"/>
                    <a:pt x="318770" y="377190"/>
                    <a:pt x="334010" y="397510"/>
                  </a:cubicBezTo>
                  <a:cubicBezTo>
                    <a:pt x="361950" y="434340"/>
                    <a:pt x="374650" y="504190"/>
                    <a:pt x="387350" y="590550"/>
                  </a:cubicBezTo>
                  <a:cubicBezTo>
                    <a:pt x="411480" y="758190"/>
                    <a:pt x="433070" y="1247140"/>
                    <a:pt x="405130" y="1342390"/>
                  </a:cubicBezTo>
                  <a:cubicBezTo>
                    <a:pt x="397510" y="1367790"/>
                    <a:pt x="388620" y="1375410"/>
                    <a:pt x="375920" y="1385570"/>
                  </a:cubicBezTo>
                  <a:cubicBezTo>
                    <a:pt x="363220" y="1394460"/>
                    <a:pt x="340360" y="1398270"/>
                    <a:pt x="325120" y="1397000"/>
                  </a:cubicBezTo>
                  <a:cubicBezTo>
                    <a:pt x="313690" y="1397000"/>
                    <a:pt x="302260" y="1391920"/>
                    <a:pt x="293370" y="1385570"/>
                  </a:cubicBezTo>
                  <a:cubicBezTo>
                    <a:pt x="281940" y="1375410"/>
                    <a:pt x="271780" y="1366520"/>
                    <a:pt x="264160" y="1342390"/>
                  </a:cubicBezTo>
                  <a:cubicBezTo>
                    <a:pt x="238760" y="1268730"/>
                    <a:pt x="257810" y="979170"/>
                    <a:pt x="242570" y="839470"/>
                  </a:cubicBezTo>
                  <a:cubicBezTo>
                    <a:pt x="231140" y="737870"/>
                    <a:pt x="207010" y="669290"/>
                    <a:pt x="196850" y="579120"/>
                  </a:cubicBezTo>
                  <a:cubicBezTo>
                    <a:pt x="185420" y="482600"/>
                    <a:pt x="168910" y="334010"/>
                    <a:pt x="177800" y="276860"/>
                  </a:cubicBezTo>
                  <a:cubicBezTo>
                    <a:pt x="181610" y="254000"/>
                    <a:pt x="184150" y="241300"/>
                    <a:pt x="195580" y="229870"/>
                  </a:cubicBezTo>
                  <a:cubicBezTo>
                    <a:pt x="209550" y="215900"/>
                    <a:pt x="238760" y="204470"/>
                    <a:pt x="257810" y="205740"/>
                  </a:cubicBezTo>
                  <a:cubicBezTo>
                    <a:pt x="274320" y="205740"/>
                    <a:pt x="293370" y="217170"/>
                    <a:pt x="303530" y="228600"/>
                  </a:cubicBezTo>
                  <a:cubicBezTo>
                    <a:pt x="313690" y="240030"/>
                    <a:pt x="316230" y="248920"/>
                    <a:pt x="321310" y="276860"/>
                  </a:cubicBezTo>
                  <a:cubicBezTo>
                    <a:pt x="347980" y="412750"/>
                    <a:pt x="361950" y="1377950"/>
                    <a:pt x="327660" y="1548130"/>
                  </a:cubicBezTo>
                  <a:cubicBezTo>
                    <a:pt x="318770" y="1593850"/>
                    <a:pt x="306070" y="1611630"/>
                    <a:pt x="292100" y="1630680"/>
                  </a:cubicBezTo>
                  <a:cubicBezTo>
                    <a:pt x="284480" y="1642110"/>
                    <a:pt x="275590" y="1649730"/>
                    <a:pt x="265430" y="1656080"/>
                  </a:cubicBezTo>
                  <a:cubicBezTo>
                    <a:pt x="254000" y="1662430"/>
                    <a:pt x="242570" y="1666240"/>
                    <a:pt x="228600" y="1666240"/>
                  </a:cubicBezTo>
                  <a:cubicBezTo>
                    <a:pt x="212090" y="1666240"/>
                    <a:pt x="189230" y="1657350"/>
                    <a:pt x="175260" y="1648460"/>
                  </a:cubicBezTo>
                  <a:cubicBezTo>
                    <a:pt x="165100" y="1640840"/>
                    <a:pt x="157480" y="1630680"/>
                    <a:pt x="153670" y="1617980"/>
                  </a:cubicBezTo>
                  <a:cubicBezTo>
                    <a:pt x="148590" y="1602740"/>
                    <a:pt x="158750" y="1584960"/>
                    <a:pt x="151130" y="1562100"/>
                  </a:cubicBezTo>
                  <a:cubicBezTo>
                    <a:pt x="135890" y="1511300"/>
                    <a:pt x="19050" y="1390650"/>
                    <a:pt x="10160" y="1341120"/>
                  </a:cubicBezTo>
                  <a:cubicBezTo>
                    <a:pt x="6350" y="1316990"/>
                    <a:pt x="15240" y="1299210"/>
                    <a:pt x="24130" y="1285240"/>
                  </a:cubicBezTo>
                  <a:cubicBezTo>
                    <a:pt x="30480" y="1275080"/>
                    <a:pt x="40640" y="1266190"/>
                    <a:pt x="52070" y="1261110"/>
                  </a:cubicBezTo>
                  <a:cubicBezTo>
                    <a:pt x="67310" y="1253490"/>
                    <a:pt x="91440" y="1249680"/>
                    <a:pt x="107950" y="1253490"/>
                  </a:cubicBezTo>
                  <a:cubicBezTo>
                    <a:pt x="125730" y="1257300"/>
                    <a:pt x="146050" y="1270000"/>
                    <a:pt x="154940" y="1285240"/>
                  </a:cubicBezTo>
                  <a:cubicBezTo>
                    <a:pt x="165100" y="1304290"/>
                    <a:pt x="152400" y="1338580"/>
                    <a:pt x="160020" y="1366520"/>
                  </a:cubicBezTo>
                  <a:cubicBezTo>
                    <a:pt x="171450" y="1399540"/>
                    <a:pt x="213360" y="1440180"/>
                    <a:pt x="223520" y="1470660"/>
                  </a:cubicBezTo>
                  <a:cubicBezTo>
                    <a:pt x="229870" y="1490980"/>
                    <a:pt x="233680" y="1510030"/>
                    <a:pt x="227330" y="1527810"/>
                  </a:cubicBezTo>
                  <a:cubicBezTo>
                    <a:pt x="219710" y="1548130"/>
                    <a:pt x="195580" y="1574800"/>
                    <a:pt x="175260" y="1581150"/>
                  </a:cubicBezTo>
                  <a:cubicBezTo>
                    <a:pt x="153670" y="1588770"/>
                    <a:pt x="118110" y="1578610"/>
                    <a:pt x="101600" y="1568450"/>
                  </a:cubicBezTo>
                  <a:cubicBezTo>
                    <a:pt x="88900" y="1562100"/>
                    <a:pt x="78740" y="1551940"/>
                    <a:pt x="76200" y="1539240"/>
                  </a:cubicBezTo>
                  <a:cubicBezTo>
                    <a:pt x="72390" y="1516380"/>
                    <a:pt x="114300" y="1449070"/>
                    <a:pt x="106680" y="1441450"/>
                  </a:cubicBezTo>
                  <a:cubicBezTo>
                    <a:pt x="104140" y="1438910"/>
                    <a:pt x="87630" y="1450340"/>
                    <a:pt x="86360" y="1447800"/>
                  </a:cubicBezTo>
                  <a:cubicBezTo>
                    <a:pt x="83820" y="1445260"/>
                    <a:pt x="107950" y="1412240"/>
                    <a:pt x="121920" y="1403350"/>
                  </a:cubicBezTo>
                  <a:cubicBezTo>
                    <a:pt x="132080" y="1394460"/>
                    <a:pt x="144780" y="1390650"/>
                    <a:pt x="158750" y="1390650"/>
                  </a:cubicBezTo>
                  <a:cubicBezTo>
                    <a:pt x="175260" y="1390650"/>
                    <a:pt x="199390" y="1397000"/>
                    <a:pt x="213360" y="1407160"/>
                  </a:cubicBezTo>
                  <a:cubicBezTo>
                    <a:pt x="227330" y="1418590"/>
                    <a:pt x="240030" y="1440180"/>
                    <a:pt x="243840" y="1456690"/>
                  </a:cubicBezTo>
                  <a:cubicBezTo>
                    <a:pt x="247650" y="1469390"/>
                    <a:pt x="245110" y="1494790"/>
                    <a:pt x="241300" y="1496060"/>
                  </a:cubicBezTo>
                  <a:cubicBezTo>
                    <a:pt x="234950" y="1497330"/>
                    <a:pt x="199390" y="1430020"/>
                    <a:pt x="185420" y="1367790"/>
                  </a:cubicBezTo>
                  <a:cubicBezTo>
                    <a:pt x="154940" y="1217930"/>
                    <a:pt x="162560" y="694690"/>
                    <a:pt x="186690" y="572770"/>
                  </a:cubicBezTo>
                  <a:cubicBezTo>
                    <a:pt x="194310" y="534670"/>
                    <a:pt x="210820" y="529590"/>
                    <a:pt x="217170" y="500380"/>
                  </a:cubicBezTo>
                  <a:cubicBezTo>
                    <a:pt x="227330" y="458470"/>
                    <a:pt x="209550" y="374650"/>
                    <a:pt x="226060" y="341630"/>
                  </a:cubicBezTo>
                  <a:cubicBezTo>
                    <a:pt x="236220" y="321310"/>
                    <a:pt x="255270" y="309880"/>
                    <a:pt x="271780" y="302260"/>
                  </a:cubicBezTo>
                  <a:cubicBezTo>
                    <a:pt x="284480" y="297180"/>
                    <a:pt x="298450" y="295910"/>
                    <a:pt x="311150" y="297180"/>
                  </a:cubicBezTo>
                  <a:cubicBezTo>
                    <a:pt x="323850" y="299720"/>
                    <a:pt x="337820" y="304800"/>
                    <a:pt x="349250" y="312420"/>
                  </a:cubicBezTo>
                  <a:cubicBezTo>
                    <a:pt x="359410" y="320040"/>
                    <a:pt x="369570" y="331470"/>
                    <a:pt x="374650" y="342900"/>
                  </a:cubicBezTo>
                  <a:cubicBezTo>
                    <a:pt x="381000" y="354330"/>
                    <a:pt x="383540" y="360680"/>
                    <a:pt x="384810" y="381000"/>
                  </a:cubicBezTo>
                  <a:cubicBezTo>
                    <a:pt x="389890" y="463550"/>
                    <a:pt x="323850" y="787400"/>
                    <a:pt x="311150" y="990600"/>
                  </a:cubicBezTo>
                  <a:cubicBezTo>
                    <a:pt x="299720" y="1191260"/>
                    <a:pt x="337820" y="1504950"/>
                    <a:pt x="309880" y="1591310"/>
                  </a:cubicBezTo>
                  <a:cubicBezTo>
                    <a:pt x="302260" y="1617980"/>
                    <a:pt x="292100" y="1628140"/>
                    <a:pt x="278130" y="1638300"/>
                  </a:cubicBezTo>
                  <a:cubicBezTo>
                    <a:pt x="264160" y="1648460"/>
                    <a:pt x="241300" y="1653540"/>
                    <a:pt x="223520" y="1651000"/>
                  </a:cubicBezTo>
                  <a:cubicBezTo>
                    <a:pt x="205740" y="1649730"/>
                    <a:pt x="184150" y="1638300"/>
                    <a:pt x="172720" y="1625600"/>
                  </a:cubicBezTo>
                  <a:cubicBezTo>
                    <a:pt x="161290" y="1611630"/>
                    <a:pt x="153670" y="1593850"/>
                    <a:pt x="152400" y="1572260"/>
                  </a:cubicBezTo>
                  <a:cubicBezTo>
                    <a:pt x="152400" y="1540510"/>
                    <a:pt x="181610" y="1499870"/>
                    <a:pt x="193040" y="1451610"/>
                  </a:cubicBezTo>
                  <a:cubicBezTo>
                    <a:pt x="207010" y="1388110"/>
                    <a:pt x="214630" y="1322070"/>
                    <a:pt x="222250" y="1220470"/>
                  </a:cubicBezTo>
                  <a:cubicBezTo>
                    <a:pt x="236220" y="1022350"/>
                    <a:pt x="228600" y="483870"/>
                    <a:pt x="241300" y="344170"/>
                  </a:cubicBezTo>
                  <a:cubicBezTo>
                    <a:pt x="245110" y="299720"/>
                    <a:pt x="247650" y="284480"/>
                    <a:pt x="256540" y="256540"/>
                  </a:cubicBezTo>
                  <a:cubicBezTo>
                    <a:pt x="265430" y="227330"/>
                    <a:pt x="276860" y="189230"/>
                    <a:pt x="293370" y="170180"/>
                  </a:cubicBezTo>
                  <a:cubicBezTo>
                    <a:pt x="306070" y="154940"/>
                    <a:pt x="323850" y="146050"/>
                    <a:pt x="337820" y="142240"/>
                  </a:cubicBezTo>
                  <a:cubicBezTo>
                    <a:pt x="350520" y="138430"/>
                    <a:pt x="361950" y="139700"/>
                    <a:pt x="373380" y="143510"/>
                  </a:cubicBezTo>
                  <a:cubicBezTo>
                    <a:pt x="387350" y="148590"/>
                    <a:pt x="406400" y="163830"/>
                    <a:pt x="415290" y="175260"/>
                  </a:cubicBezTo>
                  <a:cubicBezTo>
                    <a:pt x="421640" y="185420"/>
                    <a:pt x="422910" y="190500"/>
                    <a:pt x="425450" y="209550"/>
                  </a:cubicBezTo>
                  <a:cubicBezTo>
                    <a:pt x="438150" y="278130"/>
                    <a:pt x="433070" y="604520"/>
                    <a:pt x="441960" y="722630"/>
                  </a:cubicBezTo>
                  <a:cubicBezTo>
                    <a:pt x="445770" y="783590"/>
                    <a:pt x="447040" y="801370"/>
                    <a:pt x="455930" y="862330"/>
                  </a:cubicBezTo>
                  <a:cubicBezTo>
                    <a:pt x="474980" y="982980"/>
                    <a:pt x="548640" y="1266190"/>
                    <a:pt x="561340" y="1391920"/>
                  </a:cubicBezTo>
                  <a:cubicBezTo>
                    <a:pt x="567690" y="1461770"/>
                    <a:pt x="577850" y="1513840"/>
                    <a:pt x="561340" y="1557020"/>
                  </a:cubicBezTo>
                  <a:cubicBezTo>
                    <a:pt x="548640" y="1590040"/>
                    <a:pt x="518160" y="1624330"/>
                    <a:pt x="491490" y="1634490"/>
                  </a:cubicBezTo>
                  <a:cubicBezTo>
                    <a:pt x="469900" y="1642110"/>
                    <a:pt x="435610" y="1635760"/>
                    <a:pt x="417830" y="1625600"/>
                  </a:cubicBezTo>
                  <a:cubicBezTo>
                    <a:pt x="401320" y="1615440"/>
                    <a:pt x="388620" y="1596390"/>
                    <a:pt x="384810" y="1578610"/>
                  </a:cubicBezTo>
                  <a:cubicBezTo>
                    <a:pt x="381000" y="1558290"/>
                    <a:pt x="407670" y="1529080"/>
                    <a:pt x="402590" y="1506220"/>
                  </a:cubicBezTo>
                  <a:cubicBezTo>
                    <a:pt x="396240" y="1478280"/>
                    <a:pt x="353060" y="1456690"/>
                    <a:pt x="337820" y="1426210"/>
                  </a:cubicBezTo>
                  <a:cubicBezTo>
                    <a:pt x="322580" y="1394460"/>
                    <a:pt x="320040" y="1358900"/>
                    <a:pt x="312420" y="1316990"/>
                  </a:cubicBezTo>
                  <a:cubicBezTo>
                    <a:pt x="303530" y="1261110"/>
                    <a:pt x="281940" y="1164590"/>
                    <a:pt x="294640" y="1121410"/>
                  </a:cubicBezTo>
                  <a:cubicBezTo>
                    <a:pt x="302260" y="1094740"/>
                    <a:pt x="321310" y="1074420"/>
                    <a:pt x="337820" y="1064260"/>
                  </a:cubicBezTo>
                  <a:cubicBezTo>
                    <a:pt x="347980" y="1056640"/>
                    <a:pt x="360680" y="1055370"/>
                    <a:pt x="373380" y="1056640"/>
                  </a:cubicBezTo>
                  <a:cubicBezTo>
                    <a:pt x="388620" y="1059180"/>
                    <a:pt x="410210" y="1066800"/>
                    <a:pt x="422910" y="1078230"/>
                  </a:cubicBezTo>
                  <a:cubicBezTo>
                    <a:pt x="435610" y="1089660"/>
                    <a:pt x="440690" y="1104900"/>
                    <a:pt x="445770" y="1127760"/>
                  </a:cubicBezTo>
                  <a:cubicBezTo>
                    <a:pt x="455930" y="1173480"/>
                    <a:pt x="457200" y="1306830"/>
                    <a:pt x="436880" y="1347470"/>
                  </a:cubicBezTo>
                  <a:cubicBezTo>
                    <a:pt x="427990" y="1367790"/>
                    <a:pt x="411480" y="1377950"/>
                    <a:pt x="396240" y="1384300"/>
                  </a:cubicBezTo>
                  <a:cubicBezTo>
                    <a:pt x="379730" y="1390650"/>
                    <a:pt x="355600" y="1389380"/>
                    <a:pt x="340360" y="1384300"/>
                  </a:cubicBezTo>
                  <a:cubicBezTo>
                    <a:pt x="327660" y="1380490"/>
                    <a:pt x="317500" y="1372870"/>
                    <a:pt x="309880" y="1362710"/>
                  </a:cubicBezTo>
                  <a:cubicBezTo>
                    <a:pt x="299720" y="1350010"/>
                    <a:pt x="293370" y="1333500"/>
                    <a:pt x="289560" y="1310640"/>
                  </a:cubicBezTo>
                  <a:cubicBezTo>
                    <a:pt x="284480" y="1268730"/>
                    <a:pt x="302260" y="1202690"/>
                    <a:pt x="304800" y="1129030"/>
                  </a:cubicBezTo>
                  <a:cubicBezTo>
                    <a:pt x="309880" y="1016000"/>
                    <a:pt x="297180" y="817880"/>
                    <a:pt x="304800" y="697230"/>
                  </a:cubicBezTo>
                  <a:cubicBezTo>
                    <a:pt x="309880" y="608330"/>
                    <a:pt x="327660" y="542290"/>
                    <a:pt x="332740" y="468630"/>
                  </a:cubicBezTo>
                  <a:cubicBezTo>
                    <a:pt x="337820" y="398780"/>
                    <a:pt x="325120" y="308610"/>
                    <a:pt x="339090" y="265430"/>
                  </a:cubicBezTo>
                  <a:cubicBezTo>
                    <a:pt x="346710" y="242570"/>
                    <a:pt x="359410" y="228600"/>
                    <a:pt x="372110" y="218440"/>
                  </a:cubicBezTo>
                  <a:cubicBezTo>
                    <a:pt x="383540" y="209550"/>
                    <a:pt x="394970" y="204470"/>
                    <a:pt x="408940" y="204470"/>
                  </a:cubicBezTo>
                  <a:cubicBezTo>
                    <a:pt x="429260" y="204470"/>
                    <a:pt x="466090" y="215900"/>
                    <a:pt x="481330" y="231140"/>
                  </a:cubicBezTo>
                  <a:cubicBezTo>
                    <a:pt x="494030" y="245110"/>
                    <a:pt x="501650" y="260350"/>
                    <a:pt x="501650" y="287020"/>
                  </a:cubicBezTo>
                  <a:cubicBezTo>
                    <a:pt x="501650" y="351790"/>
                    <a:pt x="411480" y="547370"/>
                    <a:pt x="375920" y="628650"/>
                  </a:cubicBezTo>
                  <a:cubicBezTo>
                    <a:pt x="355600" y="674370"/>
                    <a:pt x="336550" y="690880"/>
                    <a:pt x="320040" y="735330"/>
                  </a:cubicBezTo>
                  <a:cubicBezTo>
                    <a:pt x="297180" y="797560"/>
                    <a:pt x="288290" y="935990"/>
                    <a:pt x="265430" y="974090"/>
                  </a:cubicBezTo>
                  <a:cubicBezTo>
                    <a:pt x="256540" y="988060"/>
                    <a:pt x="250190" y="993140"/>
                    <a:pt x="237490" y="999490"/>
                  </a:cubicBezTo>
                  <a:cubicBezTo>
                    <a:pt x="223520" y="1005840"/>
                    <a:pt x="198120" y="1009650"/>
                    <a:pt x="182880" y="1005840"/>
                  </a:cubicBezTo>
                  <a:cubicBezTo>
                    <a:pt x="170180" y="1004570"/>
                    <a:pt x="158750" y="998220"/>
                    <a:pt x="149860" y="989330"/>
                  </a:cubicBezTo>
                  <a:cubicBezTo>
                    <a:pt x="138430" y="977900"/>
                    <a:pt x="127000" y="963930"/>
                    <a:pt x="123190" y="941070"/>
                  </a:cubicBezTo>
                  <a:cubicBezTo>
                    <a:pt x="115570" y="892810"/>
                    <a:pt x="153670" y="793750"/>
                    <a:pt x="162560" y="711200"/>
                  </a:cubicBezTo>
                  <a:cubicBezTo>
                    <a:pt x="171450" y="615950"/>
                    <a:pt x="138430" y="445770"/>
                    <a:pt x="172720" y="401320"/>
                  </a:cubicBezTo>
                  <a:cubicBezTo>
                    <a:pt x="190500" y="378460"/>
                    <a:pt x="237490" y="365760"/>
                    <a:pt x="252730" y="379730"/>
                  </a:cubicBezTo>
                  <a:cubicBezTo>
                    <a:pt x="283210" y="408940"/>
                    <a:pt x="193040" y="651510"/>
                    <a:pt x="180340" y="760730"/>
                  </a:cubicBezTo>
                  <a:cubicBezTo>
                    <a:pt x="170180" y="842010"/>
                    <a:pt x="184150" y="935990"/>
                    <a:pt x="168910" y="972820"/>
                  </a:cubicBezTo>
                  <a:cubicBezTo>
                    <a:pt x="162560" y="989330"/>
                    <a:pt x="154940" y="995680"/>
                    <a:pt x="142240" y="1002030"/>
                  </a:cubicBezTo>
                  <a:cubicBezTo>
                    <a:pt x="128270" y="1010920"/>
                    <a:pt x="105410" y="1017270"/>
                    <a:pt x="87630" y="1016000"/>
                  </a:cubicBezTo>
                  <a:cubicBezTo>
                    <a:pt x="69850" y="1013460"/>
                    <a:pt x="48260" y="1000760"/>
                    <a:pt x="36830" y="989330"/>
                  </a:cubicBezTo>
                  <a:cubicBezTo>
                    <a:pt x="27940" y="979170"/>
                    <a:pt x="21590" y="970280"/>
                    <a:pt x="19050" y="955040"/>
                  </a:cubicBezTo>
                  <a:cubicBezTo>
                    <a:pt x="13970" y="925830"/>
                    <a:pt x="21590" y="863600"/>
                    <a:pt x="34290" y="828040"/>
                  </a:cubicBezTo>
                  <a:cubicBezTo>
                    <a:pt x="45720" y="797560"/>
                    <a:pt x="62230" y="763270"/>
                    <a:pt x="85090" y="749300"/>
                  </a:cubicBezTo>
                  <a:cubicBezTo>
                    <a:pt x="106680" y="736600"/>
                    <a:pt x="140970" y="735330"/>
                    <a:pt x="161290" y="741680"/>
                  </a:cubicBezTo>
                  <a:cubicBezTo>
                    <a:pt x="179070" y="746760"/>
                    <a:pt x="193040" y="760730"/>
                    <a:pt x="201930" y="775970"/>
                  </a:cubicBezTo>
                  <a:cubicBezTo>
                    <a:pt x="209550" y="789940"/>
                    <a:pt x="215900" y="808990"/>
                    <a:pt x="212090" y="826770"/>
                  </a:cubicBezTo>
                  <a:cubicBezTo>
                    <a:pt x="208280" y="847090"/>
                    <a:pt x="189230" y="878840"/>
                    <a:pt x="168910" y="890270"/>
                  </a:cubicBezTo>
                  <a:cubicBezTo>
                    <a:pt x="149860" y="900430"/>
                    <a:pt x="113030" y="900430"/>
                    <a:pt x="92710" y="889000"/>
                  </a:cubicBezTo>
                  <a:cubicBezTo>
                    <a:pt x="72390" y="878840"/>
                    <a:pt x="52070" y="848360"/>
                    <a:pt x="49530" y="825500"/>
                  </a:cubicBezTo>
                  <a:cubicBezTo>
                    <a:pt x="46990" y="803910"/>
                    <a:pt x="63500" y="769620"/>
                    <a:pt x="78740" y="754380"/>
                  </a:cubicBezTo>
                  <a:cubicBezTo>
                    <a:pt x="91440" y="742950"/>
                    <a:pt x="110490" y="736600"/>
                    <a:pt x="127000" y="735330"/>
                  </a:cubicBezTo>
                  <a:cubicBezTo>
                    <a:pt x="143510" y="735330"/>
                    <a:pt x="163830" y="740410"/>
                    <a:pt x="177800" y="749300"/>
                  </a:cubicBezTo>
                  <a:cubicBezTo>
                    <a:pt x="190500" y="759460"/>
                    <a:pt x="203200" y="775970"/>
                    <a:pt x="208280" y="791210"/>
                  </a:cubicBezTo>
                  <a:cubicBezTo>
                    <a:pt x="214630" y="807720"/>
                    <a:pt x="212090" y="822960"/>
                    <a:pt x="208280" y="843280"/>
                  </a:cubicBezTo>
                  <a:cubicBezTo>
                    <a:pt x="203200" y="877570"/>
                    <a:pt x="184150" y="946150"/>
                    <a:pt x="168910" y="972820"/>
                  </a:cubicBezTo>
                  <a:cubicBezTo>
                    <a:pt x="160020" y="988060"/>
                    <a:pt x="154940" y="995680"/>
                    <a:pt x="143510" y="1002030"/>
                  </a:cubicBezTo>
                  <a:cubicBezTo>
                    <a:pt x="125730" y="1010920"/>
                    <a:pt x="88900" y="1018540"/>
                    <a:pt x="68580" y="1010920"/>
                  </a:cubicBezTo>
                  <a:cubicBezTo>
                    <a:pt x="48260" y="1003300"/>
                    <a:pt x="29210" y="982980"/>
                    <a:pt x="19050" y="955040"/>
                  </a:cubicBezTo>
                  <a:cubicBezTo>
                    <a:pt x="0" y="900430"/>
                    <a:pt x="24130" y="770890"/>
                    <a:pt x="33020" y="685800"/>
                  </a:cubicBezTo>
                  <a:cubicBezTo>
                    <a:pt x="41910" y="605790"/>
                    <a:pt x="53340" y="519430"/>
                    <a:pt x="69850" y="457200"/>
                  </a:cubicBezTo>
                  <a:cubicBezTo>
                    <a:pt x="82550" y="410210"/>
                    <a:pt x="93980" y="374650"/>
                    <a:pt x="115570" y="340360"/>
                  </a:cubicBezTo>
                  <a:cubicBezTo>
                    <a:pt x="138430" y="307340"/>
                    <a:pt x="170180" y="260350"/>
                    <a:pt x="201930" y="255270"/>
                  </a:cubicBezTo>
                  <a:cubicBezTo>
                    <a:pt x="231140" y="250190"/>
                    <a:pt x="275590" y="278130"/>
                    <a:pt x="295910" y="302260"/>
                  </a:cubicBezTo>
                  <a:cubicBezTo>
                    <a:pt x="316230" y="326390"/>
                    <a:pt x="321310" y="358140"/>
                    <a:pt x="326390" y="401320"/>
                  </a:cubicBezTo>
                  <a:cubicBezTo>
                    <a:pt x="335280" y="478790"/>
                    <a:pt x="321310" y="635000"/>
                    <a:pt x="311150" y="732790"/>
                  </a:cubicBezTo>
                  <a:cubicBezTo>
                    <a:pt x="303530" y="810260"/>
                    <a:pt x="289560" y="899160"/>
                    <a:pt x="278130" y="938530"/>
                  </a:cubicBezTo>
                  <a:cubicBezTo>
                    <a:pt x="274320" y="955040"/>
                    <a:pt x="274320" y="962660"/>
                    <a:pt x="265430" y="974090"/>
                  </a:cubicBezTo>
                  <a:cubicBezTo>
                    <a:pt x="256540" y="986790"/>
                    <a:pt x="237490" y="1002030"/>
                    <a:pt x="220980" y="1005840"/>
                  </a:cubicBezTo>
                  <a:cubicBezTo>
                    <a:pt x="203200" y="1009650"/>
                    <a:pt x="180340" y="1008380"/>
                    <a:pt x="165100" y="999490"/>
                  </a:cubicBezTo>
                  <a:cubicBezTo>
                    <a:pt x="149860" y="991870"/>
                    <a:pt x="134620" y="980440"/>
                    <a:pt x="128270" y="958850"/>
                  </a:cubicBezTo>
                  <a:cubicBezTo>
                    <a:pt x="114300" y="916940"/>
                    <a:pt x="128270" y="831850"/>
                    <a:pt x="148590" y="749300"/>
                  </a:cubicBezTo>
                  <a:cubicBezTo>
                    <a:pt x="181610" y="615950"/>
                    <a:pt x="287020" y="321310"/>
                    <a:pt x="346710" y="247650"/>
                  </a:cubicBezTo>
                  <a:cubicBezTo>
                    <a:pt x="368300" y="219710"/>
                    <a:pt x="387350" y="207010"/>
                    <a:pt x="408940" y="204470"/>
                  </a:cubicBezTo>
                  <a:cubicBezTo>
                    <a:pt x="431800" y="201930"/>
                    <a:pt x="466090" y="218440"/>
                    <a:pt x="481330" y="231140"/>
                  </a:cubicBezTo>
                  <a:cubicBezTo>
                    <a:pt x="491490" y="241300"/>
                    <a:pt x="495300" y="251460"/>
                    <a:pt x="499110" y="266700"/>
                  </a:cubicBezTo>
                  <a:cubicBezTo>
                    <a:pt x="505460" y="290830"/>
                    <a:pt x="502920" y="325120"/>
                    <a:pt x="500380" y="365760"/>
                  </a:cubicBezTo>
                  <a:cubicBezTo>
                    <a:pt x="496570" y="434340"/>
                    <a:pt x="474980" y="527050"/>
                    <a:pt x="466090" y="640080"/>
                  </a:cubicBezTo>
                  <a:cubicBezTo>
                    <a:pt x="450850" y="817880"/>
                    <a:pt x="474980" y="1236980"/>
                    <a:pt x="444500" y="1329690"/>
                  </a:cubicBezTo>
                  <a:cubicBezTo>
                    <a:pt x="435610" y="1356360"/>
                    <a:pt x="426720" y="1365250"/>
                    <a:pt x="412750" y="1375410"/>
                  </a:cubicBezTo>
                  <a:cubicBezTo>
                    <a:pt x="398780" y="1385570"/>
                    <a:pt x="375920" y="1390650"/>
                    <a:pt x="358140" y="1388110"/>
                  </a:cubicBezTo>
                  <a:cubicBezTo>
                    <a:pt x="341630" y="1386840"/>
                    <a:pt x="321310" y="1375410"/>
                    <a:pt x="309880" y="1362710"/>
                  </a:cubicBezTo>
                  <a:cubicBezTo>
                    <a:pt x="298450" y="1350010"/>
                    <a:pt x="294640" y="1333500"/>
                    <a:pt x="289560" y="1310640"/>
                  </a:cubicBezTo>
                  <a:cubicBezTo>
                    <a:pt x="283210" y="1267460"/>
                    <a:pt x="285750" y="1158240"/>
                    <a:pt x="294640" y="1121410"/>
                  </a:cubicBezTo>
                  <a:cubicBezTo>
                    <a:pt x="298450" y="1104900"/>
                    <a:pt x="299720" y="1097280"/>
                    <a:pt x="308610" y="1087120"/>
                  </a:cubicBezTo>
                  <a:cubicBezTo>
                    <a:pt x="321310" y="1074420"/>
                    <a:pt x="351790" y="1056640"/>
                    <a:pt x="373380" y="1056640"/>
                  </a:cubicBezTo>
                  <a:cubicBezTo>
                    <a:pt x="393700" y="1057910"/>
                    <a:pt x="420370" y="1070610"/>
                    <a:pt x="434340" y="1092200"/>
                  </a:cubicBezTo>
                  <a:cubicBezTo>
                    <a:pt x="458470" y="1129030"/>
                    <a:pt x="445770" y="1217930"/>
                    <a:pt x="461010" y="1281430"/>
                  </a:cubicBezTo>
                  <a:cubicBezTo>
                    <a:pt x="476250" y="1347470"/>
                    <a:pt x="515620" y="1421130"/>
                    <a:pt x="524510" y="1480820"/>
                  </a:cubicBezTo>
                  <a:cubicBezTo>
                    <a:pt x="532130" y="1529080"/>
                    <a:pt x="535940" y="1587500"/>
                    <a:pt x="523240" y="1611630"/>
                  </a:cubicBezTo>
                  <a:cubicBezTo>
                    <a:pt x="516890" y="1625600"/>
                    <a:pt x="504190" y="1630680"/>
                    <a:pt x="491490" y="1634490"/>
                  </a:cubicBezTo>
                  <a:cubicBezTo>
                    <a:pt x="476250" y="1639570"/>
                    <a:pt x="452120" y="1642110"/>
                    <a:pt x="434340" y="1634490"/>
                  </a:cubicBezTo>
                  <a:cubicBezTo>
                    <a:pt x="415290" y="1625600"/>
                    <a:pt x="391160" y="1601470"/>
                    <a:pt x="384810" y="1578610"/>
                  </a:cubicBezTo>
                  <a:cubicBezTo>
                    <a:pt x="378460" y="1551940"/>
                    <a:pt x="403860" y="1512570"/>
                    <a:pt x="407670" y="1480820"/>
                  </a:cubicBezTo>
                  <a:cubicBezTo>
                    <a:pt x="410210" y="1451610"/>
                    <a:pt x="410210" y="1433830"/>
                    <a:pt x="405130" y="1394460"/>
                  </a:cubicBezTo>
                  <a:cubicBezTo>
                    <a:pt x="396240" y="1301750"/>
                    <a:pt x="339090" y="1064260"/>
                    <a:pt x="320040" y="941070"/>
                  </a:cubicBezTo>
                  <a:cubicBezTo>
                    <a:pt x="307340" y="854710"/>
                    <a:pt x="300990" y="810260"/>
                    <a:pt x="294640" y="722630"/>
                  </a:cubicBezTo>
                  <a:cubicBezTo>
                    <a:pt x="284480" y="586740"/>
                    <a:pt x="252730" y="284480"/>
                    <a:pt x="279400" y="201930"/>
                  </a:cubicBezTo>
                  <a:cubicBezTo>
                    <a:pt x="289560" y="171450"/>
                    <a:pt x="304800" y="156210"/>
                    <a:pt x="321310" y="147320"/>
                  </a:cubicBezTo>
                  <a:cubicBezTo>
                    <a:pt x="336550" y="139700"/>
                    <a:pt x="359410" y="140970"/>
                    <a:pt x="373380" y="143510"/>
                  </a:cubicBezTo>
                  <a:cubicBezTo>
                    <a:pt x="384810" y="146050"/>
                    <a:pt x="394970" y="152400"/>
                    <a:pt x="403860" y="161290"/>
                  </a:cubicBezTo>
                  <a:cubicBezTo>
                    <a:pt x="414020" y="172720"/>
                    <a:pt x="425450" y="193040"/>
                    <a:pt x="425450" y="209550"/>
                  </a:cubicBezTo>
                  <a:cubicBezTo>
                    <a:pt x="425450" y="226060"/>
                    <a:pt x="408940" y="237490"/>
                    <a:pt x="401320" y="260350"/>
                  </a:cubicBezTo>
                  <a:cubicBezTo>
                    <a:pt x="387350" y="306070"/>
                    <a:pt x="375920" y="374650"/>
                    <a:pt x="367030" y="467360"/>
                  </a:cubicBezTo>
                  <a:cubicBezTo>
                    <a:pt x="350520" y="662940"/>
                    <a:pt x="384810" y="1178560"/>
                    <a:pt x="361950" y="1375410"/>
                  </a:cubicBezTo>
                  <a:cubicBezTo>
                    <a:pt x="349250" y="1473200"/>
                    <a:pt x="330200" y="1546860"/>
                    <a:pt x="309880" y="1591310"/>
                  </a:cubicBezTo>
                  <a:cubicBezTo>
                    <a:pt x="299720" y="1614170"/>
                    <a:pt x="292100" y="1628140"/>
                    <a:pt x="278130" y="1638300"/>
                  </a:cubicBezTo>
                  <a:cubicBezTo>
                    <a:pt x="264160" y="1648460"/>
                    <a:pt x="240030" y="1652270"/>
                    <a:pt x="223520" y="1651000"/>
                  </a:cubicBezTo>
                  <a:cubicBezTo>
                    <a:pt x="209550" y="1651000"/>
                    <a:pt x="198120" y="1645920"/>
                    <a:pt x="187960" y="1638300"/>
                  </a:cubicBezTo>
                  <a:cubicBezTo>
                    <a:pt x="175260" y="1628140"/>
                    <a:pt x="163830" y="1616710"/>
                    <a:pt x="154940" y="1591310"/>
                  </a:cubicBezTo>
                  <a:cubicBezTo>
                    <a:pt x="130810" y="1510030"/>
                    <a:pt x="153670" y="1164590"/>
                    <a:pt x="157480" y="1042670"/>
                  </a:cubicBezTo>
                  <a:cubicBezTo>
                    <a:pt x="158750" y="982980"/>
                    <a:pt x="158750" y="952500"/>
                    <a:pt x="165100" y="906780"/>
                  </a:cubicBezTo>
                  <a:cubicBezTo>
                    <a:pt x="171450" y="859790"/>
                    <a:pt x="187960" y="824230"/>
                    <a:pt x="195580" y="764540"/>
                  </a:cubicBezTo>
                  <a:cubicBezTo>
                    <a:pt x="209550" y="664210"/>
                    <a:pt x="195580" y="427990"/>
                    <a:pt x="219710" y="360680"/>
                  </a:cubicBezTo>
                  <a:cubicBezTo>
                    <a:pt x="228600" y="334010"/>
                    <a:pt x="240030" y="322580"/>
                    <a:pt x="252730" y="311150"/>
                  </a:cubicBezTo>
                  <a:cubicBezTo>
                    <a:pt x="264160" y="303530"/>
                    <a:pt x="276860" y="298450"/>
                    <a:pt x="290830" y="297180"/>
                  </a:cubicBezTo>
                  <a:cubicBezTo>
                    <a:pt x="307340" y="297180"/>
                    <a:pt x="334010" y="303530"/>
                    <a:pt x="349250" y="312420"/>
                  </a:cubicBezTo>
                  <a:cubicBezTo>
                    <a:pt x="360680" y="320040"/>
                    <a:pt x="368300" y="326390"/>
                    <a:pt x="374650" y="342900"/>
                  </a:cubicBezTo>
                  <a:cubicBezTo>
                    <a:pt x="387350" y="373380"/>
                    <a:pt x="389890" y="454660"/>
                    <a:pt x="382270" y="499110"/>
                  </a:cubicBezTo>
                  <a:cubicBezTo>
                    <a:pt x="375920" y="533400"/>
                    <a:pt x="355600" y="541020"/>
                    <a:pt x="346710" y="588010"/>
                  </a:cubicBezTo>
                  <a:cubicBezTo>
                    <a:pt x="317500" y="734060"/>
                    <a:pt x="397510" y="1379220"/>
                    <a:pt x="345440" y="1532890"/>
                  </a:cubicBezTo>
                  <a:cubicBezTo>
                    <a:pt x="325120" y="1591310"/>
                    <a:pt x="295910" y="1634490"/>
                    <a:pt x="262890" y="1639570"/>
                  </a:cubicBezTo>
                  <a:cubicBezTo>
                    <a:pt x="228600" y="1644650"/>
                    <a:pt x="173990" y="1592580"/>
                    <a:pt x="143510" y="1559560"/>
                  </a:cubicBezTo>
                  <a:cubicBezTo>
                    <a:pt x="116840" y="1527810"/>
                    <a:pt x="81280" y="1477010"/>
                    <a:pt x="86360" y="1447800"/>
                  </a:cubicBezTo>
                  <a:cubicBezTo>
                    <a:pt x="90170" y="1426210"/>
                    <a:pt x="118110" y="1400810"/>
                    <a:pt x="139700" y="1394460"/>
                  </a:cubicBezTo>
                  <a:cubicBezTo>
                    <a:pt x="160020" y="1388110"/>
                    <a:pt x="195580" y="1394460"/>
                    <a:pt x="213360" y="1407160"/>
                  </a:cubicBezTo>
                  <a:cubicBezTo>
                    <a:pt x="231140" y="1421130"/>
                    <a:pt x="245110" y="1452880"/>
                    <a:pt x="245110" y="1475740"/>
                  </a:cubicBezTo>
                  <a:cubicBezTo>
                    <a:pt x="245110" y="1502410"/>
                    <a:pt x="214630" y="1557020"/>
                    <a:pt x="210820" y="1555750"/>
                  </a:cubicBezTo>
                  <a:cubicBezTo>
                    <a:pt x="207010" y="1555750"/>
                    <a:pt x="220980" y="1470660"/>
                    <a:pt x="223520" y="1470660"/>
                  </a:cubicBezTo>
                  <a:cubicBezTo>
                    <a:pt x="226060" y="1470660"/>
                    <a:pt x="231140" y="1511300"/>
                    <a:pt x="227330" y="1527810"/>
                  </a:cubicBezTo>
                  <a:cubicBezTo>
                    <a:pt x="224790" y="1540510"/>
                    <a:pt x="218440" y="1551940"/>
                    <a:pt x="208280" y="1560830"/>
                  </a:cubicBezTo>
                  <a:cubicBezTo>
                    <a:pt x="195580" y="1572260"/>
                    <a:pt x="172720" y="1582420"/>
                    <a:pt x="156210" y="1584960"/>
                  </a:cubicBezTo>
                  <a:cubicBezTo>
                    <a:pt x="142240" y="1587500"/>
                    <a:pt x="130810" y="1586230"/>
                    <a:pt x="118110" y="1578610"/>
                  </a:cubicBezTo>
                  <a:cubicBezTo>
                    <a:pt x="97790" y="1567180"/>
                    <a:pt x="73660" y="1537970"/>
                    <a:pt x="57150" y="1506220"/>
                  </a:cubicBezTo>
                  <a:cubicBezTo>
                    <a:pt x="34290" y="1464310"/>
                    <a:pt x="11430" y="1380490"/>
                    <a:pt x="10160" y="1341120"/>
                  </a:cubicBezTo>
                  <a:cubicBezTo>
                    <a:pt x="10160" y="1316990"/>
                    <a:pt x="13970" y="1300480"/>
                    <a:pt x="24130" y="1285240"/>
                  </a:cubicBezTo>
                  <a:cubicBezTo>
                    <a:pt x="33020" y="1271270"/>
                    <a:pt x="53340" y="1258570"/>
                    <a:pt x="69850" y="1253490"/>
                  </a:cubicBezTo>
                  <a:cubicBezTo>
                    <a:pt x="87630" y="1249680"/>
                    <a:pt x="110490" y="1253490"/>
                    <a:pt x="125730" y="1259840"/>
                  </a:cubicBezTo>
                  <a:cubicBezTo>
                    <a:pt x="140970" y="1267460"/>
                    <a:pt x="149860" y="1273810"/>
                    <a:pt x="165100" y="1291590"/>
                  </a:cubicBezTo>
                  <a:cubicBezTo>
                    <a:pt x="196850" y="1330960"/>
                    <a:pt x="260350" y="1459230"/>
                    <a:pt x="281940" y="1520190"/>
                  </a:cubicBezTo>
                  <a:cubicBezTo>
                    <a:pt x="294640" y="1557020"/>
                    <a:pt x="307340" y="1588770"/>
                    <a:pt x="300990" y="1612900"/>
                  </a:cubicBezTo>
                  <a:cubicBezTo>
                    <a:pt x="295910" y="1631950"/>
                    <a:pt x="280670" y="1647190"/>
                    <a:pt x="265430" y="1656080"/>
                  </a:cubicBezTo>
                  <a:cubicBezTo>
                    <a:pt x="250190" y="1664970"/>
                    <a:pt x="227330" y="1668780"/>
                    <a:pt x="209550" y="1664970"/>
                  </a:cubicBezTo>
                  <a:cubicBezTo>
                    <a:pt x="193040" y="1661160"/>
                    <a:pt x="172720" y="1648460"/>
                    <a:pt x="162560" y="1634490"/>
                  </a:cubicBezTo>
                  <a:cubicBezTo>
                    <a:pt x="152400" y="1620520"/>
                    <a:pt x="144780" y="1596390"/>
                    <a:pt x="147320" y="1581150"/>
                  </a:cubicBezTo>
                  <a:cubicBezTo>
                    <a:pt x="149860" y="1567180"/>
                    <a:pt x="165100" y="1567180"/>
                    <a:pt x="171450" y="1545590"/>
                  </a:cubicBezTo>
                  <a:cubicBezTo>
                    <a:pt x="209550" y="1426210"/>
                    <a:pt x="140970" y="426720"/>
                    <a:pt x="177800" y="276860"/>
                  </a:cubicBezTo>
                  <a:cubicBezTo>
                    <a:pt x="186690" y="242570"/>
                    <a:pt x="194310" y="229870"/>
                    <a:pt x="208280" y="218440"/>
                  </a:cubicBezTo>
                  <a:cubicBezTo>
                    <a:pt x="220980" y="207010"/>
                    <a:pt x="242570" y="203200"/>
                    <a:pt x="257810" y="205740"/>
                  </a:cubicBezTo>
                  <a:cubicBezTo>
                    <a:pt x="274320" y="207010"/>
                    <a:pt x="293370" y="218440"/>
                    <a:pt x="303530" y="228600"/>
                  </a:cubicBezTo>
                  <a:cubicBezTo>
                    <a:pt x="312420" y="237490"/>
                    <a:pt x="314960" y="242570"/>
                    <a:pt x="320040" y="259080"/>
                  </a:cubicBezTo>
                  <a:cubicBezTo>
                    <a:pt x="331470" y="307340"/>
                    <a:pt x="314960" y="467360"/>
                    <a:pt x="325120" y="565150"/>
                  </a:cubicBezTo>
                  <a:cubicBezTo>
                    <a:pt x="334010" y="656590"/>
                    <a:pt x="361950" y="725170"/>
                    <a:pt x="374650" y="828040"/>
                  </a:cubicBezTo>
                  <a:cubicBezTo>
                    <a:pt x="392430" y="971550"/>
                    <a:pt x="426720" y="1267460"/>
                    <a:pt x="405130" y="1342390"/>
                  </a:cubicBezTo>
                  <a:cubicBezTo>
                    <a:pt x="398780" y="1366520"/>
                    <a:pt x="388620" y="1375410"/>
                    <a:pt x="375920" y="1385570"/>
                  </a:cubicBezTo>
                  <a:cubicBezTo>
                    <a:pt x="363220" y="1394460"/>
                    <a:pt x="341630" y="1399540"/>
                    <a:pt x="325120" y="1397000"/>
                  </a:cubicBezTo>
                  <a:cubicBezTo>
                    <a:pt x="309880" y="1395730"/>
                    <a:pt x="290830" y="1385570"/>
                    <a:pt x="279400" y="1372870"/>
                  </a:cubicBezTo>
                  <a:cubicBezTo>
                    <a:pt x="269240" y="1361440"/>
                    <a:pt x="266700" y="1351280"/>
                    <a:pt x="261620" y="1324610"/>
                  </a:cubicBezTo>
                  <a:cubicBezTo>
                    <a:pt x="246380" y="1239520"/>
                    <a:pt x="269240" y="900430"/>
                    <a:pt x="261620" y="749300"/>
                  </a:cubicBezTo>
                  <a:cubicBezTo>
                    <a:pt x="257810" y="651510"/>
                    <a:pt x="254000" y="566420"/>
                    <a:pt x="240030" y="506730"/>
                  </a:cubicBezTo>
                  <a:cubicBezTo>
                    <a:pt x="231140" y="469900"/>
                    <a:pt x="200660" y="443230"/>
                    <a:pt x="204470" y="419100"/>
                  </a:cubicBezTo>
                  <a:cubicBezTo>
                    <a:pt x="207010" y="398780"/>
                    <a:pt x="227330" y="375920"/>
                    <a:pt x="245110" y="368300"/>
                  </a:cubicBezTo>
                  <a:cubicBezTo>
                    <a:pt x="262890" y="360680"/>
                    <a:pt x="294640" y="363220"/>
                    <a:pt x="311150" y="373380"/>
                  </a:cubicBezTo>
                  <a:cubicBezTo>
                    <a:pt x="327660" y="383540"/>
                    <a:pt x="342900" y="411480"/>
                    <a:pt x="344170" y="430530"/>
                  </a:cubicBezTo>
                  <a:cubicBezTo>
                    <a:pt x="345440" y="445770"/>
                    <a:pt x="331470" y="455930"/>
                    <a:pt x="327660" y="477520"/>
                  </a:cubicBezTo>
                  <a:cubicBezTo>
                    <a:pt x="320040" y="519430"/>
                    <a:pt x="316230" y="584200"/>
                    <a:pt x="316230" y="665480"/>
                  </a:cubicBezTo>
                  <a:cubicBezTo>
                    <a:pt x="316230" y="815340"/>
                    <a:pt x="374650" y="1212850"/>
                    <a:pt x="353060" y="1301750"/>
                  </a:cubicBezTo>
                  <a:cubicBezTo>
                    <a:pt x="347980" y="1327150"/>
                    <a:pt x="341630" y="1337310"/>
                    <a:pt x="327660" y="1347470"/>
                  </a:cubicBezTo>
                  <a:cubicBezTo>
                    <a:pt x="311150" y="1358900"/>
                    <a:pt x="279400" y="1365250"/>
                    <a:pt x="260350" y="1360170"/>
                  </a:cubicBezTo>
                  <a:cubicBezTo>
                    <a:pt x="243840" y="1356360"/>
                    <a:pt x="228600" y="1344930"/>
                    <a:pt x="218440" y="1328420"/>
                  </a:cubicBezTo>
                  <a:cubicBezTo>
                    <a:pt x="203200" y="1306830"/>
                    <a:pt x="200660" y="1282700"/>
                    <a:pt x="194310" y="1234440"/>
                  </a:cubicBezTo>
                  <a:cubicBezTo>
                    <a:pt x="175260" y="1089660"/>
                    <a:pt x="151130" y="468630"/>
                    <a:pt x="179070" y="349250"/>
                  </a:cubicBezTo>
                  <a:cubicBezTo>
                    <a:pt x="186690" y="317500"/>
                    <a:pt x="194310" y="302260"/>
                    <a:pt x="209550" y="290830"/>
                  </a:cubicBezTo>
                  <a:cubicBezTo>
                    <a:pt x="226060" y="280670"/>
                    <a:pt x="256540" y="278130"/>
                    <a:pt x="274320" y="283210"/>
                  </a:cubicBezTo>
                  <a:cubicBezTo>
                    <a:pt x="289560" y="288290"/>
                    <a:pt x="304800" y="304800"/>
                    <a:pt x="312420" y="316230"/>
                  </a:cubicBezTo>
                  <a:cubicBezTo>
                    <a:pt x="318770" y="326390"/>
                    <a:pt x="317500" y="331470"/>
                    <a:pt x="320040" y="349250"/>
                  </a:cubicBezTo>
                  <a:cubicBezTo>
                    <a:pt x="328930" y="422910"/>
                    <a:pt x="314960" y="750570"/>
                    <a:pt x="322580" y="918210"/>
                  </a:cubicBezTo>
                  <a:cubicBezTo>
                    <a:pt x="328930" y="1051560"/>
                    <a:pt x="367030" y="1221740"/>
                    <a:pt x="356870" y="1276350"/>
                  </a:cubicBezTo>
                  <a:cubicBezTo>
                    <a:pt x="353060" y="1292860"/>
                    <a:pt x="349250" y="1299210"/>
                    <a:pt x="340360" y="1308100"/>
                  </a:cubicBezTo>
                  <a:cubicBezTo>
                    <a:pt x="328930" y="1318260"/>
                    <a:pt x="309880" y="1330960"/>
                    <a:pt x="293370" y="1333500"/>
                  </a:cubicBezTo>
                  <a:cubicBezTo>
                    <a:pt x="276860" y="1334770"/>
                    <a:pt x="254000" y="1328420"/>
                    <a:pt x="241300" y="1320800"/>
                  </a:cubicBezTo>
                  <a:cubicBezTo>
                    <a:pt x="229870" y="1314450"/>
                    <a:pt x="223520" y="1309370"/>
                    <a:pt x="217170" y="1294130"/>
                  </a:cubicBezTo>
                  <a:cubicBezTo>
                    <a:pt x="198120" y="1248410"/>
                    <a:pt x="209550" y="1068070"/>
                    <a:pt x="200660" y="990600"/>
                  </a:cubicBezTo>
                  <a:cubicBezTo>
                    <a:pt x="195580" y="943610"/>
                    <a:pt x="185420" y="928370"/>
                    <a:pt x="180340" y="875030"/>
                  </a:cubicBezTo>
                  <a:cubicBezTo>
                    <a:pt x="170180" y="762000"/>
                    <a:pt x="173990" y="486410"/>
                    <a:pt x="179070" y="337820"/>
                  </a:cubicBezTo>
                  <a:cubicBezTo>
                    <a:pt x="181610" y="231140"/>
                    <a:pt x="181610" y="116840"/>
                    <a:pt x="194310" y="64770"/>
                  </a:cubicBezTo>
                  <a:cubicBezTo>
                    <a:pt x="200660" y="43180"/>
                    <a:pt x="205740" y="30480"/>
                    <a:pt x="217170" y="19050"/>
                  </a:cubicBezTo>
                  <a:cubicBezTo>
                    <a:pt x="229870" y="8890"/>
                    <a:pt x="248920" y="0"/>
                    <a:pt x="265430" y="0"/>
                  </a:cubicBezTo>
                  <a:cubicBezTo>
                    <a:pt x="284480" y="1270"/>
                    <a:pt x="313690" y="15240"/>
                    <a:pt x="325120" y="30480"/>
                  </a:cubicBezTo>
                  <a:cubicBezTo>
                    <a:pt x="335280" y="43180"/>
                    <a:pt x="339090" y="80010"/>
                    <a:pt x="339090" y="80010"/>
                  </a:cubicBezTo>
                </a:path>
              </a:pathLst>
            </a:custGeom>
            <a:solidFill>
              <a:srgbClr val="F3F0E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14" name="TextBox 14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874290" y="7705810"/>
            <a:ext cx="6413710" cy="4419629"/>
          </a:xfrm>
          <a:custGeom>
            <a:avLst/>
            <a:gdLst/>
            <a:ahLst/>
            <a:cxnLst/>
            <a:rect l="l" t="t" r="r" b="b"/>
            <a:pathLst>
              <a:path w="6413710" h="4419629">
                <a:moveTo>
                  <a:pt x="0" y="0"/>
                </a:moveTo>
                <a:lnTo>
                  <a:pt x="6413710" y="0"/>
                </a:lnTo>
                <a:lnTo>
                  <a:pt x="6413710" y="4419629"/>
                </a:lnTo>
                <a:lnTo>
                  <a:pt x="0" y="44196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9144000" y="1334377"/>
            <a:ext cx="7568073" cy="749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</a:pPr>
            <a:endParaRPr/>
          </a:p>
          <a:p>
            <a:pPr marL="1311537" lvl="1" indent="-655768" algn="l">
              <a:lnSpc>
                <a:spcPts val="8504"/>
              </a:lnSpc>
              <a:buFont typeface="Arial"/>
              <a:buChar char="•"/>
            </a:pPr>
            <a:r>
              <a:rPr lang="en-US" sz="6074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我的地圖</a:t>
            </a:r>
          </a:p>
          <a:p>
            <a:pPr marL="1311537" lvl="1" indent="-655768" algn="l">
              <a:lnSpc>
                <a:spcPts val="8504"/>
              </a:lnSpc>
              <a:buFont typeface="Arial"/>
              <a:buChar char="•"/>
            </a:pPr>
            <a:r>
              <a:rPr lang="en-US" sz="6074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自動撥號</a:t>
            </a:r>
          </a:p>
          <a:p>
            <a:pPr marL="1311537" lvl="1" indent="-655768" algn="l">
              <a:lnSpc>
                <a:spcPts val="8504"/>
              </a:lnSpc>
              <a:buFont typeface="Arial"/>
              <a:buChar char="•"/>
            </a:pPr>
            <a:r>
              <a:rPr lang="en-US" sz="6074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我要填表</a:t>
            </a:r>
          </a:p>
          <a:p>
            <a:pPr marL="1311537" lvl="1" indent="-655768" algn="l">
              <a:lnSpc>
                <a:spcPts val="8504"/>
              </a:lnSpc>
              <a:buFont typeface="Arial"/>
              <a:buChar char="•"/>
            </a:pPr>
            <a:r>
              <a:rPr lang="en-US" sz="6074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安全合作商家</a:t>
            </a:r>
          </a:p>
          <a:p>
            <a:pPr marL="1311537" lvl="1" indent="-655768" algn="l">
              <a:lnSpc>
                <a:spcPts val="8504"/>
              </a:lnSpc>
              <a:buFont typeface="Arial"/>
              <a:buChar char="•"/>
            </a:pPr>
            <a:r>
              <a:rPr lang="en-US" sz="6074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聊天室</a:t>
            </a:r>
          </a:p>
          <a:p>
            <a:pPr marL="1311537" lvl="1" indent="-655768" algn="l">
              <a:lnSpc>
                <a:spcPts val="8504"/>
              </a:lnSpc>
              <a:buFont typeface="Arial"/>
              <a:buChar char="•"/>
            </a:pPr>
            <a:r>
              <a:rPr lang="en-US" sz="6074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防身小知識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6874" y="272890"/>
            <a:ext cx="8296370" cy="177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9"/>
              </a:lnSpc>
            </a:pPr>
            <a:r>
              <a:rPr lang="en-US" sz="10342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產品六大功能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4598" y="3849295"/>
            <a:ext cx="471967" cy="253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1"/>
              </a:lnSpc>
              <a:spcBef>
                <a:spcPct val="0"/>
              </a:spcBef>
            </a:pPr>
            <a:r>
              <a:rPr lang="en-US" sz="2387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安全合作商家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528538">
            <a:off x="4735184" y="-3059531"/>
            <a:ext cx="14112853" cy="13833742"/>
          </a:xfrm>
          <a:custGeom>
            <a:avLst/>
            <a:gdLst/>
            <a:ahLst/>
            <a:cxnLst/>
            <a:rect l="l" t="t" r="r" b="b"/>
            <a:pathLst>
              <a:path w="14112853" h="13833742">
                <a:moveTo>
                  <a:pt x="0" y="0"/>
                </a:moveTo>
                <a:lnTo>
                  <a:pt x="14112853" y="0"/>
                </a:lnTo>
                <a:lnTo>
                  <a:pt x="14112853" y="13833743"/>
                </a:lnTo>
                <a:lnTo>
                  <a:pt x="0" y="1383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-419799" y="0"/>
            <a:ext cx="19666570" cy="10387839"/>
            <a:chOff x="0" y="0"/>
            <a:chExt cx="26222094" cy="13850453"/>
          </a:xfrm>
        </p:grpSpPr>
        <p:sp>
          <p:nvSpPr>
            <p:cNvPr id="7" name="Freeform 7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-1272188" y="743721"/>
            <a:ext cx="6581284" cy="9085920"/>
          </a:xfrm>
          <a:custGeom>
            <a:avLst/>
            <a:gdLst/>
            <a:ahLst/>
            <a:cxnLst/>
            <a:rect l="l" t="t" r="r" b="b"/>
            <a:pathLst>
              <a:path w="6581284" h="9085920">
                <a:moveTo>
                  <a:pt x="0" y="0"/>
                </a:moveTo>
                <a:lnTo>
                  <a:pt x="6581285" y="0"/>
                </a:lnTo>
                <a:lnTo>
                  <a:pt x="6581285" y="9085920"/>
                </a:lnTo>
                <a:lnTo>
                  <a:pt x="0" y="9085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1000"/>
            </a:blip>
            <a:stretch>
              <a:fillRect t="-1592" b="-159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618166">
            <a:off x="775154" y="4123494"/>
            <a:ext cx="3251568" cy="3053627"/>
          </a:xfrm>
          <a:custGeom>
            <a:avLst/>
            <a:gdLst/>
            <a:ahLst/>
            <a:cxnLst/>
            <a:rect l="l" t="t" r="r" b="b"/>
            <a:pathLst>
              <a:path w="3251568" h="3053627">
                <a:moveTo>
                  <a:pt x="0" y="0"/>
                </a:moveTo>
                <a:lnTo>
                  <a:pt x="3251568" y="0"/>
                </a:lnTo>
                <a:lnTo>
                  <a:pt x="3251568" y="3053627"/>
                </a:lnTo>
                <a:lnTo>
                  <a:pt x="0" y="305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656045" y="2185982"/>
            <a:ext cx="14450282" cy="707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我的地圖: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可以從此選擇要查看及接受通知的案件分類分布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及要查看的發生時間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(EX: 搶劫 30日內/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      尾隨 22天內/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      打架 6月10日)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提供更直觀了解高機率怪事發生地點</a:t>
            </a:r>
          </a:p>
          <a:p>
            <a:pPr algn="l">
              <a:lnSpc>
                <a:spcPts val="7040"/>
              </a:lnSpc>
            </a:pPr>
            <a:r>
              <a:rPr lang="en-US" sz="5028" b="1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及避開事件至目的地的最佳路線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17" name="TextBox 17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3566133" y="3383896"/>
            <a:ext cx="500337" cy="473444"/>
          </a:xfrm>
          <a:custGeom>
            <a:avLst/>
            <a:gdLst/>
            <a:ahLst/>
            <a:cxnLst/>
            <a:rect l="l" t="t" r="r" b="b"/>
            <a:pathLst>
              <a:path w="500337" h="473444">
                <a:moveTo>
                  <a:pt x="0" y="0"/>
                </a:moveTo>
                <a:lnTo>
                  <a:pt x="500338" y="0"/>
                </a:lnTo>
                <a:lnTo>
                  <a:pt x="500338" y="473445"/>
                </a:lnTo>
                <a:lnTo>
                  <a:pt x="0" y="4734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Freeform 20"/>
          <p:cNvSpPr/>
          <p:nvPr/>
        </p:nvSpPr>
        <p:spPr>
          <a:xfrm>
            <a:off x="2060508" y="6221483"/>
            <a:ext cx="340430" cy="294627"/>
          </a:xfrm>
          <a:custGeom>
            <a:avLst/>
            <a:gdLst/>
            <a:ahLst/>
            <a:cxnLst/>
            <a:rect l="l" t="t" r="r" b="b"/>
            <a:pathLst>
              <a:path w="340430" h="294627">
                <a:moveTo>
                  <a:pt x="0" y="0"/>
                </a:moveTo>
                <a:lnTo>
                  <a:pt x="340430" y="0"/>
                </a:lnTo>
                <a:lnTo>
                  <a:pt x="340430" y="294626"/>
                </a:lnTo>
                <a:lnTo>
                  <a:pt x="0" y="294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6649720" y="572271"/>
            <a:ext cx="10283781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功能-我的地圖</a:t>
            </a:r>
          </a:p>
        </p:txBody>
      </p:sp>
      <p:sp>
        <p:nvSpPr>
          <p:cNvPr id="22" name="Freeform 22"/>
          <p:cNvSpPr/>
          <p:nvPr/>
        </p:nvSpPr>
        <p:spPr>
          <a:xfrm>
            <a:off x="2947835" y="5769766"/>
            <a:ext cx="340430" cy="294627"/>
          </a:xfrm>
          <a:custGeom>
            <a:avLst/>
            <a:gdLst/>
            <a:ahLst/>
            <a:cxnLst/>
            <a:rect l="l" t="t" r="r" b="b"/>
            <a:pathLst>
              <a:path w="340430" h="294627">
                <a:moveTo>
                  <a:pt x="0" y="0"/>
                </a:moveTo>
                <a:lnTo>
                  <a:pt x="340429" y="0"/>
                </a:lnTo>
                <a:lnTo>
                  <a:pt x="340429" y="294627"/>
                </a:lnTo>
                <a:lnTo>
                  <a:pt x="0" y="294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3"/>
          <p:cNvSpPr/>
          <p:nvPr/>
        </p:nvSpPr>
        <p:spPr>
          <a:xfrm>
            <a:off x="3118050" y="5355681"/>
            <a:ext cx="340430" cy="294627"/>
          </a:xfrm>
          <a:custGeom>
            <a:avLst/>
            <a:gdLst/>
            <a:ahLst/>
            <a:cxnLst/>
            <a:rect l="l" t="t" r="r" b="b"/>
            <a:pathLst>
              <a:path w="340430" h="294627">
                <a:moveTo>
                  <a:pt x="0" y="0"/>
                </a:moveTo>
                <a:lnTo>
                  <a:pt x="340429" y="0"/>
                </a:lnTo>
                <a:lnTo>
                  <a:pt x="340429" y="294626"/>
                </a:lnTo>
                <a:lnTo>
                  <a:pt x="0" y="294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4"/>
          <p:cNvSpPr/>
          <p:nvPr/>
        </p:nvSpPr>
        <p:spPr>
          <a:xfrm>
            <a:off x="1169387" y="6368796"/>
            <a:ext cx="340430" cy="294627"/>
          </a:xfrm>
          <a:custGeom>
            <a:avLst/>
            <a:gdLst/>
            <a:ahLst/>
            <a:cxnLst/>
            <a:rect l="l" t="t" r="r" b="b"/>
            <a:pathLst>
              <a:path w="340430" h="294627">
                <a:moveTo>
                  <a:pt x="0" y="0"/>
                </a:moveTo>
                <a:lnTo>
                  <a:pt x="340430" y="0"/>
                </a:lnTo>
                <a:lnTo>
                  <a:pt x="340430" y="294626"/>
                </a:lnTo>
                <a:lnTo>
                  <a:pt x="0" y="294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Freeform 25"/>
          <p:cNvSpPr/>
          <p:nvPr/>
        </p:nvSpPr>
        <p:spPr>
          <a:xfrm>
            <a:off x="1321787" y="6521196"/>
            <a:ext cx="340430" cy="294627"/>
          </a:xfrm>
          <a:custGeom>
            <a:avLst/>
            <a:gdLst/>
            <a:ahLst/>
            <a:cxnLst/>
            <a:rect l="l" t="t" r="r" b="b"/>
            <a:pathLst>
              <a:path w="340430" h="294627">
                <a:moveTo>
                  <a:pt x="0" y="0"/>
                </a:moveTo>
                <a:lnTo>
                  <a:pt x="340430" y="0"/>
                </a:lnTo>
                <a:lnTo>
                  <a:pt x="340430" y="294626"/>
                </a:lnTo>
                <a:lnTo>
                  <a:pt x="0" y="294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6" name="Freeform 26"/>
          <p:cNvSpPr/>
          <p:nvPr/>
        </p:nvSpPr>
        <p:spPr>
          <a:xfrm>
            <a:off x="1509817" y="5769766"/>
            <a:ext cx="340430" cy="294627"/>
          </a:xfrm>
          <a:custGeom>
            <a:avLst/>
            <a:gdLst/>
            <a:ahLst/>
            <a:cxnLst/>
            <a:rect l="l" t="t" r="r" b="b"/>
            <a:pathLst>
              <a:path w="340430" h="294627">
                <a:moveTo>
                  <a:pt x="0" y="0"/>
                </a:moveTo>
                <a:lnTo>
                  <a:pt x="340430" y="0"/>
                </a:lnTo>
                <a:lnTo>
                  <a:pt x="340430" y="294627"/>
                </a:lnTo>
                <a:lnTo>
                  <a:pt x="0" y="294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7" name="Freeform 27"/>
          <p:cNvSpPr/>
          <p:nvPr/>
        </p:nvSpPr>
        <p:spPr>
          <a:xfrm>
            <a:off x="3225703" y="6074169"/>
            <a:ext cx="340430" cy="294627"/>
          </a:xfrm>
          <a:custGeom>
            <a:avLst/>
            <a:gdLst/>
            <a:ahLst/>
            <a:cxnLst/>
            <a:rect l="l" t="t" r="r" b="b"/>
            <a:pathLst>
              <a:path w="340430" h="294627">
                <a:moveTo>
                  <a:pt x="0" y="0"/>
                </a:moveTo>
                <a:lnTo>
                  <a:pt x="340430" y="0"/>
                </a:lnTo>
                <a:lnTo>
                  <a:pt x="340430" y="294627"/>
                </a:lnTo>
                <a:lnTo>
                  <a:pt x="0" y="294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9799" y="0"/>
            <a:ext cx="19666570" cy="10387839"/>
            <a:chOff x="0" y="0"/>
            <a:chExt cx="26222094" cy="13850453"/>
          </a:xfrm>
        </p:grpSpPr>
        <p:sp>
          <p:nvSpPr>
            <p:cNvPr id="6" name="Freeform 6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47835" y="3344063"/>
            <a:ext cx="15493149" cy="439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達到一鍵求助的功能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用戶可於個人設定處設定</a:t>
            </a:r>
            <a:r>
              <a:rPr lang="en-US" sz="5028" b="1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快速求助對象/預設傳達訊息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按下後會對設定對象撥號/發出訊息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來達到快速撥號、快速傳遞簡訊通知功能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若無設置預設將會為110</a:t>
            </a:r>
          </a:p>
        </p:txBody>
      </p:sp>
      <p:sp>
        <p:nvSpPr>
          <p:cNvPr id="13" name="Freeform 13"/>
          <p:cNvSpPr/>
          <p:nvPr/>
        </p:nvSpPr>
        <p:spPr>
          <a:xfrm rot="536078">
            <a:off x="9876550" y="4647644"/>
            <a:ext cx="8294702" cy="6611223"/>
          </a:xfrm>
          <a:custGeom>
            <a:avLst/>
            <a:gdLst/>
            <a:ahLst/>
            <a:cxnLst/>
            <a:rect l="l" t="t" r="r" b="b"/>
            <a:pathLst>
              <a:path w="8294702" h="6611223">
                <a:moveTo>
                  <a:pt x="0" y="0"/>
                </a:moveTo>
                <a:lnTo>
                  <a:pt x="8294702" y="0"/>
                </a:lnTo>
                <a:lnTo>
                  <a:pt x="8294702" y="6611223"/>
                </a:lnTo>
                <a:lnTo>
                  <a:pt x="0" y="6611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4656873">
            <a:off x="425726" y="1381913"/>
            <a:ext cx="4032504" cy="4114800"/>
          </a:xfrm>
          <a:custGeom>
            <a:avLst/>
            <a:gdLst/>
            <a:ahLst/>
            <a:cxnLst/>
            <a:rect l="l" t="t" r="r" b="b"/>
            <a:pathLst>
              <a:path w="4032504" h="4114800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975519" y="572271"/>
            <a:ext cx="10283781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功能-自動撥號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17" name="TextBox 17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9799" y="0"/>
            <a:ext cx="19666570" cy="10387839"/>
            <a:chOff x="0" y="0"/>
            <a:chExt cx="26222094" cy="13850453"/>
          </a:xfrm>
        </p:grpSpPr>
        <p:sp>
          <p:nvSpPr>
            <p:cNvPr id="6" name="Freeform 6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75081" y="580737"/>
            <a:ext cx="10705171" cy="8229600"/>
          </a:xfrm>
          <a:custGeom>
            <a:avLst/>
            <a:gdLst/>
            <a:ahLst/>
            <a:cxnLst/>
            <a:rect l="l" t="t" r="r" b="b"/>
            <a:pathLst>
              <a:path w="10705171" h="8229600">
                <a:moveTo>
                  <a:pt x="0" y="0"/>
                </a:moveTo>
                <a:lnTo>
                  <a:pt x="10705171" y="0"/>
                </a:lnTo>
                <a:lnTo>
                  <a:pt x="107051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4175233" y="2642038"/>
            <a:ext cx="13344313" cy="616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提供快速上傳騷擾事件,分享資訊功能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用戶透過此功能可選擇回報分享時的顯示名稱,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騷擾事件分類,地點與資訊</a:t>
            </a:r>
          </a:p>
          <a:p>
            <a:pPr algn="l">
              <a:lnSpc>
                <a:spcPts val="7040"/>
              </a:lnSpc>
            </a:pPr>
            <a:endParaRPr lang="en-US" sz="5028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審核通過後資料會顯示於對應事件分類地圖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用戶會獲得10積分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可用於兌換禮物之類</a:t>
            </a:r>
          </a:p>
        </p:txBody>
      </p:sp>
      <p:sp>
        <p:nvSpPr>
          <p:cNvPr id="14" name="Freeform 14"/>
          <p:cNvSpPr/>
          <p:nvPr/>
        </p:nvSpPr>
        <p:spPr>
          <a:xfrm rot="2187924">
            <a:off x="-3667130" y="4732349"/>
            <a:ext cx="11148491" cy="6324235"/>
          </a:xfrm>
          <a:custGeom>
            <a:avLst/>
            <a:gdLst/>
            <a:ahLst/>
            <a:cxnLst/>
            <a:rect l="l" t="t" r="r" b="b"/>
            <a:pathLst>
              <a:path w="11148491" h="6324235">
                <a:moveTo>
                  <a:pt x="0" y="0"/>
                </a:moveTo>
                <a:lnTo>
                  <a:pt x="11148491" y="0"/>
                </a:lnTo>
                <a:lnTo>
                  <a:pt x="11148491" y="6324235"/>
                </a:lnTo>
                <a:lnTo>
                  <a:pt x="0" y="6324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859899" y="561454"/>
            <a:ext cx="10283781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功能-我要填表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17" name="TextBox 17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648738">
            <a:off x="-3502918" y="-370568"/>
            <a:ext cx="9063237" cy="7398897"/>
          </a:xfrm>
          <a:custGeom>
            <a:avLst/>
            <a:gdLst/>
            <a:ahLst/>
            <a:cxnLst/>
            <a:rect l="l" t="t" r="r" b="b"/>
            <a:pathLst>
              <a:path w="9063237" h="7398897">
                <a:moveTo>
                  <a:pt x="0" y="0"/>
                </a:moveTo>
                <a:lnTo>
                  <a:pt x="9063236" y="0"/>
                </a:lnTo>
                <a:lnTo>
                  <a:pt x="9063236" y="7398897"/>
                </a:lnTo>
                <a:lnTo>
                  <a:pt x="0" y="739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-52062" y="0"/>
            <a:ext cx="19666570" cy="10387839"/>
            <a:chOff x="0" y="0"/>
            <a:chExt cx="26222094" cy="13850453"/>
          </a:xfrm>
        </p:grpSpPr>
        <p:sp>
          <p:nvSpPr>
            <p:cNvPr id="7" name="Freeform 7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85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9447711" y="149966"/>
            <a:ext cx="9437950" cy="4993534"/>
          </a:xfrm>
          <a:custGeom>
            <a:avLst/>
            <a:gdLst/>
            <a:ahLst/>
            <a:cxnLst/>
            <a:rect l="l" t="t" r="r" b="b"/>
            <a:pathLst>
              <a:path w="9437950" h="4993534">
                <a:moveTo>
                  <a:pt x="0" y="0"/>
                </a:moveTo>
                <a:lnTo>
                  <a:pt x="9437950" y="0"/>
                </a:lnTo>
                <a:lnTo>
                  <a:pt x="9437950" y="4993534"/>
                </a:lnTo>
                <a:lnTo>
                  <a:pt x="0" y="4993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3747972" y="3233630"/>
            <a:ext cx="15137689" cy="439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提供臨時/快速避難空間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可檢視附近認證過/當下時段可供避難店家</a:t>
            </a:r>
          </a:p>
          <a:p>
            <a:pPr algn="l">
              <a:lnSpc>
                <a:spcPts val="7040"/>
              </a:lnSpc>
            </a:pPr>
            <a:endParaRPr lang="en-US" sz="5028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也提供商家認證表單由商家填寫,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填寫後將獲得一個月的免費宣傳來刺激商家填寫。</a:t>
            </a:r>
          </a:p>
        </p:txBody>
      </p:sp>
      <p:sp>
        <p:nvSpPr>
          <p:cNvPr id="15" name="Freeform 15"/>
          <p:cNvSpPr/>
          <p:nvPr/>
        </p:nvSpPr>
        <p:spPr>
          <a:xfrm rot="1765693">
            <a:off x="3298027" y="628989"/>
            <a:ext cx="14868660" cy="15183526"/>
          </a:xfrm>
          <a:custGeom>
            <a:avLst/>
            <a:gdLst/>
            <a:ahLst/>
            <a:cxnLst/>
            <a:rect l="l" t="t" r="r" b="b"/>
            <a:pathLst>
              <a:path w="14868660" h="15183526">
                <a:moveTo>
                  <a:pt x="0" y="0"/>
                </a:moveTo>
                <a:lnTo>
                  <a:pt x="14868661" y="0"/>
                </a:lnTo>
                <a:lnTo>
                  <a:pt x="14868661" y="15183526"/>
                </a:lnTo>
                <a:lnTo>
                  <a:pt x="0" y="151835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525239" y="451735"/>
            <a:ext cx="10283781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功能-安全合作商家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18" name="TextBox 18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3435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9799" y="0"/>
            <a:ext cx="19666570" cy="10387839"/>
            <a:chOff x="0" y="0"/>
            <a:chExt cx="26222094" cy="13850453"/>
          </a:xfrm>
        </p:grpSpPr>
        <p:sp>
          <p:nvSpPr>
            <p:cNvPr id="6" name="Freeform 6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Freeform 12"/>
          <p:cNvSpPr/>
          <p:nvPr/>
        </p:nvSpPr>
        <p:spPr>
          <a:xfrm rot="1512624">
            <a:off x="-6114826" y="-6811137"/>
            <a:ext cx="11390055" cy="11058708"/>
          </a:xfrm>
          <a:custGeom>
            <a:avLst/>
            <a:gdLst/>
            <a:ahLst/>
            <a:cxnLst/>
            <a:rect l="l" t="t" r="r" b="b"/>
            <a:pathLst>
              <a:path w="11390055" h="11058708">
                <a:moveTo>
                  <a:pt x="0" y="0"/>
                </a:moveTo>
                <a:lnTo>
                  <a:pt x="11390055" y="0"/>
                </a:lnTo>
                <a:lnTo>
                  <a:pt x="11390055" y="11058708"/>
                </a:lnTo>
                <a:lnTo>
                  <a:pt x="0" y="11058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4492332" y="4898316"/>
            <a:ext cx="8628676" cy="8229600"/>
          </a:xfrm>
          <a:custGeom>
            <a:avLst/>
            <a:gdLst/>
            <a:ahLst/>
            <a:cxnLst/>
            <a:rect l="l" t="t" r="r" b="b"/>
            <a:pathLst>
              <a:path w="8628676" h="8229600">
                <a:moveTo>
                  <a:pt x="0" y="0"/>
                </a:moveTo>
                <a:lnTo>
                  <a:pt x="8628676" y="0"/>
                </a:lnTo>
                <a:lnTo>
                  <a:pt x="862867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401857" y="4898316"/>
            <a:ext cx="8070100" cy="1916649"/>
          </a:xfrm>
          <a:custGeom>
            <a:avLst/>
            <a:gdLst/>
            <a:ahLst/>
            <a:cxnLst/>
            <a:rect l="l" t="t" r="r" b="b"/>
            <a:pathLst>
              <a:path w="8070100" h="1916649">
                <a:moveTo>
                  <a:pt x="0" y="0"/>
                </a:moveTo>
                <a:lnTo>
                  <a:pt x="8070100" y="0"/>
                </a:lnTo>
                <a:lnTo>
                  <a:pt x="8070100" y="1916649"/>
                </a:lnTo>
                <a:lnTo>
                  <a:pt x="0" y="19166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2999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>
            <a:off x="9831507" y="6814965"/>
            <a:ext cx="8115300" cy="1927384"/>
          </a:xfrm>
          <a:custGeom>
            <a:avLst/>
            <a:gdLst/>
            <a:ahLst/>
            <a:cxnLst/>
            <a:rect l="l" t="t" r="r" b="b"/>
            <a:pathLst>
              <a:path w="8115300" h="1927384">
                <a:moveTo>
                  <a:pt x="0" y="0"/>
                </a:moveTo>
                <a:lnTo>
                  <a:pt x="8115300" y="0"/>
                </a:lnTo>
                <a:lnTo>
                  <a:pt x="8115300" y="1927384"/>
                </a:lnTo>
                <a:lnTo>
                  <a:pt x="0" y="1927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753731" y="2865248"/>
            <a:ext cx="11319510" cy="1801689"/>
          </a:xfrm>
          <a:custGeom>
            <a:avLst/>
            <a:gdLst/>
            <a:ahLst/>
            <a:cxnLst/>
            <a:rect l="l" t="t" r="r" b="b"/>
            <a:pathLst>
              <a:path w="11319510" h="1801689">
                <a:moveTo>
                  <a:pt x="0" y="0"/>
                </a:moveTo>
                <a:lnTo>
                  <a:pt x="11319510" y="0"/>
                </a:lnTo>
                <a:lnTo>
                  <a:pt x="11319510" y="1801689"/>
                </a:lnTo>
                <a:lnTo>
                  <a:pt x="0" y="18016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3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973495" y="2844818"/>
            <a:ext cx="15716023" cy="616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匿名聊天室有2大分類,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一為以地區分類,各地區;里的匿名聊天室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二為各區常被通報事件中人物由AI人臉識別統計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(因應相關法規會將臉進行馬賽克處理)</a:t>
            </a:r>
          </a:p>
          <a:p>
            <a:pPr algn="l">
              <a:lnSpc>
                <a:spcPts val="7040"/>
              </a:lnSpc>
            </a:pPr>
            <a:endParaRPr lang="en-US" sz="5028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讓用戶可以匿名,無負擔的進行交流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輸出前的資料會先經由AI模型確認無惡意訊息才可發出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1370" y="572271"/>
            <a:ext cx="8541871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功能-匿名聊天室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20" name="TextBox 20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9799" y="0"/>
            <a:ext cx="19666570" cy="10387839"/>
            <a:chOff x="0" y="0"/>
            <a:chExt cx="26222094" cy="13850453"/>
          </a:xfrm>
        </p:grpSpPr>
        <p:sp>
          <p:nvSpPr>
            <p:cNvPr id="6" name="Freeform 6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Freeform 12"/>
          <p:cNvSpPr/>
          <p:nvPr/>
        </p:nvSpPr>
        <p:spPr>
          <a:xfrm rot="2349442">
            <a:off x="10826232" y="2337014"/>
            <a:ext cx="11394101" cy="819386"/>
          </a:xfrm>
          <a:custGeom>
            <a:avLst/>
            <a:gdLst/>
            <a:ahLst/>
            <a:cxnLst/>
            <a:rect l="l" t="t" r="r" b="b"/>
            <a:pathLst>
              <a:path w="11394101" h="819386">
                <a:moveTo>
                  <a:pt x="0" y="0"/>
                </a:moveTo>
                <a:lnTo>
                  <a:pt x="11394100" y="0"/>
                </a:lnTo>
                <a:lnTo>
                  <a:pt x="11394100" y="819386"/>
                </a:lnTo>
                <a:lnTo>
                  <a:pt x="0" y="819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3168078">
            <a:off x="1653571" y="4780397"/>
            <a:ext cx="9677197" cy="8955806"/>
          </a:xfrm>
          <a:custGeom>
            <a:avLst/>
            <a:gdLst/>
            <a:ahLst/>
            <a:cxnLst/>
            <a:rect l="l" t="t" r="r" b="b"/>
            <a:pathLst>
              <a:path w="9677197" h="8955806">
                <a:moveTo>
                  <a:pt x="0" y="0"/>
                </a:moveTo>
                <a:lnTo>
                  <a:pt x="9677198" y="0"/>
                </a:lnTo>
                <a:lnTo>
                  <a:pt x="9677198" y="8955806"/>
                </a:lnTo>
                <a:lnTo>
                  <a:pt x="0" y="89558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4232844" y="436745"/>
            <a:ext cx="8455044" cy="9413511"/>
          </a:xfrm>
          <a:custGeom>
            <a:avLst/>
            <a:gdLst/>
            <a:ahLst/>
            <a:cxnLst/>
            <a:rect l="l" t="t" r="r" b="b"/>
            <a:pathLst>
              <a:path w="8455044" h="9413511">
                <a:moveTo>
                  <a:pt x="0" y="0"/>
                </a:moveTo>
                <a:lnTo>
                  <a:pt x="8455044" y="0"/>
                </a:lnTo>
                <a:lnTo>
                  <a:pt x="8455044" y="9413510"/>
                </a:lnTo>
                <a:lnTo>
                  <a:pt x="0" y="94135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2403141" y="2454638"/>
            <a:ext cx="14856159" cy="528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提供用戶整理過得各種防身知識網頁的快捷鍵,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讓使用者在應對突發事件時能更冷靜更有底氣,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減少突發狀況造成的損害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(EX:遭遇跟蹤時的黃金7步,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   如何防治搶劫,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   十大護身法-爭取逃脫機會)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26338" y="572271"/>
            <a:ext cx="8541871" cy="147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功能-防身小知識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298285" y="405899"/>
            <a:ext cx="6492240" cy="990600"/>
            <a:chOff x="0" y="0"/>
            <a:chExt cx="8656320" cy="1320800"/>
          </a:xfrm>
        </p:grpSpPr>
        <p:sp>
          <p:nvSpPr>
            <p:cNvPr id="18" name="TextBox 18"/>
            <p:cNvSpPr txBox="1"/>
            <p:nvPr/>
          </p:nvSpPr>
          <p:spPr>
            <a:xfrm>
              <a:off x="589022" y="-66675"/>
              <a:ext cx="7457698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494F56"/>
                  </a:solidFill>
                  <a:latin typeface="Quicksand"/>
                  <a:ea typeface="Quicksand"/>
                  <a:cs typeface="Quicksand"/>
                  <a:sym typeface="Quicksand"/>
                </a:rPr>
                <a:t>一. 產品(服務)介紹,解決什麼問題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0" y="830401"/>
              <a:ext cx="8656320" cy="0"/>
            </a:xfrm>
            <a:prstGeom prst="line">
              <a:avLst/>
            </a:prstGeom>
            <a:ln w="50800" cap="flat">
              <a:solidFill>
                <a:srgbClr val="137064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870903">
            <a:off x="9482394" y="-3401478"/>
            <a:ext cx="14620325" cy="17849231"/>
          </a:xfrm>
          <a:custGeom>
            <a:avLst/>
            <a:gdLst/>
            <a:ahLst/>
            <a:cxnLst/>
            <a:rect l="l" t="t" r="r" b="b"/>
            <a:pathLst>
              <a:path w="14620325" h="17849231">
                <a:moveTo>
                  <a:pt x="0" y="0"/>
                </a:moveTo>
                <a:lnTo>
                  <a:pt x="14620325" y="0"/>
                </a:lnTo>
                <a:lnTo>
                  <a:pt x="14620325" y="17849230"/>
                </a:lnTo>
                <a:lnTo>
                  <a:pt x="0" y="1784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DF9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257800" y="-1518916"/>
            <a:ext cx="22545800" cy="12338701"/>
          </a:xfrm>
          <a:custGeom>
            <a:avLst/>
            <a:gdLst/>
            <a:ahLst/>
            <a:cxnLst/>
            <a:rect l="l" t="t" r="r" b="b"/>
            <a:pathLst>
              <a:path w="22545800" h="12338701">
                <a:moveTo>
                  <a:pt x="0" y="0"/>
                </a:moveTo>
                <a:lnTo>
                  <a:pt x="22545800" y="0"/>
                </a:lnTo>
                <a:lnTo>
                  <a:pt x="22545800" y="12338701"/>
                </a:lnTo>
                <a:lnTo>
                  <a:pt x="0" y="12338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-5327509" y="0"/>
            <a:ext cx="15542417" cy="3104058"/>
            <a:chOff x="0" y="0"/>
            <a:chExt cx="20723223" cy="4138744"/>
          </a:xfrm>
        </p:grpSpPr>
        <p:sp>
          <p:nvSpPr>
            <p:cNvPr id="8" name="Freeform 8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6985394" y="7182942"/>
            <a:ext cx="15542417" cy="3104058"/>
            <a:chOff x="0" y="0"/>
            <a:chExt cx="20723223" cy="4138744"/>
          </a:xfrm>
        </p:grpSpPr>
        <p:sp>
          <p:nvSpPr>
            <p:cNvPr id="11" name="Freeform 11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08498" y="2875458"/>
            <a:ext cx="21519314" cy="418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6"/>
              </a:lnSpc>
            </a:pPr>
            <a:r>
              <a:rPr lang="en-US" sz="12032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二.  該產品(服務)</a:t>
            </a:r>
          </a:p>
          <a:p>
            <a:pPr algn="l">
              <a:lnSpc>
                <a:spcPts val="16846"/>
              </a:lnSpc>
            </a:pPr>
            <a:r>
              <a:rPr lang="en-US" sz="12032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         主要的使用對象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89285" y="-319716"/>
            <a:ext cx="19666570" cy="10387839"/>
            <a:chOff x="0" y="0"/>
            <a:chExt cx="26222094" cy="13850453"/>
          </a:xfrm>
        </p:grpSpPr>
        <p:sp>
          <p:nvSpPr>
            <p:cNvPr id="6" name="Freeform 6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Freeform 12"/>
          <p:cNvSpPr/>
          <p:nvPr/>
        </p:nvSpPr>
        <p:spPr>
          <a:xfrm rot="8100000">
            <a:off x="5656460" y="-844276"/>
            <a:ext cx="12253317" cy="12253317"/>
          </a:xfrm>
          <a:custGeom>
            <a:avLst/>
            <a:gdLst/>
            <a:ahLst/>
            <a:cxnLst/>
            <a:rect l="l" t="t" r="r" b="b"/>
            <a:pathLst>
              <a:path w="12253317" h="12253317">
                <a:moveTo>
                  <a:pt x="0" y="0"/>
                </a:moveTo>
                <a:lnTo>
                  <a:pt x="12253317" y="0"/>
                </a:lnTo>
                <a:lnTo>
                  <a:pt x="12253317" y="12253317"/>
                </a:lnTo>
                <a:lnTo>
                  <a:pt x="0" y="12253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910459" y="1150248"/>
            <a:ext cx="8290475" cy="1538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7"/>
              </a:lnSpc>
            </a:pPr>
            <a:r>
              <a:rPr lang="en-US" sz="9005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主要的使用對象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61422" y="2922183"/>
            <a:ext cx="13009762" cy="528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夜歸族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獨居者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女性(大多數女性力量/體型仍比男性弱勢)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運動者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學生</a:t>
            </a:r>
          </a:p>
          <a:p>
            <a:pPr algn="l">
              <a:lnSpc>
                <a:spcPts val="7040"/>
              </a:lnSpc>
            </a:pPr>
            <a:r>
              <a:rPr lang="en-US" sz="502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商家（各類商家可付費投放廣告）</a:t>
            </a:r>
          </a:p>
        </p:txBody>
      </p:sp>
      <p:sp>
        <p:nvSpPr>
          <p:cNvPr id="15" name="Freeform 15"/>
          <p:cNvSpPr/>
          <p:nvPr/>
        </p:nvSpPr>
        <p:spPr>
          <a:xfrm rot="9321692">
            <a:off x="-3351644" y="4109558"/>
            <a:ext cx="6703288" cy="6703288"/>
          </a:xfrm>
          <a:custGeom>
            <a:avLst/>
            <a:gdLst/>
            <a:ahLst/>
            <a:cxnLst/>
            <a:rect l="l" t="t" r="r" b="b"/>
            <a:pathLst>
              <a:path w="6703288" h="6703288">
                <a:moveTo>
                  <a:pt x="0" y="0"/>
                </a:moveTo>
                <a:lnTo>
                  <a:pt x="6703288" y="0"/>
                </a:lnTo>
                <a:lnTo>
                  <a:pt x="6703288" y="6703288"/>
                </a:lnTo>
                <a:lnTo>
                  <a:pt x="0" y="6703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322079" y="370755"/>
            <a:ext cx="55932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二. 該產品(服務)主要的使用對象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-298285" y="1028700"/>
            <a:ext cx="6492240" cy="0"/>
          </a:xfrm>
          <a:prstGeom prst="line">
            <a:avLst/>
          </a:prstGeom>
          <a:ln w="38100" cap="flat">
            <a:solidFill>
              <a:srgbClr val="588157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870903">
            <a:off x="9482394" y="-3401478"/>
            <a:ext cx="14620325" cy="17849231"/>
          </a:xfrm>
          <a:custGeom>
            <a:avLst/>
            <a:gdLst/>
            <a:ahLst/>
            <a:cxnLst/>
            <a:rect l="l" t="t" r="r" b="b"/>
            <a:pathLst>
              <a:path w="14620325" h="17849231">
                <a:moveTo>
                  <a:pt x="0" y="0"/>
                </a:moveTo>
                <a:lnTo>
                  <a:pt x="14620325" y="0"/>
                </a:lnTo>
                <a:lnTo>
                  <a:pt x="14620325" y="17849230"/>
                </a:lnTo>
                <a:lnTo>
                  <a:pt x="0" y="1784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DF9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257800" y="-1518916"/>
            <a:ext cx="22545800" cy="12338701"/>
          </a:xfrm>
          <a:custGeom>
            <a:avLst/>
            <a:gdLst/>
            <a:ahLst/>
            <a:cxnLst/>
            <a:rect l="l" t="t" r="r" b="b"/>
            <a:pathLst>
              <a:path w="22545800" h="12338701">
                <a:moveTo>
                  <a:pt x="0" y="0"/>
                </a:moveTo>
                <a:lnTo>
                  <a:pt x="22545800" y="0"/>
                </a:lnTo>
                <a:lnTo>
                  <a:pt x="22545800" y="12338701"/>
                </a:lnTo>
                <a:lnTo>
                  <a:pt x="0" y="12338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-5327509" y="0"/>
            <a:ext cx="15542417" cy="3104058"/>
            <a:chOff x="0" y="0"/>
            <a:chExt cx="20723223" cy="4138744"/>
          </a:xfrm>
        </p:grpSpPr>
        <p:sp>
          <p:nvSpPr>
            <p:cNvPr id="8" name="Freeform 8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6985394" y="7182942"/>
            <a:ext cx="15542417" cy="3104058"/>
            <a:chOff x="0" y="0"/>
            <a:chExt cx="20723223" cy="4138744"/>
          </a:xfrm>
        </p:grpSpPr>
        <p:sp>
          <p:nvSpPr>
            <p:cNvPr id="11" name="Freeform 11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7200" y="3042213"/>
            <a:ext cx="21316589" cy="414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87"/>
              </a:lnSpc>
            </a:pPr>
            <a:r>
              <a:rPr lang="en-US" sz="11919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三.  如何推廣讓</a:t>
            </a:r>
          </a:p>
          <a:p>
            <a:pPr algn="l">
              <a:lnSpc>
                <a:spcPts val="16687"/>
              </a:lnSpc>
            </a:pPr>
            <a:r>
              <a:rPr lang="en-US" sz="11919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 更多人認識該產品(服務)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92879" y="88463"/>
            <a:ext cx="19666570" cy="10387839"/>
            <a:chOff x="0" y="0"/>
            <a:chExt cx="26222094" cy="13850453"/>
          </a:xfrm>
        </p:grpSpPr>
        <p:sp>
          <p:nvSpPr>
            <p:cNvPr id="6" name="Freeform 6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0259" y="-1843336"/>
            <a:ext cx="16149041" cy="1060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23"/>
              </a:lnSpc>
            </a:pPr>
            <a:endParaRPr/>
          </a:p>
          <a:p>
            <a:pPr algn="l">
              <a:lnSpc>
                <a:spcPts val="14123"/>
              </a:lnSpc>
            </a:pPr>
            <a:endParaRPr/>
          </a:p>
          <a:p>
            <a:pPr algn="l">
              <a:lnSpc>
                <a:spcPts val="14123"/>
              </a:lnSpc>
            </a:pPr>
            <a:r>
              <a:rPr lang="en-US" sz="1008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社群分享</a:t>
            </a:r>
          </a:p>
          <a:p>
            <a:pPr algn="l">
              <a:lnSpc>
                <a:spcPts val="14123"/>
              </a:lnSpc>
            </a:pPr>
            <a:endParaRPr lang="en-US" sz="10088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14123"/>
              </a:lnSpc>
            </a:pPr>
            <a:r>
              <a:rPr lang="en-US" sz="10088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廣告投放</a:t>
            </a:r>
          </a:p>
          <a:p>
            <a:pPr algn="l">
              <a:lnSpc>
                <a:spcPts val="14123"/>
              </a:lnSpc>
            </a:pPr>
            <a:r>
              <a:rPr lang="en-US" sz="10088" b="1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</a:t>
            </a:r>
          </a:p>
        </p:txBody>
      </p:sp>
      <p:sp>
        <p:nvSpPr>
          <p:cNvPr id="13" name="Freeform 13"/>
          <p:cNvSpPr/>
          <p:nvPr/>
        </p:nvSpPr>
        <p:spPr>
          <a:xfrm rot="5400000">
            <a:off x="4891805" y="4559894"/>
            <a:ext cx="192226" cy="10572407"/>
          </a:xfrm>
          <a:custGeom>
            <a:avLst/>
            <a:gdLst/>
            <a:ahLst/>
            <a:cxnLst/>
            <a:rect l="l" t="t" r="r" b="b"/>
            <a:pathLst>
              <a:path w="192226" h="10572407">
                <a:moveTo>
                  <a:pt x="0" y="0"/>
                </a:moveTo>
                <a:lnTo>
                  <a:pt x="192226" y="0"/>
                </a:lnTo>
                <a:lnTo>
                  <a:pt x="192226" y="10572407"/>
                </a:lnTo>
                <a:lnTo>
                  <a:pt x="0" y="10572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705213" y="320658"/>
            <a:ext cx="11211148" cy="193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2"/>
              </a:lnSpc>
            </a:pPr>
            <a:r>
              <a:rPr lang="en-US" sz="11287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如何推廣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481" y="339224"/>
            <a:ext cx="687505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三. 如何推廣讓更多人認識該產品(服務)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-298285" y="1028700"/>
            <a:ext cx="7059957" cy="0"/>
          </a:xfrm>
          <a:prstGeom prst="line">
            <a:avLst/>
          </a:prstGeom>
          <a:ln w="38100" cap="flat">
            <a:solidFill>
              <a:srgbClr val="13706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5400000">
            <a:off x="14630497" y="4559894"/>
            <a:ext cx="192226" cy="10572407"/>
          </a:xfrm>
          <a:custGeom>
            <a:avLst/>
            <a:gdLst/>
            <a:ahLst/>
            <a:cxnLst/>
            <a:rect l="l" t="t" r="r" b="b"/>
            <a:pathLst>
              <a:path w="192226" h="10572407">
                <a:moveTo>
                  <a:pt x="0" y="0"/>
                </a:moveTo>
                <a:lnTo>
                  <a:pt x="192226" y="0"/>
                </a:lnTo>
                <a:lnTo>
                  <a:pt x="192226" y="10572407"/>
                </a:lnTo>
                <a:lnTo>
                  <a:pt x="0" y="10572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2742976" y="3455748"/>
            <a:ext cx="15062291" cy="168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19"/>
              </a:lnSpc>
              <a:spcBef>
                <a:spcPct val="0"/>
              </a:spcBef>
            </a:pPr>
            <a:r>
              <a:rPr lang="en-US" sz="487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利用社群軟體如 FB, IG, Threads  發文/抽獎來吸引用戶並推廣產品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42976" y="7200900"/>
            <a:ext cx="15062291" cy="168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19"/>
              </a:lnSpc>
              <a:spcBef>
                <a:spcPct val="0"/>
              </a:spcBef>
            </a:pPr>
            <a:r>
              <a:rPr lang="en-US" sz="487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購買各大網站/軟體/社群廣告位,關鍵字推送找有聲望的博主業配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870903">
            <a:off x="9482394" y="-3401478"/>
            <a:ext cx="14620325" cy="17849231"/>
          </a:xfrm>
          <a:custGeom>
            <a:avLst/>
            <a:gdLst/>
            <a:ahLst/>
            <a:cxnLst/>
            <a:rect l="l" t="t" r="r" b="b"/>
            <a:pathLst>
              <a:path w="14620325" h="17849231">
                <a:moveTo>
                  <a:pt x="0" y="0"/>
                </a:moveTo>
                <a:lnTo>
                  <a:pt x="14620325" y="0"/>
                </a:lnTo>
                <a:lnTo>
                  <a:pt x="14620325" y="17849230"/>
                </a:lnTo>
                <a:lnTo>
                  <a:pt x="0" y="1784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-392879" y="0"/>
            <a:ext cx="20348204" cy="10564765"/>
            <a:chOff x="0" y="0"/>
            <a:chExt cx="5359198" cy="27824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DF9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257800" y="-1518916"/>
            <a:ext cx="22545800" cy="12338701"/>
          </a:xfrm>
          <a:custGeom>
            <a:avLst/>
            <a:gdLst/>
            <a:ahLst/>
            <a:cxnLst/>
            <a:rect l="l" t="t" r="r" b="b"/>
            <a:pathLst>
              <a:path w="22545800" h="12338701">
                <a:moveTo>
                  <a:pt x="0" y="0"/>
                </a:moveTo>
                <a:lnTo>
                  <a:pt x="22545800" y="0"/>
                </a:lnTo>
                <a:lnTo>
                  <a:pt x="22545800" y="12338701"/>
                </a:lnTo>
                <a:lnTo>
                  <a:pt x="0" y="12338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-5327509" y="0"/>
            <a:ext cx="15542417" cy="3104058"/>
            <a:chOff x="0" y="0"/>
            <a:chExt cx="20723223" cy="4138744"/>
          </a:xfrm>
        </p:grpSpPr>
        <p:sp>
          <p:nvSpPr>
            <p:cNvPr id="8" name="Freeform 8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6985394" y="7182942"/>
            <a:ext cx="15542417" cy="3104058"/>
            <a:chOff x="0" y="0"/>
            <a:chExt cx="20723223" cy="4138744"/>
          </a:xfrm>
        </p:grpSpPr>
        <p:sp>
          <p:nvSpPr>
            <p:cNvPr id="11" name="Freeform 11"/>
            <p:cNvSpPr/>
            <p:nvPr/>
          </p:nvSpPr>
          <p:spPr>
            <a:xfrm rot="-10800000">
              <a:off x="0" y="0"/>
              <a:ext cx="18392111" cy="2378952"/>
            </a:xfrm>
            <a:custGeom>
              <a:avLst/>
              <a:gdLst/>
              <a:ahLst/>
              <a:cxnLst/>
              <a:rect l="l" t="t" r="r" b="b"/>
              <a:pathLst>
                <a:path w="18392111" h="2378952">
                  <a:moveTo>
                    <a:pt x="0" y="0"/>
                  </a:moveTo>
                  <a:lnTo>
                    <a:pt x="18392111" y="0"/>
                  </a:lnTo>
                  <a:lnTo>
                    <a:pt x="18392111" y="2378952"/>
                  </a:lnTo>
                  <a:lnTo>
                    <a:pt x="0" y="2378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 rot="-10800000">
              <a:off x="2617589" y="1796847"/>
              <a:ext cx="18105634" cy="2341897"/>
            </a:xfrm>
            <a:custGeom>
              <a:avLst/>
              <a:gdLst/>
              <a:ahLst/>
              <a:cxnLst/>
              <a:rect l="l" t="t" r="r" b="b"/>
              <a:pathLst>
                <a:path w="18105634" h="2341897">
                  <a:moveTo>
                    <a:pt x="0" y="0"/>
                  </a:moveTo>
                  <a:lnTo>
                    <a:pt x="18105634" y="0"/>
                  </a:lnTo>
                  <a:lnTo>
                    <a:pt x="18105634" y="2341897"/>
                  </a:lnTo>
                  <a:lnTo>
                    <a:pt x="0" y="2341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10351" y="4019700"/>
            <a:ext cx="21316589" cy="202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87"/>
              </a:lnSpc>
            </a:pPr>
            <a:r>
              <a:rPr lang="en-US" sz="11919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四. 未來執行商業模式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9600" y="-199981"/>
            <a:ext cx="20348204" cy="10564765"/>
            <a:chOff x="0" y="0"/>
            <a:chExt cx="5359198" cy="2782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9198" cy="2782489"/>
            </a:xfrm>
            <a:custGeom>
              <a:avLst/>
              <a:gdLst/>
              <a:ahLst/>
              <a:cxnLst/>
              <a:rect l="l" t="t" r="r" b="b"/>
              <a:pathLst>
                <a:path w="5359198" h="2782489">
                  <a:moveTo>
                    <a:pt x="0" y="0"/>
                  </a:moveTo>
                  <a:lnTo>
                    <a:pt x="5359198" y="0"/>
                  </a:lnTo>
                  <a:lnTo>
                    <a:pt x="5359198" y="2782489"/>
                  </a:lnTo>
                  <a:lnTo>
                    <a:pt x="0" y="2782489"/>
                  </a:lnTo>
                  <a:close/>
                </a:path>
              </a:pathLst>
            </a:custGeom>
            <a:solidFill>
              <a:srgbClr val="FCF8F1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9198" cy="2820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9799" y="0"/>
            <a:ext cx="19666570" cy="10387839"/>
            <a:chOff x="0" y="0"/>
            <a:chExt cx="26222094" cy="13850453"/>
          </a:xfrm>
        </p:grpSpPr>
        <p:sp>
          <p:nvSpPr>
            <p:cNvPr id="6" name="Freeform 6"/>
            <p:cNvSpPr/>
            <p:nvPr/>
          </p:nvSpPr>
          <p:spPr>
            <a:xfrm>
              <a:off x="36857" y="145578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544116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7"/>
                  </a:lnTo>
                  <a:lnTo>
                    <a:pt x="0" y="530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755445" y="63422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8718588" y="8461960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547244" y="0"/>
              <a:ext cx="8674850" cy="8667615"/>
            </a:xfrm>
            <a:custGeom>
              <a:avLst/>
              <a:gdLst/>
              <a:ahLst/>
              <a:cxnLst/>
              <a:rect l="l" t="t" r="r" b="b"/>
              <a:pathLst>
                <a:path w="8674850" h="8667615">
                  <a:moveTo>
                    <a:pt x="0" y="0"/>
                  </a:moveTo>
                  <a:lnTo>
                    <a:pt x="8674850" y="0"/>
                  </a:lnTo>
                  <a:lnTo>
                    <a:pt x="8674850" y="8667615"/>
                  </a:lnTo>
                  <a:lnTo>
                    <a:pt x="0" y="866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3607" b="-13702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7510387" y="8398539"/>
              <a:ext cx="8711707" cy="5306336"/>
            </a:xfrm>
            <a:custGeom>
              <a:avLst/>
              <a:gdLst/>
              <a:ahLst/>
              <a:cxnLst/>
              <a:rect l="l" t="t" r="r" b="b"/>
              <a:pathLst>
                <a:path w="8711707" h="5306336">
                  <a:moveTo>
                    <a:pt x="0" y="0"/>
                  </a:moveTo>
                  <a:lnTo>
                    <a:pt x="8711707" y="0"/>
                  </a:lnTo>
                  <a:lnTo>
                    <a:pt x="8711707" y="5306336"/>
                  </a:lnTo>
                  <a:lnTo>
                    <a:pt x="0" y="5306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5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14444" b="-8788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9857" y="305023"/>
            <a:ext cx="55932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四. 未來執行商業模式</a:t>
            </a:r>
          </a:p>
        </p:txBody>
      </p:sp>
      <p:sp>
        <p:nvSpPr>
          <p:cNvPr id="13" name="AutoShape 13"/>
          <p:cNvSpPr/>
          <p:nvPr/>
        </p:nvSpPr>
        <p:spPr>
          <a:xfrm>
            <a:off x="-298285" y="1028700"/>
            <a:ext cx="6492240" cy="0"/>
          </a:xfrm>
          <a:prstGeom prst="line">
            <a:avLst/>
          </a:prstGeom>
          <a:ln w="38100" cap="flat">
            <a:solidFill>
              <a:srgbClr val="588157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143000" y="1028700"/>
            <a:ext cx="17467537" cy="8953275"/>
            <a:chOff x="0" y="0"/>
            <a:chExt cx="21766049" cy="119441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66049" cy="11944119"/>
            </a:xfrm>
            <a:custGeom>
              <a:avLst/>
              <a:gdLst/>
              <a:ahLst/>
              <a:cxnLst/>
              <a:rect l="l" t="t" r="r" b="b"/>
              <a:pathLst>
                <a:path w="21766049" h="11944119">
                  <a:moveTo>
                    <a:pt x="0" y="0"/>
                  </a:moveTo>
                  <a:lnTo>
                    <a:pt x="21766049" y="0"/>
                  </a:lnTo>
                  <a:lnTo>
                    <a:pt x="21766049" y="11944119"/>
                  </a:lnTo>
                  <a:lnTo>
                    <a:pt x="0" y="11944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0" y="9104000"/>
              <a:ext cx="21766049" cy="0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0883024" y="9104000"/>
              <a:ext cx="323382" cy="2538609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337772" y="42364"/>
              <a:ext cx="0" cy="9061636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8771440" y="0"/>
              <a:ext cx="0" cy="9104000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3442065" y="207841"/>
              <a:ext cx="0" cy="8896159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7789283" y="0"/>
              <a:ext cx="0" cy="9104000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4337772" y="4415605"/>
              <a:ext cx="4433669" cy="0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3442065" y="4441585"/>
              <a:ext cx="4433669" cy="0"/>
            </a:xfrm>
            <a:prstGeom prst="line">
              <a:avLst/>
            </a:prstGeom>
            <a:ln w="5196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2981" y="415319"/>
              <a:ext cx="4020685" cy="8178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 err="1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關鍵合作夥伴</a:t>
              </a:r>
              <a:endParaRPr lang="en-US" sz="3682" b="1" dirty="0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5365" y="376348"/>
              <a:ext cx="2613575" cy="8178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 err="1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關鍵活動</a:t>
              </a:r>
              <a:endParaRPr lang="en-US" sz="3682" b="1" dirty="0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97503" y="4526608"/>
              <a:ext cx="3077199" cy="8178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 err="1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關鍵資源</a:t>
              </a:r>
              <a:endParaRPr lang="en-US" sz="3682" b="1" dirty="0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60642" y="376348"/>
              <a:ext cx="2653371" cy="817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 err="1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價值主張</a:t>
              </a:r>
              <a:endParaRPr lang="en-US" sz="3682" b="1" dirty="0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112320" y="415317"/>
              <a:ext cx="2766325" cy="817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 err="1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顧客關係</a:t>
              </a:r>
              <a:endParaRPr lang="en-US" sz="3682" b="1" dirty="0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631484" y="4572000"/>
              <a:ext cx="2050019" cy="8178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通 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484610" y="415317"/>
              <a:ext cx="2972092" cy="8161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 err="1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目標客群</a:t>
              </a:r>
              <a:endParaRPr lang="en-US" sz="3682" b="1" dirty="0">
                <a:solidFill>
                  <a:srgbClr val="494F56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25760" y="8980849"/>
              <a:ext cx="2668509" cy="812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 err="1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成本結構</a:t>
              </a:r>
              <a:r>
                <a:rPr lang="en-US" sz="3682" b="1" dirty="0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482156" y="9037369"/>
              <a:ext cx="2723347" cy="8178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155"/>
                </a:lnSpc>
                <a:spcBef>
                  <a:spcPct val="0"/>
                </a:spcBef>
              </a:pPr>
              <a:r>
                <a:rPr lang="en-US" sz="3682" b="1" dirty="0">
                  <a:solidFill>
                    <a:srgbClr val="494F56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收 益 流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897019" y="2363043"/>
            <a:ext cx="1753793" cy="1695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7"/>
              </a:lnSpc>
              <a:spcBef>
                <a:spcPct val="0"/>
              </a:spcBef>
            </a:pPr>
            <a:r>
              <a:rPr lang="en-US" sz="3226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各類商家</a:t>
            </a:r>
            <a:endParaRPr lang="en-US" sz="3226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ctr">
              <a:lnSpc>
                <a:spcPts val="4517"/>
              </a:lnSpc>
              <a:spcBef>
                <a:spcPct val="0"/>
              </a:spcBef>
            </a:pPr>
            <a:r>
              <a:rPr lang="en-US" sz="3226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政府部門</a:t>
            </a:r>
            <a:endParaRPr lang="en-US" sz="3226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ctr">
              <a:lnSpc>
                <a:spcPts val="4517"/>
              </a:lnSpc>
              <a:spcBef>
                <a:spcPct val="0"/>
              </a:spcBef>
            </a:pPr>
            <a:r>
              <a:rPr lang="en-US" sz="3226" dirty="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NGO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71412" y="2202110"/>
            <a:ext cx="3483766" cy="959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商家的廣告投放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ts val="3843"/>
              </a:lnSpc>
              <a:spcBef>
                <a:spcPct val="0"/>
              </a:spcBef>
            </a:pPr>
            <a:r>
              <a:rPr lang="en-US" sz="2745" dirty="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[</a:t>
            </a: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我的地圖</a:t>
            </a:r>
            <a:r>
              <a:rPr lang="en-US" sz="2745" dirty="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]</a:t>
            </a: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地點標註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381175" y="5146954"/>
            <a:ext cx="2377187" cy="2587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91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開發團隊</a:t>
            </a:r>
            <a:endParaRPr lang="en-US" sz="291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4082"/>
              </a:lnSpc>
            </a:pPr>
            <a:r>
              <a:rPr lang="en-US" sz="291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地圖</a:t>
            </a:r>
            <a:r>
              <a:rPr lang="en-US" sz="2915" dirty="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API</a:t>
            </a:r>
          </a:p>
          <a:p>
            <a:pPr algn="l">
              <a:lnSpc>
                <a:spcPts val="4082"/>
              </a:lnSpc>
            </a:pPr>
            <a:r>
              <a:rPr lang="en-US" sz="291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使用者資料</a:t>
            </a:r>
            <a:endParaRPr lang="en-US" sz="291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4082"/>
              </a:lnSpc>
            </a:pPr>
            <a:r>
              <a:rPr lang="en-US" sz="291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商家資料</a:t>
            </a:r>
            <a:endParaRPr lang="en-US" sz="291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4082"/>
              </a:lnSpc>
              <a:spcBef>
                <a:spcPct val="0"/>
              </a:spcBef>
            </a:pPr>
            <a:r>
              <a:rPr lang="en-US" sz="291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怪事回報資料</a:t>
            </a:r>
            <a:endParaRPr lang="en-US" sz="291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970903" y="2340422"/>
            <a:ext cx="3132653" cy="2417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即時安全通知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快速求助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商家曝光機會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危險地區資料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統整的匿名社群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757575" y="2340422"/>
            <a:ext cx="2573504" cy="1445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推播通知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線上客服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公告欄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821083" y="5550608"/>
            <a:ext cx="1602952" cy="1445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745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WEB APP</a:t>
            </a:r>
          </a:p>
          <a:p>
            <a:pPr algn="l">
              <a:lnSpc>
                <a:spcPts val="3843"/>
              </a:lnSpc>
            </a:pPr>
            <a:r>
              <a:rPr lang="en-US" sz="2745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PWA</a:t>
            </a:r>
          </a:p>
          <a:p>
            <a:pPr algn="l">
              <a:lnSpc>
                <a:spcPts val="3843"/>
              </a:lnSpc>
            </a:pPr>
            <a:r>
              <a:rPr lang="en-US" sz="2745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社群平台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974934" y="2353312"/>
            <a:ext cx="2098793" cy="2417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夜歸族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學生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女性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商家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政府單位</a:t>
            </a:r>
            <a:endParaRPr lang="en-US" sz="2745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635701" y="8302392"/>
            <a:ext cx="4162220" cy="1385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2618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開發團隊</a:t>
            </a:r>
            <a:endParaRPr lang="en-US" sz="2618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665"/>
              </a:lnSpc>
            </a:pPr>
            <a:r>
              <a:rPr lang="en-US" sz="2618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推廣行銷</a:t>
            </a:r>
            <a:r>
              <a:rPr lang="en-US" sz="2618" dirty="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   (估計500/月)</a:t>
            </a:r>
          </a:p>
          <a:p>
            <a:pPr algn="l">
              <a:lnSpc>
                <a:spcPts val="3665"/>
              </a:lnSpc>
              <a:spcBef>
                <a:spcPct val="0"/>
              </a:spcBef>
            </a:pPr>
            <a:r>
              <a:rPr lang="en-US" sz="2618" dirty="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API </a:t>
            </a:r>
            <a:r>
              <a:rPr lang="en-US" sz="2618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使用費</a:t>
            </a:r>
            <a:r>
              <a:rPr lang="en-US" sz="2618" dirty="0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  (估計1000/月)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97836" y="8369067"/>
            <a:ext cx="2081110" cy="1385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2618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廣告收入</a:t>
            </a:r>
            <a:endParaRPr lang="en-US" sz="2618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665"/>
              </a:lnSpc>
            </a:pPr>
            <a:r>
              <a:rPr lang="en-US" sz="2618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政府補助</a:t>
            </a:r>
            <a:endParaRPr lang="en-US" sz="2618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665"/>
              </a:lnSpc>
              <a:spcBef>
                <a:spcPct val="0"/>
              </a:spcBef>
            </a:pPr>
            <a:r>
              <a:rPr lang="en-US" sz="2618" dirty="0" err="1">
                <a:solidFill>
                  <a:srgbClr val="494F56"/>
                </a:solidFill>
                <a:latin typeface="Quicksand"/>
                <a:ea typeface="Quicksand"/>
                <a:cs typeface="Quicksand"/>
                <a:sym typeface="Quicksand"/>
              </a:rPr>
              <a:t>企業合作</a:t>
            </a:r>
            <a:endParaRPr lang="en-US" sz="2618" dirty="0">
              <a:solidFill>
                <a:srgbClr val="494F56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399</Words>
  <Application>Microsoft Office PowerPoint</Application>
  <PresentationFormat>自訂</PresentationFormat>
  <Paragraphs>140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Arial</vt:lpstr>
      <vt:lpstr>Quicksand</vt:lpstr>
      <vt:lpstr>Quicksand Bold</vt:lpstr>
      <vt:lpstr>Calibri</vt:lpstr>
      <vt:lpstr>Noot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怪怪走開</dc:title>
  <dc:creator>Sunny Wu</dc:creator>
  <cp:lastModifiedBy>Sunny Wu</cp:lastModifiedBy>
  <cp:revision>3</cp:revision>
  <dcterms:created xsi:type="dcterms:W3CDTF">2006-08-16T00:00:00Z</dcterms:created>
  <dcterms:modified xsi:type="dcterms:W3CDTF">2025-04-23T16:46:24Z</dcterms:modified>
  <dc:identifier>DAGlXL50XGw</dc:identifier>
</cp:coreProperties>
</file>