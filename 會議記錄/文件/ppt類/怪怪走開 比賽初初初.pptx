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1T02:44:27.2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715.44922"/>
      <inkml:brushProperty name="anchorY" value="-10043.54883"/>
      <inkml:brushProperty name="scaleFactor" value="0.5"/>
    </inkml:brush>
  </inkml:definitions>
  <inkml:trace contextRef="#ctx0" brushRef="#br0">0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2EFDB-0A82-751A-17C1-F4FE6A38F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A52531B-C631-039A-145C-6767F29C4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D1E3AD-B7F7-2928-C30B-98F029BB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ADB6F9-15DD-A0F5-7318-5C56192A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72E73D-3713-60E6-3C92-9E044D19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10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AA54AA-B366-FF27-46B6-D5B21B535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162C6C-A90D-BAAE-FF7D-781473F33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F02E8E-8735-D928-219C-8D2B10DE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B0B09B-4415-A147-1C90-03723192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801B2E-7E0C-A79E-48B8-1A915487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5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A332D-7F1D-8366-97BB-98B212BB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490538-53EA-F2B6-9465-A231FC5C5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262674-5D39-C159-1C01-245A99121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E2FAB7-5309-E59E-112F-83E4A616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5F3742-F494-247B-FB56-CB79D9B6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27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26DEC4-B550-074F-A960-702DD4A9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D20DB7-32FE-A78D-0F90-96D6C8F3E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4ABDA0-2F3D-F9F6-70FF-5A6FBA273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FE7D66-5480-724B-CF99-9141ADD8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ED86243-32B7-7A24-FC9B-CD5D53FE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05AF5E-E613-52F5-C6EA-351E6ACE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59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67422-3D2A-9E85-4045-BBFFFCFF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8E44AC-2346-1E8C-8033-D87B6BC7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6CDA6C-59E3-8900-9525-99C958566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92E12C2-8DB0-369B-E4AD-FD20BD69C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C96FDE4-A89E-0E5D-7B8D-F42E1F227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653786D-B9B7-73AB-D300-143FADA0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30529B6-98F9-5804-7237-83756D71B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FCEFC3C-73BD-C556-0F82-6B86063C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12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DB4E31-3FE0-E79E-9A6B-3E8B1253A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68D0CDE-DBF7-5FE8-2022-243F9120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216AB0A-E93D-2959-20B1-31E6B594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F120D95-09DA-A3B2-51D9-ED9A7970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42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2AEBE23-09D6-EF1E-3533-6A1D348C7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0D6014-D014-7FB8-6E06-ADE0834C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DC2BB8-5F11-29D7-AB07-AAF76BCA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817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C6325-C11A-69DD-61D5-84E741DF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F35D08-F030-B8E2-0F22-5816CE3F6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DEE038F-30E6-CEDB-A685-CCEB066DE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AA3ACE-61E6-8581-958E-AF34FC22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02721C2-0ED2-9C55-0D46-09EEE7B2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2A17E5-1E41-0614-D0CD-B4400C80D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25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D57298-1786-0C3D-830B-DB6EDA43F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983896B-31D2-D1D9-ABF8-13E64408F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3354A2-FC33-21F4-CCFA-0711CD3AD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9C27F1-9AD3-2E6B-D541-D8A5D99F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1D0CA1-5B0E-6374-36BF-1BA8F34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9BC5CA-DD09-2A77-9CC0-AACF9E21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241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25D496-2025-A404-92A1-9875C120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7022B6D-F19C-470E-4F45-E8A8211F0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BFBDBD-5748-D988-229E-CA86E019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A6B28E-ECC5-8A1E-6F9B-4B4F526D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3CD0E0-9890-24F1-9957-29956BE1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400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1BBAFB5-E8E3-B689-0D4E-C3346C4A4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7FCFA4-937A-C3E2-0485-98AB80825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702B24-2E47-A502-8C0E-8B36A806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52EF6B-C5B7-B609-DFD3-49FBE62F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0F9FAC-F242-40CA-4163-FEE8241D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559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5968589-39DC-00A8-7BA8-641B100C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317BDA-1B73-AD8E-7294-7211C57C0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CF4817-4CFE-A492-59AA-7A5A563A6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619EE-0C24-45B2-AA3C-79EEFF02EBFC}" type="datetimeFigureOut">
              <a:rPr lang="zh-TW" altLang="en-US" smtClean="0"/>
              <a:t>2025/4/22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99AC05-EF5D-D2E4-60E6-A90CE16BE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7D4F51-62ED-04E4-E5CE-A8991E193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E0BD9-32B4-4EF1-928A-1C169D0DF1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90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03F0A1-F848-EC6D-A781-6D4BECE71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3617" y="1372510"/>
            <a:ext cx="12496800" cy="2611437"/>
          </a:xfrm>
        </p:spPr>
        <p:txBody>
          <a:bodyPr>
            <a:noAutofit/>
          </a:bodyPr>
          <a:lstStyle/>
          <a:p>
            <a:pPr marL="89535" marR="3983990">
              <a:lnSpc>
                <a:spcPct val="108000"/>
              </a:lnSpc>
              <a:spcAft>
                <a:spcPts val="800"/>
              </a:spcAft>
              <a:tabLst>
                <a:tab pos="856615" algn="l"/>
              </a:tabLst>
            </a:pPr>
            <a:r>
              <a:rPr lang="zh-TW" altLang="zh-TW" sz="9600" dirty="0">
                <a:ln w="0"/>
                <a:solidFill>
                  <a:schemeClr val="bg1"/>
                </a:solidFill>
                <a:effectLst>
                  <a:reflection blurRad="76200" stA="27000" endPos="67000" dist="38100" dir="5400000" sy="-90000" algn="bl" rotWithShape="0"/>
                </a:effectLst>
                <a:latin typeface="SimSun" panose="02010600030101010101" pitchFamily="2" charset="-122"/>
                <a:ea typeface="微軟正黑體" panose="020B0604030504040204" pitchFamily="34" charset="-120"/>
                <a:cs typeface="SimSun" panose="02010600030101010101" pitchFamily="2" charset="-122"/>
              </a:rPr>
              <a:t>怪怪走開</a:t>
            </a:r>
            <a:r>
              <a:rPr lang="en-US" altLang="zh-TW" sz="9600" dirty="0">
                <a:ln w="0"/>
                <a:solidFill>
                  <a:schemeClr val="bg1"/>
                </a:solidFill>
                <a:effectLst>
                  <a:reflection blurRad="76200" stA="27000" endPos="67000" dist="38100" dir="5400000" sy="-90000" algn="bl" rotWithShape="0"/>
                </a:effectLst>
                <a:latin typeface="SimSun" panose="02010600030101010101" pitchFamily="2" charset="-122"/>
                <a:ea typeface="微軟正黑體" panose="020B0604030504040204" pitchFamily="34" charset="-120"/>
                <a:cs typeface="SimSun" panose="02010600030101010101" pitchFamily="2" charset="-122"/>
              </a:rPr>
              <a:t>,</a:t>
            </a:r>
            <a:br>
              <a:rPr lang="zh-TW" altLang="zh-TW" sz="9600" dirty="0">
                <a:ln w="0"/>
                <a:solidFill>
                  <a:schemeClr val="bg1"/>
                </a:solidFill>
                <a:effectLst>
                  <a:reflection blurRad="76200" stA="27000" endPos="67000" dist="38100" dir="5400000" sy="-90000" algn="bl" rotWithShape="0"/>
                </a:effectLst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</a:br>
            <a:r>
              <a:rPr lang="en-US" altLang="zh-TW" sz="9600" dirty="0">
                <a:ln w="0"/>
                <a:solidFill>
                  <a:schemeClr val="bg1"/>
                </a:solidFill>
                <a:effectLst>
                  <a:reflection blurRad="76200" stA="27000" endPos="67000" dist="38100" dir="5400000" sy="-90000" algn="bl" rotWithShape="0"/>
                </a:effectLst>
                <a:latin typeface="微軟正黑體" panose="020B0604030504040204" pitchFamily="34" charset="-120"/>
                <a:cs typeface="SimSun" panose="02010600030101010101" pitchFamily="2" charset="-122"/>
              </a:rPr>
              <a:t>			</a:t>
            </a:r>
            <a:r>
              <a:rPr lang="zh-TW" altLang="zh-TW" sz="9600" dirty="0">
                <a:ln w="0"/>
                <a:solidFill>
                  <a:schemeClr val="bg1"/>
                </a:solidFill>
                <a:effectLst>
                  <a:reflection blurRad="76200" stA="27000" endPos="67000" dist="38100" dir="5400000" sy="-90000" algn="bl" rotWithShape="0"/>
                </a:effectLst>
                <a:ea typeface="微軟正黑體" panose="020B0604030504040204" pitchFamily="34" charset="-120"/>
                <a:cs typeface="SimSun" panose="02010600030101010101" pitchFamily="2" charset="-122"/>
              </a:rPr>
              <a:t>護您安全</a:t>
            </a:r>
            <a:endParaRPr lang="zh-TW" altLang="en-US" sz="9600" dirty="0">
              <a:ln w="0"/>
              <a:solidFill>
                <a:schemeClr val="bg1"/>
              </a:solidFill>
              <a:effectLst>
                <a:reflection blurRad="76200" stA="27000" endPos="67000" dist="38100" dir="5400000" sy="-90000" algn="bl" rotWithShape="0"/>
              </a:effectLst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BC10B4BE-11B4-673C-3051-9A5AF93EE90A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BC10B4BE-11B4-673C-3051-9A5AF93EE9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113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E97DDB8-3C98-D66A-8430-7926462C3AEF}"/>
              </a:ext>
            </a:extLst>
          </p:cNvPr>
          <p:cNvSpPr txBox="1"/>
          <p:nvPr/>
        </p:nvSpPr>
        <p:spPr>
          <a:xfrm>
            <a:off x="4506685" y="5366657"/>
            <a:ext cx="891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組長</a:t>
            </a:r>
            <a:r>
              <a:rPr lang="zh-TW" altLang="en-US" dirty="0"/>
              <a:t>：吳想想（</a:t>
            </a:r>
            <a:r>
              <a:rPr lang="en-US" altLang="zh-TW" dirty="0"/>
              <a:t>11056001</a:t>
            </a:r>
            <a:r>
              <a:rPr lang="zh-TW" altLang="en-US" dirty="0"/>
              <a:t>） </a:t>
            </a:r>
            <a:endParaRPr lang="en-US" altLang="zh-TW" dirty="0"/>
          </a:p>
          <a:p>
            <a:r>
              <a:rPr lang="zh-TW" altLang="en-US" dirty="0"/>
              <a:t>組員：陳雨琦（</a:t>
            </a:r>
            <a:r>
              <a:rPr lang="en-US" altLang="zh-TW" dirty="0"/>
              <a:t>11056035</a:t>
            </a:r>
            <a:r>
              <a:rPr lang="zh-TW" altLang="en-US" dirty="0"/>
              <a:t>）、李品臻（</a:t>
            </a:r>
            <a:r>
              <a:rPr lang="en-US" altLang="zh-TW" dirty="0"/>
              <a:t>11056042</a:t>
            </a:r>
            <a:r>
              <a:rPr lang="zh-TW" altLang="en-US" dirty="0"/>
              <a:t>）、黃思璇（</a:t>
            </a:r>
            <a:r>
              <a:rPr lang="en-US" altLang="zh-TW" dirty="0"/>
              <a:t>11056045</a:t>
            </a:r>
            <a:r>
              <a:rPr lang="zh-TW" altLang="en-US" dirty="0"/>
              <a:t>）</a:t>
            </a:r>
          </a:p>
          <a:p>
            <a:endParaRPr lang="zh-TW" altLang="en-US" dirty="0"/>
          </a:p>
        </p:txBody>
      </p:sp>
      <p:pic>
        <p:nvPicPr>
          <p:cNvPr id="6" name="圖片 5" descr="一張含有 寫生, 圖畫, 兒童藝術, 美工圖案 的圖片&#10;&#10;AI 產生的內容可能不正確。">
            <a:extLst>
              <a:ext uri="{FF2B5EF4-FFF2-40B4-BE49-F238E27FC236}">
                <a16:creationId xmlns:a16="http://schemas.microsoft.com/office/drawing/2014/main" id="{2BB05B54-C042-1521-8D94-CBE63C1D0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104" y="248381"/>
            <a:ext cx="4523431" cy="461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47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34FFB-79DD-D826-D109-87EE1D71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90A1E10B-F902-A066-AC1D-D312E143C737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90A1E10B-F902-A066-AC1D-D312E143C7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9C8861B-0C13-328D-6220-689C441E2329}"/>
              </a:ext>
            </a:extLst>
          </p:cNvPr>
          <p:cNvSpPr txBox="1"/>
          <p:nvPr/>
        </p:nvSpPr>
        <p:spPr>
          <a:xfrm>
            <a:off x="1502229" y="533400"/>
            <a:ext cx="50400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solidFill>
                  <a:schemeClr val="bg1"/>
                </a:solidFill>
              </a:rPr>
              <a:t>目錄</a:t>
            </a:r>
            <a:r>
              <a:rPr lang="en-US" altLang="zh-TW" sz="1800" dirty="0">
                <a:solidFill>
                  <a:schemeClr val="bg1"/>
                </a:solidFill>
              </a:rPr>
              <a:t>:</a:t>
            </a:r>
            <a:r>
              <a:rPr lang="zh-TW" altLang="en-US" sz="1800" dirty="0">
                <a:solidFill>
                  <a:schemeClr val="bg1"/>
                </a:solidFill>
              </a:rPr>
              <a:t>     </a:t>
            </a:r>
            <a:br>
              <a:rPr lang="en-US" altLang="zh-TW" sz="1800" dirty="0">
                <a:solidFill>
                  <a:schemeClr val="bg1"/>
                </a:solidFill>
              </a:rPr>
            </a:br>
            <a:r>
              <a:rPr lang="en-US" altLang="zh-TW" sz="1800" dirty="0">
                <a:solidFill>
                  <a:schemeClr val="bg1"/>
                </a:solidFill>
              </a:rPr>
              <a:t>	</a:t>
            </a:r>
            <a:br>
              <a:rPr lang="en-US" altLang="zh-TW" sz="1800" dirty="0">
                <a:solidFill>
                  <a:schemeClr val="bg1"/>
                </a:solidFill>
              </a:rPr>
            </a:br>
            <a:r>
              <a:rPr lang="zh-TW" altLang="en-US" sz="1800" dirty="0">
                <a:solidFill>
                  <a:schemeClr val="bg1"/>
                </a:solidFill>
              </a:rPr>
              <a:t>一</a:t>
            </a:r>
            <a:r>
              <a:rPr lang="en-US" altLang="zh-TW" sz="1800" dirty="0">
                <a:solidFill>
                  <a:schemeClr val="bg1"/>
                </a:solidFill>
              </a:rPr>
              <a:t>,</a:t>
            </a:r>
            <a:r>
              <a:rPr lang="zh-TW" altLang="en-US" sz="1800" dirty="0">
                <a:solidFill>
                  <a:schemeClr val="bg1"/>
                </a:solidFill>
              </a:rPr>
              <a:t>產品</a:t>
            </a:r>
            <a:r>
              <a:rPr lang="en-US" altLang="zh-TW" sz="1800" dirty="0">
                <a:solidFill>
                  <a:schemeClr val="bg1"/>
                </a:solidFill>
              </a:rPr>
              <a:t>(</a:t>
            </a:r>
            <a:r>
              <a:rPr lang="zh-TW" altLang="en-US" sz="1800" dirty="0">
                <a:solidFill>
                  <a:schemeClr val="bg1"/>
                </a:solidFill>
              </a:rPr>
              <a:t>服務</a:t>
            </a:r>
            <a:r>
              <a:rPr lang="en-US" altLang="zh-TW" sz="1800" dirty="0">
                <a:solidFill>
                  <a:schemeClr val="bg1"/>
                </a:solidFill>
              </a:rPr>
              <a:t>)</a:t>
            </a:r>
            <a:r>
              <a:rPr lang="zh-TW" altLang="en-US" sz="1800" dirty="0">
                <a:solidFill>
                  <a:schemeClr val="bg1"/>
                </a:solidFill>
              </a:rPr>
              <a:t>介紹</a:t>
            </a:r>
            <a:br>
              <a:rPr lang="en-US" altLang="zh-TW" sz="1800" dirty="0">
                <a:solidFill>
                  <a:schemeClr val="bg1"/>
                </a:solidFill>
              </a:rPr>
            </a:br>
            <a:r>
              <a:rPr lang="zh-TW" altLang="en-US" sz="1800" dirty="0">
                <a:solidFill>
                  <a:schemeClr val="bg1"/>
                </a:solidFill>
              </a:rPr>
              <a:t>產品</a:t>
            </a:r>
            <a:r>
              <a:rPr lang="en-US" altLang="zh-TW" sz="1800" dirty="0">
                <a:solidFill>
                  <a:schemeClr val="bg1"/>
                </a:solidFill>
              </a:rPr>
              <a:t>(</a:t>
            </a:r>
            <a:r>
              <a:rPr lang="zh-TW" altLang="en-US" sz="1800" dirty="0">
                <a:solidFill>
                  <a:schemeClr val="bg1"/>
                </a:solidFill>
              </a:rPr>
              <a:t>服務</a:t>
            </a:r>
            <a:r>
              <a:rPr lang="en-US" altLang="zh-TW" sz="1800" dirty="0">
                <a:solidFill>
                  <a:schemeClr val="bg1"/>
                </a:solidFill>
              </a:rPr>
              <a:t>)</a:t>
            </a:r>
            <a:br>
              <a:rPr lang="en-US" altLang="zh-TW" sz="1800" dirty="0">
                <a:solidFill>
                  <a:schemeClr val="bg1"/>
                </a:solidFill>
              </a:rPr>
            </a:br>
            <a:r>
              <a:rPr lang="en-US" altLang="zh-TW" sz="1800" dirty="0">
                <a:solidFill>
                  <a:schemeClr val="bg1"/>
                </a:solidFill>
              </a:rPr>
              <a:t>	</a:t>
            </a:r>
            <a:r>
              <a:rPr lang="zh-TW" altLang="en-US" sz="1800" dirty="0">
                <a:solidFill>
                  <a:schemeClr val="bg1"/>
                </a:solidFill>
              </a:rPr>
              <a:t>解決什麼問題、</a:t>
            </a:r>
            <a:br>
              <a:rPr lang="en-US" altLang="zh-TW" sz="1800" dirty="0">
                <a:solidFill>
                  <a:schemeClr val="bg1"/>
                </a:solidFill>
              </a:rPr>
            </a:br>
            <a:r>
              <a:rPr lang="zh-TW" altLang="en-US" sz="1800" dirty="0">
                <a:solidFill>
                  <a:schemeClr val="bg1"/>
                </a:solidFill>
              </a:rPr>
              <a:t>該產品</a:t>
            </a:r>
            <a:r>
              <a:rPr lang="en-US" altLang="zh-TW" sz="1800" dirty="0">
                <a:solidFill>
                  <a:schemeClr val="bg1"/>
                </a:solidFill>
              </a:rPr>
              <a:t>(</a:t>
            </a:r>
            <a:r>
              <a:rPr lang="zh-TW" altLang="en-US" sz="1800" dirty="0">
                <a:solidFill>
                  <a:schemeClr val="bg1"/>
                </a:solidFill>
              </a:rPr>
              <a:t>服務</a:t>
            </a:r>
            <a:r>
              <a:rPr lang="en-US" altLang="zh-TW" sz="1800" dirty="0">
                <a:solidFill>
                  <a:schemeClr val="bg1"/>
                </a:solidFill>
              </a:rPr>
              <a:t>)</a:t>
            </a:r>
            <a:r>
              <a:rPr lang="zh-TW" altLang="en-US" sz="1800" dirty="0">
                <a:solidFill>
                  <a:schemeClr val="bg1"/>
                </a:solidFill>
              </a:rPr>
              <a:t>主要的</a:t>
            </a:r>
            <a:br>
              <a:rPr lang="zh-TW" altLang="en-US" sz="1800" dirty="0">
                <a:solidFill>
                  <a:schemeClr val="bg1"/>
                </a:solidFill>
              </a:rPr>
            </a:br>
            <a:r>
              <a:rPr lang="zh-TW" altLang="en-US" sz="1800" dirty="0">
                <a:solidFill>
                  <a:schemeClr val="bg1"/>
                </a:solidFill>
              </a:rPr>
              <a:t>使用對象、</a:t>
            </a:r>
            <a:br>
              <a:rPr lang="en-US" altLang="zh-TW" sz="1800" dirty="0">
                <a:solidFill>
                  <a:schemeClr val="bg1"/>
                </a:solidFill>
              </a:rPr>
            </a:br>
            <a:r>
              <a:rPr lang="zh-TW" altLang="en-US" sz="1800" dirty="0">
                <a:solidFill>
                  <a:schemeClr val="bg1"/>
                </a:solidFill>
              </a:rPr>
              <a:t>如何推廣讓更多人認識該產品</a:t>
            </a:r>
            <a:r>
              <a:rPr lang="en-US" altLang="zh-TW" sz="1800" dirty="0">
                <a:solidFill>
                  <a:schemeClr val="bg1"/>
                </a:solidFill>
              </a:rPr>
              <a:t>(</a:t>
            </a:r>
            <a:r>
              <a:rPr lang="zh-TW" altLang="en-US" sz="1800" dirty="0">
                <a:solidFill>
                  <a:schemeClr val="bg1"/>
                </a:solidFill>
              </a:rPr>
              <a:t>服</a:t>
            </a:r>
            <a:br>
              <a:rPr lang="zh-TW" altLang="en-US" sz="1800" dirty="0">
                <a:solidFill>
                  <a:schemeClr val="bg1"/>
                </a:solidFill>
              </a:rPr>
            </a:br>
            <a:r>
              <a:rPr lang="zh-TW" altLang="en-US" sz="1800" dirty="0">
                <a:solidFill>
                  <a:schemeClr val="bg1"/>
                </a:solidFill>
              </a:rPr>
              <a:t>務</a:t>
            </a:r>
            <a:r>
              <a:rPr lang="en-US" altLang="zh-TW" sz="1800" dirty="0">
                <a:solidFill>
                  <a:schemeClr val="bg1"/>
                </a:solidFill>
              </a:rPr>
              <a:t>)</a:t>
            </a:r>
            <a:r>
              <a:rPr lang="zh-TW" altLang="en-US" sz="1800" dirty="0">
                <a:solidFill>
                  <a:schemeClr val="bg1"/>
                </a:solidFill>
              </a:rPr>
              <a:t>、</a:t>
            </a:r>
            <a:endParaRPr lang="en-US" altLang="zh-TW" sz="1800" dirty="0">
              <a:solidFill>
                <a:schemeClr val="bg1"/>
              </a:solidFill>
            </a:endParaRPr>
          </a:p>
          <a:p>
            <a:r>
              <a:rPr lang="zh-TW" altLang="en-US" sz="1800" dirty="0">
                <a:solidFill>
                  <a:schemeClr val="bg1"/>
                </a:solidFill>
              </a:rPr>
              <a:t>未來執行商 業模式。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1638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E7BEB-A7AC-BA3D-CE93-989A87C2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EEB74E-19AE-2ED9-AD75-D6B87F44B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65906"/>
            <a:ext cx="14913428" cy="2621603"/>
          </a:xfrm>
        </p:spPr>
        <p:txBody>
          <a:bodyPr>
            <a:noAutofit/>
          </a:bodyPr>
          <a:lstStyle/>
          <a:p>
            <a:pPr marL="89535" marR="3983990" algn="l">
              <a:lnSpc>
                <a:spcPct val="108000"/>
              </a:lnSpc>
              <a:spcAft>
                <a:spcPts val="800"/>
              </a:spcAft>
              <a:tabLst>
                <a:tab pos="856615" algn="l"/>
              </a:tabLst>
            </a:pPr>
            <a:r>
              <a:rPr lang="zh-TW" altLang="en-US" sz="8800" dirty="0">
                <a:solidFill>
                  <a:schemeClr val="bg1"/>
                </a:solidFill>
              </a:rPr>
              <a:t>一</a:t>
            </a:r>
            <a:r>
              <a:rPr lang="en-US" altLang="zh-TW" sz="8800" dirty="0">
                <a:solidFill>
                  <a:schemeClr val="bg1"/>
                </a:solidFill>
              </a:rPr>
              <a:t>.  </a:t>
            </a:r>
            <a:r>
              <a:rPr lang="zh-TW" altLang="en-US" sz="8800" dirty="0">
                <a:solidFill>
                  <a:schemeClr val="bg1"/>
                </a:solidFill>
              </a:rPr>
              <a:t>產品</a:t>
            </a:r>
            <a:r>
              <a:rPr lang="en-US" altLang="zh-TW" sz="8800" dirty="0">
                <a:solidFill>
                  <a:schemeClr val="bg1"/>
                </a:solidFill>
              </a:rPr>
              <a:t>(</a:t>
            </a:r>
            <a:r>
              <a:rPr lang="zh-TW" altLang="en-US" sz="8800" dirty="0">
                <a:solidFill>
                  <a:schemeClr val="bg1"/>
                </a:solidFill>
              </a:rPr>
              <a:t>服務</a:t>
            </a:r>
            <a:r>
              <a:rPr lang="en-US" altLang="zh-TW" sz="8800" dirty="0">
                <a:solidFill>
                  <a:schemeClr val="bg1"/>
                </a:solidFill>
              </a:rPr>
              <a:t>)</a:t>
            </a:r>
            <a:r>
              <a:rPr lang="zh-TW" altLang="en-US" sz="8800" dirty="0">
                <a:solidFill>
                  <a:schemeClr val="bg1"/>
                </a:solidFill>
              </a:rPr>
              <a:t>介紹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100792C0-7636-102C-0E24-74203F09812F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100792C0-7636-102C-0E24-74203F0981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370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73DE1-5203-1219-FA85-3AD3FAE4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C4AFBF-9FEA-0E5B-983F-3B1841329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343" y="1872686"/>
            <a:ext cx="8708571" cy="2611437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產品名稱</a:t>
            </a:r>
            <a:r>
              <a:rPr lang="zh-TW" altLang="en-US" sz="3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：「怪怪走開，護您安全」</a:t>
            </a:r>
            <a:br>
              <a:rPr lang="en-US" altLang="zh-TW" sz="24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br>
              <a:rPr lang="en-US" altLang="zh-TW" sz="24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TW" altLang="en-US" sz="24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產品介紹</a:t>
            </a:r>
            <a:r>
              <a:rPr lang="en-US" altLang="zh-TW" sz="24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</a:t>
            </a:r>
            <a:r>
              <a:rPr lang="zh-TW" altLang="en-US" sz="24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這是一款結合即時回報、防騷擾地圖、匿名社群與商家認證據點的</a:t>
            </a:r>
            <a:r>
              <a:rPr lang="zh-TW" altLang="en-US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跨平台個人安全防護系統</a:t>
            </a:r>
            <a:r>
              <a:rPr lang="zh-TW" altLang="en-US" sz="24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br>
              <a:rPr lang="zh-TW" altLang="en-US" sz="24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TW" altLang="en-US" sz="24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透過整合</a:t>
            </a:r>
            <a:r>
              <a:rPr lang="en-US" altLang="zh-TW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PWA </a:t>
            </a:r>
            <a:r>
              <a:rPr lang="zh-TW" altLang="en-US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技術 </a:t>
            </a:r>
            <a:r>
              <a:rPr lang="en-US" altLang="zh-TW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GPS </a:t>
            </a:r>
            <a:r>
              <a:rPr lang="zh-TW" altLang="en-US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定位 </a:t>
            </a:r>
            <a:r>
              <a:rPr lang="en-US" altLang="zh-TW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TW" altLang="en-US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即時求助 </a:t>
            </a:r>
            <a:r>
              <a:rPr lang="en-US" altLang="zh-TW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TW" altLang="en-US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社群交流 </a:t>
            </a:r>
            <a:r>
              <a:rPr lang="en-US" altLang="zh-TW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TW" altLang="en-US" sz="24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商家參與</a:t>
            </a:r>
            <a:r>
              <a:rPr lang="zh-TW" altLang="en-US" sz="24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，讓使用者能夠在面對潛在危險時迅速求援、獲得資訊、或提供幫助。</a:t>
            </a:r>
            <a:br>
              <a:rPr lang="zh-TW" altLang="en-US" sz="2400" dirty="0"/>
            </a:br>
            <a:br>
              <a:rPr lang="zh-TW" altLang="en-US" sz="1600" dirty="0"/>
            </a:br>
            <a:endParaRPr lang="zh-TW" altLang="en-US" sz="5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E2FC64C3-724C-3864-B3BB-1BC5A7A0A7A7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E2FC64C3-724C-3864-B3BB-1BC5A7A0A7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F0DF1F99-128D-0866-2CB1-88E5BEB08B57}"/>
              </a:ext>
            </a:extLst>
          </p:cNvPr>
          <p:cNvSpPr/>
          <p:nvPr/>
        </p:nvSpPr>
        <p:spPr>
          <a:xfrm>
            <a:off x="-141514" y="152400"/>
            <a:ext cx="4637314" cy="783771"/>
          </a:xfrm>
          <a:prstGeom prst="homePlat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0A278A7-EBA0-2FBF-D5C2-F5DDF7B98389}"/>
              </a:ext>
            </a:extLst>
          </p:cNvPr>
          <p:cNvSpPr txBox="1"/>
          <p:nvPr/>
        </p:nvSpPr>
        <p:spPr>
          <a:xfrm>
            <a:off x="125185" y="251897"/>
            <a:ext cx="410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ysClr val="windowText" lastClr="000000"/>
                </a:solidFill>
              </a:rPr>
              <a:t>產品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(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服務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)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287705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6FCC1-F7F8-86A5-2612-18159934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D357EF-E6E0-020E-3A26-DA3CD7447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3864085"/>
            <a:ext cx="15218228" cy="2611437"/>
          </a:xfrm>
        </p:spPr>
        <p:txBody>
          <a:bodyPr>
            <a:noAutofit/>
          </a:bodyPr>
          <a:lstStyle/>
          <a:p>
            <a:pPr algn="l">
              <a:buNone/>
            </a:pPr>
            <a:br>
              <a:rPr lang="en-US" altLang="zh-TW" dirty="0">
                <a:solidFill>
                  <a:schemeClr val="bg1"/>
                </a:solidFill>
              </a:rPr>
            </a:br>
            <a:r>
              <a:rPr lang="zh-TW" altLang="en-US" sz="1600" dirty="0">
                <a:solidFill>
                  <a:schemeClr val="bg1"/>
                </a:solidFill>
              </a:rPr>
              <a:t> </a:t>
            </a:r>
            <a:br>
              <a:rPr lang="en-US" altLang="zh-TW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主要</a:t>
            </a:r>
            <a:r>
              <a:rPr lang="zh-TW" altLang="en-US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功能：</a:t>
            </a:r>
            <a:br>
              <a:rPr lang="en-US" altLang="zh-TW" sz="3600" b="1" dirty="0">
                <a:solidFill>
                  <a:schemeClr val="bg1"/>
                </a:solidFill>
              </a:rPr>
            </a:b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我的地圖：顯示騷擾事件熱點與安全據點</a:t>
            </a: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一鍵求助：快速撥號、簡訊通知</a:t>
            </a: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我要填表：快速上傳騷擾事件</a:t>
            </a:r>
            <a:r>
              <a:rPr lang="en-US" altLang="zh-TW" sz="3600" dirty="0">
                <a:solidFill>
                  <a:schemeClr val="bg1"/>
                </a:solidFill>
              </a:rPr>
              <a:t>,</a:t>
            </a:r>
            <a:r>
              <a:rPr lang="zh-TW" altLang="en-US" sz="3600" dirty="0">
                <a:solidFill>
                  <a:schemeClr val="bg1"/>
                </a:solidFill>
              </a:rPr>
              <a:t>分享資訊</a:t>
            </a: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安全合作商家：提供臨時</a:t>
            </a:r>
            <a:r>
              <a:rPr lang="en-US" altLang="zh-TW" sz="3600" dirty="0">
                <a:solidFill>
                  <a:schemeClr val="bg1"/>
                </a:solidFill>
              </a:rPr>
              <a:t>/</a:t>
            </a:r>
            <a:r>
              <a:rPr lang="zh-TW" altLang="en-US" sz="3600" dirty="0">
                <a:solidFill>
                  <a:schemeClr val="bg1"/>
                </a:solidFill>
              </a:rPr>
              <a:t>快速避難空間</a:t>
            </a: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匿名聊天室</a:t>
            </a:r>
            <a:r>
              <a:rPr lang="en-US" altLang="zh-TW" sz="3600" dirty="0">
                <a:solidFill>
                  <a:schemeClr val="bg1"/>
                </a:solidFill>
              </a:rPr>
              <a:t>(</a:t>
            </a:r>
            <a:r>
              <a:rPr lang="zh-TW" altLang="en-US" sz="3600" dirty="0">
                <a:solidFill>
                  <a:schemeClr val="bg1"/>
                </a:solidFill>
              </a:rPr>
              <a:t>地區及危險人物</a:t>
            </a:r>
            <a:r>
              <a:rPr lang="en-US" altLang="zh-TW" sz="3600" dirty="0">
                <a:solidFill>
                  <a:schemeClr val="bg1"/>
                </a:solidFill>
              </a:rPr>
              <a:t>)</a:t>
            </a:r>
            <a:r>
              <a:rPr lang="zh-TW" altLang="en-US" sz="3600" dirty="0">
                <a:solidFill>
                  <a:schemeClr val="bg1"/>
                </a:solidFill>
              </a:rPr>
              <a:t>：互相提醒與心理支持</a:t>
            </a: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防身知識</a:t>
            </a:r>
            <a:r>
              <a:rPr lang="en-US" altLang="zh-TW" sz="3600" dirty="0">
                <a:solidFill>
                  <a:schemeClr val="bg1"/>
                </a:solidFill>
              </a:rPr>
              <a:t>:</a:t>
            </a:r>
            <a:r>
              <a:rPr lang="zh-TW" altLang="en-US" sz="3600" dirty="0">
                <a:solidFill>
                  <a:schemeClr val="bg1"/>
                </a:solidFill>
              </a:rPr>
              <a:t>學習防身小知識</a:t>
            </a:r>
            <a:br>
              <a:rPr lang="en-US" altLang="zh-TW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危險人物公告欄：警示淺在風險地區</a:t>
            </a:r>
            <a:r>
              <a:rPr lang="en-US" altLang="zh-TW" sz="3600" dirty="0">
                <a:solidFill>
                  <a:schemeClr val="bg1"/>
                </a:solidFill>
              </a:rPr>
              <a:t>,</a:t>
            </a:r>
            <a:r>
              <a:rPr lang="zh-TW" altLang="en-US" sz="3600" dirty="0">
                <a:solidFill>
                  <a:schemeClr val="bg1"/>
                </a:solidFill>
              </a:rPr>
              <a:t>須注意特徵</a:t>
            </a:r>
            <a:br>
              <a:rPr lang="zh-TW" altLang="en-US" sz="1000" dirty="0"/>
            </a:br>
            <a:br>
              <a:rPr lang="zh-TW" altLang="en-US" sz="1600" dirty="0"/>
            </a:br>
            <a:endParaRPr lang="zh-TW" altLang="en-US" sz="5400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19F74E9B-B402-44B0-068B-75F35485A9EB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19F74E9B-B402-44B0-068B-75F35485A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A9455FA6-490C-4669-F38A-6DCD26C099BB}"/>
              </a:ext>
            </a:extLst>
          </p:cNvPr>
          <p:cNvSpPr/>
          <p:nvPr/>
        </p:nvSpPr>
        <p:spPr>
          <a:xfrm>
            <a:off x="-141514" y="152400"/>
            <a:ext cx="4637314" cy="783771"/>
          </a:xfrm>
          <a:prstGeom prst="homePlat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0264442-0836-9FC7-54A7-340ED7BC1576}"/>
              </a:ext>
            </a:extLst>
          </p:cNvPr>
          <p:cNvSpPr txBox="1"/>
          <p:nvPr/>
        </p:nvSpPr>
        <p:spPr>
          <a:xfrm>
            <a:off x="125185" y="251897"/>
            <a:ext cx="410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ysClr val="windowText" lastClr="000000"/>
                </a:solidFill>
              </a:rPr>
              <a:t>產品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(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服務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)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142184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27F46-3B16-5035-B827-85BF4EEF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039CEA-C35D-62DA-3FB7-DCB95CCAB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30" y="-3428263"/>
            <a:ext cx="12094028" cy="7161322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功能一</a:t>
            </a:r>
            <a:r>
              <a:rPr lang="en-US" altLang="zh-TW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br>
              <a:rPr lang="en-US" altLang="zh-TW" sz="3600" b="1" dirty="0">
                <a:solidFill>
                  <a:schemeClr val="bg1"/>
                </a:solidFill>
              </a:rPr>
            </a:b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🗺️ 我的地圖：顯示騷擾事件熱點與安全據點</a:t>
            </a:r>
            <a:br>
              <a:rPr lang="zh-TW" altLang="en-US" sz="3600" dirty="0">
                <a:solidFill>
                  <a:schemeClr val="bg1"/>
                </a:solidFill>
              </a:rPr>
            </a:br>
            <a:br>
              <a:rPr lang="zh-TW" altLang="en-US" sz="1000" dirty="0"/>
            </a:br>
            <a:br>
              <a:rPr lang="zh-TW" altLang="en-US" sz="1600" dirty="0"/>
            </a:br>
            <a:endParaRPr lang="zh-TW" altLang="en-US" sz="5400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539C8657-70A5-3524-D196-87817C120FF6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539C8657-70A5-3524-D196-87817C120F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F4494AAF-D794-AB32-72FD-69C942D0EBC3}"/>
              </a:ext>
            </a:extLst>
          </p:cNvPr>
          <p:cNvSpPr/>
          <p:nvPr/>
        </p:nvSpPr>
        <p:spPr>
          <a:xfrm>
            <a:off x="-598714" y="152398"/>
            <a:ext cx="4637314" cy="783771"/>
          </a:xfrm>
          <a:prstGeom prst="homePlat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81D9D33-3F9C-DD24-9CA7-92E11C15A84F}"/>
              </a:ext>
            </a:extLst>
          </p:cNvPr>
          <p:cNvSpPr txBox="1"/>
          <p:nvPr/>
        </p:nvSpPr>
        <p:spPr>
          <a:xfrm>
            <a:off x="125185" y="251897"/>
            <a:ext cx="410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ysClr val="windowText" lastClr="000000"/>
                </a:solidFill>
              </a:rPr>
              <a:t>產品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(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服務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)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405918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C1C78-FC25-CBFD-2473-B921D5B3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D98725-C4BE-862B-F908-F070F497E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258" y="-2981551"/>
            <a:ext cx="12094028" cy="7161322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功能二</a:t>
            </a:r>
            <a:r>
              <a:rPr lang="en-US" altLang="zh-TW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br>
              <a:rPr lang="en-US" altLang="zh-TW" sz="3600" b="1" dirty="0">
                <a:solidFill>
                  <a:schemeClr val="bg1"/>
                </a:solidFill>
              </a:rPr>
            </a:b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📞 一鍵求助：快速撥號、簡訊通知</a:t>
            </a:r>
            <a:br>
              <a:rPr lang="zh-TW" altLang="en-US" sz="3600" dirty="0">
                <a:solidFill>
                  <a:schemeClr val="bg1"/>
                </a:solidFill>
              </a:rPr>
            </a:br>
            <a:br>
              <a:rPr lang="zh-TW" altLang="en-US" sz="3600" dirty="0">
                <a:solidFill>
                  <a:schemeClr val="bg1"/>
                </a:solidFill>
              </a:rPr>
            </a:br>
            <a:br>
              <a:rPr lang="zh-TW" altLang="en-US" sz="1000" dirty="0"/>
            </a:br>
            <a:br>
              <a:rPr lang="zh-TW" altLang="en-US" sz="1600" dirty="0"/>
            </a:br>
            <a:endParaRPr lang="zh-TW" altLang="en-US" sz="5400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4152FB9C-DD29-0EB7-4E12-96EC93632CFD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4152FB9C-DD29-0EB7-4E12-96EC93632C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EFC4C010-7C64-298E-322E-AD018A15AA82}"/>
              </a:ext>
            </a:extLst>
          </p:cNvPr>
          <p:cNvSpPr/>
          <p:nvPr/>
        </p:nvSpPr>
        <p:spPr>
          <a:xfrm>
            <a:off x="-598714" y="152398"/>
            <a:ext cx="4637314" cy="783771"/>
          </a:xfrm>
          <a:prstGeom prst="homePlat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9646A4C-C95D-D935-5E60-5FFA5EBAF958}"/>
              </a:ext>
            </a:extLst>
          </p:cNvPr>
          <p:cNvSpPr txBox="1"/>
          <p:nvPr/>
        </p:nvSpPr>
        <p:spPr>
          <a:xfrm>
            <a:off x="125185" y="251897"/>
            <a:ext cx="410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ysClr val="windowText" lastClr="000000"/>
                </a:solidFill>
              </a:rPr>
              <a:t>產品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(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服務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)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260752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BE120-9C9B-A83C-B7CA-2F07D692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1B8E0C-39A6-B376-4C94-C62B3149D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30" y="-3428263"/>
            <a:ext cx="12094028" cy="7161322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功能三</a:t>
            </a:r>
            <a:r>
              <a:rPr lang="en-US" altLang="zh-TW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br>
              <a:rPr lang="en-US" altLang="zh-TW" sz="3600" b="1" dirty="0">
                <a:solidFill>
                  <a:schemeClr val="bg1"/>
                </a:solidFill>
              </a:rPr>
            </a:b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📝 我要填表：快速上傳騷擾事件</a:t>
            </a:r>
            <a:r>
              <a:rPr lang="en-US" altLang="zh-TW" sz="3600" dirty="0">
                <a:solidFill>
                  <a:schemeClr val="bg1"/>
                </a:solidFill>
              </a:rPr>
              <a:t>,</a:t>
            </a:r>
            <a:r>
              <a:rPr lang="zh-TW" altLang="en-US" sz="3600" dirty="0">
                <a:solidFill>
                  <a:schemeClr val="bg1"/>
                </a:solidFill>
              </a:rPr>
              <a:t>分享資訊</a:t>
            </a:r>
            <a:br>
              <a:rPr lang="zh-TW" altLang="en-US" sz="3600" dirty="0">
                <a:solidFill>
                  <a:schemeClr val="bg1"/>
                </a:solidFill>
              </a:rPr>
            </a:br>
            <a:br>
              <a:rPr lang="zh-TW" altLang="en-US" sz="1000" dirty="0"/>
            </a:br>
            <a:br>
              <a:rPr lang="zh-TW" altLang="en-US" sz="1600" dirty="0"/>
            </a:br>
            <a:endParaRPr lang="zh-TW" altLang="en-US" sz="5400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8D74CE08-1DAA-5021-D92B-3B76752979F5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8D74CE08-1DAA-5021-D92B-3B76752979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DB2BED0C-7252-96E7-0977-FB6AC44D8085}"/>
              </a:ext>
            </a:extLst>
          </p:cNvPr>
          <p:cNvSpPr/>
          <p:nvPr/>
        </p:nvSpPr>
        <p:spPr>
          <a:xfrm>
            <a:off x="-598714" y="152398"/>
            <a:ext cx="4637314" cy="783771"/>
          </a:xfrm>
          <a:prstGeom prst="homePlat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65FF722-2C74-7A84-7201-5E5DB3556D25}"/>
              </a:ext>
            </a:extLst>
          </p:cNvPr>
          <p:cNvSpPr txBox="1"/>
          <p:nvPr/>
        </p:nvSpPr>
        <p:spPr>
          <a:xfrm>
            <a:off x="125185" y="251897"/>
            <a:ext cx="410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ysClr val="windowText" lastClr="000000"/>
                </a:solidFill>
              </a:rPr>
              <a:t>產品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(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服務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)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207780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75823-0E45-B6F3-5579-F2F2BFB00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7F840E-9498-1011-65B1-8F9B8E3CC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30" y="-3428263"/>
            <a:ext cx="12094028" cy="7161322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功能四</a:t>
            </a:r>
            <a:r>
              <a:rPr lang="en-US" altLang="zh-TW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br>
              <a:rPr lang="en-US" altLang="zh-TW" sz="3600" b="1" dirty="0">
                <a:solidFill>
                  <a:schemeClr val="bg1"/>
                </a:solidFill>
              </a:rPr>
            </a:b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🛍️ 安全合作商家：提供臨時</a:t>
            </a:r>
            <a:r>
              <a:rPr lang="en-US" altLang="zh-TW" sz="3600" dirty="0">
                <a:solidFill>
                  <a:schemeClr val="bg1"/>
                </a:solidFill>
              </a:rPr>
              <a:t>/</a:t>
            </a:r>
            <a:r>
              <a:rPr lang="zh-TW" altLang="en-US" sz="3600" dirty="0">
                <a:solidFill>
                  <a:schemeClr val="bg1"/>
                </a:solidFill>
              </a:rPr>
              <a:t>快速避難空間</a:t>
            </a:r>
            <a:br>
              <a:rPr lang="zh-TW" altLang="en-US" sz="3600" dirty="0">
                <a:solidFill>
                  <a:schemeClr val="bg1"/>
                </a:solidFill>
              </a:rPr>
            </a:br>
            <a:br>
              <a:rPr lang="zh-TW" altLang="en-US" sz="1000" dirty="0"/>
            </a:br>
            <a:br>
              <a:rPr lang="zh-TW" altLang="en-US" sz="1600" dirty="0"/>
            </a:br>
            <a:endParaRPr lang="zh-TW" altLang="en-US" sz="5400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C73E72D0-5190-6C2E-A30C-EF2A9860943F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C73E72D0-5190-6C2E-A30C-EF2A986094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F32AE3C6-F946-BD7A-1F21-F81BF1EAE984}"/>
              </a:ext>
            </a:extLst>
          </p:cNvPr>
          <p:cNvSpPr/>
          <p:nvPr/>
        </p:nvSpPr>
        <p:spPr>
          <a:xfrm>
            <a:off x="-598714" y="152398"/>
            <a:ext cx="4637314" cy="783771"/>
          </a:xfrm>
          <a:prstGeom prst="homePlat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9F09A12-63DB-1E1F-F512-8FE9FFE391F3}"/>
              </a:ext>
            </a:extLst>
          </p:cNvPr>
          <p:cNvSpPr txBox="1"/>
          <p:nvPr/>
        </p:nvSpPr>
        <p:spPr>
          <a:xfrm>
            <a:off x="125185" y="251897"/>
            <a:ext cx="410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ysClr val="windowText" lastClr="000000"/>
                </a:solidFill>
              </a:rPr>
              <a:t>產品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(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服務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)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1571478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F303F-1252-58EE-3353-6DE0B86B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71B39A-2F59-B8A8-5F5D-D75F9F074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30" y="-3428263"/>
            <a:ext cx="12094028" cy="7161322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功能五</a:t>
            </a:r>
            <a:r>
              <a:rPr lang="en-US" altLang="zh-TW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br>
              <a:rPr lang="en-US" altLang="zh-TW" sz="3600" b="1" dirty="0">
                <a:solidFill>
                  <a:schemeClr val="bg1"/>
                </a:solidFill>
              </a:rPr>
            </a:b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💬 匿名聊天室</a:t>
            </a:r>
            <a:r>
              <a:rPr lang="en-US" altLang="zh-TW" sz="3600" dirty="0">
                <a:solidFill>
                  <a:schemeClr val="bg1"/>
                </a:solidFill>
              </a:rPr>
              <a:t>(</a:t>
            </a:r>
            <a:r>
              <a:rPr lang="zh-TW" altLang="en-US" sz="3600" dirty="0">
                <a:solidFill>
                  <a:schemeClr val="bg1"/>
                </a:solidFill>
              </a:rPr>
              <a:t>地區及危險人物</a:t>
            </a:r>
            <a:r>
              <a:rPr lang="en-US" altLang="zh-TW" sz="3600" dirty="0">
                <a:solidFill>
                  <a:schemeClr val="bg1"/>
                </a:solidFill>
              </a:rPr>
              <a:t>)</a:t>
            </a:r>
            <a:r>
              <a:rPr lang="zh-TW" altLang="en-US" sz="3600" dirty="0">
                <a:solidFill>
                  <a:schemeClr val="bg1"/>
                </a:solidFill>
              </a:rPr>
              <a:t>：互相提醒與心理支持</a:t>
            </a:r>
            <a:br>
              <a:rPr lang="zh-TW" altLang="en-US" sz="3600" dirty="0">
                <a:solidFill>
                  <a:schemeClr val="bg1"/>
                </a:solidFill>
              </a:rPr>
            </a:br>
            <a:br>
              <a:rPr lang="zh-TW" altLang="en-US" sz="1000" dirty="0"/>
            </a:br>
            <a:br>
              <a:rPr lang="zh-TW" altLang="en-US" sz="1600" dirty="0"/>
            </a:br>
            <a:endParaRPr lang="zh-TW" altLang="en-US" sz="5400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E666D270-D73C-ECB7-7490-DCD75F4ABAA1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E666D270-D73C-ECB7-7490-DCD75F4ABA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2024E2E3-6FA0-71FC-934B-7C8B605CA454}"/>
              </a:ext>
            </a:extLst>
          </p:cNvPr>
          <p:cNvSpPr/>
          <p:nvPr/>
        </p:nvSpPr>
        <p:spPr>
          <a:xfrm>
            <a:off x="-598714" y="152398"/>
            <a:ext cx="4637314" cy="783771"/>
          </a:xfrm>
          <a:prstGeom prst="homePlat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5681737-A39E-BA12-A153-5351D029147E}"/>
              </a:ext>
            </a:extLst>
          </p:cNvPr>
          <p:cNvSpPr txBox="1"/>
          <p:nvPr/>
        </p:nvSpPr>
        <p:spPr>
          <a:xfrm>
            <a:off x="125185" y="251897"/>
            <a:ext cx="410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ysClr val="windowText" lastClr="000000"/>
                </a:solidFill>
              </a:rPr>
              <a:t>產品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(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服務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)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195124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55713-4896-D269-3157-040C178D5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2D7F3C-1734-7FBB-BB18-8896263B0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30" y="-3428263"/>
            <a:ext cx="12094028" cy="7161322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功能六</a:t>
            </a:r>
            <a:r>
              <a:rPr lang="en-US" altLang="zh-TW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br>
              <a:rPr lang="en-US" altLang="zh-TW" sz="3600" b="1" dirty="0">
                <a:solidFill>
                  <a:schemeClr val="bg1"/>
                </a:solidFill>
              </a:rPr>
            </a:b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防身知識</a:t>
            </a:r>
            <a:r>
              <a:rPr lang="en-US" altLang="zh-TW" sz="3600" dirty="0">
                <a:solidFill>
                  <a:schemeClr val="bg1"/>
                </a:solidFill>
              </a:rPr>
              <a:t>:</a:t>
            </a:r>
            <a:r>
              <a:rPr lang="zh-TW" altLang="en-US" sz="3600" dirty="0">
                <a:solidFill>
                  <a:schemeClr val="bg1"/>
                </a:solidFill>
              </a:rPr>
              <a:t>學習防身小知識</a:t>
            </a:r>
            <a:br>
              <a:rPr lang="zh-TW" altLang="en-US" sz="3600" dirty="0">
                <a:solidFill>
                  <a:schemeClr val="bg1"/>
                </a:solidFill>
              </a:rPr>
            </a:br>
            <a:br>
              <a:rPr lang="zh-TW" altLang="en-US" sz="1000" dirty="0"/>
            </a:br>
            <a:br>
              <a:rPr lang="zh-TW" altLang="en-US" sz="1600" dirty="0"/>
            </a:br>
            <a:endParaRPr lang="zh-TW" altLang="en-US" sz="5400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6986FEA4-1ABE-546C-54FE-6346D65599AA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6986FEA4-1ABE-546C-54FE-6346D65599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BDCBEBFE-7ADD-65B9-C495-014754FC7670}"/>
              </a:ext>
            </a:extLst>
          </p:cNvPr>
          <p:cNvSpPr/>
          <p:nvPr/>
        </p:nvSpPr>
        <p:spPr>
          <a:xfrm>
            <a:off x="-598714" y="152398"/>
            <a:ext cx="4637314" cy="783771"/>
          </a:xfrm>
          <a:prstGeom prst="homePlat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9A13D0D-356F-394E-8EE1-7DA6FB07EAF2}"/>
              </a:ext>
            </a:extLst>
          </p:cNvPr>
          <p:cNvSpPr txBox="1"/>
          <p:nvPr/>
        </p:nvSpPr>
        <p:spPr>
          <a:xfrm>
            <a:off x="125185" y="251897"/>
            <a:ext cx="410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ysClr val="windowText" lastClr="000000"/>
                </a:solidFill>
              </a:rPr>
              <a:t>產品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(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服務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)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601407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tx2">
                <a:lumMod val="90000"/>
                <a:lumOff val="1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7361A-CAD6-1387-AFE5-9DF9FA55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EC3F74-D636-0CCE-FDC4-C5222B3A1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30" y="-3428263"/>
            <a:ext cx="12094028" cy="7161322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zh-TW" altLang="en-US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功能六</a:t>
            </a:r>
            <a:r>
              <a:rPr lang="en-US" altLang="zh-TW" sz="3600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  <a:br>
              <a:rPr lang="en-US" altLang="zh-TW" sz="3600" b="1" dirty="0">
                <a:solidFill>
                  <a:schemeClr val="bg1"/>
                </a:solidFill>
              </a:rPr>
            </a:br>
            <a:br>
              <a:rPr lang="zh-TW" altLang="en-US" sz="3600" dirty="0">
                <a:solidFill>
                  <a:schemeClr val="bg1"/>
                </a:solidFill>
              </a:rPr>
            </a:br>
            <a:r>
              <a:rPr lang="zh-TW" altLang="en-US" sz="3600" dirty="0">
                <a:solidFill>
                  <a:schemeClr val="bg1"/>
                </a:solidFill>
              </a:rPr>
              <a:t>危險人物公告欄：警示淺在風險地區</a:t>
            </a:r>
            <a:r>
              <a:rPr lang="en-US" altLang="zh-TW" sz="3600" dirty="0">
                <a:solidFill>
                  <a:schemeClr val="bg1"/>
                </a:solidFill>
              </a:rPr>
              <a:t>,</a:t>
            </a:r>
            <a:r>
              <a:rPr lang="zh-TW" altLang="en-US" sz="3600" dirty="0">
                <a:solidFill>
                  <a:schemeClr val="bg1"/>
                </a:solidFill>
              </a:rPr>
              <a:t>須注意特徵</a:t>
            </a:r>
            <a:br>
              <a:rPr lang="zh-TW" altLang="en-US" sz="3600" dirty="0">
                <a:solidFill>
                  <a:schemeClr val="bg1"/>
                </a:solidFill>
              </a:rPr>
            </a:br>
            <a:br>
              <a:rPr lang="zh-TW" altLang="en-US" sz="1000" dirty="0"/>
            </a:br>
            <a:br>
              <a:rPr lang="zh-TW" altLang="en-US" sz="1600" dirty="0"/>
            </a:br>
            <a:endParaRPr lang="zh-TW" altLang="en-US" sz="5400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C50A3F6-602B-6E6D-C935-58B1AAF82235}"/>
                  </a:ext>
                </a:extLst>
              </p14:cNvPr>
              <p14:cNvContentPartPr/>
              <p14:nvPr/>
            </p14:nvContentPartPr>
            <p14:xfrm>
              <a:off x="1719943" y="4179771"/>
              <a:ext cx="360" cy="3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C50A3F6-602B-6E6D-C935-58B1AAF822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0943" y="41707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箭號: 五邊形 2">
            <a:extLst>
              <a:ext uri="{FF2B5EF4-FFF2-40B4-BE49-F238E27FC236}">
                <a16:creationId xmlns:a16="http://schemas.microsoft.com/office/drawing/2014/main" id="{23CAB951-4EAC-5A2E-EA5C-BD8E62DA6752}"/>
              </a:ext>
            </a:extLst>
          </p:cNvPr>
          <p:cNvSpPr/>
          <p:nvPr/>
        </p:nvSpPr>
        <p:spPr>
          <a:xfrm>
            <a:off x="-598714" y="152398"/>
            <a:ext cx="4637314" cy="783771"/>
          </a:xfrm>
          <a:prstGeom prst="homePlat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C0E6A5E-5D15-C29D-0E8E-76B27AD3CEAB}"/>
              </a:ext>
            </a:extLst>
          </p:cNvPr>
          <p:cNvSpPr txBox="1"/>
          <p:nvPr/>
        </p:nvSpPr>
        <p:spPr>
          <a:xfrm>
            <a:off x="125185" y="251897"/>
            <a:ext cx="4103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ysClr val="windowText" lastClr="000000"/>
                </a:solidFill>
              </a:rPr>
              <a:t>產品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(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服務</a:t>
            </a:r>
            <a:r>
              <a:rPr lang="en-US" altLang="zh-TW" sz="3200" dirty="0">
                <a:solidFill>
                  <a:sysClr val="windowText" lastClr="000000"/>
                </a:solidFill>
              </a:rPr>
              <a:t>)</a:t>
            </a:r>
            <a:r>
              <a:rPr lang="zh-TW" altLang="en-US" sz="3200" dirty="0">
                <a:solidFill>
                  <a:sysClr val="windowText" lastClr="000000"/>
                </a:solidFill>
              </a:rPr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2664991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459</Words>
  <Application>Microsoft Office PowerPoint</Application>
  <PresentationFormat>寬螢幕</PresentationFormat>
  <Paragraphs>24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Microsoft YaHei UI</vt:lpstr>
      <vt:lpstr>SimSun</vt:lpstr>
      <vt:lpstr>微軟正黑體</vt:lpstr>
      <vt:lpstr>Aptos</vt:lpstr>
      <vt:lpstr>Aptos Display</vt:lpstr>
      <vt:lpstr>Arial</vt:lpstr>
      <vt:lpstr>Office 佈景主題</vt:lpstr>
      <vt:lpstr>怪怪走開,    護您安全</vt:lpstr>
      <vt:lpstr>PowerPoint 簡報</vt:lpstr>
      <vt:lpstr>一.  產品(服務)介紹</vt:lpstr>
      <vt:lpstr>產品名稱：「怪怪走開，護您安全」  產品介紹:      這是一款結合即時回報、防騷擾地圖、匿名社群與商家認證據點的跨平台個人安全防護系統。 透過整合PWA 技術 + GPS 定位 + 即時求助 + 社群交流 + 商家參與，讓使用者能夠在面對潛在危險時迅速求援、獲得資訊、或提供幫助。  </vt:lpstr>
      <vt:lpstr>   主要功能：  我的地圖：顯示騷擾事件熱點與安全據點 一鍵求助：快速撥號、簡訊通知 我要填表：快速上傳騷擾事件,分享資訊 安全合作商家：提供臨時/快速避難空間 匿名聊天室(地區及危險人物)：互相提醒與心理支持 防身知識:學習防身小知識 危險人物公告欄：警示淺在風險地區,須注意特徵  </vt:lpstr>
      <vt:lpstr>功能一.  🗺️ 我的地圖：顯示騷擾事件熱點與安全據點   </vt:lpstr>
      <vt:lpstr>功能二.  📞 一鍵求助：快速撥號、簡訊通知    </vt:lpstr>
      <vt:lpstr>功能三.  📝 我要填表：快速上傳騷擾事件,分享資訊   </vt:lpstr>
      <vt:lpstr>功能四.  🛍️ 安全合作商家：提供臨時/快速避難空間   </vt:lpstr>
      <vt:lpstr>功能五.  💬 匿名聊天室(地區及危險人物)：互相提醒與心理支持   </vt:lpstr>
      <vt:lpstr>功能六.  防身知識:學習防身小知識   </vt:lpstr>
      <vt:lpstr>功能六.  危險人物公告欄：警示淺在風險地區,須注意特徵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Sunny Wu</dc:creator>
  <cp:lastModifiedBy>Sunny Wu</cp:lastModifiedBy>
  <cp:revision>4</cp:revision>
  <dcterms:created xsi:type="dcterms:W3CDTF">2025-04-21T02:42:30Z</dcterms:created>
  <dcterms:modified xsi:type="dcterms:W3CDTF">2025-04-22T00:08:47Z</dcterms:modified>
</cp:coreProperties>
</file>